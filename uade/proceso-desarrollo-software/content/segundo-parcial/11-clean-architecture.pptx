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entation.xml" ContentType="application/vnd.openxmlformats-officedocument.presentationml.presentation.main+xml"/>
  <Override PartName="/ppt/notesSlides/notesSlide1.xml" ContentType="application/vnd.openxmlformats-officedocument.presentationml.notesSlide+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9" r:id="rId1"/>
  </p:sldMasterIdLst>
  <p:notesMasterIdLst>
    <p:notesMasterId r:id="rId27"/>
  </p:notesMasterIdLst>
  <p:sldIdLst>
    <p:sldId id="256" r:id="rId2"/>
    <p:sldId id="258" r:id="rId3"/>
    <p:sldId id="432" r:id="rId4"/>
    <p:sldId id="433" r:id="rId5"/>
    <p:sldId id="434" r:id="rId6"/>
    <p:sldId id="436" r:id="rId7"/>
    <p:sldId id="435" r:id="rId8"/>
    <p:sldId id="437" r:id="rId9"/>
    <p:sldId id="438" r:id="rId10"/>
    <p:sldId id="439" r:id="rId11"/>
    <p:sldId id="440" r:id="rId12"/>
    <p:sldId id="441" r:id="rId13"/>
    <p:sldId id="442" r:id="rId14"/>
    <p:sldId id="443" r:id="rId15"/>
    <p:sldId id="444" r:id="rId16"/>
    <p:sldId id="445" r:id="rId17"/>
    <p:sldId id="446" r:id="rId18"/>
    <p:sldId id="447" r:id="rId19"/>
    <p:sldId id="448" r:id="rId20"/>
    <p:sldId id="449" r:id="rId21"/>
    <p:sldId id="450" r:id="rId22"/>
    <p:sldId id="451" r:id="rId23"/>
    <p:sldId id="452" r:id="rId24"/>
    <p:sldId id="453" r:id="rId25"/>
    <p:sldId id="303"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2E66"/>
    <a:srgbClr val="B31366"/>
    <a:srgbClr val="5D4E70"/>
    <a:srgbClr val="36234D"/>
    <a:srgbClr val="5F2D60"/>
    <a:srgbClr val="4C2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Estilo medio 3 - Énfasis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Estilo medio 3 - Énfasis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Estilo medio 3 - Énfasis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61"/>
    <p:restoredTop sz="90133"/>
  </p:normalViewPr>
  <p:slideViewPr>
    <p:cSldViewPr snapToGrid="0" snapToObjects="1">
      <p:cViewPr varScale="1">
        <p:scale>
          <a:sx n="143" d="100"/>
          <a:sy n="143" d="100"/>
        </p:scale>
        <p:origin x="311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4C3094-54F3-9B4F-9FFC-2D3DC4BBE891}" type="datetimeFigureOut">
              <a:rPr lang="es-AR" smtClean="0"/>
              <a:t>25/5/26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08CE7-C04C-1242-8D65-EF1635ED0988}" type="slidenum">
              <a:rPr lang="es-AR" smtClean="0"/>
              <a:t>‹Nº›</a:t>
            </a:fld>
            <a:endParaRPr lang="es-AR"/>
          </a:p>
        </p:txBody>
      </p:sp>
    </p:spTree>
    <p:extLst>
      <p:ext uri="{BB962C8B-B14F-4D97-AF65-F5344CB8AC3E}">
        <p14:creationId xmlns:p14="http://schemas.microsoft.com/office/powerpoint/2010/main" val="680370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00008CE7-C04C-1242-8D65-EF1635ED0988}" type="slidenum">
              <a:rPr lang="es-AR" smtClean="0"/>
              <a:t>3</a:t>
            </a:fld>
            <a:endParaRPr lang="es-AR"/>
          </a:p>
        </p:txBody>
      </p:sp>
    </p:spTree>
    <p:extLst>
      <p:ext uri="{BB962C8B-B14F-4D97-AF65-F5344CB8AC3E}">
        <p14:creationId xmlns:p14="http://schemas.microsoft.com/office/powerpoint/2010/main" val="10947203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169001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494167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350226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s-MX"/>
              <a:t>Haz clic para modificar el estilo de título del patrón</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45222726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199337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06585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5/25/26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38044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s-MX"/>
              <a:t>Haz clic para modificar el estilo de título del patrón</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64260900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708435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n panorámica con descripció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475459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s-MX"/>
              <a:t>Haz clic para modificar el estilo de título del patrón</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409767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s-MX"/>
              <a:t>Haz clic para modificar el estilo de título del patrón</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287614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2006067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246303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283072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0964133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229763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AR"/>
            </a:p>
          </p:txBody>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txBody>
            <a:bodyPr/>
            <a:lstStyle/>
            <a:p>
              <a:endParaRPr lang="es-AR"/>
            </a:p>
          </p:txBody>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5/25/26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246204472"/>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 id="2147483891" r:id="rId12"/>
    <p:sldLayoutId id="2147483892" r:id="rId13"/>
    <p:sldLayoutId id="2147483893" r:id="rId14"/>
    <p:sldLayoutId id="2147483894" r:id="rId15"/>
    <p:sldLayoutId id="2147483895" r:id="rId16"/>
    <p:sldLayoutId id="2147483896"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s-419" dirty="0"/>
              <a:t>Procesos de Desarrollo de Software</a:t>
            </a:r>
            <a:endParaRPr dirty="0"/>
          </a:p>
        </p:txBody>
      </p:sp>
      <p:sp>
        <p:nvSpPr>
          <p:cNvPr id="3" name="Subtitle 2"/>
          <p:cNvSpPr>
            <a:spLocks noGrp="1"/>
          </p:cNvSpPr>
          <p:nvPr>
            <p:ph type="subTitle" idx="1"/>
          </p:nvPr>
        </p:nvSpPr>
        <p:spPr>
          <a:xfrm>
            <a:off x="866440" y="4777380"/>
            <a:ext cx="6626560" cy="861420"/>
          </a:xfrm>
        </p:spPr>
        <p:txBody>
          <a:bodyPr/>
          <a:lstStyle/>
          <a:p>
            <a:r>
              <a:rPr dirty="0">
                <a:solidFill>
                  <a:schemeClr val="bg1"/>
                </a:solidFill>
              </a:rPr>
              <a:t>Clase </a:t>
            </a:r>
            <a:r>
              <a:rPr lang="es-419" dirty="0">
                <a:solidFill>
                  <a:schemeClr val="bg1"/>
                </a:solidFill>
              </a:rPr>
              <a:t>11</a:t>
            </a:r>
            <a:r>
              <a:rPr dirty="0">
                <a:solidFill>
                  <a:schemeClr val="bg1"/>
                </a:solidFill>
              </a:rPr>
              <a:t> –</a:t>
            </a:r>
            <a:r>
              <a:rPr lang="es-419" dirty="0">
                <a:solidFill>
                  <a:schemeClr val="bg1"/>
                </a:solidFill>
              </a:rPr>
              <a:t> Patrones de diseño</a:t>
            </a:r>
            <a:endParaRP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Agenda de la </a:t>
            </a:r>
            <a:r>
              <a:rPr dirty="0" err="1"/>
              <a:t>clase</a:t>
            </a:r>
            <a:endParaRPr dirty="0"/>
          </a:p>
        </p:txBody>
      </p:sp>
      <p:sp>
        <p:nvSpPr>
          <p:cNvPr id="3" name="Content Placeholder 2"/>
          <p:cNvSpPr>
            <a:spLocks noGrp="1"/>
          </p:cNvSpPr>
          <p:nvPr>
            <p:ph idx="1"/>
          </p:nvPr>
        </p:nvSpPr>
        <p:spPr/>
        <p:txBody>
          <a:bodyPr/>
          <a:lstStyle/>
          <a:p>
            <a:r>
              <a:rPr lang="es-419" dirty="0"/>
              <a:t>State</a:t>
            </a:r>
          </a:p>
          <a:p>
            <a:endParaRPr lang="es-419"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52AC8A-4EDC-CD59-8C06-030C08DD0995}"/>
              </a:ext>
            </a:extLst>
          </p:cNvPr>
          <p:cNvSpPr>
            <a:spLocks noGrp="1"/>
          </p:cNvSpPr>
          <p:nvPr>
            <p:ph type="title"/>
          </p:nvPr>
        </p:nvSpPr>
        <p:spPr/>
        <p:txBody>
          <a:bodyPr/>
          <a:lstStyle/>
          <a:p>
            <a:r>
              <a:rPr lang="es-AR" dirty="0"/>
              <a:t>State</a:t>
            </a:r>
          </a:p>
        </p:txBody>
      </p:sp>
      <p:sp>
        <p:nvSpPr>
          <p:cNvPr id="3" name="Marcador de contenido 2">
            <a:extLst>
              <a:ext uri="{FF2B5EF4-FFF2-40B4-BE49-F238E27FC236}">
                <a16:creationId xmlns:a16="http://schemas.microsoft.com/office/drawing/2014/main" id="{ECED74D0-CC3E-BC80-E395-3370F3879752}"/>
              </a:ext>
            </a:extLst>
          </p:cNvPr>
          <p:cNvSpPr>
            <a:spLocks noGrp="1"/>
          </p:cNvSpPr>
          <p:nvPr>
            <p:ph idx="1"/>
          </p:nvPr>
        </p:nvSpPr>
        <p:spPr>
          <a:xfrm>
            <a:off x="864381" y="2489199"/>
            <a:ext cx="7535339" cy="3951357"/>
          </a:xfrm>
        </p:spPr>
        <p:txBody>
          <a:bodyPr>
            <a:normAutofit fontScale="85000" lnSpcReduction="20000"/>
          </a:bodyPr>
          <a:lstStyle/>
          <a:p>
            <a:pPr marL="0" indent="0" algn="just">
              <a:buNone/>
            </a:pPr>
            <a:r>
              <a:rPr lang="es-AR" dirty="0"/>
              <a:t>Es un patrón de </a:t>
            </a:r>
            <a:r>
              <a:rPr lang="es-AR" b="1" dirty="0"/>
              <a:t>Comportamiento.</a:t>
            </a:r>
          </a:p>
          <a:p>
            <a:pPr marL="0" indent="0" algn="just">
              <a:buNone/>
            </a:pPr>
            <a:endParaRPr lang="es-AR" dirty="0"/>
          </a:p>
          <a:p>
            <a:pPr marL="0" indent="0" algn="just">
              <a:buNone/>
            </a:pPr>
            <a:r>
              <a:rPr lang="es-AR" b="1" u="sng" dirty="0"/>
              <a:t>¿Qué hace?</a:t>
            </a:r>
          </a:p>
          <a:p>
            <a:pPr algn="just"/>
            <a:r>
              <a:rPr lang="es-AR" dirty="0"/>
              <a:t>Genera una abstracción (una clase) por cada posible estado que pueda tener un objeto.</a:t>
            </a:r>
          </a:p>
          <a:p>
            <a:pPr algn="just"/>
            <a:r>
              <a:rPr lang="es-AR" dirty="0"/>
              <a:t>Define transiciones entre los posibles estados.</a:t>
            </a:r>
          </a:p>
          <a:p>
            <a:pPr algn="just"/>
            <a:endParaRPr lang="es-AR" dirty="0"/>
          </a:p>
          <a:p>
            <a:pPr marL="0" indent="0" algn="just">
              <a:buNone/>
            </a:pPr>
            <a:r>
              <a:rPr lang="es-AR" dirty="0"/>
              <a:t>Se </a:t>
            </a:r>
            <a:r>
              <a:rPr lang="es-AR" b="1" dirty="0"/>
              <a:t>sugiere</a:t>
            </a:r>
            <a:r>
              <a:rPr lang="es-AR" dirty="0"/>
              <a:t> su utilización </a:t>
            </a:r>
            <a:r>
              <a:rPr lang="es-AR" b="1" dirty="0"/>
              <a:t>cuando</a:t>
            </a:r>
            <a:r>
              <a:rPr lang="es-AR" dirty="0"/>
              <a:t>: </a:t>
            </a:r>
          </a:p>
          <a:p>
            <a:pPr algn="just"/>
            <a:r>
              <a:rPr lang="es-AR" dirty="0"/>
              <a:t>El comportamiento de un objeto depende de su estado y este mismo puede variar en tiempo de ejecución.</a:t>
            </a:r>
          </a:p>
          <a:p>
            <a:pPr algn="just"/>
            <a:r>
              <a:rPr lang="es-AR" dirty="0"/>
              <a:t>Un método está lleno de sentencias condicionales que dependen del estado del objeto. Estos estados suelen estar representados por varios atributos de distintos tipos: primitivos (</a:t>
            </a:r>
            <a:r>
              <a:rPr lang="es-AR" dirty="0" err="1"/>
              <a:t>boolean</a:t>
            </a:r>
            <a:r>
              <a:rPr lang="es-AR" dirty="0"/>
              <a:t>, </a:t>
            </a:r>
            <a:r>
              <a:rPr lang="es-AR" dirty="0" err="1"/>
              <a:t>int</a:t>
            </a:r>
            <a:r>
              <a:rPr lang="es-AR" dirty="0"/>
              <a:t>, etc.) o por enumerados (</a:t>
            </a:r>
            <a:r>
              <a:rPr lang="es-AR" dirty="0" err="1"/>
              <a:t>enum</a:t>
            </a:r>
            <a:r>
              <a:rPr lang="es-AR" dirty="0"/>
              <a:t>).</a:t>
            </a:r>
          </a:p>
        </p:txBody>
      </p:sp>
    </p:spTree>
    <p:extLst>
      <p:ext uri="{BB962C8B-B14F-4D97-AF65-F5344CB8AC3E}">
        <p14:creationId xmlns:p14="http://schemas.microsoft.com/office/powerpoint/2010/main" val="1560004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498D0C-5A1A-39B3-D9C5-75F6C53F09D9}"/>
              </a:ext>
            </a:extLst>
          </p:cNvPr>
          <p:cNvSpPr>
            <a:spLocks noGrp="1"/>
          </p:cNvSpPr>
          <p:nvPr>
            <p:ph type="title"/>
          </p:nvPr>
        </p:nvSpPr>
        <p:spPr/>
        <p:txBody>
          <a:bodyPr/>
          <a:lstStyle/>
          <a:p>
            <a:r>
              <a:rPr lang="es-AR" dirty="0"/>
              <a:t>Componentes</a:t>
            </a:r>
          </a:p>
        </p:txBody>
      </p:sp>
      <p:sp>
        <p:nvSpPr>
          <p:cNvPr id="3" name="Marcador de contenido 2">
            <a:extLst>
              <a:ext uri="{FF2B5EF4-FFF2-40B4-BE49-F238E27FC236}">
                <a16:creationId xmlns:a16="http://schemas.microsoft.com/office/drawing/2014/main" id="{C7FBC819-43F0-3581-7491-4B5448A328BA}"/>
              </a:ext>
            </a:extLst>
          </p:cNvPr>
          <p:cNvSpPr>
            <a:spLocks noGrp="1"/>
          </p:cNvSpPr>
          <p:nvPr>
            <p:ph idx="1"/>
          </p:nvPr>
        </p:nvSpPr>
        <p:spPr>
          <a:xfrm>
            <a:off x="864382" y="2489200"/>
            <a:ext cx="7573940" cy="3530600"/>
          </a:xfrm>
        </p:spPr>
        <p:txBody>
          <a:bodyPr>
            <a:normAutofit/>
          </a:bodyPr>
          <a:lstStyle/>
          <a:p>
            <a:pPr algn="just"/>
            <a:r>
              <a:rPr lang="es-AR" b="1" dirty="0"/>
              <a:t>Interface (o clase abstracta) State</a:t>
            </a:r>
            <a:r>
              <a:rPr lang="es-AR" dirty="0"/>
              <a:t>: Define las firmas de los métodos que dependen del estado del objeto principal.</a:t>
            </a:r>
          </a:p>
          <a:p>
            <a:pPr algn="just"/>
            <a:r>
              <a:rPr lang="es-AR" b="1" dirty="0"/>
              <a:t>Clases de estados concretas</a:t>
            </a:r>
            <a:r>
              <a:rPr lang="es-AR" dirty="0"/>
              <a:t>: Clases que implementan la interface State (o que heredan de ella, si ésta fuera clase abstracta), es decir, que tienen la implementación real de los métodos. Son los estados posibles del objeto principal.</a:t>
            </a:r>
          </a:p>
          <a:p>
            <a:pPr algn="just"/>
            <a:r>
              <a:rPr lang="es-AR" b="1" dirty="0"/>
              <a:t>Contexto</a:t>
            </a:r>
            <a:r>
              <a:rPr lang="es-AR" dirty="0"/>
              <a:t>: Clase que tiene referencia a la interface/clase abstracta State, cuyos objetos van a delegar la responsabilidad de resolución de algunos problemas en el estado. Estos objetos utilizarán de forma polimórfica a los estados. </a:t>
            </a:r>
          </a:p>
        </p:txBody>
      </p:sp>
    </p:spTree>
    <p:extLst>
      <p:ext uri="{BB962C8B-B14F-4D97-AF65-F5344CB8AC3E}">
        <p14:creationId xmlns:p14="http://schemas.microsoft.com/office/powerpoint/2010/main" val="2088458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1981BA-823E-B770-7182-5C3A8FB44465}"/>
              </a:ext>
            </a:extLst>
          </p:cNvPr>
          <p:cNvSpPr>
            <a:spLocks noGrp="1"/>
          </p:cNvSpPr>
          <p:nvPr>
            <p:ph type="title"/>
          </p:nvPr>
        </p:nvSpPr>
        <p:spPr/>
        <p:txBody>
          <a:bodyPr/>
          <a:lstStyle/>
          <a:p>
            <a:r>
              <a:rPr lang="es-AR" dirty="0"/>
              <a:t>Diagrama UML</a:t>
            </a:r>
          </a:p>
        </p:txBody>
      </p:sp>
      <p:pic>
        <p:nvPicPr>
          <p:cNvPr id="8" name="Imagen 7">
            <a:extLst>
              <a:ext uri="{FF2B5EF4-FFF2-40B4-BE49-F238E27FC236}">
                <a16:creationId xmlns:a16="http://schemas.microsoft.com/office/drawing/2014/main" id="{A31F7B2F-CA2F-CE29-2BC9-59BB9DBD0A3B}"/>
              </a:ext>
            </a:extLst>
          </p:cNvPr>
          <p:cNvPicPr>
            <a:picLocks noChangeAspect="1"/>
          </p:cNvPicPr>
          <p:nvPr/>
        </p:nvPicPr>
        <p:blipFill>
          <a:blip r:embed="rId2"/>
          <a:stretch>
            <a:fillRect/>
          </a:stretch>
        </p:blipFill>
        <p:spPr>
          <a:xfrm>
            <a:off x="2703443" y="3886200"/>
            <a:ext cx="6339101" cy="2843465"/>
          </a:xfrm>
          <a:prstGeom prst="rect">
            <a:avLst/>
          </a:prstGeom>
        </p:spPr>
      </p:pic>
      <p:sp>
        <p:nvSpPr>
          <p:cNvPr id="9" name="Marcador de contenido 2">
            <a:extLst>
              <a:ext uri="{FF2B5EF4-FFF2-40B4-BE49-F238E27FC236}">
                <a16:creationId xmlns:a16="http://schemas.microsoft.com/office/drawing/2014/main" id="{C59A611D-3D48-2263-10EE-BF2A84D83393}"/>
              </a:ext>
            </a:extLst>
          </p:cNvPr>
          <p:cNvSpPr>
            <a:spLocks noGrp="1"/>
          </p:cNvSpPr>
          <p:nvPr>
            <p:ph idx="1"/>
          </p:nvPr>
        </p:nvSpPr>
        <p:spPr>
          <a:xfrm>
            <a:off x="620253" y="2230552"/>
            <a:ext cx="7903494" cy="2242930"/>
          </a:xfrm>
        </p:spPr>
        <p:txBody>
          <a:bodyPr>
            <a:normAutofit fontScale="77500" lnSpcReduction="20000"/>
          </a:bodyPr>
          <a:lstStyle/>
          <a:p>
            <a:r>
              <a:rPr lang="es-AR" dirty="0"/>
              <a:t>Beneficios:</a:t>
            </a:r>
          </a:p>
          <a:p>
            <a:pPr lvl="1"/>
            <a:r>
              <a:rPr lang="es-AR" dirty="0"/>
              <a:t>Mayor mantenibilidad debido a que el comportamiento por cada estado es fácilmente localizable.</a:t>
            </a:r>
          </a:p>
          <a:p>
            <a:pPr lvl="1"/>
            <a:r>
              <a:rPr lang="es-AR" dirty="0"/>
              <a:t>Extensibilidad para incorporar nuevos estados (nuevos comportamientos).</a:t>
            </a:r>
          </a:p>
          <a:p>
            <a:pPr lvl="1"/>
            <a:r>
              <a:rPr lang="es-AR" dirty="0"/>
              <a:t>Mayor cohesión a la clase Contexto</a:t>
            </a:r>
          </a:p>
          <a:p>
            <a:r>
              <a:rPr lang="es-AR" dirty="0"/>
              <a:t>Code </a:t>
            </a:r>
            <a:r>
              <a:rPr lang="es-AR" dirty="0" err="1"/>
              <a:t>smells</a:t>
            </a:r>
            <a:r>
              <a:rPr lang="es-AR" dirty="0"/>
              <a:t> que soluciona/evita de forma directa:</a:t>
            </a:r>
          </a:p>
          <a:p>
            <a:pPr lvl="1"/>
            <a:r>
              <a:rPr lang="es-AR" dirty="0"/>
              <a:t>Métodos largos</a:t>
            </a:r>
          </a:p>
          <a:p>
            <a:pPr lvl="1"/>
            <a:r>
              <a:rPr lang="es-AR" dirty="0"/>
              <a:t>Clase Dios</a:t>
            </a:r>
          </a:p>
        </p:txBody>
      </p:sp>
    </p:spTree>
    <p:extLst>
      <p:ext uri="{BB962C8B-B14F-4D97-AF65-F5344CB8AC3E}">
        <p14:creationId xmlns:p14="http://schemas.microsoft.com/office/powerpoint/2010/main" val="1116578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FC907-DF7A-B4E3-FE1A-D6C508F9A993}"/>
              </a:ext>
            </a:extLst>
          </p:cNvPr>
          <p:cNvSpPr>
            <a:spLocks noGrp="1"/>
          </p:cNvSpPr>
          <p:nvPr>
            <p:ph type="title"/>
          </p:nvPr>
        </p:nvSpPr>
        <p:spPr/>
        <p:txBody>
          <a:bodyPr/>
          <a:lstStyle/>
          <a:p>
            <a:r>
              <a:rPr lang="es-AR" dirty="0"/>
              <a:t>Ejemplo</a:t>
            </a:r>
          </a:p>
        </p:txBody>
      </p:sp>
      <p:pic>
        <p:nvPicPr>
          <p:cNvPr id="5" name="Imagen 4">
            <a:extLst>
              <a:ext uri="{FF2B5EF4-FFF2-40B4-BE49-F238E27FC236}">
                <a16:creationId xmlns:a16="http://schemas.microsoft.com/office/drawing/2014/main" id="{A4B01472-23D9-FAE1-9C31-3C65979447F7}"/>
              </a:ext>
            </a:extLst>
          </p:cNvPr>
          <p:cNvPicPr>
            <a:picLocks noChangeAspect="1"/>
          </p:cNvPicPr>
          <p:nvPr/>
        </p:nvPicPr>
        <p:blipFill>
          <a:blip r:embed="rId2"/>
          <a:stretch>
            <a:fillRect/>
          </a:stretch>
        </p:blipFill>
        <p:spPr>
          <a:xfrm>
            <a:off x="252699" y="2328869"/>
            <a:ext cx="8638602" cy="3992418"/>
          </a:xfrm>
          <a:prstGeom prst="rect">
            <a:avLst/>
          </a:prstGeom>
        </p:spPr>
      </p:pic>
    </p:spTree>
    <p:extLst>
      <p:ext uri="{BB962C8B-B14F-4D97-AF65-F5344CB8AC3E}">
        <p14:creationId xmlns:p14="http://schemas.microsoft.com/office/powerpoint/2010/main" val="10983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4FBB1F-4D27-C60D-64DF-E427F2677803}"/>
              </a:ext>
            </a:extLst>
          </p:cNvPr>
          <p:cNvSpPr>
            <a:spLocks noGrp="1"/>
          </p:cNvSpPr>
          <p:nvPr>
            <p:ph type="title"/>
          </p:nvPr>
        </p:nvSpPr>
        <p:spPr/>
        <p:txBody>
          <a:bodyPr/>
          <a:lstStyle/>
          <a:p>
            <a:r>
              <a:rPr lang="es-AR" dirty="0"/>
              <a:t>Práctica</a:t>
            </a:r>
          </a:p>
        </p:txBody>
      </p:sp>
      <p:sp>
        <p:nvSpPr>
          <p:cNvPr id="3" name="Marcador de contenido 2">
            <a:extLst>
              <a:ext uri="{FF2B5EF4-FFF2-40B4-BE49-F238E27FC236}">
                <a16:creationId xmlns:a16="http://schemas.microsoft.com/office/drawing/2014/main" id="{07C97FF7-67BE-9B10-80AE-78A7925118E3}"/>
              </a:ext>
            </a:extLst>
          </p:cNvPr>
          <p:cNvSpPr>
            <a:spLocks noGrp="1"/>
          </p:cNvSpPr>
          <p:nvPr>
            <p:ph idx="1"/>
          </p:nvPr>
        </p:nvSpPr>
        <p:spPr>
          <a:xfrm>
            <a:off x="864382" y="2489200"/>
            <a:ext cx="7573940" cy="3530600"/>
          </a:xfrm>
        </p:spPr>
        <p:txBody>
          <a:bodyPr/>
          <a:lstStyle/>
          <a:p>
            <a:r>
              <a:rPr lang="es-AR" dirty="0"/>
              <a:t>Realizar el ejercicio de aplicación de patrones “</a:t>
            </a:r>
            <a:r>
              <a:rPr lang="es-AR" b="1" dirty="0"/>
              <a:t>For Sale</a:t>
            </a:r>
            <a:r>
              <a:rPr lang="es-AR" dirty="0"/>
              <a:t>”</a:t>
            </a:r>
          </a:p>
          <a:p>
            <a:r>
              <a:rPr lang="es-AR" dirty="0"/>
              <a:t>Realizar el ejercicio de aplicación de patrones “</a:t>
            </a:r>
            <a:r>
              <a:rPr lang="es-AR" b="1" dirty="0"/>
              <a:t>Flip Flop</a:t>
            </a:r>
            <a:r>
              <a:rPr lang="es-AR" dirty="0"/>
              <a:t>”</a:t>
            </a:r>
          </a:p>
        </p:txBody>
      </p:sp>
    </p:spTree>
    <p:extLst>
      <p:ext uri="{BB962C8B-B14F-4D97-AF65-F5344CB8AC3E}">
        <p14:creationId xmlns:p14="http://schemas.microsoft.com/office/powerpoint/2010/main" val="162759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441F50-EB85-570C-B305-B5AD8D3A1FC1}"/>
              </a:ext>
            </a:extLst>
          </p:cNvPr>
          <p:cNvSpPr>
            <a:spLocks noGrp="1"/>
          </p:cNvSpPr>
          <p:nvPr>
            <p:ph type="title"/>
          </p:nvPr>
        </p:nvSpPr>
        <p:spPr/>
        <p:txBody>
          <a:bodyPr/>
          <a:lstStyle/>
          <a:p>
            <a:r>
              <a:rPr lang="es-AR" dirty="0"/>
              <a:t>Magic Café ☕✨</a:t>
            </a:r>
          </a:p>
        </p:txBody>
      </p:sp>
      <p:sp>
        <p:nvSpPr>
          <p:cNvPr id="3" name="Marcador de contenido 2">
            <a:extLst>
              <a:ext uri="{FF2B5EF4-FFF2-40B4-BE49-F238E27FC236}">
                <a16:creationId xmlns:a16="http://schemas.microsoft.com/office/drawing/2014/main" id="{40B7B451-CF52-E0F0-C5D7-26043419F402}"/>
              </a:ext>
            </a:extLst>
          </p:cNvPr>
          <p:cNvSpPr>
            <a:spLocks noGrp="1"/>
          </p:cNvSpPr>
          <p:nvPr>
            <p:ph idx="1"/>
          </p:nvPr>
        </p:nvSpPr>
        <p:spPr>
          <a:xfrm>
            <a:off x="864381" y="2489200"/>
            <a:ext cx="7535547" cy="3530600"/>
          </a:xfrm>
        </p:spPr>
        <p:txBody>
          <a:bodyPr>
            <a:normAutofit/>
          </a:bodyPr>
          <a:lstStyle/>
          <a:p>
            <a:r>
              <a:rPr lang="es-AR" dirty="0"/>
              <a:t>De manejar estados con </a:t>
            </a:r>
            <a:r>
              <a:rPr lang="es-AR" dirty="0" err="1"/>
              <a:t>if</a:t>
            </a:r>
            <a:r>
              <a:rPr lang="es-AR" dirty="0"/>
              <a:t>/</a:t>
            </a:r>
            <a:r>
              <a:rPr lang="es-AR" dirty="0" err="1"/>
              <a:t>else</a:t>
            </a:r>
            <a:br>
              <a:rPr lang="es-AR" dirty="0"/>
            </a:br>
            <a:r>
              <a:rPr lang="es-AR" dirty="0"/>
              <a:t>→ a encapsular comportamiento por estado</a:t>
            </a:r>
          </a:p>
          <a:p>
            <a:r>
              <a:rPr lang="es-AR" dirty="0" err="1"/>
              <a:t>MagicCafe</a:t>
            </a:r>
            <a:r>
              <a:rPr lang="es-AR" dirty="0"/>
              <a:t> ya tiene:</a:t>
            </a:r>
          </a:p>
          <a:p>
            <a:pPr lvl="1"/>
            <a:r>
              <a:rPr lang="es-AR" dirty="0" err="1"/>
              <a:t>Hibernate</a:t>
            </a:r>
            <a:r>
              <a:rPr lang="es-AR" dirty="0"/>
              <a:t>/JPA</a:t>
            </a:r>
          </a:p>
          <a:p>
            <a:pPr lvl="1"/>
            <a:r>
              <a:rPr lang="es-AR" dirty="0" err="1"/>
              <a:t>Clean</a:t>
            </a:r>
            <a:r>
              <a:rPr lang="es-AR" dirty="0"/>
              <a:t> </a:t>
            </a:r>
            <a:r>
              <a:rPr lang="es-AR" dirty="0" err="1"/>
              <a:t>Architecture</a:t>
            </a:r>
            <a:endParaRPr lang="es-AR" dirty="0"/>
          </a:p>
          <a:p>
            <a:pPr lvl="1"/>
            <a:r>
              <a:rPr lang="es-AR" dirty="0"/>
              <a:t>Composite</a:t>
            </a:r>
          </a:p>
          <a:p>
            <a:pPr lvl="1"/>
            <a:r>
              <a:rPr lang="es-AR" dirty="0" err="1"/>
              <a:t>Decorator</a:t>
            </a:r>
            <a:endParaRPr lang="es-AR" dirty="0"/>
          </a:p>
          <a:p>
            <a:pPr lvl="1"/>
            <a:r>
              <a:rPr lang="es-AR" dirty="0" err="1"/>
              <a:t>Strategy</a:t>
            </a:r>
            <a:endParaRPr lang="es-AR" dirty="0"/>
          </a:p>
          <a:p>
            <a:r>
              <a:rPr lang="es-AR" dirty="0"/>
              <a:t>Ahora queremos manejar el ciclo de vida del Pedido.</a:t>
            </a:r>
          </a:p>
          <a:p>
            <a:endParaRPr lang="es-AR" dirty="0"/>
          </a:p>
        </p:txBody>
      </p:sp>
    </p:spTree>
    <p:extLst>
      <p:ext uri="{BB962C8B-B14F-4D97-AF65-F5344CB8AC3E}">
        <p14:creationId xmlns:p14="http://schemas.microsoft.com/office/powerpoint/2010/main" val="1743601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CD3AAB-2A40-D4A6-E935-CB653829D785}"/>
              </a:ext>
            </a:extLst>
          </p:cNvPr>
          <p:cNvSpPr>
            <a:spLocks noGrp="1"/>
          </p:cNvSpPr>
          <p:nvPr>
            <p:ph type="title"/>
          </p:nvPr>
        </p:nvSpPr>
        <p:spPr/>
        <p:txBody>
          <a:bodyPr/>
          <a:lstStyle/>
          <a:p>
            <a:r>
              <a:rPr lang="es-AR" dirty="0"/>
              <a:t>Problema de diseño</a:t>
            </a:r>
          </a:p>
        </p:txBody>
      </p:sp>
      <p:sp>
        <p:nvSpPr>
          <p:cNvPr id="3" name="Marcador de contenido 2">
            <a:extLst>
              <a:ext uri="{FF2B5EF4-FFF2-40B4-BE49-F238E27FC236}">
                <a16:creationId xmlns:a16="http://schemas.microsoft.com/office/drawing/2014/main" id="{46F48CA7-058A-884A-8F60-6546DD1EEC66}"/>
              </a:ext>
            </a:extLst>
          </p:cNvPr>
          <p:cNvSpPr>
            <a:spLocks noGrp="1"/>
          </p:cNvSpPr>
          <p:nvPr>
            <p:ph idx="1"/>
          </p:nvPr>
        </p:nvSpPr>
        <p:spPr>
          <a:xfrm>
            <a:off x="864382" y="2489200"/>
            <a:ext cx="7741736" cy="3530600"/>
          </a:xfrm>
        </p:spPr>
        <p:txBody>
          <a:bodyPr/>
          <a:lstStyle/>
          <a:p>
            <a:r>
              <a:rPr lang="es-AR" dirty="0"/>
              <a:t>Antes podríamos hacer</a:t>
            </a:r>
          </a:p>
          <a:p>
            <a:endParaRPr lang="es-AR" dirty="0"/>
          </a:p>
          <a:p>
            <a:endParaRPr lang="es-AR" dirty="0"/>
          </a:p>
          <a:p>
            <a:endParaRPr lang="es-AR" dirty="0"/>
          </a:p>
          <a:p>
            <a:endParaRPr lang="es-AR" dirty="0"/>
          </a:p>
          <a:p>
            <a:r>
              <a:rPr lang="es-AR" dirty="0"/>
              <a:t>Problemas:</a:t>
            </a:r>
          </a:p>
          <a:p>
            <a:pPr lvl="1"/>
            <a:r>
              <a:rPr lang="es-AR" dirty="0"/>
              <a:t>mucho </a:t>
            </a:r>
            <a:r>
              <a:rPr lang="es-AR" dirty="0" err="1"/>
              <a:t>if</a:t>
            </a:r>
            <a:r>
              <a:rPr lang="es-AR" dirty="0"/>
              <a:t>/</a:t>
            </a:r>
            <a:r>
              <a:rPr lang="es-AR" dirty="0" err="1"/>
              <a:t>else</a:t>
            </a:r>
            <a:endParaRPr lang="es-AR" dirty="0"/>
          </a:p>
          <a:p>
            <a:pPr lvl="1"/>
            <a:r>
              <a:rPr lang="es-AR" dirty="0"/>
              <a:t>difícil mantener</a:t>
            </a:r>
          </a:p>
          <a:p>
            <a:pPr lvl="1"/>
            <a:r>
              <a:rPr lang="es-AR" dirty="0"/>
              <a:t>reglas dispersas</a:t>
            </a:r>
          </a:p>
          <a:p>
            <a:endParaRPr lang="es-AR" dirty="0"/>
          </a:p>
        </p:txBody>
      </p:sp>
      <p:sp>
        <p:nvSpPr>
          <p:cNvPr id="4" name="Rounded Rectangle 8">
            <a:extLst>
              <a:ext uri="{FF2B5EF4-FFF2-40B4-BE49-F238E27FC236}">
                <a16:creationId xmlns:a16="http://schemas.microsoft.com/office/drawing/2014/main" id="{2437F105-BF23-C394-2FE7-0B88E2AE5A6E}"/>
              </a:ext>
            </a:extLst>
          </p:cNvPr>
          <p:cNvSpPr/>
          <p:nvPr/>
        </p:nvSpPr>
        <p:spPr>
          <a:xfrm>
            <a:off x="2229401" y="2951315"/>
            <a:ext cx="4980241" cy="1351743"/>
          </a:xfrm>
          <a:prstGeom prst="roundRect">
            <a:avLst>
              <a:gd name="adj" fmla="val 8971"/>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382EE9C4-50E6-89BC-5D75-ACEC3FF2D8C9}"/>
              </a:ext>
            </a:extLst>
          </p:cNvPr>
          <p:cNvSpPr txBox="1"/>
          <p:nvPr/>
        </p:nvSpPr>
        <p:spPr>
          <a:xfrm>
            <a:off x="2393993" y="3079330"/>
            <a:ext cx="4693379" cy="1015663"/>
          </a:xfrm>
          <a:prstGeom prst="rect">
            <a:avLst/>
          </a:prstGeom>
          <a:noFill/>
        </p:spPr>
        <p:txBody>
          <a:bodyPr wrap="square" lIns="18288" rIns="18288">
            <a:spAutoFit/>
          </a:bodyPr>
          <a:lstStyle/>
          <a:p>
            <a:pPr>
              <a:defRPr sz="1200">
                <a:solidFill>
                  <a:srgbClr val="EFE6FF"/>
                </a:solidFill>
                <a:latin typeface="Consolas"/>
              </a:defRPr>
            </a:pPr>
            <a:r>
              <a:rPr lang="es-AR" dirty="0" err="1"/>
              <a:t>if</a:t>
            </a:r>
            <a:r>
              <a:rPr lang="es-AR" dirty="0"/>
              <a:t>(</a:t>
            </a:r>
            <a:r>
              <a:rPr lang="es-AR" dirty="0" err="1"/>
              <a:t>estado.equals</a:t>
            </a:r>
            <a:r>
              <a:rPr lang="es-AR" dirty="0"/>
              <a:t>("CREADO")) {</a:t>
            </a:r>
            <a:br>
              <a:rPr lang="es-AR" dirty="0"/>
            </a:br>
            <a:r>
              <a:rPr lang="es-AR" dirty="0"/>
              <a:t>   ...</a:t>
            </a:r>
            <a:br>
              <a:rPr lang="es-AR" dirty="0"/>
            </a:br>
            <a:r>
              <a:rPr lang="es-AR" dirty="0"/>
              <a:t>} </a:t>
            </a:r>
            <a:r>
              <a:rPr lang="es-AR" dirty="0" err="1"/>
              <a:t>else</a:t>
            </a:r>
            <a:r>
              <a:rPr lang="es-AR" dirty="0"/>
              <a:t> </a:t>
            </a:r>
            <a:r>
              <a:rPr lang="es-AR" dirty="0" err="1"/>
              <a:t>if</a:t>
            </a:r>
            <a:r>
              <a:rPr lang="es-AR" dirty="0"/>
              <a:t>(...) {</a:t>
            </a:r>
            <a:br>
              <a:rPr lang="es-AR" dirty="0"/>
            </a:br>
            <a:r>
              <a:rPr lang="es-AR" dirty="0"/>
              <a:t>   ...</a:t>
            </a:r>
            <a:br>
              <a:rPr lang="es-AR" dirty="0"/>
            </a:br>
            <a:r>
              <a:rPr lang="es-AR" dirty="0"/>
              <a:t>}</a:t>
            </a:r>
            <a:endParaRPr dirty="0"/>
          </a:p>
        </p:txBody>
      </p:sp>
    </p:spTree>
    <p:extLst>
      <p:ext uri="{BB962C8B-B14F-4D97-AF65-F5344CB8AC3E}">
        <p14:creationId xmlns:p14="http://schemas.microsoft.com/office/powerpoint/2010/main" val="1175784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67DD4F-454C-4E17-9178-2BFB6B16C28F}"/>
              </a:ext>
            </a:extLst>
          </p:cNvPr>
          <p:cNvSpPr>
            <a:spLocks noGrp="1"/>
          </p:cNvSpPr>
          <p:nvPr>
            <p:ph type="title"/>
          </p:nvPr>
        </p:nvSpPr>
        <p:spPr/>
        <p:txBody>
          <a:bodyPr/>
          <a:lstStyle/>
          <a:p>
            <a:r>
              <a:rPr lang="es-AR" dirty="0"/>
              <a:t>Patrón State</a:t>
            </a:r>
          </a:p>
        </p:txBody>
      </p:sp>
      <p:sp>
        <p:nvSpPr>
          <p:cNvPr id="12" name="Marcador de contenido 2">
            <a:extLst>
              <a:ext uri="{FF2B5EF4-FFF2-40B4-BE49-F238E27FC236}">
                <a16:creationId xmlns:a16="http://schemas.microsoft.com/office/drawing/2014/main" id="{7B3F0860-4212-C9C0-0ABE-5DDB4AB2D603}"/>
              </a:ext>
            </a:extLst>
          </p:cNvPr>
          <p:cNvSpPr>
            <a:spLocks noGrp="1"/>
          </p:cNvSpPr>
          <p:nvPr>
            <p:ph idx="1"/>
          </p:nvPr>
        </p:nvSpPr>
        <p:spPr>
          <a:xfrm>
            <a:off x="673428" y="2400302"/>
            <a:ext cx="3611701" cy="2024857"/>
          </a:xfrm>
        </p:spPr>
        <p:txBody>
          <a:bodyPr/>
          <a:lstStyle/>
          <a:p>
            <a:r>
              <a:rPr lang="es-AR" dirty="0"/>
              <a:t>Del pedido con condicionales al pedido que delega comportamiento en estados concretos.</a:t>
            </a:r>
          </a:p>
        </p:txBody>
      </p:sp>
      <p:sp>
        <p:nvSpPr>
          <p:cNvPr id="13" name="Shape 10">
            <a:extLst>
              <a:ext uri="{FF2B5EF4-FFF2-40B4-BE49-F238E27FC236}">
                <a16:creationId xmlns:a16="http://schemas.microsoft.com/office/drawing/2014/main" id="{37FDA1B0-08BA-8AC9-BB25-75264129B99F}"/>
              </a:ext>
            </a:extLst>
          </p:cNvPr>
          <p:cNvSpPr/>
          <p:nvPr/>
        </p:nvSpPr>
        <p:spPr>
          <a:xfrm>
            <a:off x="4572000" y="2312895"/>
            <a:ext cx="3977640" cy="3977640"/>
          </a:xfrm>
          <a:prstGeom prst="roundRect">
            <a:avLst>
              <a:gd name="adj" fmla="val 3678"/>
            </a:avLst>
          </a:prstGeom>
          <a:solidFill>
            <a:srgbClr val="1B2033">
              <a:alpha val="96000"/>
            </a:srgbClr>
          </a:solidFill>
          <a:ln w="12700">
            <a:solidFill>
              <a:srgbClr val="38405F"/>
            </a:solidFill>
            <a:prstDash val="solid"/>
          </a:ln>
        </p:spPr>
        <p:txBody>
          <a:bodyPr/>
          <a:lstStyle/>
          <a:p>
            <a:endParaRPr lang="es-AR"/>
          </a:p>
        </p:txBody>
      </p:sp>
      <p:sp>
        <p:nvSpPr>
          <p:cNvPr id="14" name="Shape 11">
            <a:extLst>
              <a:ext uri="{FF2B5EF4-FFF2-40B4-BE49-F238E27FC236}">
                <a16:creationId xmlns:a16="http://schemas.microsoft.com/office/drawing/2014/main" id="{A078091D-5D74-65C0-EC1A-AD86CBDCF641}"/>
              </a:ext>
            </a:extLst>
          </p:cNvPr>
          <p:cNvSpPr/>
          <p:nvPr/>
        </p:nvSpPr>
        <p:spPr>
          <a:xfrm>
            <a:off x="5074920" y="2815815"/>
            <a:ext cx="1234440" cy="566928"/>
          </a:xfrm>
          <a:prstGeom prst="roundRect">
            <a:avLst>
              <a:gd name="adj" fmla="val 12903"/>
            </a:avLst>
          </a:prstGeom>
          <a:solidFill>
            <a:srgbClr val="242A44"/>
          </a:solidFill>
          <a:ln w="20320">
            <a:solidFill>
              <a:srgbClr val="8A5CFF"/>
            </a:solidFill>
            <a:prstDash val="solid"/>
          </a:ln>
        </p:spPr>
        <p:txBody>
          <a:bodyPr/>
          <a:lstStyle/>
          <a:p>
            <a:endParaRPr lang="es-AR"/>
          </a:p>
        </p:txBody>
      </p:sp>
      <p:sp>
        <p:nvSpPr>
          <p:cNvPr id="15" name="Text 12">
            <a:extLst>
              <a:ext uri="{FF2B5EF4-FFF2-40B4-BE49-F238E27FC236}">
                <a16:creationId xmlns:a16="http://schemas.microsoft.com/office/drawing/2014/main" id="{BF6EF724-719C-EBE8-692D-1EC962DE77B0}"/>
              </a:ext>
            </a:extLst>
          </p:cNvPr>
          <p:cNvSpPr/>
          <p:nvPr/>
        </p:nvSpPr>
        <p:spPr>
          <a:xfrm>
            <a:off x="5148072" y="2998695"/>
            <a:ext cx="108813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CREADO</a:t>
            </a:r>
            <a:endParaRPr lang="en-US" sz="1050" dirty="0"/>
          </a:p>
        </p:txBody>
      </p:sp>
      <p:sp>
        <p:nvSpPr>
          <p:cNvPr id="16" name="Shape 13">
            <a:extLst>
              <a:ext uri="{FF2B5EF4-FFF2-40B4-BE49-F238E27FC236}">
                <a16:creationId xmlns:a16="http://schemas.microsoft.com/office/drawing/2014/main" id="{DDCE262F-59B4-FE38-DC0B-83BEAF8890FE}"/>
              </a:ext>
            </a:extLst>
          </p:cNvPr>
          <p:cNvSpPr/>
          <p:nvPr/>
        </p:nvSpPr>
        <p:spPr>
          <a:xfrm>
            <a:off x="6812280" y="2815815"/>
            <a:ext cx="1234440" cy="566928"/>
          </a:xfrm>
          <a:prstGeom prst="roundRect">
            <a:avLst>
              <a:gd name="adj" fmla="val 12903"/>
            </a:avLst>
          </a:prstGeom>
          <a:solidFill>
            <a:srgbClr val="242A44"/>
          </a:solidFill>
          <a:ln w="20320">
            <a:solidFill>
              <a:srgbClr val="35E0D4"/>
            </a:solidFill>
            <a:prstDash val="solid"/>
          </a:ln>
        </p:spPr>
        <p:txBody>
          <a:bodyPr/>
          <a:lstStyle/>
          <a:p>
            <a:endParaRPr lang="es-AR"/>
          </a:p>
        </p:txBody>
      </p:sp>
      <p:sp>
        <p:nvSpPr>
          <p:cNvPr id="17" name="Text 14">
            <a:extLst>
              <a:ext uri="{FF2B5EF4-FFF2-40B4-BE49-F238E27FC236}">
                <a16:creationId xmlns:a16="http://schemas.microsoft.com/office/drawing/2014/main" id="{349D88BF-5682-3DC5-3309-6764FD925A66}"/>
              </a:ext>
            </a:extLst>
          </p:cNvPr>
          <p:cNvSpPr/>
          <p:nvPr/>
        </p:nvSpPr>
        <p:spPr>
          <a:xfrm>
            <a:off x="6885432" y="2998695"/>
            <a:ext cx="108813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PAGADO</a:t>
            </a:r>
            <a:endParaRPr lang="en-US" sz="1050" dirty="0"/>
          </a:p>
        </p:txBody>
      </p:sp>
      <p:sp>
        <p:nvSpPr>
          <p:cNvPr id="18" name="Shape 15">
            <a:extLst>
              <a:ext uri="{FF2B5EF4-FFF2-40B4-BE49-F238E27FC236}">
                <a16:creationId xmlns:a16="http://schemas.microsoft.com/office/drawing/2014/main" id="{82F71A1F-40EB-158C-5F3B-48F519A6981B}"/>
              </a:ext>
            </a:extLst>
          </p:cNvPr>
          <p:cNvSpPr/>
          <p:nvPr/>
        </p:nvSpPr>
        <p:spPr>
          <a:xfrm>
            <a:off x="5074920" y="4095975"/>
            <a:ext cx="1417320" cy="566928"/>
          </a:xfrm>
          <a:prstGeom prst="roundRect">
            <a:avLst>
              <a:gd name="adj" fmla="val 12903"/>
            </a:avLst>
          </a:prstGeom>
          <a:solidFill>
            <a:srgbClr val="242A44"/>
          </a:solidFill>
          <a:ln w="20320">
            <a:solidFill>
              <a:srgbClr val="FFB86B"/>
            </a:solidFill>
            <a:prstDash val="solid"/>
          </a:ln>
        </p:spPr>
        <p:txBody>
          <a:bodyPr/>
          <a:lstStyle/>
          <a:p>
            <a:endParaRPr lang="es-AR"/>
          </a:p>
        </p:txBody>
      </p:sp>
      <p:sp>
        <p:nvSpPr>
          <p:cNvPr id="19" name="Text 16">
            <a:extLst>
              <a:ext uri="{FF2B5EF4-FFF2-40B4-BE49-F238E27FC236}">
                <a16:creationId xmlns:a16="http://schemas.microsoft.com/office/drawing/2014/main" id="{7BFD2900-AE6A-B3C2-4F4A-E8F106D13B7A}"/>
              </a:ext>
            </a:extLst>
          </p:cNvPr>
          <p:cNvSpPr/>
          <p:nvPr/>
        </p:nvSpPr>
        <p:spPr>
          <a:xfrm>
            <a:off x="5148072" y="4278855"/>
            <a:ext cx="127101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PREPARANDO</a:t>
            </a:r>
            <a:endParaRPr lang="en-US" sz="1050" dirty="0"/>
          </a:p>
        </p:txBody>
      </p:sp>
      <p:sp>
        <p:nvSpPr>
          <p:cNvPr id="20" name="Shape 17">
            <a:extLst>
              <a:ext uri="{FF2B5EF4-FFF2-40B4-BE49-F238E27FC236}">
                <a16:creationId xmlns:a16="http://schemas.microsoft.com/office/drawing/2014/main" id="{0B0592EC-CC6B-39C5-44E5-5FEBBEC519F7}"/>
              </a:ext>
            </a:extLst>
          </p:cNvPr>
          <p:cNvSpPr/>
          <p:nvPr/>
        </p:nvSpPr>
        <p:spPr>
          <a:xfrm>
            <a:off x="5074920" y="5284695"/>
            <a:ext cx="1325880" cy="566928"/>
          </a:xfrm>
          <a:prstGeom prst="roundRect">
            <a:avLst>
              <a:gd name="adj" fmla="val 12903"/>
            </a:avLst>
          </a:prstGeom>
          <a:solidFill>
            <a:srgbClr val="242A44"/>
          </a:solidFill>
          <a:ln w="20320">
            <a:solidFill>
              <a:srgbClr val="58D68D"/>
            </a:solidFill>
            <a:prstDash val="solid"/>
          </a:ln>
        </p:spPr>
        <p:txBody>
          <a:bodyPr/>
          <a:lstStyle/>
          <a:p>
            <a:endParaRPr lang="es-AR"/>
          </a:p>
        </p:txBody>
      </p:sp>
      <p:sp>
        <p:nvSpPr>
          <p:cNvPr id="21" name="Text 18">
            <a:extLst>
              <a:ext uri="{FF2B5EF4-FFF2-40B4-BE49-F238E27FC236}">
                <a16:creationId xmlns:a16="http://schemas.microsoft.com/office/drawing/2014/main" id="{970A6D41-BB0C-B02B-0456-7FD7E1A43BD9}"/>
              </a:ext>
            </a:extLst>
          </p:cNvPr>
          <p:cNvSpPr/>
          <p:nvPr/>
        </p:nvSpPr>
        <p:spPr>
          <a:xfrm>
            <a:off x="5148072" y="5467575"/>
            <a:ext cx="117957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ENTREGADO</a:t>
            </a:r>
            <a:endParaRPr lang="en-US" sz="1050" dirty="0"/>
          </a:p>
        </p:txBody>
      </p:sp>
      <p:sp>
        <p:nvSpPr>
          <p:cNvPr id="22" name="Shape 19">
            <a:extLst>
              <a:ext uri="{FF2B5EF4-FFF2-40B4-BE49-F238E27FC236}">
                <a16:creationId xmlns:a16="http://schemas.microsoft.com/office/drawing/2014/main" id="{94E46941-1E98-0B10-8687-5736681D6B0E}"/>
              </a:ext>
            </a:extLst>
          </p:cNvPr>
          <p:cNvSpPr/>
          <p:nvPr/>
        </p:nvSpPr>
        <p:spPr>
          <a:xfrm>
            <a:off x="6784848" y="5284695"/>
            <a:ext cx="1325880" cy="566928"/>
          </a:xfrm>
          <a:prstGeom prst="roundRect">
            <a:avLst>
              <a:gd name="adj" fmla="val 12903"/>
            </a:avLst>
          </a:prstGeom>
          <a:solidFill>
            <a:srgbClr val="242A44"/>
          </a:solidFill>
          <a:ln w="20320">
            <a:solidFill>
              <a:srgbClr val="FF5C7A"/>
            </a:solidFill>
            <a:prstDash val="solid"/>
          </a:ln>
        </p:spPr>
        <p:txBody>
          <a:bodyPr/>
          <a:lstStyle/>
          <a:p>
            <a:endParaRPr lang="es-AR"/>
          </a:p>
        </p:txBody>
      </p:sp>
      <p:sp>
        <p:nvSpPr>
          <p:cNvPr id="23" name="Text 20">
            <a:extLst>
              <a:ext uri="{FF2B5EF4-FFF2-40B4-BE49-F238E27FC236}">
                <a16:creationId xmlns:a16="http://schemas.microsoft.com/office/drawing/2014/main" id="{5C697D0C-0B33-61BB-16DC-0121C03783FE}"/>
              </a:ext>
            </a:extLst>
          </p:cNvPr>
          <p:cNvSpPr/>
          <p:nvPr/>
        </p:nvSpPr>
        <p:spPr>
          <a:xfrm>
            <a:off x="6858000" y="5467575"/>
            <a:ext cx="117957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CANCELADO</a:t>
            </a:r>
            <a:endParaRPr lang="en-US" sz="1050" dirty="0"/>
          </a:p>
        </p:txBody>
      </p:sp>
      <p:sp>
        <p:nvSpPr>
          <p:cNvPr id="24" name="Shape 21">
            <a:extLst>
              <a:ext uri="{FF2B5EF4-FFF2-40B4-BE49-F238E27FC236}">
                <a16:creationId xmlns:a16="http://schemas.microsoft.com/office/drawing/2014/main" id="{DB43A62C-8E22-9C74-F186-3CF9AB829CB3}"/>
              </a:ext>
            </a:extLst>
          </p:cNvPr>
          <p:cNvSpPr/>
          <p:nvPr/>
        </p:nvSpPr>
        <p:spPr>
          <a:xfrm>
            <a:off x="6327648" y="3099279"/>
            <a:ext cx="457200" cy="0"/>
          </a:xfrm>
          <a:prstGeom prst="line">
            <a:avLst/>
          </a:prstGeom>
          <a:noFill/>
          <a:ln w="20320">
            <a:solidFill>
              <a:srgbClr val="B8BCD4"/>
            </a:solidFill>
            <a:prstDash val="solid"/>
            <a:headEnd type="none"/>
            <a:tailEnd type="triangle"/>
          </a:ln>
        </p:spPr>
        <p:txBody>
          <a:bodyPr/>
          <a:lstStyle/>
          <a:p>
            <a:endParaRPr lang="es-AR"/>
          </a:p>
        </p:txBody>
      </p:sp>
      <p:sp>
        <p:nvSpPr>
          <p:cNvPr id="25" name="Shape 22">
            <a:extLst>
              <a:ext uri="{FF2B5EF4-FFF2-40B4-BE49-F238E27FC236}">
                <a16:creationId xmlns:a16="http://schemas.microsoft.com/office/drawing/2014/main" id="{E14B5162-81D5-F727-D7C9-370335408934}"/>
              </a:ext>
            </a:extLst>
          </p:cNvPr>
          <p:cNvSpPr/>
          <p:nvPr/>
        </p:nvSpPr>
        <p:spPr>
          <a:xfrm flipH="1">
            <a:off x="5743149" y="3391886"/>
            <a:ext cx="1663491" cy="694943"/>
          </a:xfrm>
          <a:prstGeom prst="line">
            <a:avLst/>
          </a:prstGeom>
          <a:noFill/>
          <a:ln w="20320">
            <a:solidFill>
              <a:srgbClr val="B8BCD4"/>
            </a:solidFill>
            <a:prstDash val="solid"/>
            <a:headEnd type="none"/>
            <a:tailEnd type="triangle"/>
          </a:ln>
        </p:spPr>
        <p:txBody>
          <a:bodyPr/>
          <a:lstStyle/>
          <a:p>
            <a:endParaRPr lang="es-AR"/>
          </a:p>
        </p:txBody>
      </p:sp>
      <p:sp>
        <p:nvSpPr>
          <p:cNvPr id="26" name="Shape 23">
            <a:extLst>
              <a:ext uri="{FF2B5EF4-FFF2-40B4-BE49-F238E27FC236}">
                <a16:creationId xmlns:a16="http://schemas.microsoft.com/office/drawing/2014/main" id="{72981910-E0D8-07DB-6AE0-35433F7A1E7D}"/>
              </a:ext>
            </a:extLst>
          </p:cNvPr>
          <p:cNvSpPr/>
          <p:nvPr/>
        </p:nvSpPr>
        <p:spPr>
          <a:xfrm>
            <a:off x="5743149" y="4672047"/>
            <a:ext cx="0" cy="576072"/>
          </a:xfrm>
          <a:prstGeom prst="line">
            <a:avLst/>
          </a:prstGeom>
          <a:noFill/>
          <a:ln w="20320">
            <a:solidFill>
              <a:srgbClr val="B8BCD4"/>
            </a:solidFill>
            <a:prstDash val="solid"/>
            <a:headEnd type="none"/>
            <a:tailEnd type="triangle"/>
          </a:ln>
        </p:spPr>
        <p:txBody>
          <a:bodyPr/>
          <a:lstStyle/>
          <a:p>
            <a:endParaRPr lang="es-AR"/>
          </a:p>
        </p:txBody>
      </p:sp>
      <p:sp>
        <p:nvSpPr>
          <p:cNvPr id="27" name="Text 24">
            <a:extLst>
              <a:ext uri="{FF2B5EF4-FFF2-40B4-BE49-F238E27FC236}">
                <a16:creationId xmlns:a16="http://schemas.microsoft.com/office/drawing/2014/main" id="{2E641A2F-2E18-782C-4B63-6324242EB9B9}"/>
              </a:ext>
            </a:extLst>
          </p:cNvPr>
          <p:cNvSpPr/>
          <p:nvPr/>
        </p:nvSpPr>
        <p:spPr>
          <a:xfrm>
            <a:off x="4974336" y="6418549"/>
            <a:ext cx="3154680" cy="164592"/>
          </a:xfrm>
          <a:prstGeom prst="rect">
            <a:avLst/>
          </a:prstGeom>
          <a:noFill/>
          <a:ln/>
        </p:spPr>
        <p:txBody>
          <a:bodyPr wrap="square" lIns="0" tIns="0" rIns="0" bIns="0" rtlCol="0" anchor="ctr"/>
          <a:lstStyle/>
          <a:p>
            <a:pPr marL="0" indent="0" algn="ctr">
              <a:buNone/>
            </a:pPr>
            <a:r>
              <a:rPr lang="en-US" sz="1100" b="1" dirty="0">
                <a:solidFill>
                  <a:srgbClr val="7F86A8"/>
                </a:solidFill>
                <a:latin typeface="Aptos" pitchFamily="34" charset="0"/>
                <a:ea typeface="Aptos" pitchFamily="34" charset="-122"/>
                <a:cs typeface="Aptos" pitchFamily="34" charset="-120"/>
              </a:rPr>
              <a:t>STATE MACHINE</a:t>
            </a:r>
            <a:endParaRPr lang="en-US" sz="1100" dirty="0"/>
          </a:p>
        </p:txBody>
      </p:sp>
    </p:spTree>
    <p:extLst>
      <p:ext uri="{BB962C8B-B14F-4D97-AF65-F5344CB8AC3E}">
        <p14:creationId xmlns:p14="http://schemas.microsoft.com/office/powerpoint/2010/main" val="865736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5FB0EB-453B-5921-33A9-9484F855FB1C}"/>
              </a:ext>
            </a:extLst>
          </p:cNvPr>
          <p:cNvSpPr>
            <a:spLocks noGrp="1"/>
          </p:cNvSpPr>
          <p:nvPr>
            <p:ph type="title"/>
          </p:nvPr>
        </p:nvSpPr>
        <p:spPr/>
        <p:txBody>
          <a:bodyPr/>
          <a:lstStyle/>
          <a:p>
            <a:r>
              <a:rPr lang="es-AR" dirty="0"/>
              <a:t>Objetivo de la clase</a:t>
            </a:r>
          </a:p>
        </p:txBody>
      </p:sp>
      <p:sp>
        <p:nvSpPr>
          <p:cNvPr id="4" name="Shape 7">
            <a:extLst>
              <a:ext uri="{FF2B5EF4-FFF2-40B4-BE49-F238E27FC236}">
                <a16:creationId xmlns:a16="http://schemas.microsoft.com/office/drawing/2014/main" id="{4AE55B89-EC8C-DB14-1D29-25C3DCF07D60}"/>
              </a:ext>
            </a:extLst>
          </p:cNvPr>
          <p:cNvSpPr/>
          <p:nvPr/>
        </p:nvSpPr>
        <p:spPr>
          <a:xfrm>
            <a:off x="370510" y="2620383"/>
            <a:ext cx="2720789" cy="1234440"/>
          </a:xfrm>
          <a:prstGeom prst="roundRect">
            <a:avLst>
              <a:gd name="adj" fmla="val 5926"/>
            </a:avLst>
          </a:prstGeom>
          <a:solidFill>
            <a:srgbClr val="1B2033"/>
          </a:solidFill>
          <a:ln w="12700">
            <a:solidFill>
              <a:srgbClr val="38405F">
                <a:alpha val="85000"/>
              </a:srgbClr>
            </a:solidFill>
            <a:prstDash val="solid"/>
          </a:ln>
        </p:spPr>
        <p:txBody>
          <a:bodyPr/>
          <a:lstStyle/>
          <a:p>
            <a:endParaRPr lang="es-AR"/>
          </a:p>
        </p:txBody>
      </p:sp>
      <p:sp>
        <p:nvSpPr>
          <p:cNvPr id="5" name="Shape 8">
            <a:extLst>
              <a:ext uri="{FF2B5EF4-FFF2-40B4-BE49-F238E27FC236}">
                <a16:creationId xmlns:a16="http://schemas.microsoft.com/office/drawing/2014/main" id="{06119496-26D6-5080-C308-00FDC7EBB587}"/>
              </a:ext>
            </a:extLst>
          </p:cNvPr>
          <p:cNvSpPr/>
          <p:nvPr/>
        </p:nvSpPr>
        <p:spPr>
          <a:xfrm>
            <a:off x="370510" y="2620383"/>
            <a:ext cx="73152" cy="1234440"/>
          </a:xfrm>
          <a:prstGeom prst="rect">
            <a:avLst/>
          </a:prstGeom>
          <a:solidFill>
            <a:srgbClr val="FF5C7A"/>
          </a:solidFill>
          <a:ln w="12700">
            <a:solidFill>
              <a:srgbClr val="FF5C7A">
                <a:alpha val="0"/>
              </a:srgbClr>
            </a:solidFill>
            <a:prstDash val="solid"/>
          </a:ln>
        </p:spPr>
        <p:txBody>
          <a:bodyPr/>
          <a:lstStyle/>
          <a:p>
            <a:endParaRPr lang="es-AR"/>
          </a:p>
        </p:txBody>
      </p:sp>
      <p:sp>
        <p:nvSpPr>
          <p:cNvPr id="6" name="Text 9">
            <a:extLst>
              <a:ext uri="{FF2B5EF4-FFF2-40B4-BE49-F238E27FC236}">
                <a16:creationId xmlns:a16="http://schemas.microsoft.com/office/drawing/2014/main" id="{97C54933-B0B8-5216-A1A8-30CBC2A9627F}"/>
              </a:ext>
            </a:extLst>
          </p:cNvPr>
          <p:cNvSpPr/>
          <p:nvPr/>
        </p:nvSpPr>
        <p:spPr>
          <a:xfrm>
            <a:off x="535102" y="2757543"/>
            <a:ext cx="2408638"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1. Punto de partida</a:t>
            </a:r>
            <a:endParaRPr lang="en-US" sz="1300" dirty="0"/>
          </a:p>
        </p:txBody>
      </p:sp>
      <p:sp>
        <p:nvSpPr>
          <p:cNvPr id="7" name="Text 10">
            <a:extLst>
              <a:ext uri="{FF2B5EF4-FFF2-40B4-BE49-F238E27FC236}">
                <a16:creationId xmlns:a16="http://schemas.microsoft.com/office/drawing/2014/main" id="{E91E1434-3AD9-20AB-7697-123EADF2E77B}"/>
              </a:ext>
            </a:extLst>
          </p:cNvPr>
          <p:cNvSpPr/>
          <p:nvPr/>
        </p:nvSpPr>
        <p:spPr>
          <a:xfrm>
            <a:off x="535102" y="3095871"/>
            <a:ext cx="2456509" cy="64008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Veremos por qué el ciclo de vida de un pedido suele terminar lleno de if/else.</a:t>
            </a:r>
            <a:endParaRPr lang="en-US" sz="950" dirty="0"/>
          </a:p>
        </p:txBody>
      </p:sp>
      <p:sp>
        <p:nvSpPr>
          <p:cNvPr id="8" name="Shape 11">
            <a:extLst>
              <a:ext uri="{FF2B5EF4-FFF2-40B4-BE49-F238E27FC236}">
                <a16:creationId xmlns:a16="http://schemas.microsoft.com/office/drawing/2014/main" id="{20F24649-D5B8-A384-70CE-1D666ABBE76A}"/>
              </a:ext>
            </a:extLst>
          </p:cNvPr>
          <p:cNvSpPr/>
          <p:nvPr/>
        </p:nvSpPr>
        <p:spPr>
          <a:xfrm>
            <a:off x="3179153" y="2620383"/>
            <a:ext cx="2785693" cy="1234440"/>
          </a:xfrm>
          <a:prstGeom prst="roundRect">
            <a:avLst>
              <a:gd name="adj" fmla="val 5926"/>
            </a:avLst>
          </a:prstGeom>
          <a:solidFill>
            <a:srgbClr val="1B2033"/>
          </a:solidFill>
          <a:ln w="12700">
            <a:solidFill>
              <a:srgbClr val="38405F">
                <a:alpha val="85000"/>
              </a:srgbClr>
            </a:solidFill>
            <a:prstDash val="solid"/>
          </a:ln>
        </p:spPr>
        <p:txBody>
          <a:bodyPr/>
          <a:lstStyle/>
          <a:p>
            <a:endParaRPr lang="es-AR"/>
          </a:p>
        </p:txBody>
      </p:sp>
      <p:sp>
        <p:nvSpPr>
          <p:cNvPr id="9" name="Shape 12">
            <a:extLst>
              <a:ext uri="{FF2B5EF4-FFF2-40B4-BE49-F238E27FC236}">
                <a16:creationId xmlns:a16="http://schemas.microsoft.com/office/drawing/2014/main" id="{C17C7423-9E3E-48FD-F007-AE50ABD7746E}"/>
              </a:ext>
            </a:extLst>
          </p:cNvPr>
          <p:cNvSpPr/>
          <p:nvPr/>
        </p:nvSpPr>
        <p:spPr>
          <a:xfrm>
            <a:off x="3179153" y="2620383"/>
            <a:ext cx="73152" cy="1234440"/>
          </a:xfrm>
          <a:prstGeom prst="rect">
            <a:avLst/>
          </a:prstGeom>
          <a:solidFill>
            <a:srgbClr val="8A5CFF"/>
          </a:solidFill>
          <a:ln w="12700">
            <a:solidFill>
              <a:srgbClr val="8A5CFF">
                <a:alpha val="0"/>
              </a:srgbClr>
            </a:solidFill>
            <a:prstDash val="solid"/>
          </a:ln>
        </p:spPr>
        <p:txBody>
          <a:bodyPr/>
          <a:lstStyle/>
          <a:p>
            <a:endParaRPr lang="es-AR"/>
          </a:p>
        </p:txBody>
      </p:sp>
      <p:sp>
        <p:nvSpPr>
          <p:cNvPr id="10" name="Text 13">
            <a:extLst>
              <a:ext uri="{FF2B5EF4-FFF2-40B4-BE49-F238E27FC236}">
                <a16:creationId xmlns:a16="http://schemas.microsoft.com/office/drawing/2014/main" id="{02BBB788-4D69-58C4-1E89-0DF0B4DCBE89}"/>
              </a:ext>
            </a:extLst>
          </p:cNvPr>
          <p:cNvSpPr/>
          <p:nvPr/>
        </p:nvSpPr>
        <p:spPr>
          <a:xfrm>
            <a:off x="3343745" y="2757543"/>
            <a:ext cx="2547949"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2. Diseño con State</a:t>
            </a:r>
            <a:endParaRPr lang="en-US" sz="1300" dirty="0"/>
          </a:p>
        </p:txBody>
      </p:sp>
      <p:sp>
        <p:nvSpPr>
          <p:cNvPr id="11" name="Text 14">
            <a:extLst>
              <a:ext uri="{FF2B5EF4-FFF2-40B4-BE49-F238E27FC236}">
                <a16:creationId xmlns:a16="http://schemas.microsoft.com/office/drawing/2014/main" id="{1B83E46B-8078-8285-0B6D-254B07D70736}"/>
              </a:ext>
            </a:extLst>
          </p:cNvPr>
          <p:cNvSpPr/>
          <p:nvPr/>
        </p:nvSpPr>
        <p:spPr>
          <a:xfrm>
            <a:off x="3343745" y="3095871"/>
            <a:ext cx="2547949" cy="64008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Separaremos el comportamiento variable en objetos de estado concretos.</a:t>
            </a:r>
            <a:endParaRPr lang="en-US" sz="950" dirty="0"/>
          </a:p>
        </p:txBody>
      </p:sp>
      <p:sp>
        <p:nvSpPr>
          <p:cNvPr id="12" name="Shape 15">
            <a:extLst>
              <a:ext uri="{FF2B5EF4-FFF2-40B4-BE49-F238E27FC236}">
                <a16:creationId xmlns:a16="http://schemas.microsoft.com/office/drawing/2014/main" id="{86CA13D6-E275-EFE8-657D-8B0FAC913D91}"/>
              </a:ext>
            </a:extLst>
          </p:cNvPr>
          <p:cNvSpPr/>
          <p:nvPr/>
        </p:nvSpPr>
        <p:spPr>
          <a:xfrm>
            <a:off x="6052700" y="2620383"/>
            <a:ext cx="2694253" cy="1234440"/>
          </a:xfrm>
          <a:prstGeom prst="roundRect">
            <a:avLst>
              <a:gd name="adj" fmla="val 5926"/>
            </a:avLst>
          </a:prstGeom>
          <a:solidFill>
            <a:srgbClr val="1B2033"/>
          </a:solidFill>
          <a:ln w="12700">
            <a:solidFill>
              <a:srgbClr val="38405F">
                <a:alpha val="85000"/>
              </a:srgbClr>
            </a:solidFill>
            <a:prstDash val="solid"/>
          </a:ln>
        </p:spPr>
        <p:txBody>
          <a:bodyPr/>
          <a:lstStyle/>
          <a:p>
            <a:endParaRPr lang="es-AR"/>
          </a:p>
        </p:txBody>
      </p:sp>
      <p:sp>
        <p:nvSpPr>
          <p:cNvPr id="13" name="Shape 16">
            <a:extLst>
              <a:ext uri="{FF2B5EF4-FFF2-40B4-BE49-F238E27FC236}">
                <a16:creationId xmlns:a16="http://schemas.microsoft.com/office/drawing/2014/main" id="{CFA1EACC-3CD9-C3B6-F57B-9886A32B70BB}"/>
              </a:ext>
            </a:extLst>
          </p:cNvPr>
          <p:cNvSpPr/>
          <p:nvPr/>
        </p:nvSpPr>
        <p:spPr>
          <a:xfrm>
            <a:off x="6052700" y="2620383"/>
            <a:ext cx="73152" cy="1234440"/>
          </a:xfrm>
          <a:prstGeom prst="rect">
            <a:avLst/>
          </a:prstGeom>
          <a:solidFill>
            <a:srgbClr val="35E0D4"/>
          </a:solidFill>
          <a:ln w="12700">
            <a:solidFill>
              <a:srgbClr val="35E0D4">
                <a:alpha val="0"/>
              </a:srgbClr>
            </a:solidFill>
            <a:prstDash val="solid"/>
          </a:ln>
        </p:spPr>
        <p:txBody>
          <a:bodyPr/>
          <a:lstStyle/>
          <a:p>
            <a:endParaRPr lang="es-AR"/>
          </a:p>
        </p:txBody>
      </p:sp>
      <p:sp>
        <p:nvSpPr>
          <p:cNvPr id="14" name="Text 17">
            <a:extLst>
              <a:ext uri="{FF2B5EF4-FFF2-40B4-BE49-F238E27FC236}">
                <a16:creationId xmlns:a16="http://schemas.microsoft.com/office/drawing/2014/main" id="{AEF07D7C-C46C-EE1D-FFB0-F7D29A9E4C50}"/>
              </a:ext>
            </a:extLst>
          </p:cNvPr>
          <p:cNvSpPr/>
          <p:nvPr/>
        </p:nvSpPr>
        <p:spPr>
          <a:xfrm>
            <a:off x="6430563" y="2757543"/>
            <a:ext cx="224019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3. Aplicación real</a:t>
            </a:r>
            <a:endParaRPr lang="en-US" sz="1300" dirty="0"/>
          </a:p>
        </p:txBody>
      </p:sp>
      <p:sp>
        <p:nvSpPr>
          <p:cNvPr id="15" name="Text 18">
            <a:extLst>
              <a:ext uri="{FF2B5EF4-FFF2-40B4-BE49-F238E27FC236}">
                <a16:creationId xmlns:a16="http://schemas.microsoft.com/office/drawing/2014/main" id="{959A9F61-9CDC-BC85-E08D-65775B5B09E1}"/>
              </a:ext>
            </a:extLst>
          </p:cNvPr>
          <p:cNvSpPr/>
          <p:nvPr/>
        </p:nvSpPr>
        <p:spPr>
          <a:xfrm>
            <a:off x="6217292" y="3095871"/>
            <a:ext cx="2453461" cy="64008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Mostraremos cómo quedó aplicado en Pedido, MagicCafeService y JPA.</a:t>
            </a:r>
            <a:endParaRPr lang="en-US" sz="950" dirty="0"/>
          </a:p>
        </p:txBody>
      </p:sp>
      <p:sp>
        <p:nvSpPr>
          <p:cNvPr id="16" name="Shape 19">
            <a:extLst>
              <a:ext uri="{FF2B5EF4-FFF2-40B4-BE49-F238E27FC236}">
                <a16:creationId xmlns:a16="http://schemas.microsoft.com/office/drawing/2014/main" id="{DA4E5F37-BFB2-D233-9344-B1E8632AE8B4}"/>
              </a:ext>
            </a:extLst>
          </p:cNvPr>
          <p:cNvSpPr/>
          <p:nvPr/>
        </p:nvSpPr>
        <p:spPr>
          <a:xfrm>
            <a:off x="1847984" y="4330311"/>
            <a:ext cx="2024769" cy="0"/>
          </a:xfrm>
          <a:prstGeom prst="line">
            <a:avLst/>
          </a:prstGeom>
          <a:noFill/>
          <a:ln w="17780">
            <a:solidFill>
              <a:srgbClr val="B8BCD4"/>
            </a:solidFill>
            <a:prstDash val="solid"/>
            <a:headEnd type="none"/>
            <a:tailEnd type="triangle"/>
          </a:ln>
        </p:spPr>
        <p:txBody>
          <a:bodyPr/>
          <a:lstStyle/>
          <a:p>
            <a:endParaRPr lang="es-AR"/>
          </a:p>
        </p:txBody>
      </p:sp>
      <p:sp>
        <p:nvSpPr>
          <p:cNvPr id="18" name="Shape 21">
            <a:extLst>
              <a:ext uri="{FF2B5EF4-FFF2-40B4-BE49-F238E27FC236}">
                <a16:creationId xmlns:a16="http://schemas.microsoft.com/office/drawing/2014/main" id="{1E43B6C7-5152-BF69-5A36-B3C4750D5855}"/>
              </a:ext>
            </a:extLst>
          </p:cNvPr>
          <p:cNvSpPr/>
          <p:nvPr/>
        </p:nvSpPr>
        <p:spPr>
          <a:xfrm>
            <a:off x="1093604" y="4019415"/>
            <a:ext cx="1234440" cy="621792"/>
          </a:xfrm>
          <a:prstGeom prst="roundRect">
            <a:avLst>
              <a:gd name="adj" fmla="val 11765"/>
            </a:avLst>
          </a:prstGeom>
          <a:solidFill>
            <a:srgbClr val="242A44"/>
          </a:solidFill>
          <a:ln w="20320">
            <a:solidFill>
              <a:srgbClr val="FF5C7A"/>
            </a:solidFill>
            <a:prstDash val="solid"/>
          </a:ln>
        </p:spPr>
        <p:txBody>
          <a:bodyPr/>
          <a:lstStyle/>
          <a:p>
            <a:endParaRPr lang="es-AR"/>
          </a:p>
        </p:txBody>
      </p:sp>
      <p:sp>
        <p:nvSpPr>
          <p:cNvPr id="19" name="Text 22">
            <a:extLst>
              <a:ext uri="{FF2B5EF4-FFF2-40B4-BE49-F238E27FC236}">
                <a16:creationId xmlns:a16="http://schemas.microsoft.com/office/drawing/2014/main" id="{A4EC0A71-4169-C307-FB45-F28EF7B8305A}"/>
              </a:ext>
            </a:extLst>
          </p:cNvPr>
          <p:cNvSpPr/>
          <p:nvPr/>
        </p:nvSpPr>
        <p:spPr>
          <a:xfrm>
            <a:off x="1166756" y="4202295"/>
            <a:ext cx="108813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Antes</a:t>
            </a:r>
            <a:endParaRPr lang="en-US" sz="1050" dirty="0"/>
          </a:p>
        </p:txBody>
      </p:sp>
      <p:sp>
        <p:nvSpPr>
          <p:cNvPr id="20" name="Text 23">
            <a:extLst>
              <a:ext uri="{FF2B5EF4-FFF2-40B4-BE49-F238E27FC236}">
                <a16:creationId xmlns:a16="http://schemas.microsoft.com/office/drawing/2014/main" id="{CB37FBAE-9558-9CA8-CC33-07ADB553D29D}"/>
              </a:ext>
            </a:extLst>
          </p:cNvPr>
          <p:cNvSpPr/>
          <p:nvPr/>
        </p:nvSpPr>
        <p:spPr>
          <a:xfrm>
            <a:off x="1166756" y="4440039"/>
            <a:ext cx="1088136" cy="109728"/>
          </a:xfrm>
          <a:prstGeom prst="rect">
            <a:avLst/>
          </a:prstGeom>
          <a:noFill/>
          <a:ln/>
        </p:spPr>
        <p:txBody>
          <a:bodyPr wrap="square" lIns="0" tIns="0" rIns="0" bIns="0" rtlCol="0" anchor="ctr">
            <a:normAutofit/>
          </a:bodyPr>
          <a:lstStyle/>
          <a:p>
            <a:pPr marL="0" indent="0" algn="ctr">
              <a:buNone/>
            </a:pPr>
            <a:r>
              <a:rPr lang="en-US" sz="680" dirty="0">
                <a:solidFill>
                  <a:srgbClr val="B8BCD4"/>
                </a:solidFill>
                <a:latin typeface="Aptos" pitchFamily="34" charset="0"/>
                <a:ea typeface="Aptos" pitchFamily="34" charset="-122"/>
                <a:cs typeface="Aptos" pitchFamily="34" charset="-120"/>
              </a:rPr>
              <a:t>if/switch</a:t>
            </a:r>
            <a:endParaRPr lang="en-US" sz="680" dirty="0"/>
          </a:p>
        </p:txBody>
      </p:sp>
      <p:sp>
        <p:nvSpPr>
          <p:cNvPr id="21" name="Shape 24">
            <a:extLst>
              <a:ext uri="{FF2B5EF4-FFF2-40B4-BE49-F238E27FC236}">
                <a16:creationId xmlns:a16="http://schemas.microsoft.com/office/drawing/2014/main" id="{06C8DB59-63EB-5A86-8763-F9CB500336CE}"/>
              </a:ext>
            </a:extLst>
          </p:cNvPr>
          <p:cNvSpPr/>
          <p:nvPr/>
        </p:nvSpPr>
        <p:spPr>
          <a:xfrm>
            <a:off x="3954780" y="4019415"/>
            <a:ext cx="1234440" cy="621792"/>
          </a:xfrm>
          <a:prstGeom prst="roundRect">
            <a:avLst>
              <a:gd name="adj" fmla="val 11765"/>
            </a:avLst>
          </a:prstGeom>
          <a:solidFill>
            <a:srgbClr val="242A44"/>
          </a:solidFill>
          <a:ln w="20320">
            <a:solidFill>
              <a:srgbClr val="8A5CFF"/>
            </a:solidFill>
            <a:prstDash val="solid"/>
          </a:ln>
        </p:spPr>
        <p:txBody>
          <a:bodyPr/>
          <a:lstStyle/>
          <a:p>
            <a:endParaRPr lang="es-AR"/>
          </a:p>
        </p:txBody>
      </p:sp>
      <p:sp>
        <p:nvSpPr>
          <p:cNvPr id="22" name="Text 25">
            <a:extLst>
              <a:ext uri="{FF2B5EF4-FFF2-40B4-BE49-F238E27FC236}">
                <a16:creationId xmlns:a16="http://schemas.microsoft.com/office/drawing/2014/main" id="{C117B868-C0C0-46CC-C5AB-63933091852B}"/>
              </a:ext>
            </a:extLst>
          </p:cNvPr>
          <p:cNvSpPr/>
          <p:nvPr/>
        </p:nvSpPr>
        <p:spPr>
          <a:xfrm>
            <a:off x="4027932" y="4202295"/>
            <a:ext cx="108813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State</a:t>
            </a:r>
            <a:endParaRPr lang="en-US" sz="1050" dirty="0"/>
          </a:p>
        </p:txBody>
      </p:sp>
      <p:sp>
        <p:nvSpPr>
          <p:cNvPr id="23" name="Text 26">
            <a:extLst>
              <a:ext uri="{FF2B5EF4-FFF2-40B4-BE49-F238E27FC236}">
                <a16:creationId xmlns:a16="http://schemas.microsoft.com/office/drawing/2014/main" id="{620A4E17-A66B-AAEE-AC25-0E831FAEB0A1}"/>
              </a:ext>
            </a:extLst>
          </p:cNvPr>
          <p:cNvSpPr/>
          <p:nvPr/>
        </p:nvSpPr>
        <p:spPr>
          <a:xfrm>
            <a:off x="4027932" y="4440039"/>
            <a:ext cx="1088136" cy="109728"/>
          </a:xfrm>
          <a:prstGeom prst="rect">
            <a:avLst/>
          </a:prstGeom>
          <a:noFill/>
          <a:ln/>
        </p:spPr>
        <p:txBody>
          <a:bodyPr wrap="square" lIns="0" tIns="0" rIns="0" bIns="0" rtlCol="0" anchor="ctr">
            <a:normAutofit/>
          </a:bodyPr>
          <a:lstStyle/>
          <a:p>
            <a:pPr marL="0" indent="0" algn="ctr">
              <a:buNone/>
            </a:pPr>
            <a:r>
              <a:rPr lang="en-US" sz="680" dirty="0">
                <a:solidFill>
                  <a:srgbClr val="B8BCD4"/>
                </a:solidFill>
                <a:latin typeface="Aptos" pitchFamily="34" charset="0"/>
                <a:ea typeface="Aptos" pitchFamily="34" charset="-122"/>
                <a:cs typeface="Aptos" pitchFamily="34" charset="-120"/>
              </a:rPr>
              <a:t>polimorfismo</a:t>
            </a:r>
            <a:endParaRPr lang="en-US" sz="680" dirty="0"/>
          </a:p>
        </p:txBody>
      </p:sp>
    </p:spTree>
    <p:extLst>
      <p:ext uri="{BB962C8B-B14F-4D97-AF65-F5344CB8AC3E}">
        <p14:creationId xmlns:p14="http://schemas.microsoft.com/office/powerpoint/2010/main" val="532048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02F74B-F95E-D4E6-C132-C47F9170B86A}"/>
              </a:ext>
            </a:extLst>
          </p:cNvPr>
          <p:cNvSpPr>
            <a:spLocks noGrp="1"/>
          </p:cNvSpPr>
          <p:nvPr>
            <p:ph type="title"/>
          </p:nvPr>
        </p:nvSpPr>
        <p:spPr/>
        <p:txBody>
          <a:bodyPr/>
          <a:lstStyle/>
          <a:p>
            <a:r>
              <a:rPr lang="es-AR" dirty="0"/>
              <a:t>El pedido cambia de comportamiento</a:t>
            </a:r>
          </a:p>
        </p:txBody>
      </p:sp>
      <p:sp>
        <p:nvSpPr>
          <p:cNvPr id="3" name="Marcador de contenido 2">
            <a:extLst>
              <a:ext uri="{FF2B5EF4-FFF2-40B4-BE49-F238E27FC236}">
                <a16:creationId xmlns:a16="http://schemas.microsoft.com/office/drawing/2014/main" id="{184BC8A9-1632-101C-4F77-693AFB2DA138}"/>
              </a:ext>
            </a:extLst>
          </p:cNvPr>
          <p:cNvSpPr>
            <a:spLocks noGrp="1"/>
          </p:cNvSpPr>
          <p:nvPr>
            <p:ph idx="1"/>
          </p:nvPr>
        </p:nvSpPr>
        <p:spPr>
          <a:xfrm>
            <a:off x="864381" y="2489200"/>
            <a:ext cx="7831383" cy="1417315"/>
          </a:xfrm>
        </p:spPr>
        <p:txBody>
          <a:bodyPr>
            <a:normAutofit fontScale="85000" lnSpcReduction="20000"/>
          </a:bodyPr>
          <a:lstStyle/>
          <a:p>
            <a:r>
              <a:rPr lang="es-AR" dirty="0"/>
              <a:t>Problema</a:t>
            </a:r>
          </a:p>
          <a:p>
            <a:pPr lvl="1"/>
            <a:r>
              <a:rPr lang="es-AR" dirty="0"/>
              <a:t>El pedido atraviesa un flujo: se crea, se paga, se prepara, se entrega o se cancela.</a:t>
            </a:r>
          </a:p>
          <a:p>
            <a:pPr lvl="1"/>
            <a:r>
              <a:rPr lang="es-AR" dirty="0"/>
              <a:t>Cada acción tiene reglas distintas según el estado actual.</a:t>
            </a:r>
          </a:p>
          <a:p>
            <a:r>
              <a:rPr lang="es-AR" dirty="0"/>
              <a:t>Misma clase, reglas diferentes</a:t>
            </a:r>
          </a:p>
        </p:txBody>
      </p:sp>
      <p:sp>
        <p:nvSpPr>
          <p:cNvPr id="4" name="Shape 11">
            <a:extLst>
              <a:ext uri="{FF2B5EF4-FFF2-40B4-BE49-F238E27FC236}">
                <a16:creationId xmlns:a16="http://schemas.microsoft.com/office/drawing/2014/main" id="{4C12C83D-3A1D-A330-1914-C75AD5B3B373}"/>
              </a:ext>
            </a:extLst>
          </p:cNvPr>
          <p:cNvSpPr/>
          <p:nvPr/>
        </p:nvSpPr>
        <p:spPr>
          <a:xfrm>
            <a:off x="1814811" y="4395814"/>
            <a:ext cx="1143542" cy="0"/>
          </a:xfrm>
          <a:prstGeom prst="line">
            <a:avLst/>
          </a:prstGeom>
          <a:noFill/>
          <a:ln w="20320">
            <a:solidFill>
              <a:srgbClr val="B8BCD4"/>
            </a:solidFill>
            <a:prstDash val="solid"/>
            <a:headEnd type="none"/>
            <a:tailEnd type="triangle"/>
          </a:ln>
        </p:spPr>
        <p:txBody>
          <a:bodyPr/>
          <a:lstStyle/>
          <a:p>
            <a:endParaRPr lang="es-AR"/>
          </a:p>
        </p:txBody>
      </p:sp>
      <p:sp>
        <p:nvSpPr>
          <p:cNvPr id="5" name="Shape 12">
            <a:extLst>
              <a:ext uri="{FF2B5EF4-FFF2-40B4-BE49-F238E27FC236}">
                <a16:creationId xmlns:a16="http://schemas.microsoft.com/office/drawing/2014/main" id="{6FB64DF4-024B-65E6-98C6-62347FF28338}"/>
              </a:ext>
            </a:extLst>
          </p:cNvPr>
          <p:cNvSpPr/>
          <p:nvPr/>
        </p:nvSpPr>
        <p:spPr>
          <a:xfrm>
            <a:off x="3991082" y="4395814"/>
            <a:ext cx="1163623" cy="0"/>
          </a:xfrm>
          <a:prstGeom prst="line">
            <a:avLst/>
          </a:prstGeom>
          <a:noFill/>
          <a:ln w="20320">
            <a:solidFill>
              <a:srgbClr val="B8BCD4"/>
            </a:solidFill>
            <a:prstDash val="solid"/>
            <a:headEnd type="none"/>
            <a:tailEnd type="triangle"/>
          </a:ln>
        </p:spPr>
        <p:txBody>
          <a:bodyPr/>
          <a:lstStyle/>
          <a:p>
            <a:endParaRPr lang="es-AR"/>
          </a:p>
        </p:txBody>
      </p:sp>
      <p:sp>
        <p:nvSpPr>
          <p:cNvPr id="6" name="Shape 13">
            <a:extLst>
              <a:ext uri="{FF2B5EF4-FFF2-40B4-BE49-F238E27FC236}">
                <a16:creationId xmlns:a16="http://schemas.microsoft.com/office/drawing/2014/main" id="{942DFABA-6CA4-DDAA-256B-592D62F66644}"/>
              </a:ext>
            </a:extLst>
          </p:cNvPr>
          <p:cNvSpPr/>
          <p:nvPr/>
        </p:nvSpPr>
        <p:spPr>
          <a:xfrm>
            <a:off x="6139922" y="4395814"/>
            <a:ext cx="1069719" cy="0"/>
          </a:xfrm>
          <a:prstGeom prst="line">
            <a:avLst/>
          </a:prstGeom>
          <a:noFill/>
          <a:ln w="20320">
            <a:solidFill>
              <a:srgbClr val="B8BCD4"/>
            </a:solidFill>
            <a:prstDash val="solid"/>
            <a:headEnd type="none"/>
            <a:tailEnd type="triangle"/>
          </a:ln>
        </p:spPr>
        <p:txBody>
          <a:bodyPr/>
          <a:lstStyle/>
          <a:p>
            <a:endParaRPr lang="es-AR"/>
          </a:p>
        </p:txBody>
      </p:sp>
      <p:sp>
        <p:nvSpPr>
          <p:cNvPr id="7" name="Shape 14">
            <a:extLst>
              <a:ext uri="{FF2B5EF4-FFF2-40B4-BE49-F238E27FC236}">
                <a16:creationId xmlns:a16="http://schemas.microsoft.com/office/drawing/2014/main" id="{02B69F00-9C77-9BE3-6A33-9761A1643FF4}"/>
              </a:ext>
            </a:extLst>
          </p:cNvPr>
          <p:cNvSpPr/>
          <p:nvPr/>
        </p:nvSpPr>
        <p:spPr>
          <a:xfrm>
            <a:off x="854691" y="4084918"/>
            <a:ext cx="1078992" cy="621792"/>
          </a:xfrm>
          <a:prstGeom prst="roundRect">
            <a:avLst>
              <a:gd name="adj" fmla="val 11765"/>
            </a:avLst>
          </a:prstGeom>
          <a:solidFill>
            <a:srgbClr val="242A44"/>
          </a:solidFill>
          <a:ln w="20320">
            <a:solidFill>
              <a:srgbClr val="8A5CFF"/>
            </a:solidFill>
            <a:prstDash val="solid"/>
          </a:ln>
        </p:spPr>
        <p:txBody>
          <a:bodyPr/>
          <a:lstStyle/>
          <a:p>
            <a:endParaRPr lang="es-AR"/>
          </a:p>
        </p:txBody>
      </p:sp>
      <p:sp>
        <p:nvSpPr>
          <p:cNvPr id="8" name="Text 15">
            <a:extLst>
              <a:ext uri="{FF2B5EF4-FFF2-40B4-BE49-F238E27FC236}">
                <a16:creationId xmlns:a16="http://schemas.microsoft.com/office/drawing/2014/main" id="{AE084AEC-68DD-165C-0C4A-221420F276B4}"/>
              </a:ext>
            </a:extLst>
          </p:cNvPr>
          <p:cNvSpPr/>
          <p:nvPr/>
        </p:nvSpPr>
        <p:spPr>
          <a:xfrm>
            <a:off x="927843" y="4267798"/>
            <a:ext cx="93268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CREADO</a:t>
            </a:r>
            <a:endParaRPr lang="en-US" sz="1050" dirty="0"/>
          </a:p>
        </p:txBody>
      </p:sp>
      <p:sp>
        <p:nvSpPr>
          <p:cNvPr id="9" name="Shape 16">
            <a:extLst>
              <a:ext uri="{FF2B5EF4-FFF2-40B4-BE49-F238E27FC236}">
                <a16:creationId xmlns:a16="http://schemas.microsoft.com/office/drawing/2014/main" id="{028190C3-F356-940D-9383-1324CD611F26}"/>
              </a:ext>
            </a:extLst>
          </p:cNvPr>
          <p:cNvSpPr/>
          <p:nvPr/>
        </p:nvSpPr>
        <p:spPr>
          <a:xfrm>
            <a:off x="3049251" y="4084918"/>
            <a:ext cx="1078992" cy="621792"/>
          </a:xfrm>
          <a:prstGeom prst="roundRect">
            <a:avLst>
              <a:gd name="adj" fmla="val 11765"/>
            </a:avLst>
          </a:prstGeom>
          <a:solidFill>
            <a:srgbClr val="242A44"/>
          </a:solidFill>
          <a:ln w="20320">
            <a:solidFill>
              <a:srgbClr val="35E0D4"/>
            </a:solidFill>
            <a:prstDash val="solid"/>
          </a:ln>
        </p:spPr>
        <p:txBody>
          <a:bodyPr/>
          <a:lstStyle/>
          <a:p>
            <a:endParaRPr lang="es-AR"/>
          </a:p>
        </p:txBody>
      </p:sp>
      <p:sp>
        <p:nvSpPr>
          <p:cNvPr id="10" name="Text 17">
            <a:extLst>
              <a:ext uri="{FF2B5EF4-FFF2-40B4-BE49-F238E27FC236}">
                <a16:creationId xmlns:a16="http://schemas.microsoft.com/office/drawing/2014/main" id="{EFE12FEA-C1AE-8EB2-7AA2-ADD66B076C64}"/>
              </a:ext>
            </a:extLst>
          </p:cNvPr>
          <p:cNvSpPr/>
          <p:nvPr/>
        </p:nvSpPr>
        <p:spPr>
          <a:xfrm>
            <a:off x="3122403" y="4267798"/>
            <a:ext cx="93268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PAGADO</a:t>
            </a:r>
            <a:endParaRPr lang="en-US" sz="1050" dirty="0"/>
          </a:p>
        </p:txBody>
      </p:sp>
      <p:sp>
        <p:nvSpPr>
          <p:cNvPr id="11" name="Shape 18">
            <a:extLst>
              <a:ext uri="{FF2B5EF4-FFF2-40B4-BE49-F238E27FC236}">
                <a16:creationId xmlns:a16="http://schemas.microsoft.com/office/drawing/2014/main" id="{7698CFE4-9614-C933-F437-A3BA07F28404}"/>
              </a:ext>
            </a:extLst>
          </p:cNvPr>
          <p:cNvSpPr/>
          <p:nvPr/>
        </p:nvSpPr>
        <p:spPr>
          <a:xfrm>
            <a:off x="5243538" y="4084918"/>
            <a:ext cx="1325880" cy="621792"/>
          </a:xfrm>
          <a:prstGeom prst="roundRect">
            <a:avLst>
              <a:gd name="adj" fmla="val 11765"/>
            </a:avLst>
          </a:prstGeom>
          <a:solidFill>
            <a:srgbClr val="242A44"/>
          </a:solidFill>
          <a:ln w="20320">
            <a:solidFill>
              <a:srgbClr val="FFB86B"/>
            </a:solidFill>
            <a:prstDash val="solid"/>
          </a:ln>
        </p:spPr>
        <p:txBody>
          <a:bodyPr/>
          <a:lstStyle/>
          <a:p>
            <a:endParaRPr lang="es-AR"/>
          </a:p>
        </p:txBody>
      </p:sp>
      <p:sp>
        <p:nvSpPr>
          <p:cNvPr id="12" name="Text 19">
            <a:extLst>
              <a:ext uri="{FF2B5EF4-FFF2-40B4-BE49-F238E27FC236}">
                <a16:creationId xmlns:a16="http://schemas.microsoft.com/office/drawing/2014/main" id="{9BB61ACA-7288-6AB9-0211-3889124997FC}"/>
              </a:ext>
            </a:extLst>
          </p:cNvPr>
          <p:cNvSpPr/>
          <p:nvPr/>
        </p:nvSpPr>
        <p:spPr>
          <a:xfrm>
            <a:off x="5316690" y="4267798"/>
            <a:ext cx="117957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PREPARANDO</a:t>
            </a:r>
            <a:endParaRPr lang="en-US" sz="1050" dirty="0"/>
          </a:p>
        </p:txBody>
      </p:sp>
      <p:sp>
        <p:nvSpPr>
          <p:cNvPr id="13" name="Shape 20">
            <a:extLst>
              <a:ext uri="{FF2B5EF4-FFF2-40B4-BE49-F238E27FC236}">
                <a16:creationId xmlns:a16="http://schemas.microsoft.com/office/drawing/2014/main" id="{A1C03027-5D2D-028F-2BB9-D4B1939DB310}"/>
              </a:ext>
            </a:extLst>
          </p:cNvPr>
          <p:cNvSpPr/>
          <p:nvPr/>
        </p:nvSpPr>
        <p:spPr>
          <a:xfrm>
            <a:off x="7237203" y="4084918"/>
            <a:ext cx="1207008" cy="621792"/>
          </a:xfrm>
          <a:prstGeom prst="roundRect">
            <a:avLst>
              <a:gd name="adj" fmla="val 11765"/>
            </a:avLst>
          </a:prstGeom>
          <a:solidFill>
            <a:srgbClr val="242A44"/>
          </a:solidFill>
          <a:ln w="20320">
            <a:solidFill>
              <a:srgbClr val="58D68D"/>
            </a:solidFill>
            <a:prstDash val="solid"/>
          </a:ln>
        </p:spPr>
        <p:txBody>
          <a:bodyPr/>
          <a:lstStyle/>
          <a:p>
            <a:endParaRPr lang="es-AR"/>
          </a:p>
        </p:txBody>
      </p:sp>
      <p:sp>
        <p:nvSpPr>
          <p:cNvPr id="14" name="Text 21">
            <a:extLst>
              <a:ext uri="{FF2B5EF4-FFF2-40B4-BE49-F238E27FC236}">
                <a16:creationId xmlns:a16="http://schemas.microsoft.com/office/drawing/2014/main" id="{0CF0BEE7-A5F7-F548-B419-6BC8A2939545}"/>
              </a:ext>
            </a:extLst>
          </p:cNvPr>
          <p:cNvSpPr/>
          <p:nvPr/>
        </p:nvSpPr>
        <p:spPr>
          <a:xfrm>
            <a:off x="7310355" y="4267798"/>
            <a:ext cx="1060704"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ENTREGADO</a:t>
            </a:r>
            <a:endParaRPr lang="en-US" sz="1050" dirty="0"/>
          </a:p>
        </p:txBody>
      </p:sp>
      <p:sp>
        <p:nvSpPr>
          <p:cNvPr id="15" name="Shape 22">
            <a:extLst>
              <a:ext uri="{FF2B5EF4-FFF2-40B4-BE49-F238E27FC236}">
                <a16:creationId xmlns:a16="http://schemas.microsoft.com/office/drawing/2014/main" id="{F04869B3-9B74-EA37-8CBC-5DCB13302C68}"/>
              </a:ext>
            </a:extLst>
          </p:cNvPr>
          <p:cNvSpPr/>
          <p:nvPr/>
        </p:nvSpPr>
        <p:spPr>
          <a:xfrm>
            <a:off x="854691" y="5028752"/>
            <a:ext cx="2011680" cy="1417320"/>
          </a:xfrm>
          <a:prstGeom prst="roundRect">
            <a:avLst>
              <a:gd name="adj" fmla="val 5161"/>
            </a:avLst>
          </a:prstGeom>
          <a:solidFill>
            <a:srgbClr val="242A44"/>
          </a:solidFill>
          <a:ln w="12700">
            <a:solidFill>
              <a:srgbClr val="38405F">
                <a:alpha val="85000"/>
              </a:srgbClr>
            </a:solidFill>
            <a:prstDash val="solid"/>
          </a:ln>
        </p:spPr>
        <p:txBody>
          <a:bodyPr/>
          <a:lstStyle/>
          <a:p>
            <a:endParaRPr lang="es-AR"/>
          </a:p>
        </p:txBody>
      </p:sp>
      <p:sp>
        <p:nvSpPr>
          <p:cNvPr id="16" name="Shape 23">
            <a:extLst>
              <a:ext uri="{FF2B5EF4-FFF2-40B4-BE49-F238E27FC236}">
                <a16:creationId xmlns:a16="http://schemas.microsoft.com/office/drawing/2014/main" id="{EE02C6A8-D36C-0133-9B0A-C9B9999B048E}"/>
              </a:ext>
            </a:extLst>
          </p:cNvPr>
          <p:cNvSpPr/>
          <p:nvPr/>
        </p:nvSpPr>
        <p:spPr>
          <a:xfrm>
            <a:off x="854691" y="5028752"/>
            <a:ext cx="73152" cy="1417320"/>
          </a:xfrm>
          <a:prstGeom prst="rect">
            <a:avLst/>
          </a:prstGeom>
          <a:solidFill>
            <a:srgbClr val="8A5CFF"/>
          </a:solidFill>
          <a:ln w="12700">
            <a:solidFill>
              <a:srgbClr val="8A5CFF">
                <a:alpha val="0"/>
              </a:srgbClr>
            </a:solidFill>
            <a:prstDash val="solid"/>
          </a:ln>
        </p:spPr>
        <p:txBody>
          <a:bodyPr/>
          <a:lstStyle/>
          <a:p>
            <a:endParaRPr lang="es-AR"/>
          </a:p>
        </p:txBody>
      </p:sp>
      <p:sp>
        <p:nvSpPr>
          <p:cNvPr id="17" name="Text 24">
            <a:extLst>
              <a:ext uri="{FF2B5EF4-FFF2-40B4-BE49-F238E27FC236}">
                <a16:creationId xmlns:a16="http://schemas.microsoft.com/office/drawing/2014/main" id="{B6A96254-1D06-0F6F-0C23-212E1C3BF7A9}"/>
              </a:ext>
            </a:extLst>
          </p:cNvPr>
          <p:cNvSpPr/>
          <p:nvPr/>
        </p:nvSpPr>
        <p:spPr>
          <a:xfrm>
            <a:off x="1019283" y="5165912"/>
            <a:ext cx="169164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CREADO</a:t>
            </a:r>
            <a:endParaRPr lang="en-US" sz="1300" dirty="0"/>
          </a:p>
        </p:txBody>
      </p:sp>
      <p:sp>
        <p:nvSpPr>
          <p:cNvPr id="18" name="Text 25">
            <a:extLst>
              <a:ext uri="{FF2B5EF4-FFF2-40B4-BE49-F238E27FC236}">
                <a16:creationId xmlns:a16="http://schemas.microsoft.com/office/drawing/2014/main" id="{C0569876-5960-7920-2F54-A453DB450957}"/>
              </a:ext>
            </a:extLst>
          </p:cNvPr>
          <p:cNvSpPr/>
          <p:nvPr/>
        </p:nvSpPr>
        <p:spPr>
          <a:xfrm>
            <a:off x="1019283" y="5504240"/>
            <a:ext cx="1691640" cy="82296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puede pagar</a:t>
            </a:r>
            <a:endParaRPr lang="en-US" sz="950" dirty="0"/>
          </a:p>
          <a:p>
            <a:pPr marL="0" indent="0">
              <a:buNone/>
            </a:pPr>
            <a:r>
              <a:rPr lang="en-US" sz="950" dirty="0">
                <a:solidFill>
                  <a:srgbClr val="B8BCD4"/>
                </a:solidFill>
                <a:latin typeface="Aptos" pitchFamily="34" charset="0"/>
                <a:ea typeface="Aptos" pitchFamily="34" charset="-122"/>
                <a:cs typeface="Aptos" pitchFamily="34" charset="-120"/>
              </a:rPr>
              <a:t>puede cancelar</a:t>
            </a:r>
            <a:endParaRPr lang="en-US" sz="950" dirty="0"/>
          </a:p>
          <a:p>
            <a:pPr marL="0" indent="0">
              <a:buNone/>
            </a:pPr>
            <a:r>
              <a:rPr lang="en-US" sz="950" dirty="0">
                <a:solidFill>
                  <a:srgbClr val="B8BCD4"/>
                </a:solidFill>
                <a:latin typeface="Aptos" pitchFamily="34" charset="0"/>
                <a:ea typeface="Aptos" pitchFamily="34" charset="-122"/>
                <a:cs typeface="Aptos" pitchFamily="34" charset="-120"/>
              </a:rPr>
              <a:t>puede agregar ítems</a:t>
            </a:r>
            <a:endParaRPr lang="en-US" sz="950" dirty="0"/>
          </a:p>
        </p:txBody>
      </p:sp>
      <p:sp>
        <p:nvSpPr>
          <p:cNvPr id="19" name="Shape 26">
            <a:extLst>
              <a:ext uri="{FF2B5EF4-FFF2-40B4-BE49-F238E27FC236}">
                <a16:creationId xmlns:a16="http://schemas.microsoft.com/office/drawing/2014/main" id="{759B7E03-1146-B545-8A84-400C91C5B99F}"/>
              </a:ext>
            </a:extLst>
          </p:cNvPr>
          <p:cNvSpPr/>
          <p:nvPr/>
        </p:nvSpPr>
        <p:spPr>
          <a:xfrm>
            <a:off x="3049251" y="5028752"/>
            <a:ext cx="2011680" cy="1417320"/>
          </a:xfrm>
          <a:prstGeom prst="roundRect">
            <a:avLst>
              <a:gd name="adj" fmla="val 5161"/>
            </a:avLst>
          </a:prstGeom>
          <a:solidFill>
            <a:srgbClr val="242A44"/>
          </a:solidFill>
          <a:ln w="12700">
            <a:solidFill>
              <a:srgbClr val="38405F">
                <a:alpha val="85000"/>
              </a:srgbClr>
            </a:solidFill>
            <a:prstDash val="solid"/>
          </a:ln>
        </p:spPr>
        <p:txBody>
          <a:bodyPr/>
          <a:lstStyle/>
          <a:p>
            <a:endParaRPr lang="es-AR"/>
          </a:p>
        </p:txBody>
      </p:sp>
      <p:sp>
        <p:nvSpPr>
          <p:cNvPr id="20" name="Shape 27">
            <a:extLst>
              <a:ext uri="{FF2B5EF4-FFF2-40B4-BE49-F238E27FC236}">
                <a16:creationId xmlns:a16="http://schemas.microsoft.com/office/drawing/2014/main" id="{0CB540AC-5E2C-38A1-2A61-4B96FC41ECAF}"/>
              </a:ext>
            </a:extLst>
          </p:cNvPr>
          <p:cNvSpPr/>
          <p:nvPr/>
        </p:nvSpPr>
        <p:spPr>
          <a:xfrm>
            <a:off x="3049251" y="5028752"/>
            <a:ext cx="73152" cy="1417320"/>
          </a:xfrm>
          <a:prstGeom prst="rect">
            <a:avLst/>
          </a:prstGeom>
          <a:solidFill>
            <a:srgbClr val="35E0D4"/>
          </a:solidFill>
          <a:ln w="12700">
            <a:solidFill>
              <a:srgbClr val="35E0D4">
                <a:alpha val="0"/>
              </a:srgbClr>
            </a:solidFill>
            <a:prstDash val="solid"/>
          </a:ln>
        </p:spPr>
        <p:txBody>
          <a:bodyPr/>
          <a:lstStyle/>
          <a:p>
            <a:endParaRPr lang="es-AR"/>
          </a:p>
        </p:txBody>
      </p:sp>
      <p:sp>
        <p:nvSpPr>
          <p:cNvPr id="21" name="Text 28">
            <a:extLst>
              <a:ext uri="{FF2B5EF4-FFF2-40B4-BE49-F238E27FC236}">
                <a16:creationId xmlns:a16="http://schemas.microsoft.com/office/drawing/2014/main" id="{4B9354BE-415B-7BA1-6587-2B46E28AEA28}"/>
              </a:ext>
            </a:extLst>
          </p:cNvPr>
          <p:cNvSpPr/>
          <p:nvPr/>
        </p:nvSpPr>
        <p:spPr>
          <a:xfrm>
            <a:off x="3213843" y="5165912"/>
            <a:ext cx="169164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PAGADO</a:t>
            </a:r>
            <a:endParaRPr lang="en-US" sz="1300" dirty="0"/>
          </a:p>
        </p:txBody>
      </p:sp>
      <p:sp>
        <p:nvSpPr>
          <p:cNvPr id="22" name="Text 29">
            <a:extLst>
              <a:ext uri="{FF2B5EF4-FFF2-40B4-BE49-F238E27FC236}">
                <a16:creationId xmlns:a16="http://schemas.microsoft.com/office/drawing/2014/main" id="{E51DAF69-2D15-62B5-E615-1CF28AD473AE}"/>
              </a:ext>
            </a:extLst>
          </p:cNvPr>
          <p:cNvSpPr/>
          <p:nvPr/>
        </p:nvSpPr>
        <p:spPr>
          <a:xfrm>
            <a:off x="3213843" y="5504240"/>
            <a:ext cx="1691640" cy="82296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puede preparar</a:t>
            </a:r>
            <a:endParaRPr lang="en-US" sz="950" dirty="0"/>
          </a:p>
          <a:p>
            <a:pPr marL="0" indent="0">
              <a:buNone/>
            </a:pPr>
            <a:r>
              <a:rPr lang="en-US" sz="950" dirty="0">
                <a:solidFill>
                  <a:srgbClr val="B8BCD4"/>
                </a:solidFill>
                <a:latin typeface="Aptos" pitchFamily="34" charset="0"/>
                <a:ea typeface="Aptos" pitchFamily="34" charset="-122"/>
                <a:cs typeface="Aptos" pitchFamily="34" charset="-120"/>
              </a:rPr>
              <a:t>puede cancelar</a:t>
            </a:r>
            <a:endParaRPr lang="en-US" sz="950" dirty="0"/>
          </a:p>
          <a:p>
            <a:pPr marL="0" indent="0">
              <a:buNone/>
            </a:pPr>
            <a:r>
              <a:rPr lang="en-US" sz="950" dirty="0">
                <a:solidFill>
                  <a:srgbClr val="B8BCD4"/>
                </a:solidFill>
                <a:latin typeface="Aptos" pitchFamily="34" charset="0"/>
                <a:ea typeface="Aptos" pitchFamily="34" charset="-122"/>
                <a:cs typeface="Aptos" pitchFamily="34" charset="-120"/>
              </a:rPr>
              <a:t>no agrega ítems</a:t>
            </a:r>
            <a:endParaRPr lang="en-US" sz="950" dirty="0"/>
          </a:p>
        </p:txBody>
      </p:sp>
      <p:sp>
        <p:nvSpPr>
          <p:cNvPr id="23" name="Shape 30">
            <a:extLst>
              <a:ext uri="{FF2B5EF4-FFF2-40B4-BE49-F238E27FC236}">
                <a16:creationId xmlns:a16="http://schemas.microsoft.com/office/drawing/2014/main" id="{BD2AD717-A9DF-ADE6-E8B4-BD266C40AB60}"/>
              </a:ext>
            </a:extLst>
          </p:cNvPr>
          <p:cNvSpPr/>
          <p:nvPr/>
        </p:nvSpPr>
        <p:spPr>
          <a:xfrm>
            <a:off x="6794706" y="5028752"/>
            <a:ext cx="2011680" cy="1417320"/>
          </a:xfrm>
          <a:prstGeom prst="roundRect">
            <a:avLst>
              <a:gd name="adj" fmla="val 5161"/>
            </a:avLst>
          </a:prstGeom>
          <a:solidFill>
            <a:srgbClr val="242A44"/>
          </a:solidFill>
          <a:ln w="12700">
            <a:solidFill>
              <a:srgbClr val="38405F">
                <a:alpha val="85000"/>
              </a:srgbClr>
            </a:solidFill>
            <a:prstDash val="solid"/>
          </a:ln>
        </p:spPr>
        <p:txBody>
          <a:bodyPr/>
          <a:lstStyle/>
          <a:p>
            <a:endParaRPr lang="es-AR"/>
          </a:p>
        </p:txBody>
      </p:sp>
      <p:sp>
        <p:nvSpPr>
          <p:cNvPr id="24" name="Shape 31">
            <a:extLst>
              <a:ext uri="{FF2B5EF4-FFF2-40B4-BE49-F238E27FC236}">
                <a16:creationId xmlns:a16="http://schemas.microsoft.com/office/drawing/2014/main" id="{B0D50F33-10E7-8BB7-8DF0-9B3D6DD1C32E}"/>
              </a:ext>
            </a:extLst>
          </p:cNvPr>
          <p:cNvSpPr/>
          <p:nvPr/>
        </p:nvSpPr>
        <p:spPr>
          <a:xfrm>
            <a:off x="6794706" y="5028752"/>
            <a:ext cx="73152" cy="1417320"/>
          </a:xfrm>
          <a:prstGeom prst="rect">
            <a:avLst/>
          </a:prstGeom>
          <a:solidFill>
            <a:srgbClr val="58D68D"/>
          </a:solidFill>
          <a:ln w="12700">
            <a:solidFill>
              <a:srgbClr val="58D68D">
                <a:alpha val="0"/>
              </a:srgbClr>
            </a:solidFill>
            <a:prstDash val="solid"/>
          </a:ln>
        </p:spPr>
        <p:txBody>
          <a:bodyPr/>
          <a:lstStyle/>
          <a:p>
            <a:endParaRPr lang="es-AR"/>
          </a:p>
        </p:txBody>
      </p:sp>
      <p:sp>
        <p:nvSpPr>
          <p:cNvPr id="25" name="Text 32">
            <a:extLst>
              <a:ext uri="{FF2B5EF4-FFF2-40B4-BE49-F238E27FC236}">
                <a16:creationId xmlns:a16="http://schemas.microsoft.com/office/drawing/2014/main" id="{9AF4FDAB-C4BB-A9E4-603B-E5E8DD09EF55}"/>
              </a:ext>
            </a:extLst>
          </p:cNvPr>
          <p:cNvSpPr/>
          <p:nvPr/>
        </p:nvSpPr>
        <p:spPr>
          <a:xfrm>
            <a:off x="6959298" y="5165912"/>
            <a:ext cx="169164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ENTREGADO</a:t>
            </a:r>
            <a:endParaRPr lang="en-US" sz="1300" dirty="0"/>
          </a:p>
        </p:txBody>
      </p:sp>
      <p:sp>
        <p:nvSpPr>
          <p:cNvPr id="26" name="Text 33">
            <a:extLst>
              <a:ext uri="{FF2B5EF4-FFF2-40B4-BE49-F238E27FC236}">
                <a16:creationId xmlns:a16="http://schemas.microsoft.com/office/drawing/2014/main" id="{64DA77B7-CE24-3913-3B21-38052250299A}"/>
              </a:ext>
            </a:extLst>
          </p:cNvPr>
          <p:cNvSpPr/>
          <p:nvPr/>
        </p:nvSpPr>
        <p:spPr>
          <a:xfrm>
            <a:off x="6959298" y="5504240"/>
            <a:ext cx="1691640" cy="82296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no puede pagar</a:t>
            </a:r>
            <a:endParaRPr lang="en-US" sz="950" dirty="0"/>
          </a:p>
          <a:p>
            <a:pPr marL="0" indent="0">
              <a:buNone/>
            </a:pPr>
            <a:r>
              <a:rPr lang="en-US" sz="950" dirty="0">
                <a:solidFill>
                  <a:srgbClr val="B8BCD4"/>
                </a:solidFill>
                <a:latin typeface="Aptos" pitchFamily="34" charset="0"/>
                <a:ea typeface="Aptos" pitchFamily="34" charset="-122"/>
                <a:cs typeface="Aptos" pitchFamily="34" charset="-120"/>
              </a:rPr>
              <a:t>no puede cancelar</a:t>
            </a:r>
            <a:endParaRPr lang="en-US" sz="950" dirty="0"/>
          </a:p>
          <a:p>
            <a:pPr marL="0" indent="0">
              <a:buNone/>
            </a:pPr>
            <a:r>
              <a:rPr lang="en-US" sz="950" dirty="0">
                <a:solidFill>
                  <a:srgbClr val="B8BCD4"/>
                </a:solidFill>
                <a:latin typeface="Aptos" pitchFamily="34" charset="0"/>
                <a:ea typeface="Aptos" pitchFamily="34" charset="-122"/>
                <a:cs typeface="Aptos" pitchFamily="34" charset="-120"/>
              </a:rPr>
              <a:t>no puede cambiar</a:t>
            </a:r>
            <a:endParaRPr lang="en-US" sz="950" dirty="0"/>
          </a:p>
        </p:txBody>
      </p:sp>
    </p:spTree>
    <p:extLst>
      <p:ext uri="{BB962C8B-B14F-4D97-AF65-F5344CB8AC3E}">
        <p14:creationId xmlns:p14="http://schemas.microsoft.com/office/powerpoint/2010/main" val="250553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hape 10">
            <a:extLst>
              <a:ext uri="{FF2B5EF4-FFF2-40B4-BE49-F238E27FC236}">
                <a16:creationId xmlns:a16="http://schemas.microsoft.com/office/drawing/2014/main" id="{B9FC00B5-25AC-5413-6141-D47AE34927D5}"/>
              </a:ext>
            </a:extLst>
          </p:cNvPr>
          <p:cNvSpPr/>
          <p:nvPr/>
        </p:nvSpPr>
        <p:spPr>
          <a:xfrm>
            <a:off x="3571179" y="2276855"/>
            <a:ext cx="5102173" cy="4509427"/>
          </a:xfrm>
          <a:prstGeom prst="roundRect">
            <a:avLst>
              <a:gd name="adj" fmla="val 3678"/>
            </a:avLst>
          </a:prstGeom>
          <a:solidFill>
            <a:srgbClr val="1B2033">
              <a:alpha val="96000"/>
            </a:srgbClr>
          </a:solidFill>
          <a:ln w="12700">
            <a:solidFill>
              <a:srgbClr val="38405F"/>
            </a:solidFill>
            <a:prstDash val="solid"/>
          </a:ln>
        </p:spPr>
        <p:txBody>
          <a:bodyPr/>
          <a:lstStyle/>
          <a:p>
            <a:endParaRPr lang="es-AR"/>
          </a:p>
        </p:txBody>
      </p:sp>
      <p:sp>
        <p:nvSpPr>
          <p:cNvPr id="2" name="Título 1">
            <a:extLst>
              <a:ext uri="{FF2B5EF4-FFF2-40B4-BE49-F238E27FC236}">
                <a16:creationId xmlns:a16="http://schemas.microsoft.com/office/drawing/2014/main" id="{1387595D-3389-0375-23B5-FAFD83F2D046}"/>
              </a:ext>
            </a:extLst>
          </p:cNvPr>
          <p:cNvSpPr>
            <a:spLocks noGrp="1"/>
          </p:cNvSpPr>
          <p:nvPr>
            <p:ph type="title"/>
          </p:nvPr>
        </p:nvSpPr>
        <p:spPr/>
        <p:txBody>
          <a:bodyPr/>
          <a:lstStyle/>
          <a:p>
            <a:r>
              <a:rPr lang="es-AR" dirty="0"/>
              <a:t>Antes: una clase Pedido llena de condicionales</a:t>
            </a:r>
          </a:p>
        </p:txBody>
      </p:sp>
      <p:sp>
        <p:nvSpPr>
          <p:cNvPr id="6" name="Shape 7">
            <a:extLst>
              <a:ext uri="{FF2B5EF4-FFF2-40B4-BE49-F238E27FC236}">
                <a16:creationId xmlns:a16="http://schemas.microsoft.com/office/drawing/2014/main" id="{165163AD-9283-5D83-7309-4356B5C483FD}"/>
              </a:ext>
            </a:extLst>
          </p:cNvPr>
          <p:cNvSpPr/>
          <p:nvPr/>
        </p:nvSpPr>
        <p:spPr>
          <a:xfrm>
            <a:off x="470647" y="2286000"/>
            <a:ext cx="2935941" cy="2447365"/>
          </a:xfrm>
          <a:prstGeom prst="roundRect">
            <a:avLst>
              <a:gd name="adj" fmla="val 1031"/>
            </a:avLst>
          </a:prstGeom>
          <a:solidFill>
            <a:srgbClr val="0A0C12"/>
          </a:solidFill>
          <a:ln w="12700">
            <a:solidFill>
              <a:srgbClr val="38405F"/>
            </a:solidFill>
            <a:prstDash val="solid"/>
          </a:ln>
        </p:spPr>
        <p:txBody>
          <a:bodyPr/>
          <a:lstStyle/>
          <a:p>
            <a:endParaRPr lang="es-AR"/>
          </a:p>
        </p:txBody>
      </p:sp>
      <p:sp>
        <p:nvSpPr>
          <p:cNvPr id="7" name="Shape 8">
            <a:extLst>
              <a:ext uri="{FF2B5EF4-FFF2-40B4-BE49-F238E27FC236}">
                <a16:creationId xmlns:a16="http://schemas.microsoft.com/office/drawing/2014/main" id="{628A55F0-C47E-4DF6-BBE2-1FD5EF24B97C}"/>
              </a:ext>
            </a:extLst>
          </p:cNvPr>
          <p:cNvSpPr/>
          <p:nvPr/>
        </p:nvSpPr>
        <p:spPr>
          <a:xfrm>
            <a:off x="470647" y="2286000"/>
            <a:ext cx="2935941" cy="310896"/>
          </a:xfrm>
          <a:prstGeom prst="rect">
            <a:avLst/>
          </a:prstGeom>
          <a:solidFill>
            <a:srgbClr val="171B2B"/>
          </a:solidFill>
          <a:ln w="12700">
            <a:solidFill>
              <a:srgbClr val="171B2B">
                <a:alpha val="0"/>
              </a:srgbClr>
            </a:solidFill>
            <a:prstDash val="solid"/>
          </a:ln>
        </p:spPr>
        <p:txBody>
          <a:bodyPr/>
          <a:lstStyle/>
          <a:p>
            <a:endParaRPr lang="es-AR"/>
          </a:p>
        </p:txBody>
      </p:sp>
      <p:sp>
        <p:nvSpPr>
          <p:cNvPr id="8" name="Shape 9">
            <a:extLst>
              <a:ext uri="{FF2B5EF4-FFF2-40B4-BE49-F238E27FC236}">
                <a16:creationId xmlns:a16="http://schemas.microsoft.com/office/drawing/2014/main" id="{6F9BF321-F38A-A2C9-AC58-6CDF2585D873}"/>
              </a:ext>
            </a:extLst>
          </p:cNvPr>
          <p:cNvSpPr/>
          <p:nvPr/>
        </p:nvSpPr>
        <p:spPr>
          <a:xfrm>
            <a:off x="589519" y="2391156"/>
            <a:ext cx="73152" cy="73152"/>
          </a:xfrm>
          <a:prstGeom prst="ellipse">
            <a:avLst/>
          </a:prstGeom>
          <a:solidFill>
            <a:srgbClr val="FF5C7A"/>
          </a:solidFill>
          <a:ln w="12700">
            <a:solidFill>
              <a:srgbClr val="FF5C7A">
                <a:alpha val="0"/>
              </a:srgbClr>
            </a:solidFill>
            <a:prstDash val="solid"/>
          </a:ln>
        </p:spPr>
        <p:txBody>
          <a:bodyPr/>
          <a:lstStyle/>
          <a:p>
            <a:endParaRPr lang="es-AR"/>
          </a:p>
        </p:txBody>
      </p:sp>
      <p:sp>
        <p:nvSpPr>
          <p:cNvPr id="9" name="Shape 10">
            <a:extLst>
              <a:ext uri="{FF2B5EF4-FFF2-40B4-BE49-F238E27FC236}">
                <a16:creationId xmlns:a16="http://schemas.microsoft.com/office/drawing/2014/main" id="{89AA676C-402D-F8FD-DA0A-779C6D9F382F}"/>
              </a:ext>
            </a:extLst>
          </p:cNvPr>
          <p:cNvSpPr/>
          <p:nvPr/>
        </p:nvSpPr>
        <p:spPr>
          <a:xfrm>
            <a:off x="726679" y="2391156"/>
            <a:ext cx="73152" cy="73152"/>
          </a:xfrm>
          <a:prstGeom prst="ellipse">
            <a:avLst/>
          </a:prstGeom>
          <a:solidFill>
            <a:srgbClr val="FFB86B"/>
          </a:solidFill>
          <a:ln w="12700">
            <a:solidFill>
              <a:srgbClr val="FFB86B">
                <a:alpha val="0"/>
              </a:srgbClr>
            </a:solidFill>
            <a:prstDash val="solid"/>
          </a:ln>
        </p:spPr>
        <p:txBody>
          <a:bodyPr/>
          <a:lstStyle/>
          <a:p>
            <a:endParaRPr lang="es-AR"/>
          </a:p>
        </p:txBody>
      </p:sp>
      <p:sp>
        <p:nvSpPr>
          <p:cNvPr id="10" name="Shape 11">
            <a:extLst>
              <a:ext uri="{FF2B5EF4-FFF2-40B4-BE49-F238E27FC236}">
                <a16:creationId xmlns:a16="http://schemas.microsoft.com/office/drawing/2014/main" id="{3CA95E50-2ECD-F950-84E7-A07F14F9B47C}"/>
              </a:ext>
            </a:extLst>
          </p:cNvPr>
          <p:cNvSpPr/>
          <p:nvPr/>
        </p:nvSpPr>
        <p:spPr>
          <a:xfrm>
            <a:off x="863839" y="2391156"/>
            <a:ext cx="73152" cy="73152"/>
          </a:xfrm>
          <a:prstGeom prst="ellipse">
            <a:avLst/>
          </a:prstGeom>
          <a:solidFill>
            <a:srgbClr val="58D68D"/>
          </a:solidFill>
          <a:ln w="12700">
            <a:solidFill>
              <a:srgbClr val="58D68D">
                <a:alpha val="0"/>
              </a:srgbClr>
            </a:solidFill>
            <a:prstDash val="solid"/>
          </a:ln>
        </p:spPr>
        <p:txBody>
          <a:bodyPr/>
          <a:lstStyle/>
          <a:p>
            <a:endParaRPr lang="es-AR"/>
          </a:p>
        </p:txBody>
      </p:sp>
      <p:sp>
        <p:nvSpPr>
          <p:cNvPr id="11" name="Text 12">
            <a:extLst>
              <a:ext uri="{FF2B5EF4-FFF2-40B4-BE49-F238E27FC236}">
                <a16:creationId xmlns:a16="http://schemas.microsoft.com/office/drawing/2014/main" id="{8C35E629-9B63-C038-D209-4411CBC260F6}"/>
              </a:ext>
            </a:extLst>
          </p:cNvPr>
          <p:cNvSpPr/>
          <p:nvPr/>
        </p:nvSpPr>
        <p:spPr>
          <a:xfrm>
            <a:off x="1037575" y="2395728"/>
            <a:ext cx="2216613" cy="68580"/>
          </a:xfrm>
          <a:prstGeom prst="rect">
            <a:avLst/>
          </a:prstGeom>
          <a:noFill/>
          <a:ln/>
        </p:spPr>
        <p:txBody>
          <a:bodyPr wrap="square" lIns="0" tIns="0" rIns="0" bIns="0" rtlCol="0" anchor="ctr"/>
          <a:lstStyle/>
          <a:p>
            <a:pPr marL="0" indent="0">
              <a:buNone/>
            </a:pPr>
            <a:r>
              <a:rPr lang="en-US" sz="900" dirty="0">
                <a:solidFill>
                  <a:srgbClr val="B8BCD4"/>
                </a:solidFill>
                <a:latin typeface="Aptos" pitchFamily="34" charset="0"/>
                <a:ea typeface="Aptos" pitchFamily="34" charset="-122"/>
                <a:cs typeface="Aptos" pitchFamily="34" charset="-120"/>
              </a:rPr>
              <a:t>Pedido.java · versión problemática</a:t>
            </a:r>
            <a:endParaRPr lang="en-US" sz="900" dirty="0"/>
          </a:p>
        </p:txBody>
      </p:sp>
      <p:sp>
        <p:nvSpPr>
          <p:cNvPr id="12" name="Text 13">
            <a:extLst>
              <a:ext uri="{FF2B5EF4-FFF2-40B4-BE49-F238E27FC236}">
                <a16:creationId xmlns:a16="http://schemas.microsoft.com/office/drawing/2014/main" id="{0BDFE411-058A-0DB9-4347-F9983E83270E}"/>
              </a:ext>
            </a:extLst>
          </p:cNvPr>
          <p:cNvSpPr/>
          <p:nvPr/>
        </p:nvSpPr>
        <p:spPr>
          <a:xfrm>
            <a:off x="635239" y="2724912"/>
            <a:ext cx="2618949" cy="1900876"/>
          </a:xfrm>
          <a:prstGeom prst="rect">
            <a:avLst/>
          </a:prstGeom>
          <a:noFill/>
          <a:ln/>
        </p:spPr>
        <p:txBody>
          <a:bodyPr wrap="square" lIns="0" tIns="0" rIns="0" bIns="0" rtlCol="0" anchor="t">
            <a:normAutofit lnSpcReduction="10000"/>
          </a:bodyPr>
          <a:lstStyle/>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public void pagar() {</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  if (estado.equals("CREADO")) {</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    estado = "PAGADO";</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  } else {</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    throw new IllegalStateException(...);</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  }</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a:t>
            </a:r>
            <a:endParaRPr lang="en-US" sz="900" dirty="0">
              <a:latin typeface="Consolas" panose="020B0609020204030204" pitchFamily="49" charset="0"/>
              <a:cs typeface="Consolas" panose="020B0609020204030204" pitchFamily="49" charset="0"/>
            </a:endParaRPr>
          </a:p>
          <a:p>
            <a:pPr marL="0" indent="0">
              <a:buNone/>
            </a:pP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public void preparar() {</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  if (estado.equals("PAGADO")) {</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    estado = "PREPARANDO";</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  } else {</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    throw new IllegalStateException(...);</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  }</a:t>
            </a:r>
            <a:endParaRPr lang="en-US" sz="900" dirty="0">
              <a:latin typeface="Consolas" panose="020B0609020204030204" pitchFamily="49" charset="0"/>
              <a:cs typeface="Consolas" panose="020B0609020204030204" pitchFamily="49" charset="0"/>
            </a:endParaRPr>
          </a:p>
          <a:p>
            <a:pPr marL="0" indent="0">
              <a:buNone/>
            </a:pPr>
            <a:r>
              <a:rPr lang="en-US" sz="900" dirty="0">
                <a:solidFill>
                  <a:srgbClr val="F4F6FF"/>
                </a:solidFill>
                <a:latin typeface="Consolas" panose="020B0609020204030204" pitchFamily="49" charset="0"/>
                <a:ea typeface="Courier New" pitchFamily="34" charset="-122"/>
                <a:cs typeface="Consolas" panose="020B0609020204030204" pitchFamily="49" charset="0"/>
              </a:rPr>
              <a:t>}</a:t>
            </a:r>
            <a:endParaRPr lang="en-US" sz="900" dirty="0">
              <a:latin typeface="Consolas" panose="020B0609020204030204" pitchFamily="49" charset="0"/>
              <a:cs typeface="Consolas" panose="020B0609020204030204" pitchFamily="49" charset="0"/>
            </a:endParaRPr>
          </a:p>
        </p:txBody>
      </p:sp>
      <p:sp>
        <p:nvSpPr>
          <p:cNvPr id="13" name="Text 14">
            <a:extLst>
              <a:ext uri="{FF2B5EF4-FFF2-40B4-BE49-F238E27FC236}">
                <a16:creationId xmlns:a16="http://schemas.microsoft.com/office/drawing/2014/main" id="{FAC502EE-E939-B588-3833-1A95C0A57441}"/>
              </a:ext>
            </a:extLst>
          </p:cNvPr>
          <p:cNvSpPr/>
          <p:nvPr/>
        </p:nvSpPr>
        <p:spPr>
          <a:xfrm>
            <a:off x="3717305" y="2405230"/>
            <a:ext cx="4837176" cy="274320"/>
          </a:xfrm>
          <a:prstGeom prst="rect">
            <a:avLst/>
          </a:prstGeom>
          <a:noFill/>
          <a:ln/>
        </p:spPr>
        <p:txBody>
          <a:bodyPr wrap="square" lIns="0" tIns="0" rIns="0" bIns="0" rtlCol="0" anchor="ctr"/>
          <a:lstStyle/>
          <a:p>
            <a:pPr marL="0" indent="0">
              <a:buNone/>
            </a:pPr>
            <a:r>
              <a:rPr lang="en-US" sz="1800" b="1" dirty="0">
                <a:solidFill>
                  <a:srgbClr val="F4F6FF"/>
                </a:solidFill>
              </a:rPr>
              <a:t>Cuando agregamos acciones o estados...</a:t>
            </a:r>
            <a:endParaRPr lang="en-US" sz="1800" dirty="0"/>
          </a:p>
        </p:txBody>
      </p:sp>
      <p:sp>
        <p:nvSpPr>
          <p:cNvPr id="14" name="Shape 15">
            <a:extLst>
              <a:ext uri="{FF2B5EF4-FFF2-40B4-BE49-F238E27FC236}">
                <a16:creationId xmlns:a16="http://schemas.microsoft.com/office/drawing/2014/main" id="{4009BA6C-EB06-A4B2-468B-B6E4F91C2B69}"/>
              </a:ext>
            </a:extLst>
          </p:cNvPr>
          <p:cNvSpPr/>
          <p:nvPr/>
        </p:nvSpPr>
        <p:spPr>
          <a:xfrm>
            <a:off x="3900185" y="5668743"/>
            <a:ext cx="731520" cy="457200"/>
          </a:xfrm>
          <a:prstGeom prst="rect">
            <a:avLst/>
          </a:prstGeom>
          <a:solidFill>
            <a:srgbClr val="8A5CFF"/>
          </a:solidFill>
          <a:ln w="12700">
            <a:solidFill>
              <a:srgbClr val="8A5CFF">
                <a:alpha val="0"/>
              </a:srgbClr>
            </a:solidFill>
            <a:prstDash val="solid"/>
          </a:ln>
        </p:spPr>
        <p:txBody>
          <a:bodyPr/>
          <a:lstStyle/>
          <a:p>
            <a:endParaRPr lang="es-AR"/>
          </a:p>
        </p:txBody>
      </p:sp>
      <p:sp>
        <p:nvSpPr>
          <p:cNvPr id="15" name="Shape 16">
            <a:extLst>
              <a:ext uri="{FF2B5EF4-FFF2-40B4-BE49-F238E27FC236}">
                <a16:creationId xmlns:a16="http://schemas.microsoft.com/office/drawing/2014/main" id="{D340EC6F-576D-BD2D-614A-C6A2E15DC439}"/>
              </a:ext>
            </a:extLst>
          </p:cNvPr>
          <p:cNvSpPr/>
          <p:nvPr/>
        </p:nvSpPr>
        <p:spPr>
          <a:xfrm>
            <a:off x="4906025" y="4982943"/>
            <a:ext cx="731520" cy="1143000"/>
          </a:xfrm>
          <a:prstGeom prst="rect">
            <a:avLst/>
          </a:prstGeom>
          <a:solidFill>
            <a:srgbClr val="35E0D4"/>
          </a:solidFill>
          <a:ln w="12700">
            <a:solidFill>
              <a:srgbClr val="35E0D4">
                <a:alpha val="0"/>
              </a:srgbClr>
            </a:solidFill>
            <a:prstDash val="solid"/>
          </a:ln>
        </p:spPr>
        <p:txBody>
          <a:bodyPr/>
          <a:lstStyle/>
          <a:p>
            <a:endParaRPr lang="es-AR"/>
          </a:p>
        </p:txBody>
      </p:sp>
      <p:sp>
        <p:nvSpPr>
          <p:cNvPr id="16" name="Shape 17">
            <a:extLst>
              <a:ext uri="{FF2B5EF4-FFF2-40B4-BE49-F238E27FC236}">
                <a16:creationId xmlns:a16="http://schemas.microsoft.com/office/drawing/2014/main" id="{24F2BFC4-70F4-6D99-2B03-991615284F2E}"/>
              </a:ext>
            </a:extLst>
          </p:cNvPr>
          <p:cNvSpPr/>
          <p:nvPr/>
        </p:nvSpPr>
        <p:spPr>
          <a:xfrm>
            <a:off x="5911865" y="3977103"/>
            <a:ext cx="731520" cy="2148840"/>
          </a:xfrm>
          <a:prstGeom prst="rect">
            <a:avLst/>
          </a:prstGeom>
          <a:solidFill>
            <a:srgbClr val="FFB86B"/>
          </a:solidFill>
          <a:ln w="12700">
            <a:solidFill>
              <a:srgbClr val="FFB86B">
                <a:alpha val="0"/>
              </a:srgbClr>
            </a:solidFill>
            <a:prstDash val="solid"/>
          </a:ln>
        </p:spPr>
        <p:txBody>
          <a:bodyPr/>
          <a:lstStyle/>
          <a:p>
            <a:endParaRPr lang="es-AR"/>
          </a:p>
        </p:txBody>
      </p:sp>
      <p:sp>
        <p:nvSpPr>
          <p:cNvPr id="17" name="Shape 18">
            <a:extLst>
              <a:ext uri="{FF2B5EF4-FFF2-40B4-BE49-F238E27FC236}">
                <a16:creationId xmlns:a16="http://schemas.microsoft.com/office/drawing/2014/main" id="{64E3A8A7-8B15-0618-D3E4-77A07FC02543}"/>
              </a:ext>
            </a:extLst>
          </p:cNvPr>
          <p:cNvSpPr/>
          <p:nvPr/>
        </p:nvSpPr>
        <p:spPr>
          <a:xfrm>
            <a:off x="6917705" y="3428999"/>
            <a:ext cx="731520" cy="2696943"/>
          </a:xfrm>
          <a:prstGeom prst="rect">
            <a:avLst/>
          </a:prstGeom>
          <a:solidFill>
            <a:srgbClr val="FF5C7A"/>
          </a:solidFill>
          <a:ln w="12700">
            <a:solidFill>
              <a:srgbClr val="FF5C7A">
                <a:alpha val="0"/>
              </a:srgbClr>
            </a:solidFill>
            <a:prstDash val="solid"/>
          </a:ln>
        </p:spPr>
        <p:txBody>
          <a:bodyPr/>
          <a:lstStyle/>
          <a:p>
            <a:endParaRPr lang="es-AR"/>
          </a:p>
        </p:txBody>
      </p:sp>
      <p:sp>
        <p:nvSpPr>
          <p:cNvPr id="18" name="Shape 19">
            <a:extLst>
              <a:ext uri="{FF2B5EF4-FFF2-40B4-BE49-F238E27FC236}">
                <a16:creationId xmlns:a16="http://schemas.microsoft.com/office/drawing/2014/main" id="{07BB08D0-0197-A8E8-C0A5-13D756EAAD30}"/>
              </a:ext>
            </a:extLst>
          </p:cNvPr>
          <p:cNvSpPr/>
          <p:nvPr/>
        </p:nvSpPr>
        <p:spPr>
          <a:xfrm>
            <a:off x="3717305" y="6125943"/>
            <a:ext cx="4572000" cy="0"/>
          </a:xfrm>
          <a:prstGeom prst="line">
            <a:avLst/>
          </a:prstGeom>
          <a:noFill/>
          <a:ln w="12700">
            <a:solidFill>
              <a:srgbClr val="38405F"/>
            </a:solidFill>
            <a:prstDash val="solid"/>
          </a:ln>
        </p:spPr>
        <p:txBody>
          <a:bodyPr/>
          <a:lstStyle/>
          <a:p>
            <a:endParaRPr lang="es-AR"/>
          </a:p>
        </p:txBody>
      </p:sp>
      <p:sp>
        <p:nvSpPr>
          <p:cNvPr id="19" name="Text 20">
            <a:extLst>
              <a:ext uri="{FF2B5EF4-FFF2-40B4-BE49-F238E27FC236}">
                <a16:creationId xmlns:a16="http://schemas.microsoft.com/office/drawing/2014/main" id="{C31BB4FB-3408-ECB7-C3DD-60E93137E2FD}"/>
              </a:ext>
            </a:extLst>
          </p:cNvPr>
          <p:cNvSpPr/>
          <p:nvPr/>
        </p:nvSpPr>
        <p:spPr>
          <a:xfrm>
            <a:off x="3840480" y="6209673"/>
            <a:ext cx="731520" cy="164592"/>
          </a:xfrm>
          <a:prstGeom prst="rect">
            <a:avLst/>
          </a:prstGeom>
          <a:noFill/>
          <a:ln/>
        </p:spPr>
        <p:txBody>
          <a:bodyPr wrap="square" lIns="0" tIns="0" rIns="0" bIns="0" rtlCol="0" anchor="ctr"/>
          <a:lstStyle/>
          <a:p>
            <a:pPr marL="0" indent="0" algn="ctr">
              <a:buNone/>
            </a:pPr>
            <a:r>
              <a:rPr lang="en-US" sz="820" dirty="0">
                <a:solidFill>
                  <a:srgbClr val="B8BCD4"/>
                </a:solidFill>
              </a:rPr>
              <a:t>2 estados</a:t>
            </a:r>
            <a:endParaRPr lang="en-US" sz="820" dirty="0"/>
          </a:p>
        </p:txBody>
      </p:sp>
      <p:sp>
        <p:nvSpPr>
          <p:cNvPr id="20" name="Text 21">
            <a:extLst>
              <a:ext uri="{FF2B5EF4-FFF2-40B4-BE49-F238E27FC236}">
                <a16:creationId xmlns:a16="http://schemas.microsoft.com/office/drawing/2014/main" id="{7167D4E9-A761-E543-BD36-FA763AEDF829}"/>
              </a:ext>
            </a:extLst>
          </p:cNvPr>
          <p:cNvSpPr/>
          <p:nvPr/>
        </p:nvSpPr>
        <p:spPr>
          <a:xfrm>
            <a:off x="4841301" y="6209673"/>
            <a:ext cx="731520" cy="164592"/>
          </a:xfrm>
          <a:prstGeom prst="rect">
            <a:avLst/>
          </a:prstGeom>
          <a:noFill/>
          <a:ln/>
        </p:spPr>
        <p:txBody>
          <a:bodyPr wrap="square" lIns="0" tIns="0" rIns="0" bIns="0" rtlCol="0" anchor="ctr"/>
          <a:lstStyle/>
          <a:p>
            <a:pPr marL="0" indent="0" algn="ctr">
              <a:buNone/>
            </a:pPr>
            <a:r>
              <a:rPr lang="en-US" sz="820" dirty="0">
                <a:solidFill>
                  <a:srgbClr val="B8BCD4"/>
                </a:solidFill>
              </a:rPr>
              <a:t>3 estados</a:t>
            </a:r>
            <a:endParaRPr lang="en-US" sz="820" dirty="0"/>
          </a:p>
        </p:txBody>
      </p:sp>
      <p:sp>
        <p:nvSpPr>
          <p:cNvPr id="21" name="Text 22">
            <a:extLst>
              <a:ext uri="{FF2B5EF4-FFF2-40B4-BE49-F238E27FC236}">
                <a16:creationId xmlns:a16="http://schemas.microsoft.com/office/drawing/2014/main" id="{12D6A392-E763-79ED-B636-FA75B1097851}"/>
              </a:ext>
            </a:extLst>
          </p:cNvPr>
          <p:cNvSpPr/>
          <p:nvPr/>
        </p:nvSpPr>
        <p:spPr>
          <a:xfrm>
            <a:off x="5866145" y="6209673"/>
            <a:ext cx="731520" cy="164592"/>
          </a:xfrm>
          <a:prstGeom prst="rect">
            <a:avLst/>
          </a:prstGeom>
          <a:noFill/>
          <a:ln/>
        </p:spPr>
        <p:txBody>
          <a:bodyPr wrap="square" lIns="0" tIns="0" rIns="0" bIns="0" rtlCol="0" anchor="ctr"/>
          <a:lstStyle/>
          <a:p>
            <a:pPr marL="0" indent="0" algn="ctr">
              <a:buNone/>
            </a:pPr>
            <a:r>
              <a:rPr lang="en-US" sz="820" dirty="0">
                <a:solidFill>
                  <a:srgbClr val="B8BCD4"/>
                </a:solidFill>
              </a:rPr>
              <a:t>4 estados</a:t>
            </a:r>
            <a:endParaRPr lang="en-US" sz="820" dirty="0"/>
          </a:p>
        </p:txBody>
      </p:sp>
      <p:sp>
        <p:nvSpPr>
          <p:cNvPr id="22" name="Text 23">
            <a:extLst>
              <a:ext uri="{FF2B5EF4-FFF2-40B4-BE49-F238E27FC236}">
                <a16:creationId xmlns:a16="http://schemas.microsoft.com/office/drawing/2014/main" id="{34D7DDB6-D32F-53F1-463F-ABA237B72BE4}"/>
              </a:ext>
            </a:extLst>
          </p:cNvPr>
          <p:cNvSpPr/>
          <p:nvPr/>
        </p:nvSpPr>
        <p:spPr>
          <a:xfrm>
            <a:off x="6890989" y="6209673"/>
            <a:ext cx="731520" cy="164592"/>
          </a:xfrm>
          <a:prstGeom prst="rect">
            <a:avLst/>
          </a:prstGeom>
          <a:noFill/>
          <a:ln/>
        </p:spPr>
        <p:txBody>
          <a:bodyPr wrap="square" lIns="0" tIns="0" rIns="0" bIns="0" rtlCol="0" anchor="ctr"/>
          <a:lstStyle/>
          <a:p>
            <a:pPr marL="0" indent="0" algn="ctr">
              <a:buNone/>
            </a:pPr>
            <a:r>
              <a:rPr lang="en-US" sz="820" dirty="0">
                <a:solidFill>
                  <a:srgbClr val="B8BCD4"/>
                </a:solidFill>
              </a:rPr>
              <a:t>5 estados</a:t>
            </a:r>
            <a:endParaRPr lang="en-US" sz="820" dirty="0"/>
          </a:p>
        </p:txBody>
      </p:sp>
      <p:sp>
        <p:nvSpPr>
          <p:cNvPr id="23" name="Text 24">
            <a:extLst>
              <a:ext uri="{FF2B5EF4-FFF2-40B4-BE49-F238E27FC236}">
                <a16:creationId xmlns:a16="http://schemas.microsoft.com/office/drawing/2014/main" id="{70CB25F1-2371-8987-625A-41DA98EE1CA4}"/>
              </a:ext>
            </a:extLst>
          </p:cNvPr>
          <p:cNvSpPr/>
          <p:nvPr/>
        </p:nvSpPr>
        <p:spPr>
          <a:xfrm>
            <a:off x="3790457" y="6459072"/>
            <a:ext cx="3931920" cy="228600"/>
          </a:xfrm>
          <a:prstGeom prst="rect">
            <a:avLst/>
          </a:prstGeom>
          <a:noFill/>
          <a:ln/>
        </p:spPr>
        <p:txBody>
          <a:bodyPr wrap="square" lIns="0" tIns="0" rIns="0" bIns="0" rtlCol="0" anchor="ctr"/>
          <a:lstStyle/>
          <a:p>
            <a:pPr marL="0" indent="0">
              <a:buNone/>
            </a:pPr>
            <a:r>
              <a:rPr lang="en-US" sz="1300" b="1" dirty="0">
                <a:solidFill>
                  <a:srgbClr val="FF5C7A"/>
                </a:solidFill>
              </a:rPr>
              <a:t>Complejidad concentrada en Pedido</a:t>
            </a:r>
            <a:endParaRPr lang="en-US" sz="1300" dirty="0"/>
          </a:p>
        </p:txBody>
      </p:sp>
      <p:sp>
        <p:nvSpPr>
          <p:cNvPr id="24" name="Shape 25">
            <a:extLst>
              <a:ext uri="{FF2B5EF4-FFF2-40B4-BE49-F238E27FC236}">
                <a16:creationId xmlns:a16="http://schemas.microsoft.com/office/drawing/2014/main" id="{083BB0F3-6887-B9D2-175A-19A7E26455D8}"/>
              </a:ext>
            </a:extLst>
          </p:cNvPr>
          <p:cNvSpPr/>
          <p:nvPr/>
        </p:nvSpPr>
        <p:spPr>
          <a:xfrm>
            <a:off x="3717305" y="2724375"/>
            <a:ext cx="4297680" cy="402336"/>
          </a:xfrm>
          <a:prstGeom prst="roundRect">
            <a:avLst>
              <a:gd name="adj" fmla="val 18182"/>
            </a:avLst>
          </a:prstGeom>
          <a:solidFill>
            <a:srgbClr val="242A44"/>
          </a:solidFill>
          <a:ln w="12700">
            <a:solidFill>
              <a:srgbClr val="38405F">
                <a:alpha val="85000"/>
              </a:srgbClr>
            </a:solidFill>
            <a:prstDash val="solid"/>
          </a:ln>
        </p:spPr>
        <p:txBody>
          <a:bodyPr/>
          <a:lstStyle/>
          <a:p>
            <a:endParaRPr lang="es-AR"/>
          </a:p>
        </p:txBody>
      </p:sp>
      <p:sp>
        <p:nvSpPr>
          <p:cNvPr id="25" name="Shape 26">
            <a:extLst>
              <a:ext uri="{FF2B5EF4-FFF2-40B4-BE49-F238E27FC236}">
                <a16:creationId xmlns:a16="http://schemas.microsoft.com/office/drawing/2014/main" id="{CBB1D6E4-F7F8-3B8D-A0FF-83F50DC4D70B}"/>
              </a:ext>
            </a:extLst>
          </p:cNvPr>
          <p:cNvSpPr/>
          <p:nvPr/>
        </p:nvSpPr>
        <p:spPr>
          <a:xfrm>
            <a:off x="3717305" y="2724375"/>
            <a:ext cx="73152" cy="402336"/>
          </a:xfrm>
          <a:prstGeom prst="rect">
            <a:avLst/>
          </a:prstGeom>
          <a:solidFill>
            <a:srgbClr val="FF5C7A"/>
          </a:solidFill>
          <a:ln w="12700">
            <a:solidFill>
              <a:srgbClr val="FF5C7A">
                <a:alpha val="0"/>
              </a:srgbClr>
            </a:solidFill>
            <a:prstDash val="solid"/>
          </a:ln>
        </p:spPr>
        <p:txBody>
          <a:bodyPr/>
          <a:lstStyle/>
          <a:p>
            <a:endParaRPr lang="es-AR"/>
          </a:p>
        </p:txBody>
      </p:sp>
      <p:sp>
        <p:nvSpPr>
          <p:cNvPr id="26" name="Text 27">
            <a:extLst>
              <a:ext uri="{FF2B5EF4-FFF2-40B4-BE49-F238E27FC236}">
                <a16:creationId xmlns:a16="http://schemas.microsoft.com/office/drawing/2014/main" id="{07F4218A-855A-7104-09AE-BE2BC0B24F65}"/>
              </a:ext>
            </a:extLst>
          </p:cNvPr>
          <p:cNvSpPr/>
          <p:nvPr/>
        </p:nvSpPr>
        <p:spPr>
          <a:xfrm>
            <a:off x="3881897" y="2861535"/>
            <a:ext cx="397764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Bad smell</a:t>
            </a:r>
            <a:endParaRPr lang="en-US" sz="1300" dirty="0"/>
          </a:p>
        </p:txBody>
      </p:sp>
      <p:sp>
        <p:nvSpPr>
          <p:cNvPr id="27" name="Text 28">
            <a:extLst>
              <a:ext uri="{FF2B5EF4-FFF2-40B4-BE49-F238E27FC236}">
                <a16:creationId xmlns:a16="http://schemas.microsoft.com/office/drawing/2014/main" id="{E8A7FE67-5CE1-392C-3C13-F5245105A7E5}"/>
              </a:ext>
            </a:extLst>
          </p:cNvPr>
          <p:cNvSpPr/>
          <p:nvPr/>
        </p:nvSpPr>
        <p:spPr>
          <a:xfrm>
            <a:off x="3881897" y="3199862"/>
            <a:ext cx="3977640" cy="293329"/>
          </a:xfrm>
          <a:prstGeom prst="rect">
            <a:avLst/>
          </a:prstGeom>
          <a:noFill/>
          <a:ln/>
        </p:spPr>
        <p:txBody>
          <a:bodyPr wrap="square" lIns="254" tIns="254" rIns="254" bIns="254" rtlCol="0" anchor="t">
            <a:noAutofit/>
          </a:bodyPr>
          <a:lstStyle/>
          <a:p>
            <a:pPr marL="0" indent="0">
              <a:buNone/>
            </a:pPr>
            <a:r>
              <a:rPr lang="en-US" sz="1000" dirty="0">
                <a:solidFill>
                  <a:srgbClr val="B8BCD4"/>
                </a:solidFill>
                <a:latin typeface="Aptos" pitchFamily="34" charset="0"/>
                <a:ea typeface="Aptos" pitchFamily="34" charset="-122"/>
                <a:cs typeface="Aptos" pitchFamily="34" charset="-120"/>
              </a:rPr>
              <a:t>Pedido se empieza a convertir en una clase que valida todo, decide todo y cambia todo.</a:t>
            </a:r>
            <a:endParaRPr lang="en-US" sz="1000" dirty="0"/>
          </a:p>
        </p:txBody>
      </p:sp>
    </p:spTree>
    <p:extLst>
      <p:ext uri="{BB962C8B-B14F-4D97-AF65-F5344CB8AC3E}">
        <p14:creationId xmlns:p14="http://schemas.microsoft.com/office/powerpoint/2010/main" val="3858792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hape 7">
            <a:extLst>
              <a:ext uri="{FF2B5EF4-FFF2-40B4-BE49-F238E27FC236}">
                <a16:creationId xmlns:a16="http://schemas.microsoft.com/office/drawing/2014/main" id="{6FDFB5DF-7C43-D283-C44B-38E910AE8D44}"/>
              </a:ext>
            </a:extLst>
          </p:cNvPr>
          <p:cNvSpPr/>
          <p:nvPr/>
        </p:nvSpPr>
        <p:spPr>
          <a:xfrm>
            <a:off x="5082539" y="5192209"/>
            <a:ext cx="972671" cy="0"/>
          </a:xfrm>
          <a:prstGeom prst="line">
            <a:avLst/>
          </a:prstGeom>
          <a:noFill/>
          <a:ln w="21590">
            <a:solidFill>
              <a:srgbClr val="B8BCD4"/>
            </a:solidFill>
            <a:prstDash val="solid"/>
            <a:headEnd type="none"/>
            <a:tailEnd type="triangle"/>
          </a:ln>
        </p:spPr>
        <p:txBody>
          <a:bodyPr/>
          <a:lstStyle/>
          <a:p>
            <a:endParaRPr lang="es-AR"/>
          </a:p>
        </p:txBody>
      </p:sp>
      <p:sp>
        <p:nvSpPr>
          <p:cNvPr id="2" name="Título 1">
            <a:extLst>
              <a:ext uri="{FF2B5EF4-FFF2-40B4-BE49-F238E27FC236}">
                <a16:creationId xmlns:a16="http://schemas.microsoft.com/office/drawing/2014/main" id="{1E9E0874-7DAD-4FC6-655A-7AFC18AFF32D}"/>
              </a:ext>
            </a:extLst>
          </p:cNvPr>
          <p:cNvSpPr>
            <a:spLocks noGrp="1"/>
          </p:cNvSpPr>
          <p:nvPr>
            <p:ph type="title"/>
          </p:nvPr>
        </p:nvSpPr>
        <p:spPr>
          <a:xfrm>
            <a:off x="865969" y="927098"/>
            <a:ext cx="6583701" cy="709865"/>
          </a:xfrm>
        </p:spPr>
        <p:txBody>
          <a:bodyPr/>
          <a:lstStyle/>
          <a:p>
            <a:r>
              <a:rPr lang="es-AR" dirty="0"/>
              <a:t>La idea central del patrón State</a:t>
            </a:r>
          </a:p>
        </p:txBody>
      </p:sp>
      <p:sp>
        <p:nvSpPr>
          <p:cNvPr id="3" name="Marcador de contenido 2">
            <a:extLst>
              <a:ext uri="{FF2B5EF4-FFF2-40B4-BE49-F238E27FC236}">
                <a16:creationId xmlns:a16="http://schemas.microsoft.com/office/drawing/2014/main" id="{1E416007-3014-90DE-5CBE-8D259B207009}"/>
              </a:ext>
            </a:extLst>
          </p:cNvPr>
          <p:cNvSpPr>
            <a:spLocks noGrp="1"/>
          </p:cNvSpPr>
          <p:nvPr>
            <p:ph idx="1"/>
          </p:nvPr>
        </p:nvSpPr>
        <p:spPr>
          <a:xfrm>
            <a:off x="864382" y="2489200"/>
            <a:ext cx="7616230" cy="1351095"/>
          </a:xfrm>
        </p:spPr>
        <p:txBody>
          <a:bodyPr>
            <a:normAutofit/>
          </a:bodyPr>
          <a:lstStyle/>
          <a:p>
            <a:r>
              <a:rPr lang="es-AR" sz="1600" dirty="0"/>
              <a:t>Mover el comportamiento variable a objetos que representan estados.</a:t>
            </a:r>
          </a:p>
          <a:p>
            <a:r>
              <a:rPr lang="es-AR" sz="1600" dirty="0"/>
              <a:t>Pedido ya no pregunta todo el tiempo “¿en qué estado estoy?”.</a:t>
            </a:r>
          </a:p>
          <a:p>
            <a:r>
              <a:rPr lang="es-AR" sz="1600" dirty="0"/>
              <a:t>Le delega la acción al estado actual.</a:t>
            </a:r>
          </a:p>
        </p:txBody>
      </p:sp>
      <p:sp>
        <p:nvSpPr>
          <p:cNvPr id="4" name="Shape 7">
            <a:extLst>
              <a:ext uri="{FF2B5EF4-FFF2-40B4-BE49-F238E27FC236}">
                <a16:creationId xmlns:a16="http://schemas.microsoft.com/office/drawing/2014/main" id="{33F630D9-C67B-4F53-6B7F-5A61DF68D4DE}"/>
              </a:ext>
            </a:extLst>
          </p:cNvPr>
          <p:cNvSpPr/>
          <p:nvPr/>
        </p:nvSpPr>
        <p:spPr>
          <a:xfrm>
            <a:off x="2555393" y="5191387"/>
            <a:ext cx="502383" cy="0"/>
          </a:xfrm>
          <a:prstGeom prst="line">
            <a:avLst/>
          </a:prstGeom>
          <a:noFill/>
          <a:ln w="21590">
            <a:solidFill>
              <a:srgbClr val="B8BCD4"/>
            </a:solidFill>
            <a:prstDash val="solid"/>
            <a:headEnd type="none"/>
            <a:tailEnd type="triangle"/>
          </a:ln>
        </p:spPr>
        <p:txBody>
          <a:bodyPr/>
          <a:lstStyle/>
          <a:p>
            <a:endParaRPr lang="es-AR"/>
          </a:p>
        </p:txBody>
      </p:sp>
      <p:sp>
        <p:nvSpPr>
          <p:cNvPr id="5" name="Shape 8">
            <a:extLst>
              <a:ext uri="{FF2B5EF4-FFF2-40B4-BE49-F238E27FC236}">
                <a16:creationId xmlns:a16="http://schemas.microsoft.com/office/drawing/2014/main" id="{0D4399AB-9C9B-E91B-B6ED-E27A7DDE3DD8}"/>
              </a:ext>
            </a:extLst>
          </p:cNvPr>
          <p:cNvSpPr/>
          <p:nvPr/>
        </p:nvSpPr>
        <p:spPr>
          <a:xfrm flipV="1">
            <a:off x="5082539" y="4253752"/>
            <a:ext cx="972671" cy="535299"/>
          </a:xfrm>
          <a:prstGeom prst="line">
            <a:avLst/>
          </a:prstGeom>
          <a:noFill/>
          <a:ln w="15875">
            <a:solidFill>
              <a:srgbClr val="B8BCD4"/>
            </a:solidFill>
            <a:prstDash val="solid"/>
            <a:headEnd type="none"/>
            <a:tailEnd type="triangle"/>
          </a:ln>
        </p:spPr>
        <p:txBody>
          <a:bodyPr/>
          <a:lstStyle/>
          <a:p>
            <a:endParaRPr lang="es-AR"/>
          </a:p>
        </p:txBody>
      </p:sp>
      <p:sp>
        <p:nvSpPr>
          <p:cNvPr id="7" name="Shape 10">
            <a:extLst>
              <a:ext uri="{FF2B5EF4-FFF2-40B4-BE49-F238E27FC236}">
                <a16:creationId xmlns:a16="http://schemas.microsoft.com/office/drawing/2014/main" id="{C4B48E02-2FE4-2E3A-E3D7-7B529050DE99}"/>
              </a:ext>
            </a:extLst>
          </p:cNvPr>
          <p:cNvSpPr/>
          <p:nvPr/>
        </p:nvSpPr>
        <p:spPr>
          <a:xfrm>
            <a:off x="4959811" y="5469293"/>
            <a:ext cx="1131619" cy="659723"/>
          </a:xfrm>
          <a:prstGeom prst="line">
            <a:avLst/>
          </a:prstGeom>
          <a:noFill/>
          <a:ln w="15875">
            <a:solidFill>
              <a:srgbClr val="B8BCD4"/>
            </a:solidFill>
            <a:prstDash val="solid"/>
            <a:headEnd type="none"/>
            <a:tailEnd type="triangle"/>
          </a:ln>
        </p:spPr>
        <p:txBody>
          <a:bodyPr/>
          <a:lstStyle/>
          <a:p>
            <a:endParaRPr lang="es-AR"/>
          </a:p>
        </p:txBody>
      </p:sp>
      <p:sp>
        <p:nvSpPr>
          <p:cNvPr id="8" name="Shape 11">
            <a:extLst>
              <a:ext uri="{FF2B5EF4-FFF2-40B4-BE49-F238E27FC236}">
                <a16:creationId xmlns:a16="http://schemas.microsoft.com/office/drawing/2014/main" id="{611FD6FE-BC31-6B01-12FA-DB973ABA010D}"/>
              </a:ext>
            </a:extLst>
          </p:cNvPr>
          <p:cNvSpPr/>
          <p:nvPr/>
        </p:nvSpPr>
        <p:spPr>
          <a:xfrm>
            <a:off x="424841" y="4414147"/>
            <a:ext cx="2194560" cy="1554480"/>
          </a:xfrm>
          <a:prstGeom prst="roundRect">
            <a:avLst>
              <a:gd name="adj" fmla="val 4706"/>
            </a:avLst>
          </a:prstGeom>
          <a:solidFill>
            <a:srgbClr val="242A44"/>
          </a:solidFill>
          <a:ln w="12700">
            <a:solidFill>
              <a:srgbClr val="38405F">
                <a:alpha val="85000"/>
              </a:srgbClr>
            </a:solidFill>
            <a:prstDash val="solid"/>
          </a:ln>
        </p:spPr>
        <p:txBody>
          <a:bodyPr/>
          <a:lstStyle/>
          <a:p>
            <a:endParaRPr lang="es-AR"/>
          </a:p>
        </p:txBody>
      </p:sp>
      <p:sp>
        <p:nvSpPr>
          <p:cNvPr id="9" name="Shape 12">
            <a:extLst>
              <a:ext uri="{FF2B5EF4-FFF2-40B4-BE49-F238E27FC236}">
                <a16:creationId xmlns:a16="http://schemas.microsoft.com/office/drawing/2014/main" id="{1A70A39A-5023-0397-E1CE-FD3BE071B8B4}"/>
              </a:ext>
            </a:extLst>
          </p:cNvPr>
          <p:cNvSpPr/>
          <p:nvPr/>
        </p:nvSpPr>
        <p:spPr>
          <a:xfrm>
            <a:off x="424841" y="4414147"/>
            <a:ext cx="73152" cy="1554480"/>
          </a:xfrm>
          <a:prstGeom prst="rect">
            <a:avLst/>
          </a:prstGeom>
          <a:solidFill>
            <a:srgbClr val="8A5CFF"/>
          </a:solidFill>
          <a:ln w="12700">
            <a:solidFill>
              <a:srgbClr val="8A5CFF">
                <a:alpha val="0"/>
              </a:srgbClr>
            </a:solidFill>
            <a:prstDash val="solid"/>
          </a:ln>
        </p:spPr>
        <p:txBody>
          <a:bodyPr/>
          <a:lstStyle/>
          <a:p>
            <a:endParaRPr lang="es-AR"/>
          </a:p>
        </p:txBody>
      </p:sp>
      <p:sp>
        <p:nvSpPr>
          <p:cNvPr id="10" name="Text 13">
            <a:extLst>
              <a:ext uri="{FF2B5EF4-FFF2-40B4-BE49-F238E27FC236}">
                <a16:creationId xmlns:a16="http://schemas.microsoft.com/office/drawing/2014/main" id="{B22BD334-66E4-9D75-C7B2-857210154F56}"/>
              </a:ext>
            </a:extLst>
          </p:cNvPr>
          <p:cNvSpPr/>
          <p:nvPr/>
        </p:nvSpPr>
        <p:spPr>
          <a:xfrm>
            <a:off x="589433" y="4551307"/>
            <a:ext cx="187452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Context</a:t>
            </a:r>
            <a:endParaRPr lang="en-US" sz="1300" dirty="0"/>
          </a:p>
        </p:txBody>
      </p:sp>
      <p:sp>
        <p:nvSpPr>
          <p:cNvPr id="11" name="Text 14">
            <a:extLst>
              <a:ext uri="{FF2B5EF4-FFF2-40B4-BE49-F238E27FC236}">
                <a16:creationId xmlns:a16="http://schemas.microsoft.com/office/drawing/2014/main" id="{5C88D413-F998-5A6D-1D35-F8A33CF0772D}"/>
              </a:ext>
            </a:extLst>
          </p:cNvPr>
          <p:cNvSpPr/>
          <p:nvPr/>
        </p:nvSpPr>
        <p:spPr>
          <a:xfrm>
            <a:off x="589433" y="4889635"/>
            <a:ext cx="1874520" cy="96012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Pedido</a:t>
            </a:r>
            <a:endParaRPr lang="en-US" sz="950" dirty="0"/>
          </a:p>
          <a:p>
            <a:pPr marL="0" indent="0">
              <a:buNone/>
            </a:pPr>
            <a:r>
              <a:rPr lang="en-US" sz="950" dirty="0">
                <a:solidFill>
                  <a:srgbClr val="B8BCD4"/>
                </a:solidFill>
                <a:latin typeface="Aptos" pitchFamily="34" charset="0"/>
                <a:ea typeface="Aptos" pitchFamily="34" charset="-122"/>
                <a:cs typeface="Aptos" pitchFamily="34" charset="-120"/>
              </a:rPr>
              <a:t>conoce su estado actual</a:t>
            </a:r>
            <a:endParaRPr lang="en-US" sz="950" dirty="0"/>
          </a:p>
        </p:txBody>
      </p:sp>
      <p:sp>
        <p:nvSpPr>
          <p:cNvPr id="12" name="Shape 15">
            <a:extLst>
              <a:ext uri="{FF2B5EF4-FFF2-40B4-BE49-F238E27FC236}">
                <a16:creationId xmlns:a16="http://schemas.microsoft.com/office/drawing/2014/main" id="{94036CAC-2419-F32E-F4B2-AFB34FD2485E}"/>
              </a:ext>
            </a:extLst>
          </p:cNvPr>
          <p:cNvSpPr/>
          <p:nvPr/>
        </p:nvSpPr>
        <p:spPr>
          <a:xfrm>
            <a:off x="3132630" y="4414147"/>
            <a:ext cx="2103120" cy="1554480"/>
          </a:xfrm>
          <a:prstGeom prst="roundRect">
            <a:avLst>
              <a:gd name="adj" fmla="val 4706"/>
            </a:avLst>
          </a:prstGeom>
          <a:solidFill>
            <a:srgbClr val="242A44"/>
          </a:solidFill>
          <a:ln w="12700">
            <a:solidFill>
              <a:srgbClr val="38405F">
                <a:alpha val="85000"/>
              </a:srgbClr>
            </a:solidFill>
            <a:prstDash val="solid"/>
          </a:ln>
        </p:spPr>
        <p:txBody>
          <a:bodyPr/>
          <a:lstStyle/>
          <a:p>
            <a:endParaRPr lang="es-AR"/>
          </a:p>
        </p:txBody>
      </p:sp>
      <p:sp>
        <p:nvSpPr>
          <p:cNvPr id="13" name="Shape 16">
            <a:extLst>
              <a:ext uri="{FF2B5EF4-FFF2-40B4-BE49-F238E27FC236}">
                <a16:creationId xmlns:a16="http://schemas.microsoft.com/office/drawing/2014/main" id="{3F0C979E-CC2C-28A6-3BB8-00B0F31E3BD8}"/>
              </a:ext>
            </a:extLst>
          </p:cNvPr>
          <p:cNvSpPr/>
          <p:nvPr/>
        </p:nvSpPr>
        <p:spPr>
          <a:xfrm>
            <a:off x="3132630" y="4414147"/>
            <a:ext cx="73152" cy="1554480"/>
          </a:xfrm>
          <a:prstGeom prst="rect">
            <a:avLst/>
          </a:prstGeom>
          <a:solidFill>
            <a:srgbClr val="35E0D4"/>
          </a:solidFill>
          <a:ln w="12700">
            <a:solidFill>
              <a:srgbClr val="35E0D4">
                <a:alpha val="0"/>
              </a:srgbClr>
            </a:solidFill>
            <a:prstDash val="solid"/>
          </a:ln>
        </p:spPr>
        <p:txBody>
          <a:bodyPr/>
          <a:lstStyle/>
          <a:p>
            <a:endParaRPr lang="es-AR"/>
          </a:p>
        </p:txBody>
      </p:sp>
      <p:sp>
        <p:nvSpPr>
          <p:cNvPr id="14" name="Text 17">
            <a:extLst>
              <a:ext uri="{FF2B5EF4-FFF2-40B4-BE49-F238E27FC236}">
                <a16:creationId xmlns:a16="http://schemas.microsoft.com/office/drawing/2014/main" id="{43BD5B3C-28D1-98FC-69D1-EC974BC37562}"/>
              </a:ext>
            </a:extLst>
          </p:cNvPr>
          <p:cNvSpPr/>
          <p:nvPr/>
        </p:nvSpPr>
        <p:spPr>
          <a:xfrm>
            <a:off x="3297222" y="4551307"/>
            <a:ext cx="178308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State</a:t>
            </a:r>
            <a:endParaRPr lang="en-US" sz="1300" dirty="0"/>
          </a:p>
        </p:txBody>
      </p:sp>
      <p:sp>
        <p:nvSpPr>
          <p:cNvPr id="15" name="Text 18">
            <a:extLst>
              <a:ext uri="{FF2B5EF4-FFF2-40B4-BE49-F238E27FC236}">
                <a16:creationId xmlns:a16="http://schemas.microsoft.com/office/drawing/2014/main" id="{5275D96E-1022-7BB8-5FBB-1D498D9E1FCF}"/>
              </a:ext>
            </a:extLst>
          </p:cNvPr>
          <p:cNvSpPr/>
          <p:nvPr/>
        </p:nvSpPr>
        <p:spPr>
          <a:xfrm>
            <a:off x="3297222" y="4889635"/>
            <a:ext cx="1783080" cy="96012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EstadoPedido</a:t>
            </a:r>
            <a:endParaRPr lang="en-US" sz="950" dirty="0"/>
          </a:p>
          <a:p>
            <a:pPr marL="0" indent="0">
              <a:buNone/>
            </a:pPr>
            <a:r>
              <a:rPr lang="en-US" sz="950" dirty="0">
                <a:solidFill>
                  <a:srgbClr val="B8BCD4"/>
                </a:solidFill>
                <a:latin typeface="Aptos" pitchFamily="34" charset="0"/>
                <a:ea typeface="Aptos" pitchFamily="34" charset="-122"/>
                <a:cs typeface="Aptos" pitchFamily="34" charset="-120"/>
              </a:rPr>
              <a:t>define las acciones</a:t>
            </a:r>
            <a:endParaRPr lang="en-US" sz="950" dirty="0"/>
          </a:p>
        </p:txBody>
      </p:sp>
      <p:sp>
        <p:nvSpPr>
          <p:cNvPr id="16" name="Shape 19">
            <a:extLst>
              <a:ext uri="{FF2B5EF4-FFF2-40B4-BE49-F238E27FC236}">
                <a16:creationId xmlns:a16="http://schemas.microsoft.com/office/drawing/2014/main" id="{DA4C1EDD-C78D-77F3-4DA7-237F7723164E}"/>
              </a:ext>
            </a:extLst>
          </p:cNvPr>
          <p:cNvSpPr/>
          <p:nvPr/>
        </p:nvSpPr>
        <p:spPr>
          <a:xfrm>
            <a:off x="6146650" y="3712284"/>
            <a:ext cx="2606040" cy="914400"/>
          </a:xfrm>
          <a:prstGeom prst="roundRect">
            <a:avLst>
              <a:gd name="adj" fmla="val 8000"/>
            </a:avLst>
          </a:prstGeom>
          <a:solidFill>
            <a:srgbClr val="242A44"/>
          </a:solidFill>
          <a:ln w="12700">
            <a:solidFill>
              <a:srgbClr val="38405F">
                <a:alpha val="85000"/>
              </a:srgbClr>
            </a:solidFill>
            <a:prstDash val="solid"/>
          </a:ln>
        </p:spPr>
        <p:txBody>
          <a:bodyPr/>
          <a:lstStyle/>
          <a:p>
            <a:endParaRPr lang="es-AR"/>
          </a:p>
        </p:txBody>
      </p:sp>
      <p:sp>
        <p:nvSpPr>
          <p:cNvPr id="17" name="Shape 20">
            <a:extLst>
              <a:ext uri="{FF2B5EF4-FFF2-40B4-BE49-F238E27FC236}">
                <a16:creationId xmlns:a16="http://schemas.microsoft.com/office/drawing/2014/main" id="{A70C0D37-D8F4-5B57-49B1-D52C7B04F1EC}"/>
              </a:ext>
            </a:extLst>
          </p:cNvPr>
          <p:cNvSpPr/>
          <p:nvPr/>
        </p:nvSpPr>
        <p:spPr>
          <a:xfrm>
            <a:off x="6146650" y="3712284"/>
            <a:ext cx="73152" cy="914400"/>
          </a:xfrm>
          <a:prstGeom prst="rect">
            <a:avLst/>
          </a:prstGeom>
          <a:solidFill>
            <a:srgbClr val="8A5CFF"/>
          </a:solidFill>
          <a:ln w="12700">
            <a:solidFill>
              <a:srgbClr val="8A5CFF">
                <a:alpha val="0"/>
              </a:srgbClr>
            </a:solidFill>
            <a:prstDash val="solid"/>
          </a:ln>
        </p:spPr>
        <p:txBody>
          <a:bodyPr/>
          <a:lstStyle/>
          <a:p>
            <a:endParaRPr lang="es-AR"/>
          </a:p>
        </p:txBody>
      </p:sp>
      <p:sp>
        <p:nvSpPr>
          <p:cNvPr id="18" name="Text 21">
            <a:extLst>
              <a:ext uri="{FF2B5EF4-FFF2-40B4-BE49-F238E27FC236}">
                <a16:creationId xmlns:a16="http://schemas.microsoft.com/office/drawing/2014/main" id="{68E22653-5B4F-4B61-B532-068246D13455}"/>
              </a:ext>
            </a:extLst>
          </p:cNvPr>
          <p:cNvSpPr/>
          <p:nvPr/>
        </p:nvSpPr>
        <p:spPr>
          <a:xfrm>
            <a:off x="6311242" y="3849444"/>
            <a:ext cx="228600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EstadoCreado</a:t>
            </a:r>
            <a:endParaRPr lang="en-US" sz="1300" dirty="0"/>
          </a:p>
        </p:txBody>
      </p:sp>
      <p:sp>
        <p:nvSpPr>
          <p:cNvPr id="19" name="Text 22">
            <a:extLst>
              <a:ext uri="{FF2B5EF4-FFF2-40B4-BE49-F238E27FC236}">
                <a16:creationId xmlns:a16="http://schemas.microsoft.com/office/drawing/2014/main" id="{DB150D5A-6EB2-A10F-8FA4-CCD7D454FF52}"/>
              </a:ext>
            </a:extLst>
          </p:cNvPr>
          <p:cNvSpPr/>
          <p:nvPr/>
        </p:nvSpPr>
        <p:spPr>
          <a:xfrm>
            <a:off x="6311242" y="4187772"/>
            <a:ext cx="2286000" cy="32004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pagar() y cancelar()</a:t>
            </a:r>
            <a:endParaRPr lang="en-US" sz="950" dirty="0"/>
          </a:p>
        </p:txBody>
      </p:sp>
      <p:sp>
        <p:nvSpPr>
          <p:cNvPr id="20" name="Shape 23">
            <a:extLst>
              <a:ext uri="{FF2B5EF4-FFF2-40B4-BE49-F238E27FC236}">
                <a16:creationId xmlns:a16="http://schemas.microsoft.com/office/drawing/2014/main" id="{B31E5E84-A734-0F6F-060D-3064C14B1CC6}"/>
              </a:ext>
            </a:extLst>
          </p:cNvPr>
          <p:cNvSpPr/>
          <p:nvPr/>
        </p:nvSpPr>
        <p:spPr>
          <a:xfrm>
            <a:off x="6146650" y="4715899"/>
            <a:ext cx="2606040" cy="914400"/>
          </a:xfrm>
          <a:prstGeom prst="roundRect">
            <a:avLst>
              <a:gd name="adj" fmla="val 8000"/>
            </a:avLst>
          </a:prstGeom>
          <a:solidFill>
            <a:srgbClr val="242A44"/>
          </a:solidFill>
          <a:ln w="12700">
            <a:solidFill>
              <a:srgbClr val="38405F">
                <a:alpha val="85000"/>
              </a:srgbClr>
            </a:solidFill>
            <a:prstDash val="solid"/>
          </a:ln>
        </p:spPr>
        <p:txBody>
          <a:bodyPr/>
          <a:lstStyle/>
          <a:p>
            <a:endParaRPr lang="es-AR"/>
          </a:p>
        </p:txBody>
      </p:sp>
      <p:sp>
        <p:nvSpPr>
          <p:cNvPr id="21" name="Shape 24">
            <a:extLst>
              <a:ext uri="{FF2B5EF4-FFF2-40B4-BE49-F238E27FC236}">
                <a16:creationId xmlns:a16="http://schemas.microsoft.com/office/drawing/2014/main" id="{B210A11F-7BCD-A791-E754-9D40CE093E4C}"/>
              </a:ext>
            </a:extLst>
          </p:cNvPr>
          <p:cNvSpPr/>
          <p:nvPr/>
        </p:nvSpPr>
        <p:spPr>
          <a:xfrm>
            <a:off x="6146650" y="4715899"/>
            <a:ext cx="73152" cy="914400"/>
          </a:xfrm>
          <a:prstGeom prst="rect">
            <a:avLst/>
          </a:prstGeom>
          <a:solidFill>
            <a:srgbClr val="35E0D4"/>
          </a:solidFill>
          <a:ln w="12700">
            <a:solidFill>
              <a:srgbClr val="35E0D4">
                <a:alpha val="0"/>
              </a:srgbClr>
            </a:solidFill>
            <a:prstDash val="solid"/>
          </a:ln>
        </p:spPr>
        <p:txBody>
          <a:bodyPr/>
          <a:lstStyle/>
          <a:p>
            <a:endParaRPr lang="es-AR"/>
          </a:p>
        </p:txBody>
      </p:sp>
      <p:sp>
        <p:nvSpPr>
          <p:cNvPr id="22" name="Text 25">
            <a:extLst>
              <a:ext uri="{FF2B5EF4-FFF2-40B4-BE49-F238E27FC236}">
                <a16:creationId xmlns:a16="http://schemas.microsoft.com/office/drawing/2014/main" id="{80F3905D-A7DA-EFB7-898F-C1F30100E534}"/>
              </a:ext>
            </a:extLst>
          </p:cNvPr>
          <p:cNvSpPr/>
          <p:nvPr/>
        </p:nvSpPr>
        <p:spPr>
          <a:xfrm>
            <a:off x="6311242" y="4853059"/>
            <a:ext cx="228600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EstadoPagado</a:t>
            </a:r>
            <a:endParaRPr lang="en-US" sz="1300" dirty="0"/>
          </a:p>
        </p:txBody>
      </p:sp>
      <p:sp>
        <p:nvSpPr>
          <p:cNvPr id="23" name="Text 26">
            <a:extLst>
              <a:ext uri="{FF2B5EF4-FFF2-40B4-BE49-F238E27FC236}">
                <a16:creationId xmlns:a16="http://schemas.microsoft.com/office/drawing/2014/main" id="{B37C7497-63CC-ACF5-30AD-09C574D7A7CF}"/>
              </a:ext>
            </a:extLst>
          </p:cNvPr>
          <p:cNvSpPr/>
          <p:nvPr/>
        </p:nvSpPr>
        <p:spPr>
          <a:xfrm>
            <a:off x="6311242" y="5191387"/>
            <a:ext cx="2286000" cy="32004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preparar() y cancelar()</a:t>
            </a:r>
            <a:endParaRPr lang="en-US" sz="950" dirty="0"/>
          </a:p>
        </p:txBody>
      </p:sp>
      <p:sp>
        <p:nvSpPr>
          <p:cNvPr id="24" name="Shape 27">
            <a:extLst>
              <a:ext uri="{FF2B5EF4-FFF2-40B4-BE49-F238E27FC236}">
                <a16:creationId xmlns:a16="http://schemas.microsoft.com/office/drawing/2014/main" id="{88C9B07E-8EC5-096F-957A-118060A7D2C9}"/>
              </a:ext>
            </a:extLst>
          </p:cNvPr>
          <p:cNvSpPr/>
          <p:nvPr/>
        </p:nvSpPr>
        <p:spPr>
          <a:xfrm>
            <a:off x="6146650" y="5767459"/>
            <a:ext cx="2606040" cy="914400"/>
          </a:xfrm>
          <a:prstGeom prst="roundRect">
            <a:avLst>
              <a:gd name="adj" fmla="val 8000"/>
            </a:avLst>
          </a:prstGeom>
          <a:solidFill>
            <a:srgbClr val="242A44"/>
          </a:solidFill>
          <a:ln w="12700">
            <a:solidFill>
              <a:srgbClr val="38405F">
                <a:alpha val="85000"/>
              </a:srgbClr>
            </a:solidFill>
            <a:prstDash val="solid"/>
          </a:ln>
        </p:spPr>
        <p:txBody>
          <a:bodyPr/>
          <a:lstStyle/>
          <a:p>
            <a:endParaRPr lang="es-AR"/>
          </a:p>
        </p:txBody>
      </p:sp>
      <p:sp>
        <p:nvSpPr>
          <p:cNvPr id="25" name="Shape 28">
            <a:extLst>
              <a:ext uri="{FF2B5EF4-FFF2-40B4-BE49-F238E27FC236}">
                <a16:creationId xmlns:a16="http://schemas.microsoft.com/office/drawing/2014/main" id="{0298A112-057C-3268-3ED5-DB59F71DD750}"/>
              </a:ext>
            </a:extLst>
          </p:cNvPr>
          <p:cNvSpPr/>
          <p:nvPr/>
        </p:nvSpPr>
        <p:spPr>
          <a:xfrm>
            <a:off x="6146650" y="5767459"/>
            <a:ext cx="73152" cy="914400"/>
          </a:xfrm>
          <a:prstGeom prst="rect">
            <a:avLst/>
          </a:prstGeom>
          <a:solidFill>
            <a:srgbClr val="FFB86B"/>
          </a:solidFill>
          <a:ln w="12700">
            <a:solidFill>
              <a:srgbClr val="FFB86B">
                <a:alpha val="0"/>
              </a:srgbClr>
            </a:solidFill>
            <a:prstDash val="solid"/>
          </a:ln>
        </p:spPr>
        <p:txBody>
          <a:bodyPr/>
          <a:lstStyle/>
          <a:p>
            <a:endParaRPr lang="es-AR"/>
          </a:p>
        </p:txBody>
      </p:sp>
      <p:sp>
        <p:nvSpPr>
          <p:cNvPr id="26" name="Text 29">
            <a:extLst>
              <a:ext uri="{FF2B5EF4-FFF2-40B4-BE49-F238E27FC236}">
                <a16:creationId xmlns:a16="http://schemas.microsoft.com/office/drawing/2014/main" id="{50E41AFD-252B-7891-8995-3122ECE8B31D}"/>
              </a:ext>
            </a:extLst>
          </p:cNvPr>
          <p:cNvSpPr/>
          <p:nvPr/>
        </p:nvSpPr>
        <p:spPr>
          <a:xfrm>
            <a:off x="6311242" y="5904619"/>
            <a:ext cx="228600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EstadoPreparando</a:t>
            </a:r>
            <a:endParaRPr lang="en-US" sz="1300" dirty="0"/>
          </a:p>
        </p:txBody>
      </p:sp>
      <p:sp>
        <p:nvSpPr>
          <p:cNvPr id="27" name="Text 30">
            <a:extLst>
              <a:ext uri="{FF2B5EF4-FFF2-40B4-BE49-F238E27FC236}">
                <a16:creationId xmlns:a16="http://schemas.microsoft.com/office/drawing/2014/main" id="{D8E7F2EA-D1D3-85A5-77F1-ED7D1A0102E6}"/>
              </a:ext>
            </a:extLst>
          </p:cNvPr>
          <p:cNvSpPr/>
          <p:nvPr/>
        </p:nvSpPr>
        <p:spPr>
          <a:xfrm>
            <a:off x="6311242" y="6242947"/>
            <a:ext cx="2286000" cy="320040"/>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entregar()</a:t>
            </a:r>
            <a:endParaRPr lang="en-US" sz="950" dirty="0"/>
          </a:p>
        </p:txBody>
      </p:sp>
    </p:spTree>
    <p:extLst>
      <p:ext uri="{BB962C8B-B14F-4D97-AF65-F5344CB8AC3E}">
        <p14:creationId xmlns:p14="http://schemas.microsoft.com/office/powerpoint/2010/main" val="3309189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F2D9A1-83D2-D427-D06F-3AC7FDB7ADC3}"/>
              </a:ext>
            </a:extLst>
          </p:cNvPr>
          <p:cNvSpPr>
            <a:spLocks noGrp="1"/>
          </p:cNvSpPr>
          <p:nvPr>
            <p:ph type="title"/>
          </p:nvPr>
        </p:nvSpPr>
        <p:spPr/>
        <p:txBody>
          <a:bodyPr/>
          <a:lstStyle/>
          <a:p>
            <a:r>
              <a:rPr lang="es-AR" dirty="0"/>
              <a:t>Aplicado a Magic Café</a:t>
            </a:r>
          </a:p>
        </p:txBody>
      </p:sp>
      <p:sp>
        <p:nvSpPr>
          <p:cNvPr id="3" name="Marcador de contenido 2">
            <a:extLst>
              <a:ext uri="{FF2B5EF4-FFF2-40B4-BE49-F238E27FC236}">
                <a16:creationId xmlns:a16="http://schemas.microsoft.com/office/drawing/2014/main" id="{EC8129BE-31F1-86C2-7E08-EFF74A80968D}"/>
              </a:ext>
            </a:extLst>
          </p:cNvPr>
          <p:cNvSpPr>
            <a:spLocks noGrp="1"/>
          </p:cNvSpPr>
          <p:nvPr>
            <p:ph idx="1"/>
          </p:nvPr>
        </p:nvSpPr>
        <p:spPr>
          <a:xfrm>
            <a:off x="864381" y="2489200"/>
            <a:ext cx="7481759" cy="845671"/>
          </a:xfrm>
        </p:spPr>
        <p:txBody>
          <a:bodyPr/>
          <a:lstStyle/>
          <a:p>
            <a:r>
              <a:rPr lang="es-AR" dirty="0"/>
              <a:t>No ”meter State” por que sí, sino detectar el punto de cambio y aislarlo.</a:t>
            </a:r>
          </a:p>
        </p:txBody>
      </p:sp>
      <p:sp>
        <p:nvSpPr>
          <p:cNvPr id="4" name="Shape 7">
            <a:extLst>
              <a:ext uri="{FF2B5EF4-FFF2-40B4-BE49-F238E27FC236}">
                <a16:creationId xmlns:a16="http://schemas.microsoft.com/office/drawing/2014/main" id="{A6C33B4E-64EE-2ABC-30C5-230D9A7C24EC}"/>
              </a:ext>
            </a:extLst>
          </p:cNvPr>
          <p:cNvSpPr/>
          <p:nvPr/>
        </p:nvSpPr>
        <p:spPr>
          <a:xfrm>
            <a:off x="179385" y="3507742"/>
            <a:ext cx="2873188" cy="960120"/>
          </a:xfrm>
          <a:prstGeom prst="roundRect">
            <a:avLst>
              <a:gd name="adj" fmla="val 7619"/>
            </a:avLst>
          </a:prstGeom>
          <a:solidFill>
            <a:srgbClr val="1B2033"/>
          </a:solidFill>
          <a:ln w="12700">
            <a:solidFill>
              <a:srgbClr val="38405F">
                <a:alpha val="90000"/>
              </a:srgbClr>
            </a:solidFill>
            <a:prstDash val="solid"/>
          </a:ln>
        </p:spPr>
        <p:txBody>
          <a:bodyPr/>
          <a:lstStyle/>
          <a:p>
            <a:endParaRPr lang="es-AR"/>
          </a:p>
        </p:txBody>
      </p:sp>
      <p:sp>
        <p:nvSpPr>
          <p:cNvPr id="5" name="Shape 8">
            <a:extLst>
              <a:ext uri="{FF2B5EF4-FFF2-40B4-BE49-F238E27FC236}">
                <a16:creationId xmlns:a16="http://schemas.microsoft.com/office/drawing/2014/main" id="{F4144B05-518A-82BF-92C3-7F981C823642}"/>
              </a:ext>
            </a:extLst>
          </p:cNvPr>
          <p:cNvSpPr/>
          <p:nvPr/>
        </p:nvSpPr>
        <p:spPr>
          <a:xfrm>
            <a:off x="325689" y="3672334"/>
            <a:ext cx="384048" cy="384048"/>
          </a:xfrm>
          <a:prstGeom prst="ellipse">
            <a:avLst/>
          </a:prstGeom>
          <a:solidFill>
            <a:srgbClr val="8A5CFF"/>
          </a:solidFill>
          <a:ln w="12700">
            <a:solidFill>
              <a:srgbClr val="8A5CFF">
                <a:alpha val="0"/>
              </a:srgbClr>
            </a:solidFill>
            <a:prstDash val="solid"/>
          </a:ln>
        </p:spPr>
        <p:txBody>
          <a:bodyPr/>
          <a:lstStyle/>
          <a:p>
            <a:endParaRPr lang="es-AR"/>
          </a:p>
        </p:txBody>
      </p:sp>
      <p:sp>
        <p:nvSpPr>
          <p:cNvPr id="6" name="Text 9">
            <a:extLst>
              <a:ext uri="{FF2B5EF4-FFF2-40B4-BE49-F238E27FC236}">
                <a16:creationId xmlns:a16="http://schemas.microsoft.com/office/drawing/2014/main" id="{461E9B11-9B16-AE1B-271B-154815372633}"/>
              </a:ext>
            </a:extLst>
          </p:cNvPr>
          <p:cNvSpPr/>
          <p:nvPr/>
        </p:nvSpPr>
        <p:spPr>
          <a:xfrm>
            <a:off x="325689" y="3740914"/>
            <a:ext cx="384048"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7" name="Text 10">
            <a:extLst>
              <a:ext uri="{FF2B5EF4-FFF2-40B4-BE49-F238E27FC236}">
                <a16:creationId xmlns:a16="http://schemas.microsoft.com/office/drawing/2014/main" id="{8E1459FA-896B-6A91-878A-E3215605A493}"/>
              </a:ext>
            </a:extLst>
          </p:cNvPr>
          <p:cNvSpPr/>
          <p:nvPr/>
        </p:nvSpPr>
        <p:spPr>
          <a:xfrm>
            <a:off x="819465" y="3654046"/>
            <a:ext cx="1798229" cy="219456"/>
          </a:xfrm>
          <a:prstGeom prst="rect">
            <a:avLst/>
          </a:prstGeom>
          <a:noFill/>
          <a:ln/>
        </p:spPr>
        <p:txBody>
          <a:bodyPr wrap="square" lIns="0" tIns="0" rIns="0" bIns="0" rtlCol="0" anchor="ctr">
            <a:normAutofit/>
          </a:bodyPr>
          <a:lstStyle/>
          <a:p>
            <a:pPr marL="0" indent="0">
              <a:buNone/>
            </a:pPr>
            <a:r>
              <a:rPr lang="en-US" sz="1250" b="1" dirty="0">
                <a:solidFill>
                  <a:srgbClr val="F4F6FF"/>
                </a:solidFill>
                <a:latin typeface="Aptos Display" pitchFamily="34" charset="0"/>
                <a:ea typeface="Aptos Display" pitchFamily="34" charset="-122"/>
                <a:cs typeface="Aptos Display" pitchFamily="34" charset="-120"/>
              </a:rPr>
              <a:t>Identificar estados</a:t>
            </a:r>
            <a:endParaRPr lang="en-US" sz="1250" dirty="0"/>
          </a:p>
        </p:txBody>
      </p:sp>
      <p:sp>
        <p:nvSpPr>
          <p:cNvPr id="8" name="Text 11">
            <a:extLst>
              <a:ext uri="{FF2B5EF4-FFF2-40B4-BE49-F238E27FC236}">
                <a16:creationId xmlns:a16="http://schemas.microsoft.com/office/drawing/2014/main" id="{DF5C64A2-8C61-26E9-E355-4690E676BC86}"/>
              </a:ext>
            </a:extLst>
          </p:cNvPr>
          <p:cNvSpPr/>
          <p:nvPr/>
        </p:nvSpPr>
        <p:spPr>
          <a:xfrm>
            <a:off x="819465" y="3946654"/>
            <a:ext cx="2213131" cy="457200"/>
          </a:xfrm>
          <a:prstGeom prst="rect">
            <a:avLst/>
          </a:prstGeom>
          <a:noFill/>
          <a:ln/>
        </p:spPr>
        <p:txBody>
          <a:bodyPr wrap="square" lIns="0" tIns="0" rIns="0" bIns="0" rtlCol="0" anchor="ctr">
            <a:normAutofit/>
          </a:bodyPr>
          <a:lstStyle/>
          <a:p>
            <a:pPr marL="0" indent="0">
              <a:buNone/>
            </a:pPr>
            <a:r>
              <a:rPr lang="en-US" sz="880" dirty="0">
                <a:solidFill>
                  <a:srgbClr val="B8BCD4"/>
                </a:solidFill>
                <a:latin typeface="Aptos" pitchFamily="34" charset="0"/>
                <a:ea typeface="Aptos" pitchFamily="34" charset="-122"/>
                <a:cs typeface="Aptos" pitchFamily="34" charset="-120"/>
              </a:rPr>
              <a:t>CREADO, PAGADO, PREPARANDO, ENTREGADO, CANCELADO.</a:t>
            </a:r>
            <a:endParaRPr lang="en-US" sz="880" dirty="0"/>
          </a:p>
        </p:txBody>
      </p:sp>
      <p:sp>
        <p:nvSpPr>
          <p:cNvPr id="9" name="Shape 12">
            <a:extLst>
              <a:ext uri="{FF2B5EF4-FFF2-40B4-BE49-F238E27FC236}">
                <a16:creationId xmlns:a16="http://schemas.microsoft.com/office/drawing/2014/main" id="{401A2482-FA09-1138-DCCF-B050A142643F}"/>
              </a:ext>
            </a:extLst>
          </p:cNvPr>
          <p:cNvSpPr/>
          <p:nvPr/>
        </p:nvSpPr>
        <p:spPr>
          <a:xfrm>
            <a:off x="3162301" y="3507742"/>
            <a:ext cx="2873188" cy="960120"/>
          </a:xfrm>
          <a:prstGeom prst="roundRect">
            <a:avLst>
              <a:gd name="adj" fmla="val 7619"/>
            </a:avLst>
          </a:prstGeom>
          <a:solidFill>
            <a:srgbClr val="1B2033"/>
          </a:solidFill>
          <a:ln w="12700">
            <a:solidFill>
              <a:srgbClr val="38405F">
                <a:alpha val="90000"/>
              </a:srgbClr>
            </a:solidFill>
            <a:prstDash val="solid"/>
          </a:ln>
        </p:spPr>
        <p:txBody>
          <a:bodyPr/>
          <a:lstStyle/>
          <a:p>
            <a:endParaRPr lang="es-AR"/>
          </a:p>
        </p:txBody>
      </p:sp>
      <p:sp>
        <p:nvSpPr>
          <p:cNvPr id="10" name="Shape 13">
            <a:extLst>
              <a:ext uri="{FF2B5EF4-FFF2-40B4-BE49-F238E27FC236}">
                <a16:creationId xmlns:a16="http://schemas.microsoft.com/office/drawing/2014/main" id="{CBC56A0C-F00A-8169-9595-1A1A6283F757}"/>
              </a:ext>
            </a:extLst>
          </p:cNvPr>
          <p:cNvSpPr/>
          <p:nvPr/>
        </p:nvSpPr>
        <p:spPr>
          <a:xfrm>
            <a:off x="3308605" y="3672334"/>
            <a:ext cx="384048" cy="384048"/>
          </a:xfrm>
          <a:prstGeom prst="ellipse">
            <a:avLst/>
          </a:prstGeom>
          <a:solidFill>
            <a:srgbClr val="35E0D4"/>
          </a:solidFill>
          <a:ln w="12700">
            <a:solidFill>
              <a:srgbClr val="35E0D4">
                <a:alpha val="0"/>
              </a:srgbClr>
            </a:solidFill>
            <a:prstDash val="solid"/>
          </a:ln>
        </p:spPr>
        <p:txBody>
          <a:bodyPr/>
          <a:lstStyle/>
          <a:p>
            <a:endParaRPr lang="es-AR"/>
          </a:p>
        </p:txBody>
      </p:sp>
      <p:sp>
        <p:nvSpPr>
          <p:cNvPr id="11" name="Text 14">
            <a:extLst>
              <a:ext uri="{FF2B5EF4-FFF2-40B4-BE49-F238E27FC236}">
                <a16:creationId xmlns:a16="http://schemas.microsoft.com/office/drawing/2014/main" id="{5713370B-F5FB-AF97-5218-15BFB479ABE5}"/>
              </a:ext>
            </a:extLst>
          </p:cNvPr>
          <p:cNvSpPr/>
          <p:nvPr/>
        </p:nvSpPr>
        <p:spPr>
          <a:xfrm>
            <a:off x="3308605" y="3740914"/>
            <a:ext cx="38404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12" name="Text 15">
            <a:extLst>
              <a:ext uri="{FF2B5EF4-FFF2-40B4-BE49-F238E27FC236}">
                <a16:creationId xmlns:a16="http://schemas.microsoft.com/office/drawing/2014/main" id="{70842CC8-DDA2-3847-FC6D-08826C776F6E}"/>
              </a:ext>
            </a:extLst>
          </p:cNvPr>
          <p:cNvSpPr/>
          <p:nvPr/>
        </p:nvSpPr>
        <p:spPr>
          <a:xfrm>
            <a:off x="3802381" y="3654046"/>
            <a:ext cx="1916116" cy="219456"/>
          </a:xfrm>
          <a:prstGeom prst="rect">
            <a:avLst/>
          </a:prstGeom>
          <a:noFill/>
          <a:ln/>
        </p:spPr>
        <p:txBody>
          <a:bodyPr wrap="square" lIns="0" tIns="0" rIns="0" bIns="0" rtlCol="0" anchor="ctr">
            <a:normAutofit/>
          </a:bodyPr>
          <a:lstStyle/>
          <a:p>
            <a:pPr marL="0" indent="0">
              <a:buNone/>
            </a:pPr>
            <a:r>
              <a:rPr lang="en-US" sz="1250" b="1" dirty="0">
                <a:solidFill>
                  <a:srgbClr val="F4F6FF"/>
                </a:solidFill>
                <a:latin typeface="Aptos Display" pitchFamily="34" charset="0"/>
                <a:ea typeface="Aptos Display" pitchFamily="34" charset="-122"/>
                <a:cs typeface="Aptos Display" pitchFamily="34" charset="-120"/>
              </a:rPr>
              <a:t>Definir acciones</a:t>
            </a:r>
            <a:endParaRPr lang="en-US" sz="1250" dirty="0"/>
          </a:p>
        </p:txBody>
      </p:sp>
      <p:sp>
        <p:nvSpPr>
          <p:cNvPr id="13" name="Text 16">
            <a:extLst>
              <a:ext uri="{FF2B5EF4-FFF2-40B4-BE49-F238E27FC236}">
                <a16:creationId xmlns:a16="http://schemas.microsoft.com/office/drawing/2014/main" id="{320B6D97-5906-9C91-62F9-8EDB81A189E0}"/>
              </a:ext>
            </a:extLst>
          </p:cNvPr>
          <p:cNvSpPr/>
          <p:nvPr/>
        </p:nvSpPr>
        <p:spPr>
          <a:xfrm>
            <a:off x="3802381" y="3946654"/>
            <a:ext cx="2213131" cy="457200"/>
          </a:xfrm>
          <a:prstGeom prst="rect">
            <a:avLst/>
          </a:prstGeom>
          <a:noFill/>
          <a:ln/>
        </p:spPr>
        <p:txBody>
          <a:bodyPr wrap="square" lIns="0" tIns="0" rIns="0" bIns="0" rtlCol="0" anchor="ctr">
            <a:normAutofit/>
          </a:bodyPr>
          <a:lstStyle/>
          <a:p>
            <a:pPr marL="0" indent="0">
              <a:buNone/>
            </a:pPr>
            <a:r>
              <a:rPr lang="en-US" sz="880" dirty="0">
                <a:solidFill>
                  <a:srgbClr val="B8BCD4"/>
                </a:solidFill>
                <a:latin typeface="Aptos" pitchFamily="34" charset="0"/>
                <a:ea typeface="Aptos" pitchFamily="34" charset="-122"/>
                <a:cs typeface="Aptos" pitchFamily="34" charset="-120"/>
              </a:rPr>
              <a:t>pagar(), preparar(), entregar(), cancelar().</a:t>
            </a:r>
            <a:endParaRPr lang="en-US" sz="880" dirty="0"/>
          </a:p>
        </p:txBody>
      </p:sp>
      <p:sp>
        <p:nvSpPr>
          <p:cNvPr id="14" name="Shape 17">
            <a:extLst>
              <a:ext uri="{FF2B5EF4-FFF2-40B4-BE49-F238E27FC236}">
                <a16:creationId xmlns:a16="http://schemas.microsoft.com/office/drawing/2014/main" id="{E877A7C6-EE76-CA65-B0BA-5A187E7710FE}"/>
              </a:ext>
            </a:extLst>
          </p:cNvPr>
          <p:cNvSpPr/>
          <p:nvPr/>
        </p:nvSpPr>
        <p:spPr>
          <a:xfrm>
            <a:off x="6181793" y="3507742"/>
            <a:ext cx="2715769" cy="960120"/>
          </a:xfrm>
          <a:prstGeom prst="roundRect">
            <a:avLst>
              <a:gd name="adj" fmla="val 7619"/>
            </a:avLst>
          </a:prstGeom>
          <a:solidFill>
            <a:srgbClr val="1B2033"/>
          </a:solidFill>
          <a:ln w="12700">
            <a:solidFill>
              <a:srgbClr val="38405F">
                <a:alpha val="90000"/>
              </a:srgbClr>
            </a:solidFill>
            <a:prstDash val="solid"/>
          </a:ln>
        </p:spPr>
        <p:txBody>
          <a:bodyPr/>
          <a:lstStyle/>
          <a:p>
            <a:endParaRPr lang="es-AR"/>
          </a:p>
        </p:txBody>
      </p:sp>
      <p:sp>
        <p:nvSpPr>
          <p:cNvPr id="15" name="Shape 18">
            <a:extLst>
              <a:ext uri="{FF2B5EF4-FFF2-40B4-BE49-F238E27FC236}">
                <a16:creationId xmlns:a16="http://schemas.microsoft.com/office/drawing/2014/main" id="{BE3B7452-6B6E-DD33-701F-D8FA17F985FB}"/>
              </a:ext>
            </a:extLst>
          </p:cNvPr>
          <p:cNvSpPr/>
          <p:nvPr/>
        </p:nvSpPr>
        <p:spPr>
          <a:xfrm>
            <a:off x="6328097" y="3672334"/>
            <a:ext cx="384048" cy="384048"/>
          </a:xfrm>
          <a:prstGeom prst="ellipse">
            <a:avLst/>
          </a:prstGeom>
          <a:solidFill>
            <a:srgbClr val="FFB86B"/>
          </a:solidFill>
          <a:ln w="12700">
            <a:solidFill>
              <a:srgbClr val="FFB86B">
                <a:alpha val="0"/>
              </a:srgbClr>
            </a:solidFill>
            <a:prstDash val="solid"/>
          </a:ln>
        </p:spPr>
        <p:txBody>
          <a:bodyPr/>
          <a:lstStyle/>
          <a:p>
            <a:endParaRPr lang="es-AR"/>
          </a:p>
        </p:txBody>
      </p:sp>
      <p:sp>
        <p:nvSpPr>
          <p:cNvPr id="16" name="Text 19">
            <a:extLst>
              <a:ext uri="{FF2B5EF4-FFF2-40B4-BE49-F238E27FC236}">
                <a16:creationId xmlns:a16="http://schemas.microsoft.com/office/drawing/2014/main" id="{9E896424-F046-0543-C983-3D75BB9A6D7A}"/>
              </a:ext>
            </a:extLst>
          </p:cNvPr>
          <p:cNvSpPr/>
          <p:nvPr/>
        </p:nvSpPr>
        <p:spPr>
          <a:xfrm>
            <a:off x="6328097" y="3740914"/>
            <a:ext cx="384048"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17" name="Text 20">
            <a:extLst>
              <a:ext uri="{FF2B5EF4-FFF2-40B4-BE49-F238E27FC236}">
                <a16:creationId xmlns:a16="http://schemas.microsoft.com/office/drawing/2014/main" id="{6FC304D6-31CA-7D2E-F534-6B741258F7C8}"/>
              </a:ext>
            </a:extLst>
          </p:cNvPr>
          <p:cNvSpPr/>
          <p:nvPr/>
        </p:nvSpPr>
        <p:spPr>
          <a:xfrm>
            <a:off x="6821873" y="3654046"/>
            <a:ext cx="1864927" cy="219456"/>
          </a:xfrm>
          <a:prstGeom prst="rect">
            <a:avLst/>
          </a:prstGeom>
          <a:noFill/>
          <a:ln/>
        </p:spPr>
        <p:txBody>
          <a:bodyPr wrap="square" lIns="0" tIns="0" rIns="0" bIns="0" rtlCol="0" anchor="ctr">
            <a:normAutofit/>
          </a:bodyPr>
          <a:lstStyle/>
          <a:p>
            <a:pPr marL="0" indent="0">
              <a:buNone/>
            </a:pPr>
            <a:r>
              <a:rPr lang="en-US" sz="1250" b="1" dirty="0">
                <a:solidFill>
                  <a:srgbClr val="F4F6FF"/>
                </a:solidFill>
                <a:latin typeface="Aptos Display" pitchFamily="34" charset="0"/>
                <a:ea typeface="Aptos Display" pitchFamily="34" charset="-122"/>
                <a:cs typeface="Aptos Display" pitchFamily="34" charset="-120"/>
              </a:rPr>
              <a:t>Crear interfaz State</a:t>
            </a:r>
            <a:endParaRPr lang="en-US" sz="1250" dirty="0"/>
          </a:p>
        </p:txBody>
      </p:sp>
      <p:sp>
        <p:nvSpPr>
          <p:cNvPr id="18" name="Text 21">
            <a:extLst>
              <a:ext uri="{FF2B5EF4-FFF2-40B4-BE49-F238E27FC236}">
                <a16:creationId xmlns:a16="http://schemas.microsoft.com/office/drawing/2014/main" id="{916099B1-FCFA-DA50-2D73-93AFD0B07E0F}"/>
              </a:ext>
            </a:extLst>
          </p:cNvPr>
          <p:cNvSpPr/>
          <p:nvPr/>
        </p:nvSpPr>
        <p:spPr>
          <a:xfrm>
            <a:off x="6821873" y="3946654"/>
            <a:ext cx="2091876" cy="457200"/>
          </a:xfrm>
          <a:prstGeom prst="rect">
            <a:avLst/>
          </a:prstGeom>
          <a:noFill/>
          <a:ln/>
        </p:spPr>
        <p:txBody>
          <a:bodyPr wrap="square" lIns="0" tIns="0" rIns="0" bIns="0" rtlCol="0" anchor="ctr">
            <a:normAutofit/>
          </a:bodyPr>
          <a:lstStyle/>
          <a:p>
            <a:pPr marL="0" indent="0">
              <a:buNone/>
            </a:pPr>
            <a:r>
              <a:rPr lang="en-US" sz="880" dirty="0">
                <a:solidFill>
                  <a:srgbClr val="B8BCD4"/>
                </a:solidFill>
                <a:latin typeface="Aptos" pitchFamily="34" charset="0"/>
                <a:ea typeface="Aptos" pitchFamily="34" charset="-122"/>
                <a:cs typeface="Aptos" pitchFamily="34" charset="-120"/>
              </a:rPr>
              <a:t>EstadoPedido expone el contrato común.</a:t>
            </a:r>
            <a:endParaRPr lang="en-US" sz="880" dirty="0"/>
          </a:p>
        </p:txBody>
      </p:sp>
      <p:sp>
        <p:nvSpPr>
          <p:cNvPr id="19" name="Shape 22">
            <a:extLst>
              <a:ext uri="{FF2B5EF4-FFF2-40B4-BE49-F238E27FC236}">
                <a16:creationId xmlns:a16="http://schemas.microsoft.com/office/drawing/2014/main" id="{24399A91-65BE-1466-7C40-C78041EB0440}"/>
              </a:ext>
            </a:extLst>
          </p:cNvPr>
          <p:cNvSpPr/>
          <p:nvPr/>
        </p:nvSpPr>
        <p:spPr>
          <a:xfrm>
            <a:off x="179385" y="4970782"/>
            <a:ext cx="2873188" cy="960120"/>
          </a:xfrm>
          <a:prstGeom prst="roundRect">
            <a:avLst>
              <a:gd name="adj" fmla="val 7619"/>
            </a:avLst>
          </a:prstGeom>
          <a:solidFill>
            <a:srgbClr val="1B2033"/>
          </a:solidFill>
          <a:ln w="12700">
            <a:solidFill>
              <a:srgbClr val="38405F">
                <a:alpha val="90000"/>
              </a:srgbClr>
            </a:solidFill>
            <a:prstDash val="solid"/>
          </a:ln>
        </p:spPr>
        <p:txBody>
          <a:bodyPr/>
          <a:lstStyle/>
          <a:p>
            <a:endParaRPr lang="es-AR"/>
          </a:p>
        </p:txBody>
      </p:sp>
      <p:sp>
        <p:nvSpPr>
          <p:cNvPr id="20" name="Shape 23">
            <a:extLst>
              <a:ext uri="{FF2B5EF4-FFF2-40B4-BE49-F238E27FC236}">
                <a16:creationId xmlns:a16="http://schemas.microsoft.com/office/drawing/2014/main" id="{6D7F93B3-8B0F-59CF-DC20-9665D6605CA4}"/>
              </a:ext>
            </a:extLst>
          </p:cNvPr>
          <p:cNvSpPr/>
          <p:nvPr/>
        </p:nvSpPr>
        <p:spPr>
          <a:xfrm>
            <a:off x="325689" y="5135374"/>
            <a:ext cx="384048" cy="384048"/>
          </a:xfrm>
          <a:prstGeom prst="ellipse">
            <a:avLst/>
          </a:prstGeom>
          <a:solidFill>
            <a:srgbClr val="58D68D"/>
          </a:solidFill>
          <a:ln w="12700">
            <a:solidFill>
              <a:srgbClr val="58D68D">
                <a:alpha val="0"/>
              </a:srgbClr>
            </a:solidFill>
            <a:prstDash val="solid"/>
          </a:ln>
        </p:spPr>
        <p:txBody>
          <a:bodyPr/>
          <a:lstStyle/>
          <a:p>
            <a:endParaRPr lang="es-AR"/>
          </a:p>
        </p:txBody>
      </p:sp>
      <p:sp>
        <p:nvSpPr>
          <p:cNvPr id="21" name="Text 24">
            <a:extLst>
              <a:ext uri="{FF2B5EF4-FFF2-40B4-BE49-F238E27FC236}">
                <a16:creationId xmlns:a16="http://schemas.microsoft.com/office/drawing/2014/main" id="{E7DE8257-E635-E00C-E7C1-FD6F9AF9B7B1}"/>
              </a:ext>
            </a:extLst>
          </p:cNvPr>
          <p:cNvSpPr/>
          <p:nvPr/>
        </p:nvSpPr>
        <p:spPr>
          <a:xfrm>
            <a:off x="325689" y="5203954"/>
            <a:ext cx="384048"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22" name="Text 25">
            <a:extLst>
              <a:ext uri="{FF2B5EF4-FFF2-40B4-BE49-F238E27FC236}">
                <a16:creationId xmlns:a16="http://schemas.microsoft.com/office/drawing/2014/main" id="{0AB84793-B1D9-3DB0-FB76-2E7DF0EB50D0}"/>
              </a:ext>
            </a:extLst>
          </p:cNvPr>
          <p:cNvSpPr/>
          <p:nvPr/>
        </p:nvSpPr>
        <p:spPr>
          <a:xfrm>
            <a:off x="819465" y="5117086"/>
            <a:ext cx="2024498" cy="219456"/>
          </a:xfrm>
          <a:prstGeom prst="rect">
            <a:avLst/>
          </a:prstGeom>
          <a:noFill/>
          <a:ln/>
        </p:spPr>
        <p:txBody>
          <a:bodyPr wrap="square" lIns="0" tIns="0" rIns="0" bIns="0" rtlCol="0" anchor="ctr">
            <a:normAutofit/>
          </a:bodyPr>
          <a:lstStyle/>
          <a:p>
            <a:pPr marL="0" indent="0">
              <a:buNone/>
            </a:pPr>
            <a:r>
              <a:rPr lang="en-US" sz="1250" b="1" dirty="0">
                <a:solidFill>
                  <a:srgbClr val="F4F6FF"/>
                </a:solidFill>
                <a:latin typeface="Aptos Display" pitchFamily="34" charset="0"/>
                <a:ea typeface="Aptos Display" pitchFamily="34" charset="-122"/>
                <a:cs typeface="Aptos Display" pitchFamily="34" charset="-120"/>
              </a:rPr>
              <a:t>Crear estados concretos</a:t>
            </a:r>
            <a:endParaRPr lang="en-US" sz="1250" dirty="0"/>
          </a:p>
        </p:txBody>
      </p:sp>
      <p:sp>
        <p:nvSpPr>
          <p:cNvPr id="23" name="Text 26">
            <a:extLst>
              <a:ext uri="{FF2B5EF4-FFF2-40B4-BE49-F238E27FC236}">
                <a16:creationId xmlns:a16="http://schemas.microsoft.com/office/drawing/2014/main" id="{8F0E2970-3757-4C0F-FB1B-8CAB4CEC5B76}"/>
              </a:ext>
            </a:extLst>
          </p:cNvPr>
          <p:cNvSpPr/>
          <p:nvPr/>
        </p:nvSpPr>
        <p:spPr>
          <a:xfrm>
            <a:off x="819465" y="5409694"/>
            <a:ext cx="2213131" cy="457200"/>
          </a:xfrm>
          <a:prstGeom prst="rect">
            <a:avLst/>
          </a:prstGeom>
          <a:noFill/>
          <a:ln/>
        </p:spPr>
        <p:txBody>
          <a:bodyPr wrap="square" lIns="0" tIns="0" rIns="0" bIns="0" rtlCol="0" anchor="ctr">
            <a:normAutofit/>
          </a:bodyPr>
          <a:lstStyle/>
          <a:p>
            <a:pPr marL="0" indent="0">
              <a:buNone/>
            </a:pPr>
            <a:r>
              <a:rPr lang="en-US" sz="880" dirty="0">
                <a:solidFill>
                  <a:srgbClr val="B8BCD4"/>
                </a:solidFill>
                <a:latin typeface="Aptos" pitchFamily="34" charset="0"/>
                <a:ea typeface="Aptos" pitchFamily="34" charset="-122"/>
                <a:cs typeface="Aptos" pitchFamily="34" charset="-120"/>
              </a:rPr>
              <a:t>Cada estado permite solo transiciones válidas.</a:t>
            </a:r>
            <a:endParaRPr lang="en-US" sz="880" dirty="0"/>
          </a:p>
        </p:txBody>
      </p:sp>
      <p:sp>
        <p:nvSpPr>
          <p:cNvPr id="24" name="Shape 27">
            <a:extLst>
              <a:ext uri="{FF2B5EF4-FFF2-40B4-BE49-F238E27FC236}">
                <a16:creationId xmlns:a16="http://schemas.microsoft.com/office/drawing/2014/main" id="{83E26178-AF97-E6CC-0635-5D01D9B20D95}"/>
              </a:ext>
            </a:extLst>
          </p:cNvPr>
          <p:cNvSpPr/>
          <p:nvPr/>
        </p:nvSpPr>
        <p:spPr>
          <a:xfrm>
            <a:off x="3162301" y="4970782"/>
            <a:ext cx="2873188" cy="960120"/>
          </a:xfrm>
          <a:prstGeom prst="roundRect">
            <a:avLst>
              <a:gd name="adj" fmla="val 7619"/>
            </a:avLst>
          </a:prstGeom>
          <a:solidFill>
            <a:srgbClr val="1B2033"/>
          </a:solidFill>
          <a:ln w="12700">
            <a:solidFill>
              <a:srgbClr val="38405F">
                <a:alpha val="90000"/>
              </a:srgbClr>
            </a:solidFill>
            <a:prstDash val="solid"/>
          </a:ln>
        </p:spPr>
        <p:txBody>
          <a:bodyPr/>
          <a:lstStyle/>
          <a:p>
            <a:endParaRPr lang="es-AR"/>
          </a:p>
        </p:txBody>
      </p:sp>
      <p:sp>
        <p:nvSpPr>
          <p:cNvPr id="25" name="Shape 28">
            <a:extLst>
              <a:ext uri="{FF2B5EF4-FFF2-40B4-BE49-F238E27FC236}">
                <a16:creationId xmlns:a16="http://schemas.microsoft.com/office/drawing/2014/main" id="{B0318B1C-B241-408C-EE8C-CE910E36195A}"/>
              </a:ext>
            </a:extLst>
          </p:cNvPr>
          <p:cNvSpPr/>
          <p:nvPr/>
        </p:nvSpPr>
        <p:spPr>
          <a:xfrm>
            <a:off x="3308605" y="5135374"/>
            <a:ext cx="384048" cy="384048"/>
          </a:xfrm>
          <a:prstGeom prst="ellipse">
            <a:avLst/>
          </a:prstGeom>
          <a:solidFill>
            <a:srgbClr val="B497FF"/>
          </a:solidFill>
          <a:ln w="12700">
            <a:solidFill>
              <a:srgbClr val="B497FF">
                <a:alpha val="0"/>
              </a:srgbClr>
            </a:solidFill>
            <a:prstDash val="solid"/>
          </a:ln>
        </p:spPr>
        <p:txBody>
          <a:bodyPr/>
          <a:lstStyle/>
          <a:p>
            <a:endParaRPr lang="es-AR"/>
          </a:p>
        </p:txBody>
      </p:sp>
      <p:sp>
        <p:nvSpPr>
          <p:cNvPr id="26" name="Text 29">
            <a:extLst>
              <a:ext uri="{FF2B5EF4-FFF2-40B4-BE49-F238E27FC236}">
                <a16:creationId xmlns:a16="http://schemas.microsoft.com/office/drawing/2014/main" id="{9F87DE0E-B132-68C5-8A1C-87825F51C3ED}"/>
              </a:ext>
            </a:extLst>
          </p:cNvPr>
          <p:cNvSpPr/>
          <p:nvPr/>
        </p:nvSpPr>
        <p:spPr>
          <a:xfrm>
            <a:off x="3308605" y="5203954"/>
            <a:ext cx="384048"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27" name="Text 30">
            <a:extLst>
              <a:ext uri="{FF2B5EF4-FFF2-40B4-BE49-F238E27FC236}">
                <a16:creationId xmlns:a16="http://schemas.microsoft.com/office/drawing/2014/main" id="{35E50392-D5D7-03C6-388A-04C44AC90FA7}"/>
              </a:ext>
            </a:extLst>
          </p:cNvPr>
          <p:cNvSpPr/>
          <p:nvPr/>
        </p:nvSpPr>
        <p:spPr>
          <a:xfrm>
            <a:off x="3802381" y="5117086"/>
            <a:ext cx="1916116" cy="219456"/>
          </a:xfrm>
          <a:prstGeom prst="rect">
            <a:avLst/>
          </a:prstGeom>
          <a:noFill/>
          <a:ln/>
        </p:spPr>
        <p:txBody>
          <a:bodyPr wrap="square" lIns="0" tIns="0" rIns="0" bIns="0" rtlCol="0" anchor="ctr">
            <a:normAutofit/>
          </a:bodyPr>
          <a:lstStyle/>
          <a:p>
            <a:pPr marL="0" indent="0">
              <a:buNone/>
            </a:pPr>
            <a:r>
              <a:rPr lang="en-US" sz="1250" b="1" dirty="0">
                <a:solidFill>
                  <a:srgbClr val="F4F6FF"/>
                </a:solidFill>
                <a:latin typeface="Aptos Display" pitchFamily="34" charset="0"/>
                <a:ea typeface="Aptos Display" pitchFamily="34" charset="-122"/>
                <a:cs typeface="Aptos Display" pitchFamily="34" charset="-120"/>
              </a:rPr>
              <a:t>Delegar desde Pedido</a:t>
            </a:r>
            <a:endParaRPr lang="en-US" sz="1250" dirty="0"/>
          </a:p>
        </p:txBody>
      </p:sp>
      <p:sp>
        <p:nvSpPr>
          <p:cNvPr id="28" name="Text 31">
            <a:extLst>
              <a:ext uri="{FF2B5EF4-FFF2-40B4-BE49-F238E27FC236}">
                <a16:creationId xmlns:a16="http://schemas.microsoft.com/office/drawing/2014/main" id="{F3572D81-70C2-8AA8-FA23-87735208B158}"/>
              </a:ext>
            </a:extLst>
          </p:cNvPr>
          <p:cNvSpPr/>
          <p:nvPr/>
        </p:nvSpPr>
        <p:spPr>
          <a:xfrm>
            <a:off x="3802381" y="5409694"/>
            <a:ext cx="2606040" cy="457200"/>
          </a:xfrm>
          <a:prstGeom prst="rect">
            <a:avLst/>
          </a:prstGeom>
          <a:noFill/>
          <a:ln/>
        </p:spPr>
        <p:txBody>
          <a:bodyPr wrap="square" lIns="0" tIns="0" rIns="0" bIns="0" rtlCol="0" anchor="ctr">
            <a:normAutofit/>
          </a:bodyPr>
          <a:lstStyle/>
          <a:p>
            <a:pPr marL="0" indent="0">
              <a:buNone/>
            </a:pPr>
            <a:r>
              <a:rPr lang="en-US" sz="880" dirty="0">
                <a:solidFill>
                  <a:srgbClr val="B8BCD4"/>
                </a:solidFill>
                <a:latin typeface="Aptos" pitchFamily="34" charset="0"/>
                <a:ea typeface="Aptos" pitchFamily="34" charset="-122"/>
                <a:cs typeface="Aptos" pitchFamily="34" charset="-120"/>
              </a:rPr>
              <a:t>Pedido llama al estado actual.</a:t>
            </a:r>
            <a:endParaRPr lang="en-US" sz="880" dirty="0"/>
          </a:p>
        </p:txBody>
      </p:sp>
      <p:sp>
        <p:nvSpPr>
          <p:cNvPr id="29" name="Shape 32">
            <a:extLst>
              <a:ext uri="{FF2B5EF4-FFF2-40B4-BE49-F238E27FC236}">
                <a16:creationId xmlns:a16="http://schemas.microsoft.com/office/drawing/2014/main" id="{79E65989-5622-7C86-6CA3-27E757D63319}"/>
              </a:ext>
            </a:extLst>
          </p:cNvPr>
          <p:cNvSpPr/>
          <p:nvPr/>
        </p:nvSpPr>
        <p:spPr>
          <a:xfrm>
            <a:off x="6181793" y="4970782"/>
            <a:ext cx="2715769" cy="960120"/>
          </a:xfrm>
          <a:prstGeom prst="roundRect">
            <a:avLst>
              <a:gd name="adj" fmla="val 7619"/>
            </a:avLst>
          </a:prstGeom>
          <a:solidFill>
            <a:srgbClr val="1B2033"/>
          </a:solidFill>
          <a:ln w="12700">
            <a:solidFill>
              <a:srgbClr val="38405F">
                <a:alpha val="90000"/>
              </a:srgbClr>
            </a:solidFill>
            <a:prstDash val="solid"/>
          </a:ln>
        </p:spPr>
        <p:txBody>
          <a:bodyPr/>
          <a:lstStyle/>
          <a:p>
            <a:endParaRPr lang="es-AR"/>
          </a:p>
        </p:txBody>
      </p:sp>
      <p:sp>
        <p:nvSpPr>
          <p:cNvPr id="30" name="Shape 33">
            <a:extLst>
              <a:ext uri="{FF2B5EF4-FFF2-40B4-BE49-F238E27FC236}">
                <a16:creationId xmlns:a16="http://schemas.microsoft.com/office/drawing/2014/main" id="{1FAD1293-8E08-B3DB-56CE-FACB7632005A}"/>
              </a:ext>
            </a:extLst>
          </p:cNvPr>
          <p:cNvSpPr/>
          <p:nvPr/>
        </p:nvSpPr>
        <p:spPr>
          <a:xfrm>
            <a:off x="6328097" y="5135374"/>
            <a:ext cx="384048" cy="384048"/>
          </a:xfrm>
          <a:prstGeom prst="ellipse">
            <a:avLst/>
          </a:prstGeom>
          <a:solidFill>
            <a:srgbClr val="63B3FF"/>
          </a:solidFill>
          <a:ln w="12700">
            <a:solidFill>
              <a:srgbClr val="63B3FF">
                <a:alpha val="0"/>
              </a:srgbClr>
            </a:solidFill>
            <a:prstDash val="solid"/>
          </a:ln>
        </p:spPr>
        <p:txBody>
          <a:bodyPr/>
          <a:lstStyle/>
          <a:p>
            <a:endParaRPr lang="es-AR"/>
          </a:p>
        </p:txBody>
      </p:sp>
      <p:sp>
        <p:nvSpPr>
          <p:cNvPr id="31" name="Text 34">
            <a:extLst>
              <a:ext uri="{FF2B5EF4-FFF2-40B4-BE49-F238E27FC236}">
                <a16:creationId xmlns:a16="http://schemas.microsoft.com/office/drawing/2014/main" id="{BD426AE4-8A73-C829-D953-641352E6D91B}"/>
              </a:ext>
            </a:extLst>
          </p:cNvPr>
          <p:cNvSpPr/>
          <p:nvPr/>
        </p:nvSpPr>
        <p:spPr>
          <a:xfrm>
            <a:off x="6328097" y="5203954"/>
            <a:ext cx="384048"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6</a:t>
            </a:r>
            <a:endParaRPr lang="en-US" sz="1000" dirty="0"/>
          </a:p>
        </p:txBody>
      </p:sp>
      <p:sp>
        <p:nvSpPr>
          <p:cNvPr id="32" name="Text 35">
            <a:extLst>
              <a:ext uri="{FF2B5EF4-FFF2-40B4-BE49-F238E27FC236}">
                <a16:creationId xmlns:a16="http://schemas.microsoft.com/office/drawing/2014/main" id="{A4D958E4-1FC7-DBF5-B39B-039DAC6C37BB}"/>
              </a:ext>
            </a:extLst>
          </p:cNvPr>
          <p:cNvSpPr/>
          <p:nvPr/>
        </p:nvSpPr>
        <p:spPr>
          <a:xfrm>
            <a:off x="6821873" y="5117086"/>
            <a:ext cx="1757351" cy="219456"/>
          </a:xfrm>
          <a:prstGeom prst="rect">
            <a:avLst/>
          </a:prstGeom>
          <a:noFill/>
          <a:ln/>
        </p:spPr>
        <p:txBody>
          <a:bodyPr wrap="square" lIns="0" tIns="0" rIns="0" bIns="0" rtlCol="0" anchor="ctr">
            <a:normAutofit/>
          </a:bodyPr>
          <a:lstStyle/>
          <a:p>
            <a:pPr marL="0" indent="0">
              <a:buNone/>
            </a:pPr>
            <a:r>
              <a:rPr lang="en-US" sz="1250" b="1" dirty="0">
                <a:solidFill>
                  <a:srgbClr val="F4F6FF"/>
                </a:solidFill>
                <a:latin typeface="Aptos Display" pitchFamily="34" charset="0"/>
                <a:ea typeface="Aptos Display" pitchFamily="34" charset="-122"/>
                <a:cs typeface="Aptos Display" pitchFamily="34" charset="-120"/>
              </a:rPr>
              <a:t>Persistir estado</a:t>
            </a:r>
            <a:endParaRPr lang="en-US" sz="1250" dirty="0"/>
          </a:p>
        </p:txBody>
      </p:sp>
      <p:sp>
        <p:nvSpPr>
          <p:cNvPr id="33" name="Text 36">
            <a:extLst>
              <a:ext uri="{FF2B5EF4-FFF2-40B4-BE49-F238E27FC236}">
                <a16:creationId xmlns:a16="http://schemas.microsoft.com/office/drawing/2014/main" id="{E171706D-18C2-998C-0B4D-2FDD2FDD104F}"/>
              </a:ext>
            </a:extLst>
          </p:cNvPr>
          <p:cNvSpPr/>
          <p:nvPr/>
        </p:nvSpPr>
        <p:spPr>
          <a:xfrm>
            <a:off x="6821873" y="5409694"/>
            <a:ext cx="2091876" cy="457200"/>
          </a:xfrm>
          <a:prstGeom prst="rect">
            <a:avLst/>
          </a:prstGeom>
          <a:noFill/>
          <a:ln/>
        </p:spPr>
        <p:txBody>
          <a:bodyPr wrap="square" lIns="0" tIns="0" rIns="0" bIns="0" rtlCol="0" anchor="ctr">
            <a:normAutofit/>
          </a:bodyPr>
          <a:lstStyle/>
          <a:p>
            <a:pPr marL="0" indent="0">
              <a:buNone/>
            </a:pPr>
            <a:r>
              <a:rPr lang="en-US" sz="880" dirty="0">
                <a:solidFill>
                  <a:srgbClr val="B8BCD4"/>
                </a:solidFill>
                <a:latin typeface="Aptos" pitchFamily="34" charset="0"/>
                <a:ea typeface="Aptos" pitchFamily="34" charset="-122"/>
                <a:cs typeface="Aptos" pitchFamily="34" charset="-120"/>
              </a:rPr>
              <a:t>DB guarda String; Java reconstruye objeto State.</a:t>
            </a:r>
            <a:endParaRPr lang="en-US" sz="880" dirty="0"/>
          </a:p>
        </p:txBody>
      </p:sp>
    </p:spTree>
    <p:extLst>
      <p:ext uri="{BB962C8B-B14F-4D97-AF65-F5344CB8AC3E}">
        <p14:creationId xmlns:p14="http://schemas.microsoft.com/office/powerpoint/2010/main" val="3516920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CB76F1-FA04-5E28-D8D0-61935C47407D}"/>
              </a:ext>
            </a:extLst>
          </p:cNvPr>
          <p:cNvSpPr>
            <a:spLocks noGrp="1"/>
          </p:cNvSpPr>
          <p:nvPr>
            <p:ph type="title"/>
          </p:nvPr>
        </p:nvSpPr>
        <p:spPr/>
        <p:txBody>
          <a:bodyPr/>
          <a:lstStyle/>
          <a:p>
            <a:r>
              <a:rPr lang="es-AR" dirty="0"/>
              <a:t>Paso 1: Identificar estados y transiciones</a:t>
            </a:r>
          </a:p>
        </p:txBody>
      </p:sp>
      <p:sp>
        <p:nvSpPr>
          <p:cNvPr id="3" name="Marcador de contenido 2">
            <a:extLst>
              <a:ext uri="{FF2B5EF4-FFF2-40B4-BE49-F238E27FC236}">
                <a16:creationId xmlns:a16="http://schemas.microsoft.com/office/drawing/2014/main" id="{066944BB-6EA8-E1DE-B58A-8AA9ECA39226}"/>
              </a:ext>
            </a:extLst>
          </p:cNvPr>
          <p:cNvSpPr>
            <a:spLocks noGrp="1"/>
          </p:cNvSpPr>
          <p:nvPr>
            <p:ph idx="1"/>
          </p:nvPr>
        </p:nvSpPr>
        <p:spPr>
          <a:xfrm>
            <a:off x="864381" y="2489200"/>
            <a:ext cx="7580371" cy="872565"/>
          </a:xfrm>
        </p:spPr>
        <p:txBody>
          <a:bodyPr/>
          <a:lstStyle/>
          <a:p>
            <a:r>
              <a:rPr lang="es-AR" dirty="0"/>
              <a:t>El ciclo de vida del pedido se modela como una máquina de estados</a:t>
            </a:r>
          </a:p>
        </p:txBody>
      </p:sp>
      <p:sp>
        <p:nvSpPr>
          <p:cNvPr id="4" name="Shape 7">
            <a:extLst>
              <a:ext uri="{FF2B5EF4-FFF2-40B4-BE49-F238E27FC236}">
                <a16:creationId xmlns:a16="http://schemas.microsoft.com/office/drawing/2014/main" id="{1D03AD78-2B1C-8254-73E0-3A66352457A9}"/>
              </a:ext>
            </a:extLst>
          </p:cNvPr>
          <p:cNvSpPr/>
          <p:nvPr/>
        </p:nvSpPr>
        <p:spPr>
          <a:xfrm>
            <a:off x="1828533" y="3496236"/>
            <a:ext cx="887774" cy="0"/>
          </a:xfrm>
          <a:prstGeom prst="line">
            <a:avLst/>
          </a:prstGeom>
          <a:noFill/>
          <a:ln w="19050">
            <a:solidFill>
              <a:srgbClr val="B8BCD4"/>
            </a:solidFill>
            <a:prstDash val="solid"/>
            <a:headEnd type="none"/>
            <a:tailEnd type="triangle"/>
          </a:ln>
        </p:spPr>
        <p:txBody>
          <a:bodyPr/>
          <a:lstStyle/>
          <a:p>
            <a:endParaRPr lang="es-AR"/>
          </a:p>
        </p:txBody>
      </p:sp>
      <p:sp>
        <p:nvSpPr>
          <p:cNvPr id="5" name="Shape 8">
            <a:extLst>
              <a:ext uri="{FF2B5EF4-FFF2-40B4-BE49-F238E27FC236}">
                <a16:creationId xmlns:a16="http://schemas.microsoft.com/office/drawing/2014/main" id="{008E4345-2A85-C8E6-EBB3-AA39AD0518A6}"/>
              </a:ext>
            </a:extLst>
          </p:cNvPr>
          <p:cNvSpPr/>
          <p:nvPr/>
        </p:nvSpPr>
        <p:spPr>
          <a:xfrm>
            <a:off x="4005164" y="3496236"/>
            <a:ext cx="835777" cy="0"/>
          </a:xfrm>
          <a:prstGeom prst="line">
            <a:avLst/>
          </a:prstGeom>
          <a:noFill/>
          <a:ln w="19050">
            <a:solidFill>
              <a:srgbClr val="B8BCD4"/>
            </a:solidFill>
            <a:prstDash val="solid"/>
            <a:headEnd type="none"/>
            <a:tailEnd type="triangle"/>
          </a:ln>
        </p:spPr>
        <p:txBody>
          <a:bodyPr/>
          <a:lstStyle/>
          <a:p>
            <a:endParaRPr lang="es-AR"/>
          </a:p>
        </p:txBody>
      </p:sp>
      <p:sp>
        <p:nvSpPr>
          <p:cNvPr id="6" name="Shape 9">
            <a:extLst>
              <a:ext uri="{FF2B5EF4-FFF2-40B4-BE49-F238E27FC236}">
                <a16:creationId xmlns:a16="http://schemas.microsoft.com/office/drawing/2014/main" id="{BDF92D6E-4C43-1A61-F7D1-08BB9B75DD41}"/>
              </a:ext>
            </a:extLst>
          </p:cNvPr>
          <p:cNvSpPr/>
          <p:nvPr/>
        </p:nvSpPr>
        <p:spPr>
          <a:xfrm>
            <a:off x="6309452" y="3496236"/>
            <a:ext cx="875672" cy="0"/>
          </a:xfrm>
          <a:prstGeom prst="line">
            <a:avLst/>
          </a:prstGeom>
          <a:noFill/>
          <a:ln w="19050">
            <a:solidFill>
              <a:srgbClr val="B8BCD4"/>
            </a:solidFill>
            <a:prstDash val="solid"/>
            <a:headEnd type="none"/>
            <a:tailEnd type="triangle"/>
          </a:ln>
        </p:spPr>
        <p:txBody>
          <a:bodyPr/>
          <a:lstStyle/>
          <a:p>
            <a:endParaRPr lang="es-AR"/>
          </a:p>
        </p:txBody>
      </p:sp>
      <p:sp>
        <p:nvSpPr>
          <p:cNvPr id="7" name="Shape 10">
            <a:extLst>
              <a:ext uri="{FF2B5EF4-FFF2-40B4-BE49-F238E27FC236}">
                <a16:creationId xmlns:a16="http://schemas.microsoft.com/office/drawing/2014/main" id="{7EF803D9-0DC1-5907-EA21-E28196B0F83B}"/>
              </a:ext>
            </a:extLst>
          </p:cNvPr>
          <p:cNvSpPr/>
          <p:nvPr/>
        </p:nvSpPr>
        <p:spPr>
          <a:xfrm>
            <a:off x="1508492" y="3880285"/>
            <a:ext cx="1307952" cy="622984"/>
          </a:xfrm>
          <a:prstGeom prst="line">
            <a:avLst/>
          </a:prstGeom>
          <a:noFill/>
          <a:ln w="15240">
            <a:solidFill>
              <a:srgbClr val="FF5C7A"/>
            </a:solidFill>
            <a:prstDash val="solid"/>
            <a:headEnd type="none"/>
            <a:tailEnd type="triangle"/>
          </a:ln>
        </p:spPr>
        <p:txBody>
          <a:bodyPr/>
          <a:lstStyle/>
          <a:p>
            <a:endParaRPr lang="es-AR"/>
          </a:p>
        </p:txBody>
      </p:sp>
      <p:sp>
        <p:nvSpPr>
          <p:cNvPr id="8" name="Shape 11">
            <a:extLst>
              <a:ext uri="{FF2B5EF4-FFF2-40B4-BE49-F238E27FC236}">
                <a16:creationId xmlns:a16="http://schemas.microsoft.com/office/drawing/2014/main" id="{B998C368-819B-8335-AAC1-A23E3DF1E5D6}"/>
              </a:ext>
            </a:extLst>
          </p:cNvPr>
          <p:cNvSpPr/>
          <p:nvPr/>
        </p:nvSpPr>
        <p:spPr>
          <a:xfrm>
            <a:off x="3480727" y="3880284"/>
            <a:ext cx="6543" cy="531548"/>
          </a:xfrm>
          <a:prstGeom prst="line">
            <a:avLst/>
          </a:prstGeom>
          <a:noFill/>
          <a:ln w="15240">
            <a:solidFill>
              <a:srgbClr val="FF5C7A"/>
            </a:solidFill>
            <a:prstDash val="solid"/>
            <a:headEnd type="none"/>
            <a:tailEnd type="triangle"/>
          </a:ln>
        </p:spPr>
        <p:txBody>
          <a:bodyPr/>
          <a:lstStyle/>
          <a:p>
            <a:endParaRPr lang="es-AR"/>
          </a:p>
        </p:txBody>
      </p:sp>
      <p:sp>
        <p:nvSpPr>
          <p:cNvPr id="9" name="Shape 12">
            <a:extLst>
              <a:ext uri="{FF2B5EF4-FFF2-40B4-BE49-F238E27FC236}">
                <a16:creationId xmlns:a16="http://schemas.microsoft.com/office/drawing/2014/main" id="{8AB81D3A-2EC5-95A5-60F2-0EEC8017EF31}"/>
              </a:ext>
            </a:extLst>
          </p:cNvPr>
          <p:cNvSpPr/>
          <p:nvPr/>
        </p:nvSpPr>
        <p:spPr>
          <a:xfrm>
            <a:off x="594092" y="3176196"/>
            <a:ext cx="1325880" cy="640080"/>
          </a:xfrm>
          <a:prstGeom prst="roundRect">
            <a:avLst>
              <a:gd name="adj" fmla="val 11429"/>
            </a:avLst>
          </a:prstGeom>
          <a:solidFill>
            <a:srgbClr val="242A44"/>
          </a:solidFill>
          <a:ln w="20320">
            <a:solidFill>
              <a:srgbClr val="8A5CFF"/>
            </a:solidFill>
            <a:prstDash val="solid"/>
          </a:ln>
        </p:spPr>
        <p:txBody>
          <a:bodyPr/>
          <a:lstStyle/>
          <a:p>
            <a:endParaRPr lang="es-AR"/>
          </a:p>
        </p:txBody>
      </p:sp>
      <p:sp>
        <p:nvSpPr>
          <p:cNvPr id="10" name="Text 13">
            <a:extLst>
              <a:ext uri="{FF2B5EF4-FFF2-40B4-BE49-F238E27FC236}">
                <a16:creationId xmlns:a16="http://schemas.microsoft.com/office/drawing/2014/main" id="{F08C5F06-1041-100B-3275-8AE3B8900BE3}"/>
              </a:ext>
            </a:extLst>
          </p:cNvPr>
          <p:cNvSpPr/>
          <p:nvPr/>
        </p:nvSpPr>
        <p:spPr>
          <a:xfrm>
            <a:off x="667244" y="3359076"/>
            <a:ext cx="117957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CREADO</a:t>
            </a:r>
            <a:endParaRPr lang="en-US" sz="1050" dirty="0"/>
          </a:p>
        </p:txBody>
      </p:sp>
      <p:sp>
        <p:nvSpPr>
          <p:cNvPr id="11" name="Text 14">
            <a:extLst>
              <a:ext uri="{FF2B5EF4-FFF2-40B4-BE49-F238E27FC236}">
                <a16:creationId xmlns:a16="http://schemas.microsoft.com/office/drawing/2014/main" id="{37AE6083-4A3F-CE23-4E8B-AEFE2E4F2E8B}"/>
              </a:ext>
            </a:extLst>
          </p:cNvPr>
          <p:cNvSpPr/>
          <p:nvPr/>
        </p:nvSpPr>
        <p:spPr>
          <a:xfrm>
            <a:off x="667244" y="3596820"/>
            <a:ext cx="1179576" cy="109728"/>
          </a:xfrm>
          <a:prstGeom prst="rect">
            <a:avLst/>
          </a:prstGeom>
          <a:noFill/>
          <a:ln/>
        </p:spPr>
        <p:txBody>
          <a:bodyPr wrap="square" lIns="0" tIns="0" rIns="0" bIns="0" rtlCol="0" anchor="ctr">
            <a:normAutofit/>
          </a:bodyPr>
          <a:lstStyle/>
          <a:p>
            <a:pPr marL="0" indent="0" algn="ctr">
              <a:buNone/>
            </a:pPr>
            <a:r>
              <a:rPr lang="en-US" sz="680" dirty="0">
                <a:solidFill>
                  <a:srgbClr val="B8BCD4"/>
                </a:solidFill>
                <a:latin typeface="Aptos" pitchFamily="34" charset="0"/>
                <a:ea typeface="Aptos" pitchFamily="34" charset="-122"/>
                <a:cs typeface="Aptos" pitchFamily="34" charset="-120"/>
              </a:rPr>
              <a:t>nuevo pedido</a:t>
            </a:r>
            <a:endParaRPr lang="en-US" sz="680" dirty="0"/>
          </a:p>
        </p:txBody>
      </p:sp>
      <p:sp>
        <p:nvSpPr>
          <p:cNvPr id="12" name="Shape 15">
            <a:extLst>
              <a:ext uri="{FF2B5EF4-FFF2-40B4-BE49-F238E27FC236}">
                <a16:creationId xmlns:a16="http://schemas.microsoft.com/office/drawing/2014/main" id="{C7F766BE-D41D-7913-0B8C-74E97EFB5A6D}"/>
              </a:ext>
            </a:extLst>
          </p:cNvPr>
          <p:cNvSpPr/>
          <p:nvPr/>
        </p:nvSpPr>
        <p:spPr>
          <a:xfrm>
            <a:off x="2816444" y="3176196"/>
            <a:ext cx="1325880" cy="640080"/>
          </a:xfrm>
          <a:prstGeom prst="roundRect">
            <a:avLst>
              <a:gd name="adj" fmla="val 11429"/>
            </a:avLst>
          </a:prstGeom>
          <a:solidFill>
            <a:srgbClr val="242A44"/>
          </a:solidFill>
          <a:ln w="20320">
            <a:solidFill>
              <a:srgbClr val="35E0D4"/>
            </a:solidFill>
            <a:prstDash val="solid"/>
          </a:ln>
        </p:spPr>
        <p:txBody>
          <a:bodyPr/>
          <a:lstStyle/>
          <a:p>
            <a:endParaRPr lang="es-AR"/>
          </a:p>
        </p:txBody>
      </p:sp>
      <p:sp>
        <p:nvSpPr>
          <p:cNvPr id="13" name="Text 16">
            <a:extLst>
              <a:ext uri="{FF2B5EF4-FFF2-40B4-BE49-F238E27FC236}">
                <a16:creationId xmlns:a16="http://schemas.microsoft.com/office/drawing/2014/main" id="{5AEED5E4-F941-8DA3-E263-EF048DEFF038}"/>
              </a:ext>
            </a:extLst>
          </p:cNvPr>
          <p:cNvSpPr/>
          <p:nvPr/>
        </p:nvSpPr>
        <p:spPr>
          <a:xfrm>
            <a:off x="2889596" y="3359076"/>
            <a:ext cx="117957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PAGADO</a:t>
            </a:r>
            <a:endParaRPr lang="en-US" sz="1050" dirty="0"/>
          </a:p>
        </p:txBody>
      </p:sp>
      <p:sp>
        <p:nvSpPr>
          <p:cNvPr id="14" name="Text 17">
            <a:extLst>
              <a:ext uri="{FF2B5EF4-FFF2-40B4-BE49-F238E27FC236}">
                <a16:creationId xmlns:a16="http://schemas.microsoft.com/office/drawing/2014/main" id="{A25EEE55-89BC-3724-4DE9-970C637E0CD2}"/>
              </a:ext>
            </a:extLst>
          </p:cNvPr>
          <p:cNvSpPr/>
          <p:nvPr/>
        </p:nvSpPr>
        <p:spPr>
          <a:xfrm>
            <a:off x="2889596" y="3596820"/>
            <a:ext cx="1179576" cy="109728"/>
          </a:xfrm>
          <a:prstGeom prst="rect">
            <a:avLst/>
          </a:prstGeom>
          <a:noFill/>
          <a:ln/>
        </p:spPr>
        <p:txBody>
          <a:bodyPr wrap="square" lIns="0" tIns="0" rIns="0" bIns="0" rtlCol="0" anchor="ctr">
            <a:normAutofit/>
          </a:bodyPr>
          <a:lstStyle/>
          <a:p>
            <a:pPr marL="0" indent="0" algn="ctr">
              <a:buNone/>
            </a:pPr>
            <a:r>
              <a:rPr lang="en-US" sz="680" dirty="0">
                <a:solidFill>
                  <a:srgbClr val="B8BCD4"/>
                </a:solidFill>
                <a:latin typeface="Aptos" pitchFamily="34" charset="0"/>
                <a:ea typeface="Aptos" pitchFamily="34" charset="-122"/>
                <a:cs typeface="Aptos" pitchFamily="34" charset="-120"/>
              </a:rPr>
              <a:t>pago ok</a:t>
            </a:r>
            <a:endParaRPr lang="en-US" sz="680" dirty="0"/>
          </a:p>
        </p:txBody>
      </p:sp>
      <p:sp>
        <p:nvSpPr>
          <p:cNvPr id="15" name="Shape 18">
            <a:extLst>
              <a:ext uri="{FF2B5EF4-FFF2-40B4-BE49-F238E27FC236}">
                <a16:creationId xmlns:a16="http://schemas.microsoft.com/office/drawing/2014/main" id="{77EE579B-503B-6C5E-93FA-9204F2A4D8A2}"/>
              </a:ext>
            </a:extLst>
          </p:cNvPr>
          <p:cNvSpPr/>
          <p:nvPr/>
        </p:nvSpPr>
        <p:spPr>
          <a:xfrm>
            <a:off x="4937852" y="3176196"/>
            <a:ext cx="1508760" cy="640080"/>
          </a:xfrm>
          <a:prstGeom prst="roundRect">
            <a:avLst>
              <a:gd name="adj" fmla="val 11429"/>
            </a:avLst>
          </a:prstGeom>
          <a:solidFill>
            <a:srgbClr val="242A44"/>
          </a:solidFill>
          <a:ln w="20320">
            <a:solidFill>
              <a:srgbClr val="FFB86B"/>
            </a:solidFill>
            <a:prstDash val="solid"/>
          </a:ln>
        </p:spPr>
        <p:txBody>
          <a:bodyPr/>
          <a:lstStyle/>
          <a:p>
            <a:endParaRPr lang="es-AR"/>
          </a:p>
        </p:txBody>
      </p:sp>
      <p:sp>
        <p:nvSpPr>
          <p:cNvPr id="16" name="Text 19">
            <a:extLst>
              <a:ext uri="{FF2B5EF4-FFF2-40B4-BE49-F238E27FC236}">
                <a16:creationId xmlns:a16="http://schemas.microsoft.com/office/drawing/2014/main" id="{968651B4-0495-A029-4BAE-9185992DC7A9}"/>
              </a:ext>
            </a:extLst>
          </p:cNvPr>
          <p:cNvSpPr/>
          <p:nvPr/>
        </p:nvSpPr>
        <p:spPr>
          <a:xfrm>
            <a:off x="5011004" y="3359076"/>
            <a:ext cx="136245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PREPARANDO</a:t>
            </a:r>
            <a:endParaRPr lang="en-US" sz="1050" dirty="0"/>
          </a:p>
        </p:txBody>
      </p:sp>
      <p:sp>
        <p:nvSpPr>
          <p:cNvPr id="17" name="Text 20">
            <a:extLst>
              <a:ext uri="{FF2B5EF4-FFF2-40B4-BE49-F238E27FC236}">
                <a16:creationId xmlns:a16="http://schemas.microsoft.com/office/drawing/2014/main" id="{DF549348-C708-52CA-EFA6-60B9F82FEB85}"/>
              </a:ext>
            </a:extLst>
          </p:cNvPr>
          <p:cNvSpPr/>
          <p:nvPr/>
        </p:nvSpPr>
        <p:spPr>
          <a:xfrm>
            <a:off x="5011004" y="3596820"/>
            <a:ext cx="1362456" cy="109728"/>
          </a:xfrm>
          <a:prstGeom prst="rect">
            <a:avLst/>
          </a:prstGeom>
          <a:noFill/>
          <a:ln/>
        </p:spPr>
        <p:txBody>
          <a:bodyPr wrap="square" lIns="0" tIns="0" rIns="0" bIns="0" rtlCol="0" anchor="ctr">
            <a:normAutofit/>
          </a:bodyPr>
          <a:lstStyle/>
          <a:p>
            <a:pPr marL="0" indent="0" algn="ctr">
              <a:buNone/>
            </a:pPr>
            <a:r>
              <a:rPr lang="en-US" sz="680" dirty="0">
                <a:solidFill>
                  <a:srgbClr val="B8BCD4"/>
                </a:solidFill>
                <a:latin typeface="Aptos" pitchFamily="34" charset="0"/>
                <a:ea typeface="Aptos" pitchFamily="34" charset="-122"/>
                <a:cs typeface="Aptos" pitchFamily="34" charset="-120"/>
              </a:rPr>
              <a:t>cocina</a:t>
            </a:r>
            <a:endParaRPr lang="en-US" sz="680" dirty="0"/>
          </a:p>
        </p:txBody>
      </p:sp>
      <p:sp>
        <p:nvSpPr>
          <p:cNvPr id="18" name="Shape 21">
            <a:extLst>
              <a:ext uri="{FF2B5EF4-FFF2-40B4-BE49-F238E27FC236}">
                <a16:creationId xmlns:a16="http://schemas.microsoft.com/office/drawing/2014/main" id="{6ABFF4A4-4687-A6EE-D0C7-9B4086D823C2}"/>
              </a:ext>
            </a:extLst>
          </p:cNvPr>
          <p:cNvSpPr/>
          <p:nvPr/>
        </p:nvSpPr>
        <p:spPr>
          <a:xfrm>
            <a:off x="7256392" y="3176196"/>
            <a:ext cx="1417320" cy="640080"/>
          </a:xfrm>
          <a:prstGeom prst="roundRect">
            <a:avLst>
              <a:gd name="adj" fmla="val 11429"/>
            </a:avLst>
          </a:prstGeom>
          <a:solidFill>
            <a:srgbClr val="242A44"/>
          </a:solidFill>
          <a:ln w="20320">
            <a:solidFill>
              <a:srgbClr val="58D68D"/>
            </a:solidFill>
            <a:prstDash val="solid"/>
          </a:ln>
        </p:spPr>
        <p:txBody>
          <a:bodyPr/>
          <a:lstStyle/>
          <a:p>
            <a:endParaRPr lang="es-AR"/>
          </a:p>
        </p:txBody>
      </p:sp>
      <p:sp>
        <p:nvSpPr>
          <p:cNvPr id="19" name="Text 22">
            <a:extLst>
              <a:ext uri="{FF2B5EF4-FFF2-40B4-BE49-F238E27FC236}">
                <a16:creationId xmlns:a16="http://schemas.microsoft.com/office/drawing/2014/main" id="{20536493-1939-0A4E-9333-01475B5D1AFE}"/>
              </a:ext>
            </a:extLst>
          </p:cNvPr>
          <p:cNvSpPr/>
          <p:nvPr/>
        </p:nvSpPr>
        <p:spPr>
          <a:xfrm>
            <a:off x="7329544" y="3359076"/>
            <a:ext cx="127101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ENTREGADO</a:t>
            </a:r>
            <a:endParaRPr lang="en-US" sz="1050" dirty="0"/>
          </a:p>
        </p:txBody>
      </p:sp>
      <p:sp>
        <p:nvSpPr>
          <p:cNvPr id="20" name="Text 23">
            <a:extLst>
              <a:ext uri="{FF2B5EF4-FFF2-40B4-BE49-F238E27FC236}">
                <a16:creationId xmlns:a16="http://schemas.microsoft.com/office/drawing/2014/main" id="{6D881034-855E-AFD6-43B7-7A9588280C6E}"/>
              </a:ext>
            </a:extLst>
          </p:cNvPr>
          <p:cNvSpPr/>
          <p:nvPr/>
        </p:nvSpPr>
        <p:spPr>
          <a:xfrm>
            <a:off x="7329544" y="3596820"/>
            <a:ext cx="1271016" cy="109728"/>
          </a:xfrm>
          <a:prstGeom prst="rect">
            <a:avLst/>
          </a:prstGeom>
          <a:noFill/>
          <a:ln/>
        </p:spPr>
        <p:txBody>
          <a:bodyPr wrap="square" lIns="0" tIns="0" rIns="0" bIns="0" rtlCol="0" anchor="ctr">
            <a:normAutofit/>
          </a:bodyPr>
          <a:lstStyle/>
          <a:p>
            <a:pPr marL="0" indent="0" algn="ctr">
              <a:buNone/>
            </a:pPr>
            <a:r>
              <a:rPr lang="en-US" sz="680" dirty="0">
                <a:solidFill>
                  <a:srgbClr val="B8BCD4"/>
                </a:solidFill>
                <a:latin typeface="Aptos" pitchFamily="34" charset="0"/>
                <a:ea typeface="Aptos" pitchFamily="34" charset="-122"/>
                <a:cs typeface="Aptos" pitchFamily="34" charset="-120"/>
              </a:rPr>
              <a:t>final</a:t>
            </a:r>
            <a:endParaRPr lang="en-US" sz="680" dirty="0"/>
          </a:p>
        </p:txBody>
      </p:sp>
      <p:sp>
        <p:nvSpPr>
          <p:cNvPr id="21" name="Shape 24">
            <a:extLst>
              <a:ext uri="{FF2B5EF4-FFF2-40B4-BE49-F238E27FC236}">
                <a16:creationId xmlns:a16="http://schemas.microsoft.com/office/drawing/2014/main" id="{E35C62A0-7AD3-A240-792E-C1099254A2B3}"/>
              </a:ext>
            </a:extLst>
          </p:cNvPr>
          <p:cNvSpPr/>
          <p:nvPr/>
        </p:nvSpPr>
        <p:spPr>
          <a:xfrm>
            <a:off x="2816444" y="4503272"/>
            <a:ext cx="1554480" cy="640080"/>
          </a:xfrm>
          <a:prstGeom prst="roundRect">
            <a:avLst>
              <a:gd name="adj" fmla="val 11429"/>
            </a:avLst>
          </a:prstGeom>
          <a:solidFill>
            <a:srgbClr val="242A44"/>
          </a:solidFill>
          <a:ln w="20320">
            <a:solidFill>
              <a:srgbClr val="FF5C7A"/>
            </a:solidFill>
            <a:prstDash val="solid"/>
          </a:ln>
        </p:spPr>
        <p:txBody>
          <a:bodyPr/>
          <a:lstStyle/>
          <a:p>
            <a:endParaRPr lang="es-AR"/>
          </a:p>
        </p:txBody>
      </p:sp>
      <p:sp>
        <p:nvSpPr>
          <p:cNvPr id="22" name="Text 25">
            <a:extLst>
              <a:ext uri="{FF2B5EF4-FFF2-40B4-BE49-F238E27FC236}">
                <a16:creationId xmlns:a16="http://schemas.microsoft.com/office/drawing/2014/main" id="{7AEAE703-92E1-5B37-FC28-10F797E17BDE}"/>
              </a:ext>
            </a:extLst>
          </p:cNvPr>
          <p:cNvSpPr/>
          <p:nvPr/>
        </p:nvSpPr>
        <p:spPr>
          <a:xfrm>
            <a:off x="2889596" y="4686152"/>
            <a:ext cx="1408176"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4F6FF"/>
                </a:solidFill>
                <a:latin typeface="Aptos Display" pitchFamily="34" charset="0"/>
                <a:ea typeface="Aptos Display" pitchFamily="34" charset="-122"/>
                <a:cs typeface="Aptos Display" pitchFamily="34" charset="-120"/>
              </a:rPr>
              <a:t>CANCELADO</a:t>
            </a:r>
            <a:endParaRPr lang="en-US" sz="1050" dirty="0"/>
          </a:p>
        </p:txBody>
      </p:sp>
      <p:sp>
        <p:nvSpPr>
          <p:cNvPr id="23" name="Text 26">
            <a:extLst>
              <a:ext uri="{FF2B5EF4-FFF2-40B4-BE49-F238E27FC236}">
                <a16:creationId xmlns:a16="http://schemas.microsoft.com/office/drawing/2014/main" id="{7043E37C-7892-889E-EFFB-9B9AA96A6302}"/>
              </a:ext>
            </a:extLst>
          </p:cNvPr>
          <p:cNvSpPr/>
          <p:nvPr/>
        </p:nvSpPr>
        <p:spPr>
          <a:xfrm>
            <a:off x="2889596" y="4923896"/>
            <a:ext cx="1408176" cy="109728"/>
          </a:xfrm>
          <a:prstGeom prst="rect">
            <a:avLst/>
          </a:prstGeom>
          <a:noFill/>
          <a:ln/>
        </p:spPr>
        <p:txBody>
          <a:bodyPr wrap="square" lIns="0" tIns="0" rIns="0" bIns="0" rtlCol="0" anchor="ctr">
            <a:normAutofit/>
          </a:bodyPr>
          <a:lstStyle/>
          <a:p>
            <a:pPr marL="0" indent="0" algn="ctr">
              <a:buNone/>
            </a:pPr>
            <a:r>
              <a:rPr lang="en-US" sz="680" dirty="0">
                <a:solidFill>
                  <a:srgbClr val="B8BCD4"/>
                </a:solidFill>
                <a:latin typeface="Aptos" pitchFamily="34" charset="0"/>
                <a:ea typeface="Aptos" pitchFamily="34" charset="-122"/>
                <a:cs typeface="Aptos" pitchFamily="34" charset="-120"/>
              </a:rPr>
              <a:t>final</a:t>
            </a:r>
            <a:endParaRPr lang="en-US" sz="680" dirty="0"/>
          </a:p>
        </p:txBody>
      </p:sp>
      <p:sp>
        <p:nvSpPr>
          <p:cNvPr id="24" name="Shape 27">
            <a:extLst>
              <a:ext uri="{FF2B5EF4-FFF2-40B4-BE49-F238E27FC236}">
                <a16:creationId xmlns:a16="http://schemas.microsoft.com/office/drawing/2014/main" id="{D4732B24-5879-60C8-FBD9-003346AB0CBC}"/>
              </a:ext>
            </a:extLst>
          </p:cNvPr>
          <p:cNvSpPr/>
          <p:nvPr/>
        </p:nvSpPr>
        <p:spPr>
          <a:xfrm>
            <a:off x="287768" y="5417672"/>
            <a:ext cx="2528676" cy="685800"/>
          </a:xfrm>
          <a:prstGeom prst="roundRect">
            <a:avLst>
              <a:gd name="adj" fmla="val 10667"/>
            </a:avLst>
          </a:prstGeom>
          <a:solidFill>
            <a:srgbClr val="242A44"/>
          </a:solidFill>
          <a:ln w="12700">
            <a:solidFill>
              <a:srgbClr val="38405F">
                <a:alpha val="85000"/>
              </a:srgbClr>
            </a:solidFill>
            <a:prstDash val="solid"/>
          </a:ln>
        </p:spPr>
        <p:txBody>
          <a:bodyPr/>
          <a:lstStyle/>
          <a:p>
            <a:endParaRPr lang="es-AR"/>
          </a:p>
        </p:txBody>
      </p:sp>
      <p:sp>
        <p:nvSpPr>
          <p:cNvPr id="25" name="Shape 28">
            <a:extLst>
              <a:ext uri="{FF2B5EF4-FFF2-40B4-BE49-F238E27FC236}">
                <a16:creationId xmlns:a16="http://schemas.microsoft.com/office/drawing/2014/main" id="{EE457325-8E4F-9F92-D6E4-49B09243B745}"/>
              </a:ext>
            </a:extLst>
          </p:cNvPr>
          <p:cNvSpPr/>
          <p:nvPr/>
        </p:nvSpPr>
        <p:spPr>
          <a:xfrm>
            <a:off x="287768" y="5417672"/>
            <a:ext cx="73152" cy="685800"/>
          </a:xfrm>
          <a:prstGeom prst="rect">
            <a:avLst/>
          </a:prstGeom>
          <a:solidFill>
            <a:srgbClr val="58D68D"/>
          </a:solidFill>
          <a:ln w="12700">
            <a:solidFill>
              <a:srgbClr val="58D68D">
                <a:alpha val="0"/>
              </a:srgbClr>
            </a:solidFill>
            <a:prstDash val="solid"/>
          </a:ln>
        </p:spPr>
        <p:txBody>
          <a:bodyPr/>
          <a:lstStyle/>
          <a:p>
            <a:endParaRPr lang="es-AR"/>
          </a:p>
        </p:txBody>
      </p:sp>
      <p:sp>
        <p:nvSpPr>
          <p:cNvPr id="26" name="Text 29">
            <a:extLst>
              <a:ext uri="{FF2B5EF4-FFF2-40B4-BE49-F238E27FC236}">
                <a16:creationId xmlns:a16="http://schemas.microsoft.com/office/drawing/2014/main" id="{C6C3EC4A-481C-DA0D-D3A5-469F9BADE414}"/>
              </a:ext>
            </a:extLst>
          </p:cNvPr>
          <p:cNvSpPr/>
          <p:nvPr/>
        </p:nvSpPr>
        <p:spPr>
          <a:xfrm>
            <a:off x="452360" y="5554832"/>
            <a:ext cx="278892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Transiciones positivas</a:t>
            </a:r>
            <a:endParaRPr lang="en-US" sz="1300" dirty="0"/>
          </a:p>
        </p:txBody>
      </p:sp>
      <p:sp>
        <p:nvSpPr>
          <p:cNvPr id="27" name="Text 30">
            <a:extLst>
              <a:ext uri="{FF2B5EF4-FFF2-40B4-BE49-F238E27FC236}">
                <a16:creationId xmlns:a16="http://schemas.microsoft.com/office/drawing/2014/main" id="{5D0CC65A-B608-B3CA-27FC-35FEB6AA3B39}"/>
              </a:ext>
            </a:extLst>
          </p:cNvPr>
          <p:cNvSpPr/>
          <p:nvPr/>
        </p:nvSpPr>
        <p:spPr>
          <a:xfrm>
            <a:off x="452360" y="5893160"/>
            <a:ext cx="2263947" cy="173736"/>
          </a:xfrm>
          <a:prstGeom prst="rect">
            <a:avLst/>
          </a:prstGeom>
          <a:noFill/>
          <a:ln/>
        </p:spPr>
        <p:txBody>
          <a:bodyPr wrap="square" lIns="254" tIns="254" rIns="254" bIns="254" rtlCol="0" anchor="t">
            <a:normAutofit fontScale="77500" lnSpcReduction="20000"/>
          </a:bodyPr>
          <a:lstStyle/>
          <a:p>
            <a:pPr marL="0" indent="0">
              <a:buNone/>
            </a:pPr>
            <a:r>
              <a:rPr lang="en-US" sz="950" dirty="0">
                <a:solidFill>
                  <a:srgbClr val="B8BCD4"/>
                </a:solidFill>
                <a:latin typeface="Aptos" pitchFamily="34" charset="0"/>
                <a:ea typeface="Aptos" pitchFamily="34" charset="-122"/>
                <a:cs typeface="Aptos" pitchFamily="34" charset="-120"/>
              </a:rPr>
              <a:t>CREADO → PAGADO → PREPARANDO → ENTREGADO</a:t>
            </a:r>
            <a:endParaRPr lang="en-US" sz="950" dirty="0"/>
          </a:p>
        </p:txBody>
      </p:sp>
      <p:sp>
        <p:nvSpPr>
          <p:cNvPr id="28" name="Shape 31">
            <a:extLst>
              <a:ext uri="{FF2B5EF4-FFF2-40B4-BE49-F238E27FC236}">
                <a16:creationId xmlns:a16="http://schemas.microsoft.com/office/drawing/2014/main" id="{51801043-64BB-0F90-648E-3943E8975B06}"/>
              </a:ext>
            </a:extLst>
          </p:cNvPr>
          <p:cNvSpPr/>
          <p:nvPr/>
        </p:nvSpPr>
        <p:spPr>
          <a:xfrm>
            <a:off x="3017520" y="5417672"/>
            <a:ext cx="2406127" cy="685800"/>
          </a:xfrm>
          <a:prstGeom prst="roundRect">
            <a:avLst>
              <a:gd name="adj" fmla="val 10667"/>
            </a:avLst>
          </a:prstGeom>
          <a:solidFill>
            <a:srgbClr val="242A44"/>
          </a:solidFill>
          <a:ln w="12700">
            <a:solidFill>
              <a:srgbClr val="38405F">
                <a:alpha val="85000"/>
              </a:srgbClr>
            </a:solidFill>
            <a:prstDash val="solid"/>
          </a:ln>
        </p:spPr>
        <p:txBody>
          <a:bodyPr/>
          <a:lstStyle/>
          <a:p>
            <a:endParaRPr lang="es-AR"/>
          </a:p>
        </p:txBody>
      </p:sp>
      <p:sp>
        <p:nvSpPr>
          <p:cNvPr id="29" name="Shape 32">
            <a:extLst>
              <a:ext uri="{FF2B5EF4-FFF2-40B4-BE49-F238E27FC236}">
                <a16:creationId xmlns:a16="http://schemas.microsoft.com/office/drawing/2014/main" id="{582FD459-5646-E106-70B8-1D87A6E42597}"/>
              </a:ext>
            </a:extLst>
          </p:cNvPr>
          <p:cNvSpPr/>
          <p:nvPr/>
        </p:nvSpPr>
        <p:spPr>
          <a:xfrm>
            <a:off x="3017520" y="5417672"/>
            <a:ext cx="73152" cy="685800"/>
          </a:xfrm>
          <a:prstGeom prst="rect">
            <a:avLst/>
          </a:prstGeom>
          <a:solidFill>
            <a:srgbClr val="FF5C7A"/>
          </a:solidFill>
          <a:ln w="12700">
            <a:solidFill>
              <a:srgbClr val="FF5C7A">
                <a:alpha val="0"/>
              </a:srgbClr>
            </a:solidFill>
            <a:prstDash val="solid"/>
          </a:ln>
        </p:spPr>
        <p:txBody>
          <a:bodyPr/>
          <a:lstStyle/>
          <a:p>
            <a:endParaRPr lang="es-AR"/>
          </a:p>
        </p:txBody>
      </p:sp>
      <p:sp>
        <p:nvSpPr>
          <p:cNvPr id="30" name="Text 33">
            <a:extLst>
              <a:ext uri="{FF2B5EF4-FFF2-40B4-BE49-F238E27FC236}">
                <a16:creationId xmlns:a16="http://schemas.microsoft.com/office/drawing/2014/main" id="{47016274-CEC6-5FA0-93EE-C835DA8BDB4F}"/>
              </a:ext>
            </a:extLst>
          </p:cNvPr>
          <p:cNvSpPr/>
          <p:nvPr/>
        </p:nvSpPr>
        <p:spPr>
          <a:xfrm>
            <a:off x="3182112" y="5554832"/>
            <a:ext cx="278892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Transiciones de corte</a:t>
            </a:r>
            <a:endParaRPr lang="en-US" sz="1300" dirty="0"/>
          </a:p>
        </p:txBody>
      </p:sp>
      <p:sp>
        <p:nvSpPr>
          <p:cNvPr id="31" name="Text 34">
            <a:extLst>
              <a:ext uri="{FF2B5EF4-FFF2-40B4-BE49-F238E27FC236}">
                <a16:creationId xmlns:a16="http://schemas.microsoft.com/office/drawing/2014/main" id="{137B6109-9EBF-D17E-84D2-938A9543A53A}"/>
              </a:ext>
            </a:extLst>
          </p:cNvPr>
          <p:cNvSpPr/>
          <p:nvPr/>
        </p:nvSpPr>
        <p:spPr>
          <a:xfrm>
            <a:off x="3182112" y="5893160"/>
            <a:ext cx="2788920" cy="91440"/>
          </a:xfrm>
          <a:prstGeom prst="rect">
            <a:avLst/>
          </a:prstGeom>
          <a:noFill/>
          <a:ln/>
        </p:spPr>
        <p:txBody>
          <a:bodyPr wrap="square" lIns="254" tIns="254" rIns="254" bIns="254" rtlCol="0" anchor="t">
            <a:normAutofit fontScale="77500" lnSpcReduction="20000"/>
          </a:bodyPr>
          <a:lstStyle/>
          <a:p>
            <a:pPr marL="0" indent="0">
              <a:buNone/>
            </a:pPr>
            <a:r>
              <a:rPr lang="en-US" sz="950" dirty="0">
                <a:solidFill>
                  <a:srgbClr val="B8BCD4"/>
                </a:solidFill>
                <a:latin typeface="Aptos" pitchFamily="34" charset="0"/>
                <a:ea typeface="Aptos" pitchFamily="34" charset="-122"/>
                <a:cs typeface="Aptos" pitchFamily="34" charset="-120"/>
              </a:rPr>
              <a:t>CREADO/PAGADO → CANCELADO</a:t>
            </a:r>
            <a:endParaRPr lang="en-US" sz="950" dirty="0"/>
          </a:p>
        </p:txBody>
      </p:sp>
      <p:sp>
        <p:nvSpPr>
          <p:cNvPr id="32" name="Shape 35">
            <a:extLst>
              <a:ext uri="{FF2B5EF4-FFF2-40B4-BE49-F238E27FC236}">
                <a16:creationId xmlns:a16="http://schemas.microsoft.com/office/drawing/2014/main" id="{37B31A29-3F19-D078-AB48-4D6574A33130}"/>
              </a:ext>
            </a:extLst>
          </p:cNvPr>
          <p:cNvSpPr/>
          <p:nvPr/>
        </p:nvSpPr>
        <p:spPr>
          <a:xfrm>
            <a:off x="5564752" y="5417672"/>
            <a:ext cx="2406127" cy="685800"/>
          </a:xfrm>
          <a:prstGeom prst="roundRect">
            <a:avLst>
              <a:gd name="adj" fmla="val 10667"/>
            </a:avLst>
          </a:prstGeom>
          <a:solidFill>
            <a:srgbClr val="242A44"/>
          </a:solidFill>
          <a:ln w="12700">
            <a:solidFill>
              <a:srgbClr val="38405F">
                <a:alpha val="85000"/>
              </a:srgbClr>
            </a:solidFill>
            <a:prstDash val="solid"/>
          </a:ln>
        </p:spPr>
        <p:txBody>
          <a:bodyPr/>
          <a:lstStyle/>
          <a:p>
            <a:endParaRPr lang="es-AR"/>
          </a:p>
        </p:txBody>
      </p:sp>
      <p:sp>
        <p:nvSpPr>
          <p:cNvPr id="33" name="Shape 36">
            <a:extLst>
              <a:ext uri="{FF2B5EF4-FFF2-40B4-BE49-F238E27FC236}">
                <a16:creationId xmlns:a16="http://schemas.microsoft.com/office/drawing/2014/main" id="{724CA9B9-48D5-4D8D-E34F-B5135501C214}"/>
              </a:ext>
            </a:extLst>
          </p:cNvPr>
          <p:cNvSpPr/>
          <p:nvPr/>
        </p:nvSpPr>
        <p:spPr>
          <a:xfrm>
            <a:off x="5564752" y="5417672"/>
            <a:ext cx="73152" cy="685800"/>
          </a:xfrm>
          <a:prstGeom prst="rect">
            <a:avLst/>
          </a:prstGeom>
          <a:solidFill>
            <a:srgbClr val="35E0D4"/>
          </a:solidFill>
          <a:ln w="12700">
            <a:solidFill>
              <a:srgbClr val="35E0D4">
                <a:alpha val="0"/>
              </a:srgbClr>
            </a:solidFill>
            <a:prstDash val="solid"/>
          </a:ln>
        </p:spPr>
        <p:txBody>
          <a:bodyPr/>
          <a:lstStyle/>
          <a:p>
            <a:endParaRPr lang="es-AR"/>
          </a:p>
        </p:txBody>
      </p:sp>
      <p:sp>
        <p:nvSpPr>
          <p:cNvPr id="34" name="Text 37">
            <a:extLst>
              <a:ext uri="{FF2B5EF4-FFF2-40B4-BE49-F238E27FC236}">
                <a16:creationId xmlns:a16="http://schemas.microsoft.com/office/drawing/2014/main" id="{CA9C6D98-8F81-3123-ED3B-E2490D8A3D06}"/>
              </a:ext>
            </a:extLst>
          </p:cNvPr>
          <p:cNvSpPr/>
          <p:nvPr/>
        </p:nvSpPr>
        <p:spPr>
          <a:xfrm>
            <a:off x="5729344" y="5554832"/>
            <a:ext cx="278892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Estados finales</a:t>
            </a:r>
            <a:endParaRPr lang="en-US" sz="1300" dirty="0"/>
          </a:p>
        </p:txBody>
      </p:sp>
      <p:sp>
        <p:nvSpPr>
          <p:cNvPr id="35" name="Text 38">
            <a:extLst>
              <a:ext uri="{FF2B5EF4-FFF2-40B4-BE49-F238E27FC236}">
                <a16:creationId xmlns:a16="http://schemas.microsoft.com/office/drawing/2014/main" id="{2679519B-FF1E-CABE-5A98-77828CEEE0B8}"/>
              </a:ext>
            </a:extLst>
          </p:cNvPr>
          <p:cNvSpPr/>
          <p:nvPr/>
        </p:nvSpPr>
        <p:spPr>
          <a:xfrm>
            <a:off x="5729344" y="5893160"/>
            <a:ext cx="2788920" cy="91440"/>
          </a:xfrm>
          <a:prstGeom prst="rect">
            <a:avLst/>
          </a:prstGeom>
          <a:noFill/>
          <a:ln/>
        </p:spPr>
        <p:txBody>
          <a:bodyPr wrap="square" lIns="254" tIns="254" rIns="254" bIns="254" rtlCol="0" anchor="t">
            <a:normAutofit fontScale="77500" lnSpcReduction="20000"/>
          </a:bodyPr>
          <a:lstStyle/>
          <a:p>
            <a:pPr marL="0" indent="0">
              <a:buNone/>
            </a:pPr>
            <a:r>
              <a:rPr lang="en-US" sz="950" dirty="0">
                <a:solidFill>
                  <a:srgbClr val="B8BCD4"/>
                </a:solidFill>
                <a:latin typeface="Aptos" pitchFamily="34" charset="0"/>
                <a:ea typeface="Aptos" pitchFamily="34" charset="-122"/>
                <a:cs typeface="Aptos" pitchFamily="34" charset="-120"/>
              </a:rPr>
              <a:t>ENTREGADO y CANCELADO no cambian</a:t>
            </a:r>
            <a:endParaRPr lang="en-US" sz="950" dirty="0"/>
          </a:p>
        </p:txBody>
      </p:sp>
    </p:spTree>
    <p:extLst>
      <p:ext uri="{BB962C8B-B14F-4D97-AF65-F5344CB8AC3E}">
        <p14:creationId xmlns:p14="http://schemas.microsoft.com/office/powerpoint/2010/main" val="1413689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2F45EC-BC9B-0616-5F10-EE7331D2D380}"/>
              </a:ext>
            </a:extLst>
          </p:cNvPr>
          <p:cNvSpPr>
            <a:spLocks noGrp="1"/>
          </p:cNvSpPr>
          <p:nvPr>
            <p:ph type="title"/>
          </p:nvPr>
        </p:nvSpPr>
        <p:spPr/>
        <p:txBody>
          <a:bodyPr/>
          <a:lstStyle/>
          <a:p>
            <a:r>
              <a:rPr lang="es-AR" dirty="0"/>
              <a:t>Paso 2: Crear el contrato </a:t>
            </a:r>
            <a:r>
              <a:rPr lang="es-AR" dirty="0" err="1"/>
              <a:t>EstadoPedido</a:t>
            </a:r>
            <a:endParaRPr lang="es-AR" dirty="0"/>
          </a:p>
        </p:txBody>
      </p:sp>
      <p:sp>
        <p:nvSpPr>
          <p:cNvPr id="3" name="Marcador de contenido 2">
            <a:extLst>
              <a:ext uri="{FF2B5EF4-FFF2-40B4-BE49-F238E27FC236}">
                <a16:creationId xmlns:a16="http://schemas.microsoft.com/office/drawing/2014/main" id="{FEA18696-4F04-9451-2C71-5449FF1E0C5A}"/>
              </a:ext>
            </a:extLst>
          </p:cNvPr>
          <p:cNvSpPr>
            <a:spLocks noGrp="1"/>
          </p:cNvSpPr>
          <p:nvPr>
            <p:ph idx="1"/>
          </p:nvPr>
        </p:nvSpPr>
        <p:spPr>
          <a:xfrm>
            <a:off x="864381" y="2489200"/>
            <a:ext cx="7383147" cy="773953"/>
          </a:xfrm>
        </p:spPr>
        <p:txBody>
          <a:bodyPr/>
          <a:lstStyle/>
          <a:p>
            <a:r>
              <a:rPr lang="es-AR" dirty="0"/>
              <a:t>Todas las acciones posibles quedan definidas en una interfaz común</a:t>
            </a:r>
          </a:p>
        </p:txBody>
      </p:sp>
      <p:sp>
        <p:nvSpPr>
          <p:cNvPr id="4" name="Shape 7">
            <a:extLst>
              <a:ext uri="{FF2B5EF4-FFF2-40B4-BE49-F238E27FC236}">
                <a16:creationId xmlns:a16="http://schemas.microsoft.com/office/drawing/2014/main" id="{01CDAE8E-C9C0-C825-5238-B93E64758111}"/>
              </a:ext>
            </a:extLst>
          </p:cNvPr>
          <p:cNvSpPr/>
          <p:nvPr/>
        </p:nvSpPr>
        <p:spPr>
          <a:xfrm>
            <a:off x="389965" y="3325755"/>
            <a:ext cx="3188389" cy="2401645"/>
          </a:xfrm>
          <a:prstGeom prst="roundRect">
            <a:avLst>
              <a:gd name="adj" fmla="val 1205"/>
            </a:avLst>
          </a:prstGeom>
          <a:solidFill>
            <a:srgbClr val="0A0C12"/>
          </a:solidFill>
          <a:ln w="12700">
            <a:solidFill>
              <a:srgbClr val="38405F"/>
            </a:solidFill>
            <a:prstDash val="solid"/>
          </a:ln>
        </p:spPr>
        <p:txBody>
          <a:bodyPr/>
          <a:lstStyle/>
          <a:p>
            <a:endParaRPr lang="es-AR"/>
          </a:p>
        </p:txBody>
      </p:sp>
      <p:sp>
        <p:nvSpPr>
          <p:cNvPr id="5" name="Shape 8">
            <a:extLst>
              <a:ext uri="{FF2B5EF4-FFF2-40B4-BE49-F238E27FC236}">
                <a16:creationId xmlns:a16="http://schemas.microsoft.com/office/drawing/2014/main" id="{F3ECECBD-1450-6B7D-158A-95B1E68ADE0B}"/>
              </a:ext>
            </a:extLst>
          </p:cNvPr>
          <p:cNvSpPr/>
          <p:nvPr/>
        </p:nvSpPr>
        <p:spPr>
          <a:xfrm>
            <a:off x="389965" y="3325755"/>
            <a:ext cx="3188389" cy="310896"/>
          </a:xfrm>
          <a:prstGeom prst="rect">
            <a:avLst/>
          </a:prstGeom>
          <a:solidFill>
            <a:srgbClr val="171B2B"/>
          </a:solidFill>
          <a:ln w="12700">
            <a:solidFill>
              <a:srgbClr val="171B2B">
                <a:alpha val="0"/>
              </a:srgbClr>
            </a:solidFill>
            <a:prstDash val="solid"/>
          </a:ln>
        </p:spPr>
        <p:txBody>
          <a:bodyPr/>
          <a:lstStyle/>
          <a:p>
            <a:endParaRPr lang="es-AR"/>
          </a:p>
        </p:txBody>
      </p:sp>
      <p:sp>
        <p:nvSpPr>
          <p:cNvPr id="6" name="Shape 9">
            <a:extLst>
              <a:ext uri="{FF2B5EF4-FFF2-40B4-BE49-F238E27FC236}">
                <a16:creationId xmlns:a16="http://schemas.microsoft.com/office/drawing/2014/main" id="{D1A3E36D-95A2-80A1-34BF-064E8B9E3F54}"/>
              </a:ext>
            </a:extLst>
          </p:cNvPr>
          <p:cNvSpPr/>
          <p:nvPr/>
        </p:nvSpPr>
        <p:spPr>
          <a:xfrm>
            <a:off x="508837" y="3430911"/>
            <a:ext cx="73152" cy="73152"/>
          </a:xfrm>
          <a:prstGeom prst="ellipse">
            <a:avLst/>
          </a:prstGeom>
          <a:solidFill>
            <a:srgbClr val="FF5C7A"/>
          </a:solidFill>
          <a:ln w="12700">
            <a:solidFill>
              <a:srgbClr val="FF5C7A">
                <a:alpha val="0"/>
              </a:srgbClr>
            </a:solidFill>
            <a:prstDash val="solid"/>
          </a:ln>
        </p:spPr>
        <p:txBody>
          <a:bodyPr/>
          <a:lstStyle/>
          <a:p>
            <a:endParaRPr lang="es-AR"/>
          </a:p>
        </p:txBody>
      </p:sp>
      <p:sp>
        <p:nvSpPr>
          <p:cNvPr id="7" name="Shape 10">
            <a:extLst>
              <a:ext uri="{FF2B5EF4-FFF2-40B4-BE49-F238E27FC236}">
                <a16:creationId xmlns:a16="http://schemas.microsoft.com/office/drawing/2014/main" id="{98ADCF9F-C862-E250-A39D-69F45880BC07}"/>
              </a:ext>
            </a:extLst>
          </p:cNvPr>
          <p:cNvSpPr/>
          <p:nvPr/>
        </p:nvSpPr>
        <p:spPr>
          <a:xfrm>
            <a:off x="645997" y="3430911"/>
            <a:ext cx="73152" cy="73152"/>
          </a:xfrm>
          <a:prstGeom prst="ellipse">
            <a:avLst/>
          </a:prstGeom>
          <a:solidFill>
            <a:srgbClr val="FFB86B"/>
          </a:solidFill>
          <a:ln w="12700">
            <a:solidFill>
              <a:srgbClr val="FFB86B">
                <a:alpha val="0"/>
              </a:srgbClr>
            </a:solidFill>
            <a:prstDash val="solid"/>
          </a:ln>
        </p:spPr>
        <p:txBody>
          <a:bodyPr/>
          <a:lstStyle/>
          <a:p>
            <a:endParaRPr lang="es-AR"/>
          </a:p>
        </p:txBody>
      </p:sp>
      <p:sp>
        <p:nvSpPr>
          <p:cNvPr id="8" name="Shape 11">
            <a:extLst>
              <a:ext uri="{FF2B5EF4-FFF2-40B4-BE49-F238E27FC236}">
                <a16:creationId xmlns:a16="http://schemas.microsoft.com/office/drawing/2014/main" id="{B0F3A6F4-8E71-8A32-9078-87E956C57403}"/>
              </a:ext>
            </a:extLst>
          </p:cNvPr>
          <p:cNvSpPr/>
          <p:nvPr/>
        </p:nvSpPr>
        <p:spPr>
          <a:xfrm>
            <a:off x="783157" y="3430911"/>
            <a:ext cx="73152" cy="73152"/>
          </a:xfrm>
          <a:prstGeom prst="ellipse">
            <a:avLst/>
          </a:prstGeom>
          <a:solidFill>
            <a:srgbClr val="58D68D"/>
          </a:solidFill>
          <a:ln w="12700">
            <a:solidFill>
              <a:srgbClr val="58D68D">
                <a:alpha val="0"/>
              </a:srgbClr>
            </a:solidFill>
            <a:prstDash val="solid"/>
          </a:ln>
        </p:spPr>
        <p:txBody>
          <a:bodyPr/>
          <a:lstStyle/>
          <a:p>
            <a:endParaRPr lang="es-AR"/>
          </a:p>
        </p:txBody>
      </p:sp>
      <p:sp>
        <p:nvSpPr>
          <p:cNvPr id="9" name="Text 12">
            <a:extLst>
              <a:ext uri="{FF2B5EF4-FFF2-40B4-BE49-F238E27FC236}">
                <a16:creationId xmlns:a16="http://schemas.microsoft.com/office/drawing/2014/main" id="{7CCCEF82-7F39-BF6A-8333-CD1C1127B699}"/>
              </a:ext>
            </a:extLst>
          </p:cNvPr>
          <p:cNvSpPr/>
          <p:nvPr/>
        </p:nvSpPr>
        <p:spPr>
          <a:xfrm>
            <a:off x="956893" y="3435483"/>
            <a:ext cx="2503483" cy="90694"/>
          </a:xfrm>
          <a:prstGeom prst="rect">
            <a:avLst/>
          </a:prstGeom>
          <a:noFill/>
          <a:ln/>
        </p:spPr>
        <p:txBody>
          <a:bodyPr wrap="square" lIns="0" tIns="0" rIns="0" bIns="0" rtlCol="0" anchor="ctr"/>
          <a:lstStyle/>
          <a:p>
            <a:pPr marL="0" indent="0">
              <a:buNone/>
            </a:pPr>
            <a:r>
              <a:rPr lang="en-US" sz="900" dirty="0">
                <a:solidFill>
                  <a:srgbClr val="B8BCD4"/>
                </a:solidFill>
                <a:latin typeface="Aptos" pitchFamily="34" charset="0"/>
                <a:ea typeface="Aptos" pitchFamily="34" charset="-122"/>
                <a:cs typeface="Aptos" pitchFamily="34" charset="-120"/>
              </a:rPr>
              <a:t>domain/model/state/EstadoPedido.java</a:t>
            </a:r>
            <a:endParaRPr lang="en-US" sz="900" dirty="0"/>
          </a:p>
        </p:txBody>
      </p:sp>
      <p:sp>
        <p:nvSpPr>
          <p:cNvPr id="10" name="Text 13">
            <a:extLst>
              <a:ext uri="{FF2B5EF4-FFF2-40B4-BE49-F238E27FC236}">
                <a16:creationId xmlns:a16="http://schemas.microsoft.com/office/drawing/2014/main" id="{A17AE8FF-89F1-4C3E-1A61-26CB15650183}"/>
              </a:ext>
            </a:extLst>
          </p:cNvPr>
          <p:cNvSpPr/>
          <p:nvPr/>
        </p:nvSpPr>
        <p:spPr>
          <a:xfrm>
            <a:off x="554557" y="3764667"/>
            <a:ext cx="2977780" cy="2042845"/>
          </a:xfrm>
          <a:prstGeom prst="rect">
            <a:avLst/>
          </a:prstGeom>
          <a:noFill/>
          <a:ln/>
        </p:spPr>
        <p:txBody>
          <a:bodyPr wrap="square" lIns="0" tIns="0" rIns="0" bIns="0" rtlCol="0" anchor="t">
            <a:normAutofit/>
          </a:bodyPr>
          <a:lstStyle/>
          <a:p>
            <a:pPr marL="0" indent="0">
              <a:buNone/>
            </a:pPr>
            <a:r>
              <a:rPr lang="en-US" sz="900" dirty="0">
                <a:solidFill>
                  <a:srgbClr val="F4F6FF"/>
                </a:solidFill>
                <a:latin typeface="Courier New" pitchFamily="34" charset="0"/>
                <a:ea typeface="Courier New" pitchFamily="34" charset="-122"/>
                <a:cs typeface="Courier New" pitchFamily="34" charset="-120"/>
              </a:rPr>
              <a:t>public interface EstadoPedido {</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String getNombre();</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void pagar(Pedido pedido);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void preparar(Pedido pedido);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void entregar(Pedido pedido);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void cancelar(Pedido pedido);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p:txBody>
      </p:sp>
      <p:sp>
        <p:nvSpPr>
          <p:cNvPr id="11" name="Shape 14">
            <a:extLst>
              <a:ext uri="{FF2B5EF4-FFF2-40B4-BE49-F238E27FC236}">
                <a16:creationId xmlns:a16="http://schemas.microsoft.com/office/drawing/2014/main" id="{A216BB51-105F-1AE9-2A7D-5A1B5558BF6A}"/>
              </a:ext>
            </a:extLst>
          </p:cNvPr>
          <p:cNvSpPr/>
          <p:nvPr/>
        </p:nvSpPr>
        <p:spPr>
          <a:xfrm>
            <a:off x="3814729" y="3325755"/>
            <a:ext cx="4578031" cy="914400"/>
          </a:xfrm>
          <a:prstGeom prst="roundRect">
            <a:avLst>
              <a:gd name="adj" fmla="val 8000"/>
            </a:avLst>
          </a:prstGeom>
          <a:solidFill>
            <a:srgbClr val="242A44"/>
          </a:solidFill>
          <a:ln w="12700">
            <a:solidFill>
              <a:srgbClr val="38405F">
                <a:alpha val="85000"/>
              </a:srgbClr>
            </a:solidFill>
            <a:prstDash val="solid"/>
          </a:ln>
        </p:spPr>
        <p:txBody>
          <a:bodyPr/>
          <a:lstStyle/>
          <a:p>
            <a:endParaRPr lang="es-AR"/>
          </a:p>
        </p:txBody>
      </p:sp>
      <p:sp>
        <p:nvSpPr>
          <p:cNvPr id="12" name="Shape 15">
            <a:extLst>
              <a:ext uri="{FF2B5EF4-FFF2-40B4-BE49-F238E27FC236}">
                <a16:creationId xmlns:a16="http://schemas.microsoft.com/office/drawing/2014/main" id="{6B7A24AB-9F0D-DF92-5BD1-690490BC20D1}"/>
              </a:ext>
            </a:extLst>
          </p:cNvPr>
          <p:cNvSpPr/>
          <p:nvPr/>
        </p:nvSpPr>
        <p:spPr>
          <a:xfrm>
            <a:off x="3814729" y="3325755"/>
            <a:ext cx="65400" cy="914400"/>
          </a:xfrm>
          <a:prstGeom prst="rect">
            <a:avLst/>
          </a:prstGeom>
          <a:solidFill>
            <a:srgbClr val="35E0D4"/>
          </a:solidFill>
          <a:ln w="12700">
            <a:solidFill>
              <a:srgbClr val="35E0D4">
                <a:alpha val="0"/>
              </a:srgbClr>
            </a:solidFill>
            <a:prstDash val="solid"/>
          </a:ln>
        </p:spPr>
        <p:txBody>
          <a:bodyPr/>
          <a:lstStyle/>
          <a:p>
            <a:endParaRPr lang="es-AR"/>
          </a:p>
        </p:txBody>
      </p:sp>
      <p:sp>
        <p:nvSpPr>
          <p:cNvPr id="13" name="Text 16">
            <a:extLst>
              <a:ext uri="{FF2B5EF4-FFF2-40B4-BE49-F238E27FC236}">
                <a16:creationId xmlns:a16="http://schemas.microsoft.com/office/drawing/2014/main" id="{2FA84553-40B1-4261-5692-44349F1BA4B3}"/>
              </a:ext>
            </a:extLst>
          </p:cNvPr>
          <p:cNvSpPr/>
          <p:nvPr/>
        </p:nvSpPr>
        <p:spPr>
          <a:xfrm>
            <a:off x="3979321" y="3462915"/>
            <a:ext cx="4291904"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¿Por qué una interfaz?</a:t>
            </a:r>
            <a:endParaRPr lang="en-US" sz="1300" dirty="0"/>
          </a:p>
        </p:txBody>
      </p:sp>
      <p:sp>
        <p:nvSpPr>
          <p:cNvPr id="14" name="Text 17">
            <a:extLst>
              <a:ext uri="{FF2B5EF4-FFF2-40B4-BE49-F238E27FC236}">
                <a16:creationId xmlns:a16="http://schemas.microsoft.com/office/drawing/2014/main" id="{96A31E71-204A-DB95-39AA-C80C4C471CC8}"/>
              </a:ext>
            </a:extLst>
          </p:cNvPr>
          <p:cNvSpPr/>
          <p:nvPr/>
        </p:nvSpPr>
        <p:spPr>
          <a:xfrm>
            <a:off x="3979321" y="3801243"/>
            <a:ext cx="4291904" cy="320040"/>
          </a:xfrm>
          <a:prstGeom prst="rect">
            <a:avLst/>
          </a:prstGeom>
          <a:noFill/>
          <a:ln/>
        </p:spPr>
        <p:txBody>
          <a:bodyPr wrap="square" lIns="254" tIns="254" rIns="254" bIns="254" rtlCol="0" anchor="t">
            <a:normAutofit/>
          </a:bodyPr>
          <a:lstStyle/>
          <a:p>
            <a:pPr marL="0" indent="0">
              <a:buNone/>
            </a:pPr>
            <a:r>
              <a:rPr lang="en-US" sz="1000" dirty="0">
                <a:solidFill>
                  <a:srgbClr val="B8BCD4"/>
                </a:solidFill>
                <a:latin typeface="Aptos" pitchFamily="34" charset="0"/>
                <a:ea typeface="Aptos" pitchFamily="34" charset="-122"/>
                <a:cs typeface="Aptos" pitchFamily="34" charset="-120"/>
              </a:rPr>
              <a:t>Porque Pedido no debe depender de clases concretas como EstadoCreado o EstadoPagado.</a:t>
            </a:r>
            <a:endParaRPr lang="en-US" sz="1000" dirty="0"/>
          </a:p>
        </p:txBody>
      </p:sp>
      <p:sp>
        <p:nvSpPr>
          <p:cNvPr id="15" name="Shape 18">
            <a:extLst>
              <a:ext uri="{FF2B5EF4-FFF2-40B4-BE49-F238E27FC236}">
                <a16:creationId xmlns:a16="http://schemas.microsoft.com/office/drawing/2014/main" id="{BF552CEA-F688-238E-04EE-D65FAA7C858E}"/>
              </a:ext>
            </a:extLst>
          </p:cNvPr>
          <p:cNvSpPr/>
          <p:nvPr/>
        </p:nvSpPr>
        <p:spPr>
          <a:xfrm>
            <a:off x="3814729" y="4377315"/>
            <a:ext cx="4578031" cy="914400"/>
          </a:xfrm>
          <a:prstGeom prst="roundRect">
            <a:avLst>
              <a:gd name="adj" fmla="val 8000"/>
            </a:avLst>
          </a:prstGeom>
          <a:solidFill>
            <a:srgbClr val="242A44"/>
          </a:solidFill>
          <a:ln w="12700">
            <a:solidFill>
              <a:srgbClr val="38405F">
                <a:alpha val="85000"/>
              </a:srgbClr>
            </a:solidFill>
            <a:prstDash val="solid"/>
          </a:ln>
        </p:spPr>
        <p:txBody>
          <a:bodyPr/>
          <a:lstStyle/>
          <a:p>
            <a:endParaRPr lang="es-AR"/>
          </a:p>
        </p:txBody>
      </p:sp>
      <p:sp>
        <p:nvSpPr>
          <p:cNvPr id="16" name="Shape 19">
            <a:extLst>
              <a:ext uri="{FF2B5EF4-FFF2-40B4-BE49-F238E27FC236}">
                <a16:creationId xmlns:a16="http://schemas.microsoft.com/office/drawing/2014/main" id="{101424E6-6A4B-EFA9-39FD-449607B2E691}"/>
              </a:ext>
            </a:extLst>
          </p:cNvPr>
          <p:cNvSpPr/>
          <p:nvPr/>
        </p:nvSpPr>
        <p:spPr>
          <a:xfrm>
            <a:off x="3814729" y="4377315"/>
            <a:ext cx="65400" cy="914400"/>
          </a:xfrm>
          <a:prstGeom prst="rect">
            <a:avLst/>
          </a:prstGeom>
          <a:solidFill>
            <a:srgbClr val="8A5CFF"/>
          </a:solidFill>
          <a:ln w="12700">
            <a:solidFill>
              <a:srgbClr val="8A5CFF">
                <a:alpha val="0"/>
              </a:srgbClr>
            </a:solidFill>
            <a:prstDash val="solid"/>
          </a:ln>
        </p:spPr>
        <p:txBody>
          <a:bodyPr/>
          <a:lstStyle/>
          <a:p>
            <a:endParaRPr lang="es-AR"/>
          </a:p>
        </p:txBody>
      </p:sp>
      <p:sp>
        <p:nvSpPr>
          <p:cNvPr id="17" name="Text 20">
            <a:extLst>
              <a:ext uri="{FF2B5EF4-FFF2-40B4-BE49-F238E27FC236}">
                <a16:creationId xmlns:a16="http://schemas.microsoft.com/office/drawing/2014/main" id="{F5AF7E38-323F-C9F0-66C6-9F59B5C9E4FA}"/>
              </a:ext>
            </a:extLst>
          </p:cNvPr>
          <p:cNvSpPr/>
          <p:nvPr/>
        </p:nvSpPr>
        <p:spPr>
          <a:xfrm>
            <a:off x="3979321" y="4514475"/>
            <a:ext cx="4291904"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Polimorfismo</a:t>
            </a:r>
            <a:endParaRPr lang="en-US" sz="1300" dirty="0"/>
          </a:p>
        </p:txBody>
      </p:sp>
      <p:sp>
        <p:nvSpPr>
          <p:cNvPr id="18" name="Text 21">
            <a:extLst>
              <a:ext uri="{FF2B5EF4-FFF2-40B4-BE49-F238E27FC236}">
                <a16:creationId xmlns:a16="http://schemas.microsoft.com/office/drawing/2014/main" id="{4A0E050A-7295-53B5-4D56-59F6F3109322}"/>
              </a:ext>
            </a:extLst>
          </p:cNvPr>
          <p:cNvSpPr/>
          <p:nvPr/>
        </p:nvSpPr>
        <p:spPr>
          <a:xfrm>
            <a:off x="3979321" y="4852803"/>
            <a:ext cx="4291904" cy="320040"/>
          </a:xfrm>
          <a:prstGeom prst="rect">
            <a:avLst/>
          </a:prstGeom>
          <a:noFill/>
          <a:ln/>
        </p:spPr>
        <p:txBody>
          <a:bodyPr wrap="square" lIns="254" tIns="254" rIns="254" bIns="254" rtlCol="0" anchor="t">
            <a:normAutofit/>
          </a:bodyPr>
          <a:lstStyle/>
          <a:p>
            <a:pPr marL="0" indent="0">
              <a:buNone/>
            </a:pPr>
            <a:r>
              <a:rPr lang="en-US" sz="1000" dirty="0">
                <a:solidFill>
                  <a:srgbClr val="B8BCD4"/>
                </a:solidFill>
                <a:latin typeface="Aptos" pitchFamily="34" charset="0"/>
                <a:ea typeface="Aptos" pitchFamily="34" charset="-122"/>
                <a:cs typeface="Aptos" pitchFamily="34" charset="-120"/>
              </a:rPr>
              <a:t>Pedido ejecuta estadoActual.pagar(this), pero cada estado decide qué hacer.</a:t>
            </a:r>
            <a:endParaRPr lang="en-US" sz="1000" dirty="0"/>
          </a:p>
        </p:txBody>
      </p:sp>
      <p:sp>
        <p:nvSpPr>
          <p:cNvPr id="19" name="Shape 22">
            <a:extLst>
              <a:ext uri="{FF2B5EF4-FFF2-40B4-BE49-F238E27FC236}">
                <a16:creationId xmlns:a16="http://schemas.microsoft.com/office/drawing/2014/main" id="{801D1BFC-33E7-D67A-C049-3072831C389E}"/>
              </a:ext>
            </a:extLst>
          </p:cNvPr>
          <p:cNvSpPr/>
          <p:nvPr/>
        </p:nvSpPr>
        <p:spPr>
          <a:xfrm>
            <a:off x="3814729" y="5428875"/>
            <a:ext cx="4578031" cy="914400"/>
          </a:xfrm>
          <a:prstGeom prst="roundRect">
            <a:avLst>
              <a:gd name="adj" fmla="val 8000"/>
            </a:avLst>
          </a:prstGeom>
          <a:solidFill>
            <a:srgbClr val="242A44"/>
          </a:solidFill>
          <a:ln w="12700">
            <a:solidFill>
              <a:srgbClr val="38405F">
                <a:alpha val="85000"/>
              </a:srgbClr>
            </a:solidFill>
            <a:prstDash val="solid"/>
          </a:ln>
        </p:spPr>
        <p:txBody>
          <a:bodyPr/>
          <a:lstStyle/>
          <a:p>
            <a:endParaRPr lang="es-AR"/>
          </a:p>
        </p:txBody>
      </p:sp>
      <p:sp>
        <p:nvSpPr>
          <p:cNvPr id="20" name="Shape 23">
            <a:extLst>
              <a:ext uri="{FF2B5EF4-FFF2-40B4-BE49-F238E27FC236}">
                <a16:creationId xmlns:a16="http://schemas.microsoft.com/office/drawing/2014/main" id="{8929103B-2909-5AA8-26CB-BCABE3D34DE5}"/>
              </a:ext>
            </a:extLst>
          </p:cNvPr>
          <p:cNvSpPr/>
          <p:nvPr/>
        </p:nvSpPr>
        <p:spPr>
          <a:xfrm>
            <a:off x="3814729" y="5428875"/>
            <a:ext cx="65400" cy="914400"/>
          </a:xfrm>
          <a:prstGeom prst="rect">
            <a:avLst/>
          </a:prstGeom>
          <a:solidFill>
            <a:srgbClr val="FFB86B"/>
          </a:solidFill>
          <a:ln w="12700">
            <a:solidFill>
              <a:srgbClr val="FFB86B">
                <a:alpha val="0"/>
              </a:srgbClr>
            </a:solidFill>
            <a:prstDash val="solid"/>
          </a:ln>
        </p:spPr>
        <p:txBody>
          <a:bodyPr/>
          <a:lstStyle/>
          <a:p>
            <a:endParaRPr lang="es-AR"/>
          </a:p>
        </p:txBody>
      </p:sp>
      <p:sp>
        <p:nvSpPr>
          <p:cNvPr id="21" name="Text 24">
            <a:extLst>
              <a:ext uri="{FF2B5EF4-FFF2-40B4-BE49-F238E27FC236}">
                <a16:creationId xmlns:a16="http://schemas.microsoft.com/office/drawing/2014/main" id="{72063E73-642B-810A-207A-765EE94A8D7F}"/>
              </a:ext>
            </a:extLst>
          </p:cNvPr>
          <p:cNvSpPr/>
          <p:nvPr/>
        </p:nvSpPr>
        <p:spPr>
          <a:xfrm>
            <a:off x="3979321" y="5566035"/>
            <a:ext cx="4291904"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Protected Variations</a:t>
            </a:r>
            <a:endParaRPr lang="en-US" sz="1300" dirty="0"/>
          </a:p>
        </p:txBody>
      </p:sp>
      <p:sp>
        <p:nvSpPr>
          <p:cNvPr id="22" name="Text 25">
            <a:extLst>
              <a:ext uri="{FF2B5EF4-FFF2-40B4-BE49-F238E27FC236}">
                <a16:creationId xmlns:a16="http://schemas.microsoft.com/office/drawing/2014/main" id="{6CD5B236-AB22-6911-D505-3AFCE37C08B6}"/>
              </a:ext>
            </a:extLst>
          </p:cNvPr>
          <p:cNvSpPr/>
          <p:nvPr/>
        </p:nvSpPr>
        <p:spPr>
          <a:xfrm>
            <a:off x="3979321" y="5904363"/>
            <a:ext cx="4291904" cy="320040"/>
          </a:xfrm>
          <a:prstGeom prst="rect">
            <a:avLst/>
          </a:prstGeom>
          <a:noFill/>
          <a:ln/>
        </p:spPr>
        <p:txBody>
          <a:bodyPr wrap="square" lIns="254" tIns="254" rIns="254" bIns="254" rtlCol="0" anchor="t">
            <a:normAutofit/>
          </a:bodyPr>
          <a:lstStyle/>
          <a:p>
            <a:pPr marL="0" indent="0">
              <a:buNone/>
            </a:pPr>
            <a:r>
              <a:rPr lang="en-US" sz="1000" dirty="0">
                <a:solidFill>
                  <a:srgbClr val="B8BCD4"/>
                </a:solidFill>
                <a:latin typeface="Aptos" pitchFamily="34" charset="0"/>
                <a:ea typeface="Aptos" pitchFamily="34" charset="-122"/>
                <a:cs typeface="Aptos" pitchFamily="34" charset="-120"/>
              </a:rPr>
              <a:t>El punto variable del sistema queda protegido detrás de EstadoPedido.</a:t>
            </a:r>
            <a:endParaRPr lang="en-US" sz="1000" dirty="0"/>
          </a:p>
        </p:txBody>
      </p:sp>
    </p:spTree>
    <p:extLst>
      <p:ext uri="{BB962C8B-B14F-4D97-AF65-F5344CB8AC3E}">
        <p14:creationId xmlns:p14="http://schemas.microsoft.com/office/powerpoint/2010/main" val="272668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D994CA-A96A-9DC3-7FA4-9CFD614F1103}"/>
              </a:ext>
            </a:extLst>
          </p:cNvPr>
          <p:cNvSpPr>
            <a:spLocks noGrp="1"/>
          </p:cNvSpPr>
          <p:nvPr>
            <p:ph type="title"/>
          </p:nvPr>
        </p:nvSpPr>
        <p:spPr/>
        <p:txBody>
          <a:bodyPr/>
          <a:lstStyle/>
          <a:p>
            <a:r>
              <a:rPr lang="es-AR" dirty="0"/>
              <a:t>Paso 3: Crear una clase base para transiciones inválidas</a:t>
            </a:r>
          </a:p>
        </p:txBody>
      </p:sp>
      <p:sp>
        <p:nvSpPr>
          <p:cNvPr id="3" name="Marcador de contenido 2">
            <a:extLst>
              <a:ext uri="{FF2B5EF4-FFF2-40B4-BE49-F238E27FC236}">
                <a16:creationId xmlns:a16="http://schemas.microsoft.com/office/drawing/2014/main" id="{6E52A367-A011-4F53-9D19-C82FF7DC49E0}"/>
              </a:ext>
            </a:extLst>
          </p:cNvPr>
          <p:cNvSpPr>
            <a:spLocks noGrp="1"/>
          </p:cNvSpPr>
          <p:nvPr>
            <p:ph idx="1"/>
          </p:nvPr>
        </p:nvSpPr>
        <p:spPr>
          <a:xfrm>
            <a:off x="864381" y="2489200"/>
            <a:ext cx="7705877" cy="709865"/>
          </a:xfrm>
        </p:spPr>
        <p:txBody>
          <a:bodyPr/>
          <a:lstStyle/>
          <a:p>
            <a:r>
              <a:rPr lang="es-AR" dirty="0"/>
              <a:t>Los estados concretos </a:t>
            </a:r>
            <a:r>
              <a:rPr lang="es-AR" dirty="0" err="1"/>
              <a:t>sobreescriben</a:t>
            </a:r>
            <a:r>
              <a:rPr lang="es-AR" dirty="0"/>
              <a:t> solo lo que está permitido.</a:t>
            </a:r>
          </a:p>
        </p:txBody>
      </p:sp>
      <p:sp>
        <p:nvSpPr>
          <p:cNvPr id="4" name="Shape 7">
            <a:extLst>
              <a:ext uri="{FF2B5EF4-FFF2-40B4-BE49-F238E27FC236}">
                <a16:creationId xmlns:a16="http://schemas.microsoft.com/office/drawing/2014/main" id="{D6C3CCD7-5ED0-1B13-C6F0-B1ACC6D4EBBE}"/>
              </a:ext>
            </a:extLst>
          </p:cNvPr>
          <p:cNvSpPr/>
          <p:nvPr/>
        </p:nvSpPr>
        <p:spPr>
          <a:xfrm>
            <a:off x="364611" y="3273371"/>
            <a:ext cx="4117099" cy="2736009"/>
          </a:xfrm>
          <a:prstGeom prst="roundRect">
            <a:avLst>
              <a:gd name="adj" fmla="val 1020"/>
            </a:avLst>
          </a:prstGeom>
          <a:solidFill>
            <a:srgbClr val="0A0C12"/>
          </a:solidFill>
          <a:ln w="12700">
            <a:solidFill>
              <a:srgbClr val="38405F"/>
            </a:solidFill>
            <a:prstDash val="solid"/>
          </a:ln>
        </p:spPr>
        <p:txBody>
          <a:bodyPr/>
          <a:lstStyle/>
          <a:p>
            <a:endParaRPr lang="es-AR"/>
          </a:p>
        </p:txBody>
      </p:sp>
      <p:sp>
        <p:nvSpPr>
          <p:cNvPr id="5" name="Shape 8">
            <a:extLst>
              <a:ext uri="{FF2B5EF4-FFF2-40B4-BE49-F238E27FC236}">
                <a16:creationId xmlns:a16="http://schemas.microsoft.com/office/drawing/2014/main" id="{1DF9E09D-A20E-5D9E-3F60-ED2A16CF5892}"/>
              </a:ext>
            </a:extLst>
          </p:cNvPr>
          <p:cNvSpPr/>
          <p:nvPr/>
        </p:nvSpPr>
        <p:spPr>
          <a:xfrm>
            <a:off x="364611" y="3273372"/>
            <a:ext cx="4117099" cy="172579"/>
          </a:xfrm>
          <a:prstGeom prst="rect">
            <a:avLst/>
          </a:prstGeom>
          <a:solidFill>
            <a:srgbClr val="171B2B"/>
          </a:solidFill>
          <a:ln w="12700">
            <a:solidFill>
              <a:srgbClr val="171B2B">
                <a:alpha val="0"/>
              </a:srgbClr>
            </a:solidFill>
            <a:prstDash val="solid"/>
          </a:ln>
        </p:spPr>
        <p:txBody>
          <a:bodyPr/>
          <a:lstStyle/>
          <a:p>
            <a:endParaRPr lang="es-AR"/>
          </a:p>
        </p:txBody>
      </p:sp>
      <p:sp>
        <p:nvSpPr>
          <p:cNvPr id="6" name="Shape 9">
            <a:extLst>
              <a:ext uri="{FF2B5EF4-FFF2-40B4-BE49-F238E27FC236}">
                <a16:creationId xmlns:a16="http://schemas.microsoft.com/office/drawing/2014/main" id="{70B249DB-798D-AE3E-13CD-E0D33AA1C628}"/>
              </a:ext>
            </a:extLst>
          </p:cNvPr>
          <p:cNvSpPr/>
          <p:nvPr/>
        </p:nvSpPr>
        <p:spPr>
          <a:xfrm>
            <a:off x="483483" y="3378528"/>
            <a:ext cx="53995" cy="45719"/>
          </a:xfrm>
          <a:prstGeom prst="ellipse">
            <a:avLst/>
          </a:prstGeom>
          <a:solidFill>
            <a:srgbClr val="FF5C7A"/>
          </a:solidFill>
          <a:ln w="12700">
            <a:solidFill>
              <a:srgbClr val="FF5C7A">
                <a:alpha val="0"/>
              </a:srgbClr>
            </a:solidFill>
            <a:prstDash val="solid"/>
          </a:ln>
        </p:spPr>
        <p:txBody>
          <a:bodyPr/>
          <a:lstStyle/>
          <a:p>
            <a:endParaRPr lang="es-AR"/>
          </a:p>
        </p:txBody>
      </p:sp>
      <p:sp>
        <p:nvSpPr>
          <p:cNvPr id="7" name="Shape 10">
            <a:extLst>
              <a:ext uri="{FF2B5EF4-FFF2-40B4-BE49-F238E27FC236}">
                <a16:creationId xmlns:a16="http://schemas.microsoft.com/office/drawing/2014/main" id="{676F1B3E-2296-08F0-9FBD-6816ADCA4364}"/>
              </a:ext>
            </a:extLst>
          </p:cNvPr>
          <p:cNvSpPr/>
          <p:nvPr/>
        </p:nvSpPr>
        <p:spPr>
          <a:xfrm>
            <a:off x="620643" y="3378528"/>
            <a:ext cx="53995" cy="45719"/>
          </a:xfrm>
          <a:prstGeom prst="ellipse">
            <a:avLst/>
          </a:prstGeom>
          <a:solidFill>
            <a:srgbClr val="FFB86B"/>
          </a:solidFill>
          <a:ln w="12700">
            <a:solidFill>
              <a:srgbClr val="FFB86B">
                <a:alpha val="0"/>
              </a:srgbClr>
            </a:solidFill>
            <a:prstDash val="solid"/>
          </a:ln>
        </p:spPr>
        <p:txBody>
          <a:bodyPr/>
          <a:lstStyle/>
          <a:p>
            <a:endParaRPr lang="es-AR"/>
          </a:p>
        </p:txBody>
      </p:sp>
      <p:sp>
        <p:nvSpPr>
          <p:cNvPr id="8" name="Shape 11">
            <a:extLst>
              <a:ext uri="{FF2B5EF4-FFF2-40B4-BE49-F238E27FC236}">
                <a16:creationId xmlns:a16="http://schemas.microsoft.com/office/drawing/2014/main" id="{1E0B99C8-BA30-92DB-8F2E-616644C61D65}"/>
              </a:ext>
            </a:extLst>
          </p:cNvPr>
          <p:cNvSpPr/>
          <p:nvPr/>
        </p:nvSpPr>
        <p:spPr>
          <a:xfrm>
            <a:off x="757803" y="3378528"/>
            <a:ext cx="53995" cy="45719"/>
          </a:xfrm>
          <a:prstGeom prst="ellipse">
            <a:avLst/>
          </a:prstGeom>
          <a:solidFill>
            <a:srgbClr val="58D68D"/>
          </a:solidFill>
          <a:ln w="12700">
            <a:solidFill>
              <a:srgbClr val="58D68D">
                <a:alpha val="0"/>
              </a:srgbClr>
            </a:solidFill>
            <a:prstDash val="solid"/>
          </a:ln>
        </p:spPr>
        <p:txBody>
          <a:bodyPr/>
          <a:lstStyle/>
          <a:p>
            <a:endParaRPr lang="es-AR"/>
          </a:p>
        </p:txBody>
      </p:sp>
      <p:sp>
        <p:nvSpPr>
          <p:cNvPr id="9" name="Text 12">
            <a:extLst>
              <a:ext uri="{FF2B5EF4-FFF2-40B4-BE49-F238E27FC236}">
                <a16:creationId xmlns:a16="http://schemas.microsoft.com/office/drawing/2014/main" id="{9EF4CDBF-99C7-2741-61DA-3D1BBB78AAC9}"/>
              </a:ext>
            </a:extLst>
          </p:cNvPr>
          <p:cNvSpPr/>
          <p:nvPr/>
        </p:nvSpPr>
        <p:spPr>
          <a:xfrm>
            <a:off x="931539" y="3383100"/>
            <a:ext cx="3577152" cy="50759"/>
          </a:xfrm>
          <a:prstGeom prst="rect">
            <a:avLst/>
          </a:prstGeom>
          <a:noFill/>
          <a:ln/>
        </p:spPr>
        <p:txBody>
          <a:bodyPr wrap="square" lIns="0" tIns="0" rIns="0" bIns="0" rtlCol="0" anchor="ctr"/>
          <a:lstStyle/>
          <a:p>
            <a:pPr marL="0" indent="0">
              <a:buNone/>
            </a:pPr>
            <a:r>
              <a:rPr lang="en-US" sz="900" dirty="0">
                <a:solidFill>
                  <a:srgbClr val="B8BCD4"/>
                </a:solidFill>
                <a:latin typeface="Aptos" pitchFamily="34" charset="0"/>
                <a:ea typeface="Aptos" pitchFamily="34" charset="-122"/>
                <a:cs typeface="Aptos" pitchFamily="34" charset="-120"/>
              </a:rPr>
              <a:t>domain/model/state/EstadoPedidoBase.java</a:t>
            </a:r>
            <a:endParaRPr lang="en-US" sz="900" dirty="0"/>
          </a:p>
        </p:txBody>
      </p:sp>
      <p:sp>
        <p:nvSpPr>
          <p:cNvPr id="10" name="Text 13">
            <a:extLst>
              <a:ext uri="{FF2B5EF4-FFF2-40B4-BE49-F238E27FC236}">
                <a16:creationId xmlns:a16="http://schemas.microsoft.com/office/drawing/2014/main" id="{B45242A5-4111-D930-ACCB-1004428E764F}"/>
              </a:ext>
            </a:extLst>
          </p:cNvPr>
          <p:cNvSpPr/>
          <p:nvPr/>
        </p:nvSpPr>
        <p:spPr>
          <a:xfrm>
            <a:off x="529203" y="3712284"/>
            <a:ext cx="3874123" cy="2172465"/>
          </a:xfrm>
          <a:prstGeom prst="rect">
            <a:avLst/>
          </a:prstGeom>
          <a:noFill/>
          <a:ln/>
        </p:spPr>
        <p:txBody>
          <a:bodyPr wrap="square" lIns="0" tIns="0" rIns="0" bIns="0" rtlCol="0" anchor="t">
            <a:noAutofit/>
          </a:bodyPr>
          <a:lstStyle/>
          <a:p>
            <a:pPr marL="0" indent="0">
              <a:buNone/>
            </a:pPr>
            <a:r>
              <a:rPr lang="en-US" sz="900" dirty="0">
                <a:solidFill>
                  <a:srgbClr val="F4F6FF"/>
                </a:solidFill>
                <a:latin typeface="Courier New" pitchFamily="34" charset="0"/>
                <a:ea typeface="Courier New" pitchFamily="34" charset="-122"/>
                <a:cs typeface="Courier New" pitchFamily="34" charset="-120"/>
              </a:rPr>
              <a:t>public abstract class EstadoPedidoBase implements EstadoPedido {</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public void pagar(Pedido pedido)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throw new IllegalStateException(</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"No se puede pagar desde " + getNombre());</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public void preparar(Pedido pedido)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throw new IllegalStateException(</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"No se puede preparar desde " + getNombre());</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public void entregar(Pedido pedido) { ...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public void cancelar(Pedido pedido) { ...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p:txBody>
      </p:sp>
      <p:sp>
        <p:nvSpPr>
          <p:cNvPr id="11" name="Shape 14">
            <a:extLst>
              <a:ext uri="{FF2B5EF4-FFF2-40B4-BE49-F238E27FC236}">
                <a16:creationId xmlns:a16="http://schemas.microsoft.com/office/drawing/2014/main" id="{7B0F6E6E-89CD-787A-C047-689B32BE23E8}"/>
              </a:ext>
            </a:extLst>
          </p:cNvPr>
          <p:cNvSpPr/>
          <p:nvPr/>
        </p:nvSpPr>
        <p:spPr>
          <a:xfrm>
            <a:off x="4682877" y="3251864"/>
            <a:ext cx="3931920" cy="749808"/>
          </a:xfrm>
          <a:prstGeom prst="roundRect">
            <a:avLst>
              <a:gd name="adj" fmla="val 9756"/>
            </a:avLst>
          </a:prstGeom>
          <a:solidFill>
            <a:srgbClr val="242A44"/>
          </a:solidFill>
          <a:ln w="12700">
            <a:solidFill>
              <a:srgbClr val="38405F">
                <a:alpha val="85000"/>
              </a:srgbClr>
            </a:solidFill>
            <a:prstDash val="solid"/>
          </a:ln>
        </p:spPr>
        <p:txBody>
          <a:bodyPr/>
          <a:lstStyle/>
          <a:p>
            <a:endParaRPr lang="es-AR"/>
          </a:p>
        </p:txBody>
      </p:sp>
      <p:sp>
        <p:nvSpPr>
          <p:cNvPr id="12" name="Shape 15">
            <a:extLst>
              <a:ext uri="{FF2B5EF4-FFF2-40B4-BE49-F238E27FC236}">
                <a16:creationId xmlns:a16="http://schemas.microsoft.com/office/drawing/2014/main" id="{108688C1-BA97-1AC7-43CF-7FE1BB536339}"/>
              </a:ext>
            </a:extLst>
          </p:cNvPr>
          <p:cNvSpPr/>
          <p:nvPr/>
        </p:nvSpPr>
        <p:spPr>
          <a:xfrm>
            <a:off x="4682877" y="3251864"/>
            <a:ext cx="73152" cy="749808"/>
          </a:xfrm>
          <a:prstGeom prst="rect">
            <a:avLst/>
          </a:prstGeom>
          <a:solidFill>
            <a:srgbClr val="FF5C7A"/>
          </a:solidFill>
          <a:ln w="12700">
            <a:solidFill>
              <a:srgbClr val="FF5C7A">
                <a:alpha val="0"/>
              </a:srgbClr>
            </a:solidFill>
            <a:prstDash val="solid"/>
          </a:ln>
        </p:spPr>
        <p:txBody>
          <a:bodyPr/>
          <a:lstStyle/>
          <a:p>
            <a:endParaRPr lang="es-AR"/>
          </a:p>
        </p:txBody>
      </p:sp>
      <p:sp>
        <p:nvSpPr>
          <p:cNvPr id="13" name="Text 16">
            <a:extLst>
              <a:ext uri="{FF2B5EF4-FFF2-40B4-BE49-F238E27FC236}">
                <a16:creationId xmlns:a16="http://schemas.microsoft.com/office/drawing/2014/main" id="{83DBA974-3B48-CB62-1801-FDEE3246CAD8}"/>
              </a:ext>
            </a:extLst>
          </p:cNvPr>
          <p:cNvSpPr/>
          <p:nvPr/>
        </p:nvSpPr>
        <p:spPr>
          <a:xfrm>
            <a:off x="4847469" y="3389024"/>
            <a:ext cx="361188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Por defecto</a:t>
            </a:r>
            <a:endParaRPr lang="en-US" sz="1300" dirty="0"/>
          </a:p>
        </p:txBody>
      </p:sp>
      <p:sp>
        <p:nvSpPr>
          <p:cNvPr id="14" name="Text 17">
            <a:extLst>
              <a:ext uri="{FF2B5EF4-FFF2-40B4-BE49-F238E27FC236}">
                <a16:creationId xmlns:a16="http://schemas.microsoft.com/office/drawing/2014/main" id="{BA27707C-0CF2-B433-0FDC-16AF9B374622}"/>
              </a:ext>
            </a:extLst>
          </p:cNvPr>
          <p:cNvSpPr/>
          <p:nvPr/>
        </p:nvSpPr>
        <p:spPr>
          <a:xfrm>
            <a:off x="4847469" y="3727352"/>
            <a:ext cx="3611880" cy="155448"/>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todo está prohibido</a:t>
            </a:r>
            <a:endParaRPr lang="en-US" sz="950" dirty="0"/>
          </a:p>
        </p:txBody>
      </p:sp>
      <p:sp>
        <p:nvSpPr>
          <p:cNvPr id="15" name="Shape 18">
            <a:extLst>
              <a:ext uri="{FF2B5EF4-FFF2-40B4-BE49-F238E27FC236}">
                <a16:creationId xmlns:a16="http://schemas.microsoft.com/office/drawing/2014/main" id="{4F3E1292-BF80-6306-F933-ECC3E4E8EB7A}"/>
              </a:ext>
            </a:extLst>
          </p:cNvPr>
          <p:cNvSpPr/>
          <p:nvPr/>
        </p:nvSpPr>
        <p:spPr>
          <a:xfrm>
            <a:off x="6648837" y="4074824"/>
            <a:ext cx="0" cy="265176"/>
          </a:xfrm>
          <a:prstGeom prst="line">
            <a:avLst/>
          </a:prstGeom>
          <a:noFill/>
          <a:ln w="16510">
            <a:solidFill>
              <a:srgbClr val="B8BCD4"/>
            </a:solidFill>
            <a:prstDash val="solid"/>
            <a:headEnd type="none"/>
            <a:tailEnd type="triangle"/>
          </a:ln>
        </p:spPr>
        <p:txBody>
          <a:bodyPr/>
          <a:lstStyle/>
          <a:p>
            <a:endParaRPr lang="es-AR"/>
          </a:p>
        </p:txBody>
      </p:sp>
      <p:sp>
        <p:nvSpPr>
          <p:cNvPr id="16" name="Shape 19">
            <a:extLst>
              <a:ext uri="{FF2B5EF4-FFF2-40B4-BE49-F238E27FC236}">
                <a16:creationId xmlns:a16="http://schemas.microsoft.com/office/drawing/2014/main" id="{AC9643D0-EC8B-DAC1-FD6E-01DAC250AB17}"/>
              </a:ext>
            </a:extLst>
          </p:cNvPr>
          <p:cNvSpPr/>
          <p:nvPr/>
        </p:nvSpPr>
        <p:spPr>
          <a:xfrm>
            <a:off x="4682877" y="4340000"/>
            <a:ext cx="3931920" cy="749808"/>
          </a:xfrm>
          <a:prstGeom prst="roundRect">
            <a:avLst>
              <a:gd name="adj" fmla="val 9756"/>
            </a:avLst>
          </a:prstGeom>
          <a:solidFill>
            <a:srgbClr val="242A44"/>
          </a:solidFill>
          <a:ln w="12700">
            <a:solidFill>
              <a:srgbClr val="38405F">
                <a:alpha val="85000"/>
              </a:srgbClr>
            </a:solidFill>
            <a:prstDash val="solid"/>
          </a:ln>
        </p:spPr>
        <p:txBody>
          <a:bodyPr/>
          <a:lstStyle/>
          <a:p>
            <a:endParaRPr lang="es-AR"/>
          </a:p>
        </p:txBody>
      </p:sp>
      <p:sp>
        <p:nvSpPr>
          <p:cNvPr id="17" name="Shape 20">
            <a:extLst>
              <a:ext uri="{FF2B5EF4-FFF2-40B4-BE49-F238E27FC236}">
                <a16:creationId xmlns:a16="http://schemas.microsoft.com/office/drawing/2014/main" id="{ED79B439-F6E0-ECF1-8AD2-B3DCF0F42B69}"/>
              </a:ext>
            </a:extLst>
          </p:cNvPr>
          <p:cNvSpPr/>
          <p:nvPr/>
        </p:nvSpPr>
        <p:spPr>
          <a:xfrm>
            <a:off x="4682877" y="4340000"/>
            <a:ext cx="73152" cy="749808"/>
          </a:xfrm>
          <a:prstGeom prst="rect">
            <a:avLst/>
          </a:prstGeom>
          <a:solidFill>
            <a:srgbClr val="58D68D"/>
          </a:solidFill>
          <a:ln w="12700">
            <a:solidFill>
              <a:srgbClr val="58D68D">
                <a:alpha val="0"/>
              </a:srgbClr>
            </a:solidFill>
            <a:prstDash val="solid"/>
          </a:ln>
        </p:spPr>
        <p:txBody>
          <a:bodyPr/>
          <a:lstStyle/>
          <a:p>
            <a:endParaRPr lang="es-AR"/>
          </a:p>
        </p:txBody>
      </p:sp>
      <p:sp>
        <p:nvSpPr>
          <p:cNvPr id="18" name="Text 21">
            <a:extLst>
              <a:ext uri="{FF2B5EF4-FFF2-40B4-BE49-F238E27FC236}">
                <a16:creationId xmlns:a16="http://schemas.microsoft.com/office/drawing/2014/main" id="{00DC32BB-085A-9BCC-A5B8-A776BE28D89B}"/>
              </a:ext>
            </a:extLst>
          </p:cNvPr>
          <p:cNvSpPr/>
          <p:nvPr/>
        </p:nvSpPr>
        <p:spPr>
          <a:xfrm>
            <a:off x="4847469" y="4477160"/>
            <a:ext cx="361188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En cada estado</a:t>
            </a:r>
            <a:endParaRPr lang="en-US" sz="1300" dirty="0"/>
          </a:p>
        </p:txBody>
      </p:sp>
      <p:sp>
        <p:nvSpPr>
          <p:cNvPr id="19" name="Text 22">
            <a:extLst>
              <a:ext uri="{FF2B5EF4-FFF2-40B4-BE49-F238E27FC236}">
                <a16:creationId xmlns:a16="http://schemas.microsoft.com/office/drawing/2014/main" id="{1A07642E-2FD3-6C05-BB60-A3A23A52BD8E}"/>
              </a:ext>
            </a:extLst>
          </p:cNvPr>
          <p:cNvSpPr/>
          <p:nvPr/>
        </p:nvSpPr>
        <p:spPr>
          <a:xfrm>
            <a:off x="4847469" y="4815488"/>
            <a:ext cx="3611880" cy="155448"/>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se habilita lo que corresponde</a:t>
            </a:r>
            <a:endParaRPr lang="en-US" sz="950" dirty="0"/>
          </a:p>
        </p:txBody>
      </p:sp>
      <p:sp>
        <p:nvSpPr>
          <p:cNvPr id="20" name="Shape 23">
            <a:extLst>
              <a:ext uri="{FF2B5EF4-FFF2-40B4-BE49-F238E27FC236}">
                <a16:creationId xmlns:a16="http://schemas.microsoft.com/office/drawing/2014/main" id="{6F9E9B94-8E3A-5AAB-E468-B04FE56DCA0A}"/>
              </a:ext>
            </a:extLst>
          </p:cNvPr>
          <p:cNvSpPr/>
          <p:nvPr/>
        </p:nvSpPr>
        <p:spPr>
          <a:xfrm>
            <a:off x="6648837" y="5162960"/>
            <a:ext cx="0" cy="265176"/>
          </a:xfrm>
          <a:prstGeom prst="line">
            <a:avLst/>
          </a:prstGeom>
          <a:noFill/>
          <a:ln w="16510">
            <a:solidFill>
              <a:srgbClr val="B8BCD4"/>
            </a:solidFill>
            <a:prstDash val="solid"/>
            <a:headEnd type="none"/>
            <a:tailEnd type="triangle"/>
          </a:ln>
        </p:spPr>
        <p:txBody>
          <a:bodyPr/>
          <a:lstStyle/>
          <a:p>
            <a:endParaRPr lang="es-AR"/>
          </a:p>
        </p:txBody>
      </p:sp>
      <p:sp>
        <p:nvSpPr>
          <p:cNvPr id="21" name="Shape 24">
            <a:extLst>
              <a:ext uri="{FF2B5EF4-FFF2-40B4-BE49-F238E27FC236}">
                <a16:creationId xmlns:a16="http://schemas.microsoft.com/office/drawing/2014/main" id="{B6972783-B48C-B59F-F31F-A4D7B35F0337}"/>
              </a:ext>
            </a:extLst>
          </p:cNvPr>
          <p:cNvSpPr/>
          <p:nvPr/>
        </p:nvSpPr>
        <p:spPr>
          <a:xfrm>
            <a:off x="4682877" y="5428136"/>
            <a:ext cx="3931920" cy="749808"/>
          </a:xfrm>
          <a:prstGeom prst="roundRect">
            <a:avLst>
              <a:gd name="adj" fmla="val 9756"/>
            </a:avLst>
          </a:prstGeom>
          <a:solidFill>
            <a:srgbClr val="242A44"/>
          </a:solidFill>
          <a:ln w="12700">
            <a:solidFill>
              <a:srgbClr val="38405F">
                <a:alpha val="85000"/>
              </a:srgbClr>
            </a:solidFill>
            <a:prstDash val="solid"/>
          </a:ln>
        </p:spPr>
        <p:txBody>
          <a:bodyPr/>
          <a:lstStyle/>
          <a:p>
            <a:endParaRPr lang="es-AR"/>
          </a:p>
        </p:txBody>
      </p:sp>
      <p:sp>
        <p:nvSpPr>
          <p:cNvPr id="22" name="Shape 25">
            <a:extLst>
              <a:ext uri="{FF2B5EF4-FFF2-40B4-BE49-F238E27FC236}">
                <a16:creationId xmlns:a16="http://schemas.microsoft.com/office/drawing/2014/main" id="{638E14AC-FA8B-967A-D587-2DB41871D923}"/>
              </a:ext>
            </a:extLst>
          </p:cNvPr>
          <p:cNvSpPr/>
          <p:nvPr/>
        </p:nvSpPr>
        <p:spPr>
          <a:xfrm>
            <a:off x="4682877" y="5428136"/>
            <a:ext cx="73152" cy="749808"/>
          </a:xfrm>
          <a:prstGeom prst="rect">
            <a:avLst/>
          </a:prstGeom>
          <a:solidFill>
            <a:srgbClr val="35E0D4"/>
          </a:solidFill>
          <a:ln w="12700">
            <a:solidFill>
              <a:srgbClr val="35E0D4">
                <a:alpha val="0"/>
              </a:srgbClr>
            </a:solidFill>
            <a:prstDash val="solid"/>
          </a:ln>
        </p:spPr>
        <p:txBody>
          <a:bodyPr/>
          <a:lstStyle/>
          <a:p>
            <a:endParaRPr lang="es-AR"/>
          </a:p>
        </p:txBody>
      </p:sp>
      <p:sp>
        <p:nvSpPr>
          <p:cNvPr id="23" name="Text 26">
            <a:extLst>
              <a:ext uri="{FF2B5EF4-FFF2-40B4-BE49-F238E27FC236}">
                <a16:creationId xmlns:a16="http://schemas.microsoft.com/office/drawing/2014/main" id="{40AA89D8-2F90-9E39-5B9A-5CCC98F9D3DF}"/>
              </a:ext>
            </a:extLst>
          </p:cNvPr>
          <p:cNvSpPr/>
          <p:nvPr/>
        </p:nvSpPr>
        <p:spPr>
          <a:xfrm>
            <a:off x="4847469" y="5565296"/>
            <a:ext cx="361188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Resultado</a:t>
            </a:r>
            <a:endParaRPr lang="en-US" sz="1300" dirty="0"/>
          </a:p>
        </p:txBody>
      </p:sp>
      <p:sp>
        <p:nvSpPr>
          <p:cNvPr id="24" name="Text 27">
            <a:extLst>
              <a:ext uri="{FF2B5EF4-FFF2-40B4-BE49-F238E27FC236}">
                <a16:creationId xmlns:a16="http://schemas.microsoft.com/office/drawing/2014/main" id="{022A08BD-3EED-521C-BE5C-61668787AB73}"/>
              </a:ext>
            </a:extLst>
          </p:cNvPr>
          <p:cNvSpPr/>
          <p:nvPr/>
        </p:nvSpPr>
        <p:spPr>
          <a:xfrm>
            <a:off x="4847469" y="5903624"/>
            <a:ext cx="3611880" cy="155448"/>
          </a:xfrm>
          <a:prstGeom prst="rect">
            <a:avLst/>
          </a:prstGeom>
          <a:noFill/>
          <a:ln/>
        </p:spPr>
        <p:txBody>
          <a:bodyPr wrap="square" lIns="254" tIns="254" rIns="254" bIns="254" rtlCol="0" anchor="t">
            <a:normAutofit/>
          </a:bodyPr>
          <a:lstStyle/>
          <a:p>
            <a:pPr marL="0" indent="0">
              <a:buNone/>
            </a:pPr>
            <a:r>
              <a:rPr lang="en-US" sz="950" dirty="0">
                <a:solidFill>
                  <a:srgbClr val="B8BCD4"/>
                </a:solidFill>
                <a:latin typeface="Aptos" pitchFamily="34" charset="0"/>
                <a:ea typeface="Aptos" pitchFamily="34" charset="-122"/>
                <a:cs typeface="Aptos" pitchFamily="34" charset="-120"/>
              </a:rPr>
              <a:t>menos duplicación y reglas claras</a:t>
            </a:r>
            <a:endParaRPr lang="en-US" sz="950" dirty="0"/>
          </a:p>
        </p:txBody>
      </p:sp>
    </p:spTree>
    <p:extLst>
      <p:ext uri="{BB962C8B-B14F-4D97-AF65-F5344CB8AC3E}">
        <p14:creationId xmlns:p14="http://schemas.microsoft.com/office/powerpoint/2010/main" val="113258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2C66FD-2F73-3DB1-97D1-B5ECA57F01E6}"/>
              </a:ext>
            </a:extLst>
          </p:cNvPr>
          <p:cNvSpPr>
            <a:spLocks noGrp="1"/>
          </p:cNvSpPr>
          <p:nvPr>
            <p:ph type="title"/>
          </p:nvPr>
        </p:nvSpPr>
        <p:spPr/>
        <p:txBody>
          <a:bodyPr/>
          <a:lstStyle/>
          <a:p>
            <a:r>
              <a:rPr lang="es-AR" dirty="0"/>
              <a:t>Paso 4: implementar estados concretos</a:t>
            </a:r>
          </a:p>
        </p:txBody>
      </p:sp>
      <p:sp>
        <p:nvSpPr>
          <p:cNvPr id="3" name="Marcador de contenido 2">
            <a:extLst>
              <a:ext uri="{FF2B5EF4-FFF2-40B4-BE49-F238E27FC236}">
                <a16:creationId xmlns:a16="http://schemas.microsoft.com/office/drawing/2014/main" id="{364E97E8-D255-6407-EA89-B8BA81903736}"/>
              </a:ext>
            </a:extLst>
          </p:cNvPr>
          <p:cNvSpPr>
            <a:spLocks noGrp="1"/>
          </p:cNvSpPr>
          <p:nvPr>
            <p:ph idx="1"/>
          </p:nvPr>
        </p:nvSpPr>
        <p:spPr>
          <a:xfrm>
            <a:off x="864381" y="2489200"/>
            <a:ext cx="7499689" cy="709865"/>
          </a:xfrm>
        </p:spPr>
        <p:txBody>
          <a:bodyPr/>
          <a:lstStyle/>
          <a:p>
            <a:r>
              <a:rPr lang="es-AR" dirty="0"/>
              <a:t>Cada estado conoce sus transiciones válidas</a:t>
            </a:r>
          </a:p>
        </p:txBody>
      </p:sp>
      <p:sp>
        <p:nvSpPr>
          <p:cNvPr id="4" name="Shape 7">
            <a:extLst>
              <a:ext uri="{FF2B5EF4-FFF2-40B4-BE49-F238E27FC236}">
                <a16:creationId xmlns:a16="http://schemas.microsoft.com/office/drawing/2014/main" id="{1715C313-C212-189F-69AF-10AE6AF24607}"/>
              </a:ext>
            </a:extLst>
          </p:cNvPr>
          <p:cNvSpPr/>
          <p:nvPr/>
        </p:nvSpPr>
        <p:spPr>
          <a:xfrm>
            <a:off x="553122" y="3075790"/>
            <a:ext cx="4018878" cy="2580939"/>
          </a:xfrm>
          <a:prstGeom prst="roundRect">
            <a:avLst>
              <a:gd name="adj" fmla="val 1075"/>
            </a:avLst>
          </a:prstGeom>
          <a:solidFill>
            <a:srgbClr val="0A0C12"/>
          </a:solidFill>
          <a:ln w="12700">
            <a:solidFill>
              <a:srgbClr val="38405F"/>
            </a:solidFill>
            <a:prstDash val="solid"/>
          </a:ln>
        </p:spPr>
        <p:txBody>
          <a:bodyPr/>
          <a:lstStyle/>
          <a:p>
            <a:endParaRPr lang="es-AR" sz="900"/>
          </a:p>
        </p:txBody>
      </p:sp>
      <p:sp>
        <p:nvSpPr>
          <p:cNvPr id="5" name="Shape 8">
            <a:extLst>
              <a:ext uri="{FF2B5EF4-FFF2-40B4-BE49-F238E27FC236}">
                <a16:creationId xmlns:a16="http://schemas.microsoft.com/office/drawing/2014/main" id="{CF1888AF-1187-75A6-47F3-429E2CEB4022}"/>
              </a:ext>
            </a:extLst>
          </p:cNvPr>
          <p:cNvSpPr/>
          <p:nvPr/>
        </p:nvSpPr>
        <p:spPr>
          <a:xfrm>
            <a:off x="553122" y="3075790"/>
            <a:ext cx="4018878" cy="188714"/>
          </a:xfrm>
          <a:prstGeom prst="rect">
            <a:avLst/>
          </a:prstGeom>
          <a:solidFill>
            <a:srgbClr val="171B2B"/>
          </a:solidFill>
          <a:ln w="12700">
            <a:solidFill>
              <a:srgbClr val="171B2B">
                <a:alpha val="0"/>
              </a:srgbClr>
            </a:solidFill>
            <a:prstDash val="solid"/>
          </a:ln>
        </p:spPr>
        <p:txBody>
          <a:bodyPr/>
          <a:lstStyle/>
          <a:p>
            <a:endParaRPr lang="es-AR" sz="900"/>
          </a:p>
        </p:txBody>
      </p:sp>
      <p:sp>
        <p:nvSpPr>
          <p:cNvPr id="6" name="Shape 9">
            <a:extLst>
              <a:ext uri="{FF2B5EF4-FFF2-40B4-BE49-F238E27FC236}">
                <a16:creationId xmlns:a16="http://schemas.microsoft.com/office/drawing/2014/main" id="{A0A69333-0033-4E89-85FF-4CD491A531D8}"/>
              </a:ext>
            </a:extLst>
          </p:cNvPr>
          <p:cNvSpPr/>
          <p:nvPr/>
        </p:nvSpPr>
        <p:spPr>
          <a:xfrm>
            <a:off x="671994" y="3180946"/>
            <a:ext cx="56405" cy="45719"/>
          </a:xfrm>
          <a:prstGeom prst="ellipse">
            <a:avLst/>
          </a:prstGeom>
          <a:solidFill>
            <a:srgbClr val="FF5C7A"/>
          </a:solidFill>
          <a:ln w="12700">
            <a:solidFill>
              <a:srgbClr val="FF5C7A">
                <a:alpha val="0"/>
              </a:srgbClr>
            </a:solidFill>
            <a:prstDash val="solid"/>
          </a:ln>
        </p:spPr>
        <p:txBody>
          <a:bodyPr/>
          <a:lstStyle/>
          <a:p>
            <a:endParaRPr lang="es-AR" sz="900"/>
          </a:p>
        </p:txBody>
      </p:sp>
      <p:sp>
        <p:nvSpPr>
          <p:cNvPr id="7" name="Shape 10">
            <a:extLst>
              <a:ext uri="{FF2B5EF4-FFF2-40B4-BE49-F238E27FC236}">
                <a16:creationId xmlns:a16="http://schemas.microsoft.com/office/drawing/2014/main" id="{17D72233-3104-8A09-8CD9-C38528984F43}"/>
              </a:ext>
            </a:extLst>
          </p:cNvPr>
          <p:cNvSpPr/>
          <p:nvPr/>
        </p:nvSpPr>
        <p:spPr>
          <a:xfrm>
            <a:off x="809154" y="3180946"/>
            <a:ext cx="56405" cy="45719"/>
          </a:xfrm>
          <a:prstGeom prst="ellipse">
            <a:avLst/>
          </a:prstGeom>
          <a:solidFill>
            <a:srgbClr val="FFB86B"/>
          </a:solidFill>
          <a:ln w="12700">
            <a:solidFill>
              <a:srgbClr val="FFB86B">
                <a:alpha val="0"/>
              </a:srgbClr>
            </a:solidFill>
            <a:prstDash val="solid"/>
          </a:ln>
        </p:spPr>
        <p:txBody>
          <a:bodyPr/>
          <a:lstStyle/>
          <a:p>
            <a:endParaRPr lang="es-AR" sz="900"/>
          </a:p>
        </p:txBody>
      </p:sp>
      <p:sp>
        <p:nvSpPr>
          <p:cNvPr id="8" name="Shape 11">
            <a:extLst>
              <a:ext uri="{FF2B5EF4-FFF2-40B4-BE49-F238E27FC236}">
                <a16:creationId xmlns:a16="http://schemas.microsoft.com/office/drawing/2014/main" id="{E7CF165F-9849-E083-E68C-2C88B5A36B8F}"/>
              </a:ext>
            </a:extLst>
          </p:cNvPr>
          <p:cNvSpPr/>
          <p:nvPr/>
        </p:nvSpPr>
        <p:spPr>
          <a:xfrm>
            <a:off x="946314" y="3180946"/>
            <a:ext cx="56405" cy="45719"/>
          </a:xfrm>
          <a:prstGeom prst="ellipse">
            <a:avLst/>
          </a:prstGeom>
          <a:solidFill>
            <a:srgbClr val="58D68D"/>
          </a:solidFill>
          <a:ln w="12700">
            <a:solidFill>
              <a:srgbClr val="58D68D">
                <a:alpha val="0"/>
              </a:srgbClr>
            </a:solidFill>
            <a:prstDash val="solid"/>
          </a:ln>
        </p:spPr>
        <p:txBody>
          <a:bodyPr/>
          <a:lstStyle/>
          <a:p>
            <a:endParaRPr lang="es-AR" sz="900"/>
          </a:p>
        </p:txBody>
      </p:sp>
      <p:sp>
        <p:nvSpPr>
          <p:cNvPr id="9" name="Text 12">
            <a:extLst>
              <a:ext uri="{FF2B5EF4-FFF2-40B4-BE49-F238E27FC236}">
                <a16:creationId xmlns:a16="http://schemas.microsoft.com/office/drawing/2014/main" id="{64DD92D9-3F61-79A4-09CF-C5DEA8FA1942}"/>
              </a:ext>
            </a:extLst>
          </p:cNvPr>
          <p:cNvSpPr/>
          <p:nvPr/>
        </p:nvSpPr>
        <p:spPr>
          <a:xfrm>
            <a:off x="1120050" y="3185518"/>
            <a:ext cx="3454825" cy="55504"/>
          </a:xfrm>
          <a:prstGeom prst="rect">
            <a:avLst/>
          </a:prstGeom>
          <a:noFill/>
          <a:ln/>
        </p:spPr>
        <p:txBody>
          <a:bodyPr wrap="square" lIns="0" tIns="0" rIns="0" bIns="0" rtlCol="0" anchor="ctr"/>
          <a:lstStyle/>
          <a:p>
            <a:pPr marL="0" indent="0">
              <a:buNone/>
            </a:pPr>
            <a:r>
              <a:rPr lang="en-US" sz="900" dirty="0">
                <a:solidFill>
                  <a:srgbClr val="B8BCD4"/>
                </a:solidFill>
                <a:latin typeface="Aptos" pitchFamily="34" charset="0"/>
                <a:ea typeface="Aptos" pitchFamily="34" charset="-122"/>
                <a:cs typeface="Aptos" pitchFamily="34" charset="-120"/>
              </a:rPr>
              <a:t>EstadoCreado.java</a:t>
            </a:r>
            <a:endParaRPr lang="en-US" sz="900" dirty="0"/>
          </a:p>
        </p:txBody>
      </p:sp>
      <p:sp>
        <p:nvSpPr>
          <p:cNvPr id="10" name="Text 13">
            <a:extLst>
              <a:ext uri="{FF2B5EF4-FFF2-40B4-BE49-F238E27FC236}">
                <a16:creationId xmlns:a16="http://schemas.microsoft.com/office/drawing/2014/main" id="{C767CB00-2849-9771-E348-C883AE7700C0}"/>
              </a:ext>
            </a:extLst>
          </p:cNvPr>
          <p:cNvSpPr/>
          <p:nvPr/>
        </p:nvSpPr>
        <p:spPr>
          <a:xfrm>
            <a:off x="717714" y="3514702"/>
            <a:ext cx="3765054" cy="2236814"/>
          </a:xfrm>
          <a:prstGeom prst="rect">
            <a:avLst/>
          </a:prstGeom>
          <a:noFill/>
          <a:ln/>
        </p:spPr>
        <p:txBody>
          <a:bodyPr wrap="square" lIns="0" tIns="0" rIns="0" bIns="0" rtlCol="0" anchor="t">
            <a:normAutofit/>
          </a:bodyPr>
          <a:lstStyle/>
          <a:p>
            <a:pPr marL="0" indent="0">
              <a:buNone/>
            </a:pPr>
            <a:r>
              <a:rPr lang="en-US" sz="900" dirty="0">
                <a:solidFill>
                  <a:srgbClr val="F4F6FF"/>
                </a:solidFill>
                <a:latin typeface="Courier New" pitchFamily="34" charset="0"/>
                <a:ea typeface="Courier New" pitchFamily="34" charset="-122"/>
                <a:cs typeface="Courier New" pitchFamily="34" charset="-120"/>
              </a:rPr>
              <a:t>public class EstadoCreado extends EstadoPedidoBase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public String getNombre() { return "CREADO"; }</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public void pagar(Pedido pedido)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pedido.cambiarEstado(new EstadoPagado());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public void cancelar(Pedido pedido)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pedido.cambiarEstado(new EstadoCancelado());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p:txBody>
      </p:sp>
      <p:sp>
        <p:nvSpPr>
          <p:cNvPr id="11" name="Shape 14">
            <a:extLst>
              <a:ext uri="{FF2B5EF4-FFF2-40B4-BE49-F238E27FC236}">
                <a16:creationId xmlns:a16="http://schemas.microsoft.com/office/drawing/2014/main" id="{734D6E12-2B7B-BB89-121B-0FC96068F689}"/>
              </a:ext>
            </a:extLst>
          </p:cNvPr>
          <p:cNvSpPr/>
          <p:nvPr/>
        </p:nvSpPr>
        <p:spPr>
          <a:xfrm>
            <a:off x="4689331" y="3075790"/>
            <a:ext cx="4018878" cy="2580939"/>
          </a:xfrm>
          <a:prstGeom prst="roundRect">
            <a:avLst>
              <a:gd name="adj" fmla="val 1075"/>
            </a:avLst>
          </a:prstGeom>
          <a:solidFill>
            <a:srgbClr val="0A0C12"/>
          </a:solidFill>
          <a:ln w="12700">
            <a:solidFill>
              <a:srgbClr val="38405F"/>
            </a:solidFill>
            <a:prstDash val="solid"/>
          </a:ln>
        </p:spPr>
        <p:txBody>
          <a:bodyPr/>
          <a:lstStyle/>
          <a:p>
            <a:endParaRPr lang="es-AR" sz="900"/>
          </a:p>
        </p:txBody>
      </p:sp>
      <p:sp>
        <p:nvSpPr>
          <p:cNvPr id="12" name="Shape 15">
            <a:extLst>
              <a:ext uri="{FF2B5EF4-FFF2-40B4-BE49-F238E27FC236}">
                <a16:creationId xmlns:a16="http://schemas.microsoft.com/office/drawing/2014/main" id="{F7C9FAAC-62D7-0C6E-9143-3663EEEDB961}"/>
              </a:ext>
            </a:extLst>
          </p:cNvPr>
          <p:cNvSpPr/>
          <p:nvPr/>
        </p:nvSpPr>
        <p:spPr>
          <a:xfrm>
            <a:off x="4689331" y="3075790"/>
            <a:ext cx="4018878" cy="188714"/>
          </a:xfrm>
          <a:prstGeom prst="rect">
            <a:avLst/>
          </a:prstGeom>
          <a:solidFill>
            <a:srgbClr val="171B2B"/>
          </a:solidFill>
          <a:ln w="12700">
            <a:solidFill>
              <a:srgbClr val="171B2B">
                <a:alpha val="0"/>
              </a:srgbClr>
            </a:solidFill>
            <a:prstDash val="solid"/>
          </a:ln>
        </p:spPr>
        <p:txBody>
          <a:bodyPr/>
          <a:lstStyle/>
          <a:p>
            <a:endParaRPr lang="es-AR" sz="900"/>
          </a:p>
        </p:txBody>
      </p:sp>
      <p:sp>
        <p:nvSpPr>
          <p:cNvPr id="13" name="Shape 16">
            <a:extLst>
              <a:ext uri="{FF2B5EF4-FFF2-40B4-BE49-F238E27FC236}">
                <a16:creationId xmlns:a16="http://schemas.microsoft.com/office/drawing/2014/main" id="{39B5D1C1-0947-F50D-3FAA-CB1C841D6FDA}"/>
              </a:ext>
            </a:extLst>
          </p:cNvPr>
          <p:cNvSpPr/>
          <p:nvPr/>
        </p:nvSpPr>
        <p:spPr>
          <a:xfrm>
            <a:off x="4808203" y="3180946"/>
            <a:ext cx="56405" cy="45719"/>
          </a:xfrm>
          <a:prstGeom prst="ellipse">
            <a:avLst/>
          </a:prstGeom>
          <a:solidFill>
            <a:srgbClr val="FF5C7A"/>
          </a:solidFill>
          <a:ln w="12700">
            <a:solidFill>
              <a:srgbClr val="FF5C7A">
                <a:alpha val="0"/>
              </a:srgbClr>
            </a:solidFill>
            <a:prstDash val="solid"/>
          </a:ln>
        </p:spPr>
        <p:txBody>
          <a:bodyPr/>
          <a:lstStyle/>
          <a:p>
            <a:endParaRPr lang="es-AR" sz="900"/>
          </a:p>
        </p:txBody>
      </p:sp>
      <p:sp>
        <p:nvSpPr>
          <p:cNvPr id="14" name="Shape 17">
            <a:extLst>
              <a:ext uri="{FF2B5EF4-FFF2-40B4-BE49-F238E27FC236}">
                <a16:creationId xmlns:a16="http://schemas.microsoft.com/office/drawing/2014/main" id="{7628F2EE-24D6-67D7-77C6-56A758A6B033}"/>
              </a:ext>
            </a:extLst>
          </p:cNvPr>
          <p:cNvSpPr/>
          <p:nvPr/>
        </p:nvSpPr>
        <p:spPr>
          <a:xfrm>
            <a:off x="4945363" y="3180946"/>
            <a:ext cx="56405" cy="45719"/>
          </a:xfrm>
          <a:prstGeom prst="ellipse">
            <a:avLst/>
          </a:prstGeom>
          <a:solidFill>
            <a:srgbClr val="FFB86B"/>
          </a:solidFill>
          <a:ln w="12700">
            <a:solidFill>
              <a:srgbClr val="FFB86B">
                <a:alpha val="0"/>
              </a:srgbClr>
            </a:solidFill>
            <a:prstDash val="solid"/>
          </a:ln>
        </p:spPr>
        <p:txBody>
          <a:bodyPr/>
          <a:lstStyle/>
          <a:p>
            <a:endParaRPr lang="es-AR" sz="900"/>
          </a:p>
        </p:txBody>
      </p:sp>
      <p:sp>
        <p:nvSpPr>
          <p:cNvPr id="15" name="Shape 18">
            <a:extLst>
              <a:ext uri="{FF2B5EF4-FFF2-40B4-BE49-F238E27FC236}">
                <a16:creationId xmlns:a16="http://schemas.microsoft.com/office/drawing/2014/main" id="{905F939E-85C8-DE14-94B3-B30F5C7CADB7}"/>
              </a:ext>
            </a:extLst>
          </p:cNvPr>
          <p:cNvSpPr/>
          <p:nvPr/>
        </p:nvSpPr>
        <p:spPr>
          <a:xfrm>
            <a:off x="5082523" y="3180946"/>
            <a:ext cx="56405" cy="45719"/>
          </a:xfrm>
          <a:prstGeom prst="ellipse">
            <a:avLst/>
          </a:prstGeom>
          <a:solidFill>
            <a:srgbClr val="58D68D"/>
          </a:solidFill>
          <a:ln w="12700">
            <a:solidFill>
              <a:srgbClr val="58D68D">
                <a:alpha val="0"/>
              </a:srgbClr>
            </a:solidFill>
            <a:prstDash val="solid"/>
          </a:ln>
        </p:spPr>
        <p:txBody>
          <a:bodyPr/>
          <a:lstStyle/>
          <a:p>
            <a:endParaRPr lang="es-AR" sz="900"/>
          </a:p>
        </p:txBody>
      </p:sp>
      <p:sp>
        <p:nvSpPr>
          <p:cNvPr id="16" name="Text 19">
            <a:extLst>
              <a:ext uri="{FF2B5EF4-FFF2-40B4-BE49-F238E27FC236}">
                <a16:creationId xmlns:a16="http://schemas.microsoft.com/office/drawing/2014/main" id="{A0136A4B-B134-4915-85A0-5A2A789B8731}"/>
              </a:ext>
            </a:extLst>
          </p:cNvPr>
          <p:cNvSpPr/>
          <p:nvPr/>
        </p:nvSpPr>
        <p:spPr>
          <a:xfrm>
            <a:off x="5256259" y="3185518"/>
            <a:ext cx="3454825" cy="55504"/>
          </a:xfrm>
          <a:prstGeom prst="rect">
            <a:avLst/>
          </a:prstGeom>
          <a:noFill/>
          <a:ln/>
        </p:spPr>
        <p:txBody>
          <a:bodyPr wrap="square" lIns="0" tIns="0" rIns="0" bIns="0" rtlCol="0" anchor="ctr"/>
          <a:lstStyle/>
          <a:p>
            <a:pPr marL="0" indent="0">
              <a:buNone/>
            </a:pPr>
            <a:r>
              <a:rPr lang="en-US" sz="900" dirty="0">
                <a:solidFill>
                  <a:srgbClr val="B8BCD4"/>
                </a:solidFill>
                <a:latin typeface="Aptos" pitchFamily="34" charset="0"/>
                <a:ea typeface="Aptos" pitchFamily="34" charset="-122"/>
                <a:cs typeface="Aptos" pitchFamily="34" charset="-120"/>
              </a:rPr>
              <a:t>EstadoPagado.java</a:t>
            </a:r>
            <a:endParaRPr lang="en-US" sz="900" dirty="0"/>
          </a:p>
        </p:txBody>
      </p:sp>
      <p:sp>
        <p:nvSpPr>
          <p:cNvPr id="17" name="Text 20">
            <a:extLst>
              <a:ext uri="{FF2B5EF4-FFF2-40B4-BE49-F238E27FC236}">
                <a16:creationId xmlns:a16="http://schemas.microsoft.com/office/drawing/2014/main" id="{0F234B56-600C-3F9B-B18B-2402828003C8}"/>
              </a:ext>
            </a:extLst>
          </p:cNvPr>
          <p:cNvSpPr/>
          <p:nvPr/>
        </p:nvSpPr>
        <p:spPr>
          <a:xfrm>
            <a:off x="4853923" y="3514702"/>
            <a:ext cx="3765054" cy="2236814"/>
          </a:xfrm>
          <a:prstGeom prst="rect">
            <a:avLst/>
          </a:prstGeom>
          <a:noFill/>
          <a:ln/>
        </p:spPr>
        <p:txBody>
          <a:bodyPr wrap="square" lIns="0" tIns="0" rIns="0" bIns="0" rtlCol="0" anchor="t">
            <a:normAutofit/>
          </a:bodyPr>
          <a:lstStyle/>
          <a:p>
            <a:pPr marL="0" indent="0">
              <a:buNone/>
            </a:pPr>
            <a:r>
              <a:rPr lang="en-US" sz="900" dirty="0">
                <a:solidFill>
                  <a:srgbClr val="F4F6FF"/>
                </a:solidFill>
                <a:latin typeface="Courier New" pitchFamily="34" charset="0"/>
                <a:ea typeface="Courier New" pitchFamily="34" charset="-122"/>
                <a:cs typeface="Courier New" pitchFamily="34" charset="-120"/>
              </a:rPr>
              <a:t>public class EstadoPagado extends EstadoPedidoBase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public String getNombre() { return "PAGADO"; }</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public void preparar(Pedido pedido)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pedido.cambiarEstado(new EstadoPreparando());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public void cancelar(Pedido pedido)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pedido.cambiarEstado(new EstadoCancelado());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p:txBody>
      </p:sp>
    </p:spTree>
    <p:extLst>
      <p:ext uri="{BB962C8B-B14F-4D97-AF65-F5344CB8AC3E}">
        <p14:creationId xmlns:p14="http://schemas.microsoft.com/office/powerpoint/2010/main" val="1516006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18">
            <a:extLst>
              <a:ext uri="{FF2B5EF4-FFF2-40B4-BE49-F238E27FC236}">
                <a16:creationId xmlns:a16="http://schemas.microsoft.com/office/drawing/2014/main" id="{8CD99B28-DCBD-5C53-C817-29447F03C4EA}"/>
              </a:ext>
            </a:extLst>
          </p:cNvPr>
          <p:cNvSpPr/>
          <p:nvPr/>
        </p:nvSpPr>
        <p:spPr>
          <a:xfrm>
            <a:off x="6624426" y="3113981"/>
            <a:ext cx="493776" cy="0"/>
          </a:xfrm>
          <a:prstGeom prst="line">
            <a:avLst/>
          </a:prstGeom>
          <a:noFill/>
          <a:ln w="15240">
            <a:solidFill>
              <a:srgbClr val="B8BCD4"/>
            </a:solidFill>
            <a:prstDash val="solid"/>
            <a:headEnd type="none"/>
            <a:tailEnd type="triangle"/>
          </a:ln>
        </p:spPr>
        <p:txBody>
          <a:bodyPr/>
          <a:lstStyle/>
          <a:p>
            <a:endParaRPr lang="es-AR"/>
          </a:p>
        </p:txBody>
      </p:sp>
      <p:sp>
        <p:nvSpPr>
          <p:cNvPr id="2" name="Título 1">
            <a:extLst>
              <a:ext uri="{FF2B5EF4-FFF2-40B4-BE49-F238E27FC236}">
                <a16:creationId xmlns:a16="http://schemas.microsoft.com/office/drawing/2014/main" id="{046A5B72-D647-C2DF-C2F2-B3520BEB2D4E}"/>
              </a:ext>
            </a:extLst>
          </p:cNvPr>
          <p:cNvSpPr>
            <a:spLocks noGrp="1"/>
          </p:cNvSpPr>
          <p:nvPr>
            <p:ph type="title"/>
          </p:nvPr>
        </p:nvSpPr>
        <p:spPr/>
        <p:txBody>
          <a:bodyPr/>
          <a:lstStyle/>
          <a:p>
            <a:r>
              <a:rPr lang="es-AR" dirty="0"/>
              <a:t>Pedido delega el comportamiento</a:t>
            </a:r>
          </a:p>
        </p:txBody>
      </p:sp>
      <p:sp>
        <p:nvSpPr>
          <p:cNvPr id="3" name="Marcador de contenido 2">
            <a:extLst>
              <a:ext uri="{FF2B5EF4-FFF2-40B4-BE49-F238E27FC236}">
                <a16:creationId xmlns:a16="http://schemas.microsoft.com/office/drawing/2014/main" id="{06E95F59-C5CA-5596-A551-FB75D36B08F7}"/>
              </a:ext>
            </a:extLst>
          </p:cNvPr>
          <p:cNvSpPr>
            <a:spLocks noGrp="1"/>
          </p:cNvSpPr>
          <p:nvPr>
            <p:ph idx="1"/>
          </p:nvPr>
        </p:nvSpPr>
        <p:spPr>
          <a:xfrm>
            <a:off x="864382" y="2300793"/>
            <a:ext cx="7741736" cy="980289"/>
          </a:xfrm>
        </p:spPr>
        <p:txBody>
          <a:bodyPr>
            <a:normAutofit/>
          </a:bodyPr>
          <a:lstStyle/>
          <a:p>
            <a:r>
              <a:rPr lang="es-AR" sz="1600" dirty="0"/>
              <a:t>Pedido deja de validar todas las transiciones y delega en </a:t>
            </a:r>
            <a:r>
              <a:rPr lang="es-AR" sz="1600" dirty="0" err="1"/>
              <a:t>estadoActual</a:t>
            </a:r>
            <a:endParaRPr lang="es-AR" sz="1600" dirty="0"/>
          </a:p>
        </p:txBody>
      </p:sp>
      <p:sp>
        <p:nvSpPr>
          <p:cNvPr id="5" name="Shape 7">
            <a:extLst>
              <a:ext uri="{FF2B5EF4-FFF2-40B4-BE49-F238E27FC236}">
                <a16:creationId xmlns:a16="http://schemas.microsoft.com/office/drawing/2014/main" id="{24773103-F625-F44D-55A8-3781AF95F653}"/>
              </a:ext>
            </a:extLst>
          </p:cNvPr>
          <p:cNvSpPr/>
          <p:nvPr/>
        </p:nvSpPr>
        <p:spPr>
          <a:xfrm>
            <a:off x="550618" y="2768481"/>
            <a:ext cx="4251913" cy="3858768"/>
          </a:xfrm>
          <a:prstGeom prst="roundRect">
            <a:avLst>
              <a:gd name="adj" fmla="val 1000"/>
            </a:avLst>
          </a:prstGeom>
          <a:solidFill>
            <a:srgbClr val="0A0C12"/>
          </a:solidFill>
          <a:ln w="12700">
            <a:solidFill>
              <a:srgbClr val="38405F"/>
            </a:solidFill>
            <a:prstDash val="solid"/>
          </a:ln>
        </p:spPr>
        <p:txBody>
          <a:bodyPr/>
          <a:lstStyle/>
          <a:p>
            <a:endParaRPr lang="es-AR" sz="900"/>
          </a:p>
        </p:txBody>
      </p:sp>
      <p:sp>
        <p:nvSpPr>
          <p:cNvPr id="6" name="Shape 8">
            <a:extLst>
              <a:ext uri="{FF2B5EF4-FFF2-40B4-BE49-F238E27FC236}">
                <a16:creationId xmlns:a16="http://schemas.microsoft.com/office/drawing/2014/main" id="{47DEE330-D36C-7026-A755-242F13195F6B}"/>
              </a:ext>
            </a:extLst>
          </p:cNvPr>
          <p:cNvSpPr/>
          <p:nvPr/>
        </p:nvSpPr>
        <p:spPr>
          <a:xfrm>
            <a:off x="550618" y="2768481"/>
            <a:ext cx="4251913" cy="262396"/>
          </a:xfrm>
          <a:prstGeom prst="rect">
            <a:avLst/>
          </a:prstGeom>
          <a:solidFill>
            <a:srgbClr val="171B2B"/>
          </a:solidFill>
          <a:ln w="12700">
            <a:solidFill>
              <a:srgbClr val="171B2B">
                <a:alpha val="0"/>
              </a:srgbClr>
            </a:solidFill>
            <a:prstDash val="solid"/>
          </a:ln>
        </p:spPr>
        <p:txBody>
          <a:bodyPr/>
          <a:lstStyle/>
          <a:p>
            <a:endParaRPr lang="es-AR" sz="900"/>
          </a:p>
        </p:txBody>
      </p:sp>
      <p:sp>
        <p:nvSpPr>
          <p:cNvPr id="7" name="Shape 9">
            <a:extLst>
              <a:ext uri="{FF2B5EF4-FFF2-40B4-BE49-F238E27FC236}">
                <a16:creationId xmlns:a16="http://schemas.microsoft.com/office/drawing/2014/main" id="{A4D17454-E50B-D99C-4B10-4D4493FD8218}"/>
              </a:ext>
            </a:extLst>
          </p:cNvPr>
          <p:cNvSpPr/>
          <p:nvPr/>
        </p:nvSpPr>
        <p:spPr>
          <a:xfrm>
            <a:off x="669491" y="2873637"/>
            <a:ext cx="56693" cy="61740"/>
          </a:xfrm>
          <a:prstGeom prst="ellipse">
            <a:avLst/>
          </a:prstGeom>
          <a:solidFill>
            <a:srgbClr val="FF5C7A"/>
          </a:solidFill>
          <a:ln w="12700">
            <a:solidFill>
              <a:srgbClr val="FF5C7A">
                <a:alpha val="0"/>
              </a:srgbClr>
            </a:solidFill>
            <a:prstDash val="solid"/>
          </a:ln>
        </p:spPr>
        <p:txBody>
          <a:bodyPr/>
          <a:lstStyle/>
          <a:p>
            <a:endParaRPr lang="es-AR" sz="900"/>
          </a:p>
        </p:txBody>
      </p:sp>
      <p:sp>
        <p:nvSpPr>
          <p:cNvPr id="8" name="Shape 10">
            <a:extLst>
              <a:ext uri="{FF2B5EF4-FFF2-40B4-BE49-F238E27FC236}">
                <a16:creationId xmlns:a16="http://schemas.microsoft.com/office/drawing/2014/main" id="{21D8EA21-5CE9-6F1A-5FB3-B598869FF77C}"/>
              </a:ext>
            </a:extLst>
          </p:cNvPr>
          <p:cNvSpPr/>
          <p:nvPr/>
        </p:nvSpPr>
        <p:spPr>
          <a:xfrm>
            <a:off x="806651" y="2873637"/>
            <a:ext cx="56693" cy="61740"/>
          </a:xfrm>
          <a:prstGeom prst="ellipse">
            <a:avLst/>
          </a:prstGeom>
          <a:solidFill>
            <a:srgbClr val="FFB86B"/>
          </a:solidFill>
          <a:ln w="12700">
            <a:solidFill>
              <a:srgbClr val="FFB86B">
                <a:alpha val="0"/>
              </a:srgbClr>
            </a:solidFill>
            <a:prstDash val="solid"/>
          </a:ln>
        </p:spPr>
        <p:txBody>
          <a:bodyPr/>
          <a:lstStyle/>
          <a:p>
            <a:endParaRPr lang="es-AR" sz="900"/>
          </a:p>
        </p:txBody>
      </p:sp>
      <p:sp>
        <p:nvSpPr>
          <p:cNvPr id="9" name="Shape 11">
            <a:extLst>
              <a:ext uri="{FF2B5EF4-FFF2-40B4-BE49-F238E27FC236}">
                <a16:creationId xmlns:a16="http://schemas.microsoft.com/office/drawing/2014/main" id="{AF001779-A85B-0FBA-CD41-52C0F322B60A}"/>
              </a:ext>
            </a:extLst>
          </p:cNvPr>
          <p:cNvSpPr/>
          <p:nvPr/>
        </p:nvSpPr>
        <p:spPr>
          <a:xfrm>
            <a:off x="943811" y="2873637"/>
            <a:ext cx="56693" cy="61740"/>
          </a:xfrm>
          <a:prstGeom prst="ellipse">
            <a:avLst/>
          </a:prstGeom>
          <a:solidFill>
            <a:srgbClr val="58D68D"/>
          </a:solidFill>
          <a:ln w="12700">
            <a:solidFill>
              <a:srgbClr val="58D68D">
                <a:alpha val="0"/>
              </a:srgbClr>
            </a:solidFill>
            <a:prstDash val="solid"/>
          </a:ln>
        </p:spPr>
        <p:txBody>
          <a:bodyPr/>
          <a:lstStyle/>
          <a:p>
            <a:endParaRPr lang="es-AR" sz="900"/>
          </a:p>
        </p:txBody>
      </p:sp>
      <p:sp>
        <p:nvSpPr>
          <p:cNvPr id="10" name="Text 12">
            <a:extLst>
              <a:ext uri="{FF2B5EF4-FFF2-40B4-BE49-F238E27FC236}">
                <a16:creationId xmlns:a16="http://schemas.microsoft.com/office/drawing/2014/main" id="{C147AA8C-B2D7-DA8E-9889-F0A36472739E}"/>
              </a:ext>
            </a:extLst>
          </p:cNvPr>
          <p:cNvSpPr/>
          <p:nvPr/>
        </p:nvSpPr>
        <p:spPr>
          <a:xfrm>
            <a:off x="1117546" y="2878208"/>
            <a:ext cx="3684991" cy="77175"/>
          </a:xfrm>
          <a:prstGeom prst="rect">
            <a:avLst/>
          </a:prstGeom>
          <a:noFill/>
          <a:ln/>
        </p:spPr>
        <p:txBody>
          <a:bodyPr wrap="square" lIns="0" tIns="0" rIns="0" bIns="0" rtlCol="0" anchor="ctr"/>
          <a:lstStyle/>
          <a:p>
            <a:pPr marL="0" indent="0">
              <a:buNone/>
            </a:pPr>
            <a:r>
              <a:rPr lang="en-US" sz="900" dirty="0">
                <a:solidFill>
                  <a:srgbClr val="B8BCD4"/>
                </a:solidFill>
                <a:latin typeface="Aptos" pitchFamily="34" charset="0"/>
                <a:ea typeface="Aptos" pitchFamily="34" charset="-122"/>
                <a:cs typeface="Aptos" pitchFamily="34" charset="-120"/>
              </a:rPr>
              <a:t>domain/model/Pedido.java</a:t>
            </a:r>
            <a:endParaRPr lang="en-US" sz="900" dirty="0"/>
          </a:p>
        </p:txBody>
      </p:sp>
      <p:sp>
        <p:nvSpPr>
          <p:cNvPr id="11" name="Text 13">
            <a:extLst>
              <a:ext uri="{FF2B5EF4-FFF2-40B4-BE49-F238E27FC236}">
                <a16:creationId xmlns:a16="http://schemas.microsoft.com/office/drawing/2014/main" id="{DD0FA44E-F07E-E864-BCE3-61A75A113163}"/>
              </a:ext>
            </a:extLst>
          </p:cNvPr>
          <p:cNvSpPr/>
          <p:nvPr/>
        </p:nvSpPr>
        <p:spPr>
          <a:xfrm>
            <a:off x="715211" y="3207393"/>
            <a:ext cx="3996798" cy="3380281"/>
          </a:xfrm>
          <a:prstGeom prst="rect">
            <a:avLst/>
          </a:prstGeom>
          <a:noFill/>
          <a:ln/>
        </p:spPr>
        <p:txBody>
          <a:bodyPr wrap="square" lIns="0" tIns="0" rIns="0" bIns="0" rtlCol="0" anchor="t">
            <a:noAutofit/>
          </a:bodyPr>
          <a:lstStyle/>
          <a:p>
            <a:pPr marL="0" indent="0">
              <a:buNone/>
            </a:pPr>
            <a:r>
              <a:rPr lang="en-US" sz="900" dirty="0">
                <a:solidFill>
                  <a:srgbClr val="F4F6FF"/>
                </a:solidFill>
                <a:latin typeface="Courier New" pitchFamily="34" charset="0"/>
                <a:ea typeface="Courier New" pitchFamily="34" charset="-122"/>
                <a:cs typeface="Courier New" pitchFamily="34" charset="-120"/>
              </a:rPr>
              <a:t>@Transient</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private EstadoPedido estadoActual = new EstadoCreado();</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public void pagar()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estadoActual.pagar(this);</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public void preparar()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estadoActual.preparar(this);</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public void entregar()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estadoActual.entregar(this);</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public void cancelar()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estadoActual.cancelar(this);</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public void cambiarEstado(EstadoPedido nuevoEstado)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this.estadoActual = nuevoEstado;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this.estado = nuevoEstado.getNombre();</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p:txBody>
      </p:sp>
      <p:sp>
        <p:nvSpPr>
          <p:cNvPr id="12" name="Shape 14">
            <a:extLst>
              <a:ext uri="{FF2B5EF4-FFF2-40B4-BE49-F238E27FC236}">
                <a16:creationId xmlns:a16="http://schemas.microsoft.com/office/drawing/2014/main" id="{594A64C0-1D98-4733-B3B6-47543D58D1DD}"/>
              </a:ext>
            </a:extLst>
          </p:cNvPr>
          <p:cNvSpPr/>
          <p:nvPr/>
        </p:nvSpPr>
        <p:spPr>
          <a:xfrm>
            <a:off x="4965173" y="2784797"/>
            <a:ext cx="1783080" cy="658368"/>
          </a:xfrm>
          <a:prstGeom prst="roundRect">
            <a:avLst>
              <a:gd name="adj" fmla="val 11111"/>
            </a:avLst>
          </a:prstGeom>
          <a:solidFill>
            <a:srgbClr val="242A44"/>
          </a:solidFill>
          <a:ln w="12700">
            <a:solidFill>
              <a:srgbClr val="38405F">
                <a:alpha val="85000"/>
              </a:srgbClr>
            </a:solidFill>
            <a:prstDash val="solid"/>
          </a:ln>
        </p:spPr>
        <p:txBody>
          <a:bodyPr/>
          <a:lstStyle/>
          <a:p>
            <a:endParaRPr lang="es-AR"/>
          </a:p>
        </p:txBody>
      </p:sp>
      <p:sp>
        <p:nvSpPr>
          <p:cNvPr id="13" name="Shape 15">
            <a:extLst>
              <a:ext uri="{FF2B5EF4-FFF2-40B4-BE49-F238E27FC236}">
                <a16:creationId xmlns:a16="http://schemas.microsoft.com/office/drawing/2014/main" id="{F091A153-31ED-B99D-28EE-E1C6AB9CBBF4}"/>
              </a:ext>
            </a:extLst>
          </p:cNvPr>
          <p:cNvSpPr/>
          <p:nvPr/>
        </p:nvSpPr>
        <p:spPr>
          <a:xfrm>
            <a:off x="4965173" y="2784797"/>
            <a:ext cx="73152" cy="658368"/>
          </a:xfrm>
          <a:prstGeom prst="rect">
            <a:avLst/>
          </a:prstGeom>
          <a:solidFill>
            <a:srgbClr val="8A5CFF"/>
          </a:solidFill>
          <a:ln w="12700">
            <a:solidFill>
              <a:srgbClr val="8A5CFF">
                <a:alpha val="0"/>
              </a:srgbClr>
            </a:solidFill>
            <a:prstDash val="solid"/>
          </a:ln>
        </p:spPr>
        <p:txBody>
          <a:bodyPr/>
          <a:lstStyle/>
          <a:p>
            <a:endParaRPr lang="es-AR"/>
          </a:p>
        </p:txBody>
      </p:sp>
      <p:sp>
        <p:nvSpPr>
          <p:cNvPr id="14" name="Text 16">
            <a:extLst>
              <a:ext uri="{FF2B5EF4-FFF2-40B4-BE49-F238E27FC236}">
                <a16:creationId xmlns:a16="http://schemas.microsoft.com/office/drawing/2014/main" id="{5C3BE442-E169-2B7E-91DA-1B7250BB3419}"/>
              </a:ext>
            </a:extLst>
          </p:cNvPr>
          <p:cNvSpPr/>
          <p:nvPr/>
        </p:nvSpPr>
        <p:spPr>
          <a:xfrm>
            <a:off x="5129765" y="2921957"/>
            <a:ext cx="146304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UI</a:t>
            </a:r>
            <a:endParaRPr lang="en-US" sz="1300" dirty="0"/>
          </a:p>
        </p:txBody>
      </p:sp>
      <p:sp>
        <p:nvSpPr>
          <p:cNvPr id="15" name="Text 17">
            <a:extLst>
              <a:ext uri="{FF2B5EF4-FFF2-40B4-BE49-F238E27FC236}">
                <a16:creationId xmlns:a16="http://schemas.microsoft.com/office/drawing/2014/main" id="{27D81927-FE31-6923-0690-2305192CC5D9}"/>
              </a:ext>
            </a:extLst>
          </p:cNvPr>
          <p:cNvSpPr/>
          <p:nvPr/>
        </p:nvSpPr>
        <p:spPr>
          <a:xfrm>
            <a:off x="5129765" y="3223530"/>
            <a:ext cx="1545333" cy="237739"/>
          </a:xfrm>
          <a:prstGeom prst="rect">
            <a:avLst/>
          </a:prstGeom>
          <a:noFill/>
          <a:ln/>
        </p:spPr>
        <p:txBody>
          <a:bodyPr wrap="square" lIns="254" tIns="254" rIns="254" bIns="254" rtlCol="0" anchor="t">
            <a:normAutofit/>
          </a:bodyPr>
          <a:lstStyle/>
          <a:p>
            <a:pPr marL="0" indent="0">
              <a:buNone/>
            </a:pPr>
            <a:r>
              <a:rPr lang="en-US" sz="900" dirty="0">
                <a:solidFill>
                  <a:srgbClr val="B8BCD4"/>
                </a:solidFill>
                <a:latin typeface="Aptos" pitchFamily="34" charset="0"/>
                <a:ea typeface="Aptos" pitchFamily="34" charset="-122"/>
                <a:cs typeface="Aptos" pitchFamily="34" charset="-120"/>
              </a:rPr>
              <a:t>click Pagar</a:t>
            </a:r>
            <a:endParaRPr lang="en-US" sz="900" dirty="0"/>
          </a:p>
        </p:txBody>
      </p:sp>
      <p:sp>
        <p:nvSpPr>
          <p:cNvPr id="17" name="Shape 19">
            <a:extLst>
              <a:ext uri="{FF2B5EF4-FFF2-40B4-BE49-F238E27FC236}">
                <a16:creationId xmlns:a16="http://schemas.microsoft.com/office/drawing/2014/main" id="{22EFC990-6400-D596-31E6-506F467EA33F}"/>
              </a:ext>
            </a:extLst>
          </p:cNvPr>
          <p:cNvSpPr/>
          <p:nvPr/>
        </p:nvSpPr>
        <p:spPr>
          <a:xfrm>
            <a:off x="7209642" y="2784797"/>
            <a:ext cx="1783080" cy="658368"/>
          </a:xfrm>
          <a:prstGeom prst="roundRect">
            <a:avLst>
              <a:gd name="adj" fmla="val 11111"/>
            </a:avLst>
          </a:prstGeom>
          <a:solidFill>
            <a:srgbClr val="242A44"/>
          </a:solidFill>
          <a:ln w="12700">
            <a:solidFill>
              <a:srgbClr val="38405F">
                <a:alpha val="85000"/>
              </a:srgbClr>
            </a:solidFill>
            <a:prstDash val="solid"/>
          </a:ln>
        </p:spPr>
        <p:txBody>
          <a:bodyPr/>
          <a:lstStyle/>
          <a:p>
            <a:endParaRPr lang="es-AR"/>
          </a:p>
        </p:txBody>
      </p:sp>
      <p:sp>
        <p:nvSpPr>
          <p:cNvPr id="18" name="Shape 20">
            <a:extLst>
              <a:ext uri="{FF2B5EF4-FFF2-40B4-BE49-F238E27FC236}">
                <a16:creationId xmlns:a16="http://schemas.microsoft.com/office/drawing/2014/main" id="{B0D2B4B5-B19D-27E9-DEF8-2469CA59E13C}"/>
              </a:ext>
            </a:extLst>
          </p:cNvPr>
          <p:cNvSpPr/>
          <p:nvPr/>
        </p:nvSpPr>
        <p:spPr>
          <a:xfrm>
            <a:off x="7209642" y="2784797"/>
            <a:ext cx="73152" cy="658368"/>
          </a:xfrm>
          <a:prstGeom prst="rect">
            <a:avLst/>
          </a:prstGeom>
          <a:solidFill>
            <a:srgbClr val="35E0D4"/>
          </a:solidFill>
          <a:ln w="12700">
            <a:solidFill>
              <a:srgbClr val="35E0D4">
                <a:alpha val="0"/>
              </a:srgbClr>
            </a:solidFill>
            <a:prstDash val="solid"/>
          </a:ln>
        </p:spPr>
        <p:txBody>
          <a:bodyPr/>
          <a:lstStyle/>
          <a:p>
            <a:endParaRPr lang="es-AR"/>
          </a:p>
        </p:txBody>
      </p:sp>
      <p:sp>
        <p:nvSpPr>
          <p:cNvPr id="19" name="Text 21">
            <a:extLst>
              <a:ext uri="{FF2B5EF4-FFF2-40B4-BE49-F238E27FC236}">
                <a16:creationId xmlns:a16="http://schemas.microsoft.com/office/drawing/2014/main" id="{D1583465-572E-324C-4CA9-6D64BF670753}"/>
              </a:ext>
            </a:extLst>
          </p:cNvPr>
          <p:cNvSpPr/>
          <p:nvPr/>
        </p:nvSpPr>
        <p:spPr>
          <a:xfrm>
            <a:off x="7374234" y="2921957"/>
            <a:ext cx="146304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Pedido</a:t>
            </a:r>
            <a:endParaRPr lang="en-US" sz="1300" dirty="0"/>
          </a:p>
        </p:txBody>
      </p:sp>
      <p:sp>
        <p:nvSpPr>
          <p:cNvPr id="20" name="Text 22">
            <a:extLst>
              <a:ext uri="{FF2B5EF4-FFF2-40B4-BE49-F238E27FC236}">
                <a16:creationId xmlns:a16="http://schemas.microsoft.com/office/drawing/2014/main" id="{A9447EF3-FED4-1321-73B3-CE4ECBF900BA}"/>
              </a:ext>
            </a:extLst>
          </p:cNvPr>
          <p:cNvSpPr/>
          <p:nvPr/>
        </p:nvSpPr>
        <p:spPr>
          <a:xfrm>
            <a:off x="7374234" y="3214520"/>
            <a:ext cx="1463040" cy="64008"/>
          </a:xfrm>
          <a:prstGeom prst="rect">
            <a:avLst/>
          </a:prstGeom>
          <a:noFill/>
          <a:ln/>
        </p:spPr>
        <p:txBody>
          <a:bodyPr wrap="square" lIns="254" tIns="254" rIns="254" bIns="254" rtlCol="0" anchor="t">
            <a:noAutofit/>
          </a:bodyPr>
          <a:lstStyle/>
          <a:p>
            <a:pPr marL="0" indent="0">
              <a:buNone/>
            </a:pPr>
            <a:r>
              <a:rPr lang="en-US" sz="900" dirty="0">
                <a:solidFill>
                  <a:srgbClr val="B8BCD4"/>
                </a:solidFill>
                <a:latin typeface="Aptos" pitchFamily="34" charset="0"/>
                <a:ea typeface="Aptos" pitchFamily="34" charset="-122"/>
                <a:cs typeface="Aptos" pitchFamily="34" charset="-120"/>
              </a:rPr>
              <a:t>pagar()</a:t>
            </a:r>
            <a:endParaRPr lang="en-US" sz="900" dirty="0"/>
          </a:p>
        </p:txBody>
      </p:sp>
      <p:sp>
        <p:nvSpPr>
          <p:cNvPr id="21" name="Shape 23">
            <a:extLst>
              <a:ext uri="{FF2B5EF4-FFF2-40B4-BE49-F238E27FC236}">
                <a16:creationId xmlns:a16="http://schemas.microsoft.com/office/drawing/2014/main" id="{B624923B-8480-B903-9CA5-FC981271C048}"/>
              </a:ext>
            </a:extLst>
          </p:cNvPr>
          <p:cNvSpPr/>
          <p:nvPr/>
        </p:nvSpPr>
        <p:spPr>
          <a:xfrm>
            <a:off x="8096610" y="3479741"/>
            <a:ext cx="0" cy="704088"/>
          </a:xfrm>
          <a:prstGeom prst="line">
            <a:avLst/>
          </a:prstGeom>
          <a:noFill/>
          <a:ln w="15240">
            <a:solidFill>
              <a:srgbClr val="B8BCD4"/>
            </a:solidFill>
            <a:prstDash val="solid"/>
            <a:headEnd type="none"/>
            <a:tailEnd type="triangle"/>
          </a:ln>
        </p:spPr>
        <p:txBody>
          <a:bodyPr/>
          <a:lstStyle/>
          <a:p>
            <a:endParaRPr lang="es-AR"/>
          </a:p>
        </p:txBody>
      </p:sp>
      <p:sp>
        <p:nvSpPr>
          <p:cNvPr id="22" name="Shape 24">
            <a:extLst>
              <a:ext uri="{FF2B5EF4-FFF2-40B4-BE49-F238E27FC236}">
                <a16:creationId xmlns:a16="http://schemas.microsoft.com/office/drawing/2014/main" id="{5D478775-A2F2-B4F5-86A3-B6F207116844}"/>
              </a:ext>
            </a:extLst>
          </p:cNvPr>
          <p:cNvSpPr/>
          <p:nvPr/>
        </p:nvSpPr>
        <p:spPr>
          <a:xfrm>
            <a:off x="7209642" y="4275269"/>
            <a:ext cx="1783080" cy="658368"/>
          </a:xfrm>
          <a:prstGeom prst="roundRect">
            <a:avLst>
              <a:gd name="adj" fmla="val 11111"/>
            </a:avLst>
          </a:prstGeom>
          <a:solidFill>
            <a:srgbClr val="242A44"/>
          </a:solidFill>
          <a:ln w="12700">
            <a:solidFill>
              <a:srgbClr val="38405F">
                <a:alpha val="85000"/>
              </a:srgbClr>
            </a:solidFill>
            <a:prstDash val="solid"/>
          </a:ln>
        </p:spPr>
        <p:txBody>
          <a:bodyPr/>
          <a:lstStyle/>
          <a:p>
            <a:endParaRPr lang="es-AR"/>
          </a:p>
        </p:txBody>
      </p:sp>
      <p:sp>
        <p:nvSpPr>
          <p:cNvPr id="23" name="Shape 25">
            <a:extLst>
              <a:ext uri="{FF2B5EF4-FFF2-40B4-BE49-F238E27FC236}">
                <a16:creationId xmlns:a16="http://schemas.microsoft.com/office/drawing/2014/main" id="{AA3C68FE-9090-E146-9C73-9C1A511DEB07}"/>
              </a:ext>
            </a:extLst>
          </p:cNvPr>
          <p:cNvSpPr/>
          <p:nvPr/>
        </p:nvSpPr>
        <p:spPr>
          <a:xfrm>
            <a:off x="7209642" y="4275269"/>
            <a:ext cx="73152" cy="658368"/>
          </a:xfrm>
          <a:prstGeom prst="rect">
            <a:avLst/>
          </a:prstGeom>
          <a:solidFill>
            <a:srgbClr val="FFB86B"/>
          </a:solidFill>
          <a:ln w="12700">
            <a:solidFill>
              <a:srgbClr val="FFB86B">
                <a:alpha val="0"/>
              </a:srgbClr>
            </a:solidFill>
            <a:prstDash val="solid"/>
          </a:ln>
        </p:spPr>
        <p:txBody>
          <a:bodyPr/>
          <a:lstStyle/>
          <a:p>
            <a:endParaRPr lang="es-AR"/>
          </a:p>
        </p:txBody>
      </p:sp>
      <p:sp>
        <p:nvSpPr>
          <p:cNvPr id="24" name="Text 26">
            <a:extLst>
              <a:ext uri="{FF2B5EF4-FFF2-40B4-BE49-F238E27FC236}">
                <a16:creationId xmlns:a16="http://schemas.microsoft.com/office/drawing/2014/main" id="{DC81B5D0-5FE5-AB51-A0E7-E4C32FFD4E92}"/>
              </a:ext>
            </a:extLst>
          </p:cNvPr>
          <p:cNvSpPr/>
          <p:nvPr/>
        </p:nvSpPr>
        <p:spPr>
          <a:xfrm>
            <a:off x="7374234" y="4412429"/>
            <a:ext cx="146304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Estado</a:t>
            </a:r>
            <a:endParaRPr lang="en-US" sz="1300" dirty="0"/>
          </a:p>
        </p:txBody>
      </p:sp>
      <p:sp>
        <p:nvSpPr>
          <p:cNvPr id="25" name="Text 27">
            <a:extLst>
              <a:ext uri="{FF2B5EF4-FFF2-40B4-BE49-F238E27FC236}">
                <a16:creationId xmlns:a16="http://schemas.microsoft.com/office/drawing/2014/main" id="{F0C3B7BE-0607-6CE2-FDB5-6EA584FF816C}"/>
              </a:ext>
            </a:extLst>
          </p:cNvPr>
          <p:cNvSpPr/>
          <p:nvPr/>
        </p:nvSpPr>
        <p:spPr>
          <a:xfrm>
            <a:off x="7374234" y="4750757"/>
            <a:ext cx="1463040" cy="64008"/>
          </a:xfrm>
          <a:prstGeom prst="rect">
            <a:avLst/>
          </a:prstGeom>
          <a:noFill/>
          <a:ln/>
        </p:spPr>
        <p:txBody>
          <a:bodyPr wrap="square" lIns="254" tIns="254" rIns="254" bIns="254" rtlCol="0" anchor="t">
            <a:noAutofit/>
          </a:bodyPr>
          <a:lstStyle/>
          <a:p>
            <a:pPr marL="0" indent="0">
              <a:buNone/>
            </a:pPr>
            <a:r>
              <a:rPr lang="en-US" sz="900" dirty="0">
                <a:solidFill>
                  <a:srgbClr val="B8BCD4"/>
                </a:solidFill>
                <a:latin typeface="Aptos" pitchFamily="34" charset="0"/>
                <a:ea typeface="Aptos" pitchFamily="34" charset="-122"/>
                <a:cs typeface="Aptos" pitchFamily="34" charset="-120"/>
              </a:rPr>
              <a:t>pagar(this)</a:t>
            </a:r>
            <a:endParaRPr lang="en-US" sz="900" dirty="0"/>
          </a:p>
        </p:txBody>
      </p:sp>
      <p:sp>
        <p:nvSpPr>
          <p:cNvPr id="27" name="Shape 29">
            <a:extLst>
              <a:ext uri="{FF2B5EF4-FFF2-40B4-BE49-F238E27FC236}">
                <a16:creationId xmlns:a16="http://schemas.microsoft.com/office/drawing/2014/main" id="{93E5D603-FC26-B1CB-4131-EABA81031E1F}"/>
              </a:ext>
            </a:extLst>
          </p:cNvPr>
          <p:cNvSpPr/>
          <p:nvPr/>
        </p:nvSpPr>
        <p:spPr>
          <a:xfrm>
            <a:off x="4965173" y="4275269"/>
            <a:ext cx="1783080" cy="658368"/>
          </a:xfrm>
          <a:prstGeom prst="roundRect">
            <a:avLst>
              <a:gd name="adj" fmla="val 11111"/>
            </a:avLst>
          </a:prstGeom>
          <a:solidFill>
            <a:srgbClr val="242A44"/>
          </a:solidFill>
          <a:ln w="12700">
            <a:solidFill>
              <a:srgbClr val="38405F">
                <a:alpha val="85000"/>
              </a:srgbClr>
            </a:solidFill>
            <a:prstDash val="solid"/>
          </a:ln>
        </p:spPr>
        <p:txBody>
          <a:bodyPr/>
          <a:lstStyle/>
          <a:p>
            <a:endParaRPr lang="es-AR"/>
          </a:p>
        </p:txBody>
      </p:sp>
      <p:sp>
        <p:nvSpPr>
          <p:cNvPr id="28" name="Shape 30">
            <a:extLst>
              <a:ext uri="{FF2B5EF4-FFF2-40B4-BE49-F238E27FC236}">
                <a16:creationId xmlns:a16="http://schemas.microsoft.com/office/drawing/2014/main" id="{A3C8EAE1-B52B-311E-48CA-A5890901F43B}"/>
              </a:ext>
            </a:extLst>
          </p:cNvPr>
          <p:cNvSpPr/>
          <p:nvPr/>
        </p:nvSpPr>
        <p:spPr>
          <a:xfrm>
            <a:off x="4965173" y="4275269"/>
            <a:ext cx="73152" cy="658368"/>
          </a:xfrm>
          <a:prstGeom prst="rect">
            <a:avLst/>
          </a:prstGeom>
          <a:solidFill>
            <a:srgbClr val="58D68D"/>
          </a:solidFill>
          <a:ln w="12700">
            <a:solidFill>
              <a:srgbClr val="58D68D">
                <a:alpha val="0"/>
              </a:srgbClr>
            </a:solidFill>
            <a:prstDash val="solid"/>
          </a:ln>
        </p:spPr>
        <p:txBody>
          <a:bodyPr/>
          <a:lstStyle/>
          <a:p>
            <a:endParaRPr lang="es-AR"/>
          </a:p>
        </p:txBody>
      </p:sp>
      <p:sp>
        <p:nvSpPr>
          <p:cNvPr id="29" name="Text 31">
            <a:extLst>
              <a:ext uri="{FF2B5EF4-FFF2-40B4-BE49-F238E27FC236}">
                <a16:creationId xmlns:a16="http://schemas.microsoft.com/office/drawing/2014/main" id="{3A1D94D2-8964-674C-1CC8-529BDD9E4A96}"/>
              </a:ext>
            </a:extLst>
          </p:cNvPr>
          <p:cNvSpPr/>
          <p:nvPr/>
        </p:nvSpPr>
        <p:spPr>
          <a:xfrm>
            <a:off x="5129765" y="4412429"/>
            <a:ext cx="146304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Pedido</a:t>
            </a:r>
            <a:endParaRPr lang="en-US" sz="1300" dirty="0"/>
          </a:p>
        </p:txBody>
      </p:sp>
      <p:sp>
        <p:nvSpPr>
          <p:cNvPr id="30" name="Text 32">
            <a:extLst>
              <a:ext uri="{FF2B5EF4-FFF2-40B4-BE49-F238E27FC236}">
                <a16:creationId xmlns:a16="http://schemas.microsoft.com/office/drawing/2014/main" id="{03021F01-CC3C-6A28-9CCB-E8A62BC68698}"/>
              </a:ext>
            </a:extLst>
          </p:cNvPr>
          <p:cNvSpPr/>
          <p:nvPr/>
        </p:nvSpPr>
        <p:spPr>
          <a:xfrm>
            <a:off x="5129765" y="4750757"/>
            <a:ext cx="1463040" cy="64008"/>
          </a:xfrm>
          <a:prstGeom prst="rect">
            <a:avLst/>
          </a:prstGeom>
          <a:noFill/>
          <a:ln/>
        </p:spPr>
        <p:txBody>
          <a:bodyPr wrap="square" lIns="254" tIns="254" rIns="254" bIns="254" rtlCol="0" anchor="t">
            <a:noAutofit/>
          </a:bodyPr>
          <a:lstStyle/>
          <a:p>
            <a:pPr marL="0" indent="0">
              <a:buNone/>
            </a:pPr>
            <a:r>
              <a:rPr lang="en-US" sz="900" dirty="0">
                <a:solidFill>
                  <a:srgbClr val="B8BCD4"/>
                </a:solidFill>
                <a:latin typeface="Aptos" pitchFamily="34" charset="0"/>
                <a:ea typeface="Aptos" pitchFamily="34" charset="-122"/>
                <a:cs typeface="Aptos" pitchFamily="34" charset="-120"/>
              </a:rPr>
              <a:t>cambiarEstado()</a:t>
            </a:r>
            <a:endParaRPr lang="en-US" sz="900" dirty="0"/>
          </a:p>
        </p:txBody>
      </p:sp>
      <p:sp>
        <p:nvSpPr>
          <p:cNvPr id="31" name="Shape 33">
            <a:extLst>
              <a:ext uri="{FF2B5EF4-FFF2-40B4-BE49-F238E27FC236}">
                <a16:creationId xmlns:a16="http://schemas.microsoft.com/office/drawing/2014/main" id="{BA7866B6-8404-9BAC-7477-35E3B74CF0A6}"/>
              </a:ext>
            </a:extLst>
          </p:cNvPr>
          <p:cNvSpPr/>
          <p:nvPr/>
        </p:nvSpPr>
        <p:spPr>
          <a:xfrm>
            <a:off x="4892040" y="5646960"/>
            <a:ext cx="3945234" cy="980289"/>
          </a:xfrm>
          <a:prstGeom prst="roundRect">
            <a:avLst>
              <a:gd name="adj" fmla="val 10000"/>
            </a:avLst>
          </a:prstGeom>
          <a:solidFill>
            <a:srgbClr val="242A44"/>
          </a:solidFill>
          <a:ln w="12700">
            <a:solidFill>
              <a:srgbClr val="38405F">
                <a:alpha val="85000"/>
              </a:srgbClr>
            </a:solidFill>
            <a:prstDash val="solid"/>
          </a:ln>
        </p:spPr>
        <p:txBody>
          <a:bodyPr/>
          <a:lstStyle/>
          <a:p>
            <a:endParaRPr lang="es-AR"/>
          </a:p>
        </p:txBody>
      </p:sp>
      <p:sp>
        <p:nvSpPr>
          <p:cNvPr id="32" name="Shape 34">
            <a:extLst>
              <a:ext uri="{FF2B5EF4-FFF2-40B4-BE49-F238E27FC236}">
                <a16:creationId xmlns:a16="http://schemas.microsoft.com/office/drawing/2014/main" id="{FB1E24CA-1E23-77A0-997D-71668B0220DF}"/>
              </a:ext>
            </a:extLst>
          </p:cNvPr>
          <p:cNvSpPr/>
          <p:nvPr/>
        </p:nvSpPr>
        <p:spPr>
          <a:xfrm>
            <a:off x="4892040" y="5646961"/>
            <a:ext cx="90957" cy="980288"/>
          </a:xfrm>
          <a:prstGeom prst="rect">
            <a:avLst/>
          </a:prstGeom>
          <a:solidFill>
            <a:srgbClr val="63B3FF"/>
          </a:solidFill>
          <a:ln w="12700">
            <a:solidFill>
              <a:srgbClr val="63B3FF">
                <a:alpha val="0"/>
              </a:srgbClr>
            </a:solidFill>
            <a:prstDash val="solid"/>
          </a:ln>
        </p:spPr>
        <p:txBody>
          <a:bodyPr/>
          <a:lstStyle/>
          <a:p>
            <a:endParaRPr lang="es-AR"/>
          </a:p>
        </p:txBody>
      </p:sp>
      <p:sp>
        <p:nvSpPr>
          <p:cNvPr id="33" name="Text 35">
            <a:extLst>
              <a:ext uri="{FF2B5EF4-FFF2-40B4-BE49-F238E27FC236}">
                <a16:creationId xmlns:a16="http://schemas.microsoft.com/office/drawing/2014/main" id="{CA4D8EB5-E21C-F4C0-41F4-9EB0888F16A6}"/>
              </a:ext>
            </a:extLst>
          </p:cNvPr>
          <p:cNvSpPr/>
          <p:nvPr/>
        </p:nvSpPr>
        <p:spPr>
          <a:xfrm>
            <a:off x="5056632" y="5784121"/>
            <a:ext cx="3648281"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Nota</a:t>
            </a:r>
            <a:endParaRPr lang="en-US" sz="1300" dirty="0"/>
          </a:p>
        </p:txBody>
      </p:sp>
      <p:sp>
        <p:nvSpPr>
          <p:cNvPr id="34" name="Text 36">
            <a:extLst>
              <a:ext uri="{FF2B5EF4-FFF2-40B4-BE49-F238E27FC236}">
                <a16:creationId xmlns:a16="http://schemas.microsoft.com/office/drawing/2014/main" id="{187B03E8-3289-A318-146C-7F5F50AD9CA7}"/>
              </a:ext>
            </a:extLst>
          </p:cNvPr>
          <p:cNvSpPr/>
          <p:nvPr/>
        </p:nvSpPr>
        <p:spPr>
          <a:xfrm>
            <a:off x="5056632" y="6122449"/>
            <a:ext cx="3648281" cy="137160"/>
          </a:xfrm>
          <a:prstGeom prst="rect">
            <a:avLst/>
          </a:prstGeom>
          <a:noFill/>
          <a:ln/>
        </p:spPr>
        <p:txBody>
          <a:bodyPr wrap="square" lIns="254" tIns="254" rIns="254" bIns="254" rtlCol="0" anchor="t">
            <a:noAutofit/>
          </a:bodyPr>
          <a:lstStyle/>
          <a:p>
            <a:pPr marL="0" indent="0">
              <a:buNone/>
            </a:pPr>
            <a:r>
              <a:rPr lang="en-US" sz="1200" dirty="0">
                <a:solidFill>
                  <a:srgbClr val="B8BCD4"/>
                </a:solidFill>
                <a:latin typeface="Aptos" pitchFamily="34" charset="0"/>
                <a:ea typeface="Aptos" pitchFamily="34" charset="-122"/>
                <a:cs typeface="Aptos" pitchFamily="34" charset="-120"/>
              </a:rPr>
              <a:t>El contexto conserva datos del pedido; el State decide la transición.</a:t>
            </a:r>
            <a:endParaRPr lang="en-US" sz="1200" dirty="0"/>
          </a:p>
        </p:txBody>
      </p:sp>
      <p:sp>
        <p:nvSpPr>
          <p:cNvPr id="36" name="Shape 23">
            <a:extLst>
              <a:ext uri="{FF2B5EF4-FFF2-40B4-BE49-F238E27FC236}">
                <a16:creationId xmlns:a16="http://schemas.microsoft.com/office/drawing/2014/main" id="{78ED9FE7-EC2C-7C93-DFEF-836FA3D4B55F}"/>
              </a:ext>
            </a:extLst>
          </p:cNvPr>
          <p:cNvSpPr/>
          <p:nvPr/>
        </p:nvSpPr>
        <p:spPr>
          <a:xfrm flipH="1">
            <a:off x="6820195" y="4650173"/>
            <a:ext cx="369949" cy="0"/>
          </a:xfrm>
          <a:prstGeom prst="line">
            <a:avLst/>
          </a:prstGeom>
          <a:noFill/>
          <a:ln w="15240">
            <a:solidFill>
              <a:srgbClr val="B8BCD4"/>
            </a:solidFill>
            <a:prstDash val="solid"/>
            <a:headEnd type="none"/>
            <a:tailEnd type="triangle"/>
          </a:ln>
        </p:spPr>
        <p:txBody>
          <a:bodyPr/>
          <a:lstStyle/>
          <a:p>
            <a:endParaRPr lang="es-AR"/>
          </a:p>
        </p:txBody>
      </p:sp>
    </p:spTree>
    <p:extLst>
      <p:ext uri="{BB962C8B-B14F-4D97-AF65-F5344CB8AC3E}">
        <p14:creationId xmlns:p14="http://schemas.microsoft.com/office/powerpoint/2010/main" val="2294398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 18">
            <a:extLst>
              <a:ext uri="{FF2B5EF4-FFF2-40B4-BE49-F238E27FC236}">
                <a16:creationId xmlns:a16="http://schemas.microsoft.com/office/drawing/2014/main" id="{2B2144D5-1D1E-04FC-E6A7-40D05E5DDF57}"/>
              </a:ext>
            </a:extLst>
          </p:cNvPr>
          <p:cNvSpPr/>
          <p:nvPr/>
        </p:nvSpPr>
        <p:spPr>
          <a:xfrm>
            <a:off x="6715055" y="3500150"/>
            <a:ext cx="0" cy="548640"/>
          </a:xfrm>
          <a:prstGeom prst="line">
            <a:avLst/>
          </a:prstGeom>
          <a:noFill/>
          <a:ln w="15240">
            <a:solidFill>
              <a:srgbClr val="B8BCD4"/>
            </a:solidFill>
            <a:prstDash val="solid"/>
            <a:headEnd type="none"/>
            <a:tailEnd type="triangle"/>
          </a:ln>
        </p:spPr>
        <p:txBody>
          <a:bodyPr/>
          <a:lstStyle/>
          <a:p>
            <a:endParaRPr lang="es-AR"/>
          </a:p>
        </p:txBody>
      </p:sp>
      <p:sp>
        <p:nvSpPr>
          <p:cNvPr id="20" name="Shape 23">
            <a:extLst>
              <a:ext uri="{FF2B5EF4-FFF2-40B4-BE49-F238E27FC236}">
                <a16:creationId xmlns:a16="http://schemas.microsoft.com/office/drawing/2014/main" id="{4A0E520D-9AF6-EDEA-06FE-0C40D3486DBA}"/>
              </a:ext>
            </a:extLst>
          </p:cNvPr>
          <p:cNvSpPr/>
          <p:nvPr/>
        </p:nvSpPr>
        <p:spPr>
          <a:xfrm>
            <a:off x="6715054" y="4464992"/>
            <a:ext cx="9455" cy="548640"/>
          </a:xfrm>
          <a:prstGeom prst="line">
            <a:avLst/>
          </a:prstGeom>
          <a:noFill/>
          <a:ln w="15240">
            <a:solidFill>
              <a:srgbClr val="B8BCD4"/>
            </a:solidFill>
            <a:prstDash val="solid"/>
            <a:headEnd type="none"/>
            <a:tailEnd type="triangle"/>
          </a:ln>
        </p:spPr>
        <p:txBody>
          <a:bodyPr/>
          <a:lstStyle/>
          <a:p>
            <a:endParaRPr lang="es-AR"/>
          </a:p>
        </p:txBody>
      </p:sp>
      <p:sp>
        <p:nvSpPr>
          <p:cNvPr id="25" name="Shape 28">
            <a:extLst>
              <a:ext uri="{FF2B5EF4-FFF2-40B4-BE49-F238E27FC236}">
                <a16:creationId xmlns:a16="http://schemas.microsoft.com/office/drawing/2014/main" id="{DF50941C-4D41-39B0-F5B8-ED00872106F7}"/>
              </a:ext>
            </a:extLst>
          </p:cNvPr>
          <p:cNvSpPr/>
          <p:nvPr/>
        </p:nvSpPr>
        <p:spPr>
          <a:xfrm flipH="1">
            <a:off x="6724509" y="5489120"/>
            <a:ext cx="1" cy="489354"/>
          </a:xfrm>
          <a:prstGeom prst="line">
            <a:avLst/>
          </a:prstGeom>
          <a:noFill/>
          <a:ln w="15240">
            <a:solidFill>
              <a:srgbClr val="B8BCD4"/>
            </a:solidFill>
            <a:prstDash val="solid"/>
            <a:headEnd type="none"/>
            <a:tailEnd type="triangle"/>
          </a:ln>
        </p:spPr>
        <p:txBody>
          <a:bodyPr/>
          <a:lstStyle/>
          <a:p>
            <a:endParaRPr lang="es-AR"/>
          </a:p>
        </p:txBody>
      </p:sp>
      <p:sp>
        <p:nvSpPr>
          <p:cNvPr id="2" name="Título 1">
            <a:extLst>
              <a:ext uri="{FF2B5EF4-FFF2-40B4-BE49-F238E27FC236}">
                <a16:creationId xmlns:a16="http://schemas.microsoft.com/office/drawing/2014/main" id="{032BFBBA-66FB-73C7-5F1D-C6BF9B915662}"/>
              </a:ext>
            </a:extLst>
          </p:cNvPr>
          <p:cNvSpPr>
            <a:spLocks noGrp="1"/>
          </p:cNvSpPr>
          <p:nvPr>
            <p:ph type="title"/>
          </p:nvPr>
        </p:nvSpPr>
        <p:spPr/>
        <p:txBody>
          <a:bodyPr/>
          <a:lstStyle/>
          <a:p>
            <a:r>
              <a:rPr lang="es-AR" dirty="0"/>
              <a:t>El </a:t>
            </a:r>
            <a:r>
              <a:rPr lang="es-AR" dirty="0" err="1"/>
              <a:t>service</a:t>
            </a:r>
            <a:r>
              <a:rPr lang="es-AR" dirty="0"/>
              <a:t> orquesta el caso de uso</a:t>
            </a:r>
          </a:p>
        </p:txBody>
      </p:sp>
      <p:sp>
        <p:nvSpPr>
          <p:cNvPr id="3" name="Marcador de contenido 2">
            <a:extLst>
              <a:ext uri="{FF2B5EF4-FFF2-40B4-BE49-F238E27FC236}">
                <a16:creationId xmlns:a16="http://schemas.microsoft.com/office/drawing/2014/main" id="{8F3BC80B-CFC8-1524-3879-D12F923351BB}"/>
              </a:ext>
            </a:extLst>
          </p:cNvPr>
          <p:cNvSpPr>
            <a:spLocks noGrp="1"/>
          </p:cNvSpPr>
          <p:nvPr>
            <p:ph idx="1"/>
          </p:nvPr>
        </p:nvSpPr>
        <p:spPr>
          <a:xfrm>
            <a:off x="864382" y="2489200"/>
            <a:ext cx="7445900" cy="818776"/>
          </a:xfrm>
        </p:spPr>
        <p:txBody>
          <a:bodyPr/>
          <a:lstStyle/>
          <a:p>
            <a:r>
              <a:rPr lang="es-AR" dirty="0"/>
              <a:t>La capa de aplicación no conoce las reglas internas del estado</a:t>
            </a:r>
          </a:p>
        </p:txBody>
      </p:sp>
      <p:sp>
        <p:nvSpPr>
          <p:cNvPr id="4" name="Shape 7">
            <a:extLst>
              <a:ext uri="{FF2B5EF4-FFF2-40B4-BE49-F238E27FC236}">
                <a16:creationId xmlns:a16="http://schemas.microsoft.com/office/drawing/2014/main" id="{1211FAEE-0979-69B4-8986-7678FE06DDA7}"/>
              </a:ext>
            </a:extLst>
          </p:cNvPr>
          <p:cNvSpPr/>
          <p:nvPr/>
        </p:nvSpPr>
        <p:spPr>
          <a:xfrm>
            <a:off x="589667" y="3307976"/>
            <a:ext cx="3760693" cy="3026664"/>
          </a:xfrm>
          <a:prstGeom prst="roundRect">
            <a:avLst>
              <a:gd name="adj" fmla="val 1064"/>
            </a:avLst>
          </a:prstGeom>
          <a:solidFill>
            <a:srgbClr val="0A0C12"/>
          </a:solidFill>
          <a:ln w="12700">
            <a:solidFill>
              <a:srgbClr val="38405F"/>
            </a:solidFill>
            <a:prstDash val="solid"/>
          </a:ln>
        </p:spPr>
        <p:txBody>
          <a:bodyPr/>
          <a:lstStyle/>
          <a:p>
            <a:endParaRPr lang="es-AR" sz="900"/>
          </a:p>
        </p:txBody>
      </p:sp>
      <p:sp>
        <p:nvSpPr>
          <p:cNvPr id="5" name="Shape 8">
            <a:extLst>
              <a:ext uri="{FF2B5EF4-FFF2-40B4-BE49-F238E27FC236}">
                <a16:creationId xmlns:a16="http://schemas.microsoft.com/office/drawing/2014/main" id="{9E5A1F2C-1633-09DF-FDE8-927827C5A38A}"/>
              </a:ext>
            </a:extLst>
          </p:cNvPr>
          <p:cNvSpPr/>
          <p:nvPr/>
        </p:nvSpPr>
        <p:spPr>
          <a:xfrm>
            <a:off x="589667" y="3307976"/>
            <a:ext cx="3760693" cy="218950"/>
          </a:xfrm>
          <a:prstGeom prst="rect">
            <a:avLst/>
          </a:prstGeom>
          <a:solidFill>
            <a:srgbClr val="171B2B"/>
          </a:solidFill>
          <a:ln w="12700">
            <a:solidFill>
              <a:srgbClr val="171B2B">
                <a:alpha val="0"/>
              </a:srgbClr>
            </a:solidFill>
            <a:prstDash val="solid"/>
          </a:ln>
        </p:spPr>
        <p:txBody>
          <a:bodyPr/>
          <a:lstStyle/>
          <a:p>
            <a:endParaRPr lang="es-AR" sz="900"/>
          </a:p>
        </p:txBody>
      </p:sp>
      <p:sp>
        <p:nvSpPr>
          <p:cNvPr id="6" name="Shape 9">
            <a:extLst>
              <a:ext uri="{FF2B5EF4-FFF2-40B4-BE49-F238E27FC236}">
                <a16:creationId xmlns:a16="http://schemas.microsoft.com/office/drawing/2014/main" id="{EEB2B009-C24B-B311-B9C1-9A03A025914D}"/>
              </a:ext>
            </a:extLst>
          </p:cNvPr>
          <p:cNvSpPr/>
          <p:nvPr/>
        </p:nvSpPr>
        <p:spPr>
          <a:xfrm>
            <a:off x="708540" y="3413132"/>
            <a:ext cx="49320" cy="52183"/>
          </a:xfrm>
          <a:prstGeom prst="ellipse">
            <a:avLst/>
          </a:prstGeom>
          <a:solidFill>
            <a:srgbClr val="FF5C7A"/>
          </a:solidFill>
          <a:ln w="12700">
            <a:solidFill>
              <a:srgbClr val="FF5C7A">
                <a:alpha val="0"/>
              </a:srgbClr>
            </a:solidFill>
            <a:prstDash val="solid"/>
          </a:ln>
        </p:spPr>
        <p:txBody>
          <a:bodyPr/>
          <a:lstStyle/>
          <a:p>
            <a:endParaRPr lang="es-AR" sz="900"/>
          </a:p>
        </p:txBody>
      </p:sp>
      <p:sp>
        <p:nvSpPr>
          <p:cNvPr id="7" name="Shape 10">
            <a:extLst>
              <a:ext uri="{FF2B5EF4-FFF2-40B4-BE49-F238E27FC236}">
                <a16:creationId xmlns:a16="http://schemas.microsoft.com/office/drawing/2014/main" id="{5F5D96F4-B6A1-CF16-EA88-A2B2AE1309C6}"/>
              </a:ext>
            </a:extLst>
          </p:cNvPr>
          <p:cNvSpPr/>
          <p:nvPr/>
        </p:nvSpPr>
        <p:spPr>
          <a:xfrm>
            <a:off x="845700" y="3413132"/>
            <a:ext cx="49320" cy="52183"/>
          </a:xfrm>
          <a:prstGeom prst="ellipse">
            <a:avLst/>
          </a:prstGeom>
          <a:solidFill>
            <a:srgbClr val="FFB86B"/>
          </a:solidFill>
          <a:ln w="12700">
            <a:solidFill>
              <a:srgbClr val="FFB86B">
                <a:alpha val="0"/>
              </a:srgbClr>
            </a:solidFill>
            <a:prstDash val="solid"/>
          </a:ln>
        </p:spPr>
        <p:txBody>
          <a:bodyPr/>
          <a:lstStyle/>
          <a:p>
            <a:endParaRPr lang="es-AR" sz="900"/>
          </a:p>
        </p:txBody>
      </p:sp>
      <p:sp>
        <p:nvSpPr>
          <p:cNvPr id="8" name="Shape 11">
            <a:extLst>
              <a:ext uri="{FF2B5EF4-FFF2-40B4-BE49-F238E27FC236}">
                <a16:creationId xmlns:a16="http://schemas.microsoft.com/office/drawing/2014/main" id="{9B818CA4-7280-9E64-FF0F-E66ABA9B8D06}"/>
              </a:ext>
            </a:extLst>
          </p:cNvPr>
          <p:cNvSpPr/>
          <p:nvPr/>
        </p:nvSpPr>
        <p:spPr>
          <a:xfrm>
            <a:off x="982860" y="3413132"/>
            <a:ext cx="49320" cy="52183"/>
          </a:xfrm>
          <a:prstGeom prst="ellipse">
            <a:avLst/>
          </a:prstGeom>
          <a:solidFill>
            <a:srgbClr val="58D68D"/>
          </a:solidFill>
          <a:ln w="12700">
            <a:solidFill>
              <a:srgbClr val="58D68D">
                <a:alpha val="0"/>
              </a:srgbClr>
            </a:solidFill>
            <a:prstDash val="solid"/>
          </a:ln>
        </p:spPr>
        <p:txBody>
          <a:bodyPr/>
          <a:lstStyle/>
          <a:p>
            <a:endParaRPr lang="es-AR" sz="900"/>
          </a:p>
        </p:txBody>
      </p:sp>
      <p:sp>
        <p:nvSpPr>
          <p:cNvPr id="9" name="Text 12">
            <a:extLst>
              <a:ext uri="{FF2B5EF4-FFF2-40B4-BE49-F238E27FC236}">
                <a16:creationId xmlns:a16="http://schemas.microsoft.com/office/drawing/2014/main" id="{BC800596-C572-F9FD-D309-794B21B7C86C}"/>
              </a:ext>
            </a:extLst>
          </p:cNvPr>
          <p:cNvSpPr/>
          <p:nvPr/>
        </p:nvSpPr>
        <p:spPr>
          <a:xfrm>
            <a:off x="1156595" y="3417703"/>
            <a:ext cx="3267487" cy="64397"/>
          </a:xfrm>
          <a:prstGeom prst="rect">
            <a:avLst/>
          </a:prstGeom>
          <a:noFill/>
          <a:ln/>
        </p:spPr>
        <p:txBody>
          <a:bodyPr wrap="square" lIns="0" tIns="0" rIns="0" bIns="0" rtlCol="0" anchor="ctr"/>
          <a:lstStyle/>
          <a:p>
            <a:pPr marL="0" indent="0">
              <a:buNone/>
            </a:pPr>
            <a:r>
              <a:rPr lang="en-US" sz="900" dirty="0">
                <a:solidFill>
                  <a:srgbClr val="B8BCD4"/>
                </a:solidFill>
                <a:latin typeface="Aptos" pitchFamily="34" charset="0"/>
                <a:ea typeface="Aptos" pitchFamily="34" charset="-122"/>
                <a:cs typeface="Aptos" pitchFamily="34" charset="-120"/>
              </a:rPr>
              <a:t>application/usecase/MagicCafeService.java</a:t>
            </a:r>
            <a:endParaRPr lang="en-US" sz="900" dirty="0"/>
          </a:p>
        </p:txBody>
      </p:sp>
      <p:sp>
        <p:nvSpPr>
          <p:cNvPr id="10" name="Text 13">
            <a:extLst>
              <a:ext uri="{FF2B5EF4-FFF2-40B4-BE49-F238E27FC236}">
                <a16:creationId xmlns:a16="http://schemas.microsoft.com/office/drawing/2014/main" id="{866DB4D5-E717-A495-5DB0-220EAFB75E8D}"/>
              </a:ext>
            </a:extLst>
          </p:cNvPr>
          <p:cNvSpPr/>
          <p:nvPr/>
        </p:nvSpPr>
        <p:spPr>
          <a:xfrm>
            <a:off x="754260" y="3746888"/>
            <a:ext cx="3538750" cy="2627402"/>
          </a:xfrm>
          <a:prstGeom prst="rect">
            <a:avLst/>
          </a:prstGeom>
          <a:noFill/>
          <a:ln/>
        </p:spPr>
        <p:txBody>
          <a:bodyPr wrap="square" lIns="0" tIns="0" rIns="0" bIns="0" rtlCol="0" anchor="t">
            <a:noAutofit/>
          </a:bodyPr>
          <a:lstStyle/>
          <a:p>
            <a:pPr marL="0" indent="0">
              <a:buNone/>
            </a:pPr>
            <a:r>
              <a:rPr lang="en-US" sz="900" dirty="0">
                <a:solidFill>
                  <a:srgbClr val="F4F6FF"/>
                </a:solidFill>
                <a:latin typeface="Courier New" pitchFamily="34" charset="0"/>
                <a:ea typeface="Courier New" pitchFamily="34" charset="-122"/>
                <a:cs typeface="Courier New" pitchFamily="34" charset="-120"/>
              </a:rPr>
              <a:t>public void pagarPedido(Long pedidoId)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 pedido = buscarPedido(pedidoId);</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pedido.pagar();</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pedidoRepository.save(pedido);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public void prepararPedido(Long pedidoId)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 pedido = buscarPedido(pedidoId);</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pedido.preparar();</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pedidoRepository.save(pedido);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public void cancelarPedido(Long pedidoId)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 pedido = buscarPedido(pedidoId);</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pedido.cancelar();</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pedidoRepository.save(pedido);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p:txBody>
      </p:sp>
      <p:sp>
        <p:nvSpPr>
          <p:cNvPr id="11" name="Shape 14">
            <a:extLst>
              <a:ext uri="{FF2B5EF4-FFF2-40B4-BE49-F238E27FC236}">
                <a16:creationId xmlns:a16="http://schemas.microsoft.com/office/drawing/2014/main" id="{0278F25D-1F2F-2039-AF2D-7EFC0EA728B3}"/>
              </a:ext>
            </a:extLst>
          </p:cNvPr>
          <p:cNvSpPr/>
          <p:nvPr/>
        </p:nvSpPr>
        <p:spPr>
          <a:xfrm>
            <a:off x="4611935" y="3083948"/>
            <a:ext cx="4206240" cy="754020"/>
          </a:xfrm>
          <a:prstGeom prst="roundRect">
            <a:avLst>
              <a:gd name="adj" fmla="val 11111"/>
            </a:avLst>
          </a:prstGeom>
          <a:solidFill>
            <a:srgbClr val="242A44"/>
          </a:solidFill>
          <a:ln w="12700">
            <a:solidFill>
              <a:srgbClr val="38405F">
                <a:alpha val="85000"/>
              </a:srgbClr>
            </a:solidFill>
            <a:prstDash val="solid"/>
          </a:ln>
        </p:spPr>
        <p:txBody>
          <a:bodyPr/>
          <a:lstStyle/>
          <a:p>
            <a:endParaRPr lang="es-AR"/>
          </a:p>
        </p:txBody>
      </p:sp>
      <p:sp>
        <p:nvSpPr>
          <p:cNvPr id="12" name="Shape 15">
            <a:extLst>
              <a:ext uri="{FF2B5EF4-FFF2-40B4-BE49-F238E27FC236}">
                <a16:creationId xmlns:a16="http://schemas.microsoft.com/office/drawing/2014/main" id="{B4D499B7-3762-785C-34BA-996D2B11A77D}"/>
              </a:ext>
            </a:extLst>
          </p:cNvPr>
          <p:cNvSpPr/>
          <p:nvPr/>
        </p:nvSpPr>
        <p:spPr>
          <a:xfrm>
            <a:off x="4611935" y="3083948"/>
            <a:ext cx="73152" cy="754020"/>
          </a:xfrm>
          <a:prstGeom prst="rect">
            <a:avLst/>
          </a:prstGeom>
          <a:solidFill>
            <a:srgbClr val="8A5CFF"/>
          </a:solidFill>
          <a:ln w="12700">
            <a:solidFill>
              <a:srgbClr val="8A5CFF">
                <a:alpha val="0"/>
              </a:srgbClr>
            </a:solidFill>
            <a:prstDash val="solid"/>
          </a:ln>
        </p:spPr>
        <p:txBody>
          <a:bodyPr/>
          <a:lstStyle/>
          <a:p>
            <a:endParaRPr lang="es-AR"/>
          </a:p>
        </p:txBody>
      </p:sp>
      <p:sp>
        <p:nvSpPr>
          <p:cNvPr id="13" name="Text 16">
            <a:extLst>
              <a:ext uri="{FF2B5EF4-FFF2-40B4-BE49-F238E27FC236}">
                <a16:creationId xmlns:a16="http://schemas.microsoft.com/office/drawing/2014/main" id="{32C6BA37-3715-AA41-76FD-9FB88439E248}"/>
              </a:ext>
            </a:extLst>
          </p:cNvPr>
          <p:cNvSpPr/>
          <p:nvPr/>
        </p:nvSpPr>
        <p:spPr>
          <a:xfrm>
            <a:off x="4776527" y="3221108"/>
            <a:ext cx="388620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Presentation</a:t>
            </a:r>
            <a:endParaRPr lang="en-US" sz="1300" dirty="0"/>
          </a:p>
        </p:txBody>
      </p:sp>
      <p:sp>
        <p:nvSpPr>
          <p:cNvPr id="14" name="Text 17">
            <a:extLst>
              <a:ext uri="{FF2B5EF4-FFF2-40B4-BE49-F238E27FC236}">
                <a16:creationId xmlns:a16="http://schemas.microsoft.com/office/drawing/2014/main" id="{3FDC1DC6-EC9F-592B-7CE1-05DF4B264800}"/>
              </a:ext>
            </a:extLst>
          </p:cNvPr>
          <p:cNvSpPr/>
          <p:nvPr/>
        </p:nvSpPr>
        <p:spPr>
          <a:xfrm>
            <a:off x="4776527" y="3559436"/>
            <a:ext cx="3886200" cy="64008"/>
          </a:xfrm>
          <a:prstGeom prst="rect">
            <a:avLst/>
          </a:prstGeom>
          <a:noFill/>
          <a:ln/>
        </p:spPr>
        <p:txBody>
          <a:bodyPr wrap="square" lIns="254" tIns="254" rIns="254" bIns="254" rtlCol="0" anchor="t">
            <a:noAutofit/>
          </a:bodyPr>
          <a:lstStyle/>
          <a:p>
            <a:pPr marL="0" indent="0">
              <a:buNone/>
            </a:pPr>
            <a:r>
              <a:rPr lang="en-US" sz="1200" dirty="0">
                <a:solidFill>
                  <a:srgbClr val="B8BCD4"/>
                </a:solidFill>
                <a:latin typeface="Aptos" pitchFamily="34" charset="0"/>
                <a:ea typeface="Aptos" pitchFamily="34" charset="-122"/>
                <a:cs typeface="Aptos" pitchFamily="34" charset="-120"/>
              </a:rPr>
              <a:t>Swing UI / Controller</a:t>
            </a:r>
            <a:endParaRPr lang="en-US" sz="1200" dirty="0"/>
          </a:p>
        </p:txBody>
      </p:sp>
      <p:sp>
        <p:nvSpPr>
          <p:cNvPr id="16" name="Shape 19">
            <a:extLst>
              <a:ext uri="{FF2B5EF4-FFF2-40B4-BE49-F238E27FC236}">
                <a16:creationId xmlns:a16="http://schemas.microsoft.com/office/drawing/2014/main" id="{91081086-8326-711E-9656-3923E9D6AE01}"/>
              </a:ext>
            </a:extLst>
          </p:cNvPr>
          <p:cNvSpPr/>
          <p:nvPr/>
        </p:nvSpPr>
        <p:spPr>
          <a:xfrm>
            <a:off x="4611935" y="4048790"/>
            <a:ext cx="4206240" cy="754020"/>
          </a:xfrm>
          <a:prstGeom prst="roundRect">
            <a:avLst>
              <a:gd name="adj" fmla="val 11111"/>
            </a:avLst>
          </a:prstGeom>
          <a:solidFill>
            <a:srgbClr val="242A44"/>
          </a:solidFill>
          <a:ln w="12700">
            <a:solidFill>
              <a:srgbClr val="38405F">
                <a:alpha val="85000"/>
              </a:srgbClr>
            </a:solidFill>
            <a:prstDash val="solid"/>
          </a:ln>
        </p:spPr>
        <p:txBody>
          <a:bodyPr/>
          <a:lstStyle/>
          <a:p>
            <a:endParaRPr lang="es-AR"/>
          </a:p>
        </p:txBody>
      </p:sp>
      <p:sp>
        <p:nvSpPr>
          <p:cNvPr id="17" name="Shape 20">
            <a:extLst>
              <a:ext uri="{FF2B5EF4-FFF2-40B4-BE49-F238E27FC236}">
                <a16:creationId xmlns:a16="http://schemas.microsoft.com/office/drawing/2014/main" id="{55B96697-9943-43FE-794E-E109FC95CAA5}"/>
              </a:ext>
            </a:extLst>
          </p:cNvPr>
          <p:cNvSpPr/>
          <p:nvPr/>
        </p:nvSpPr>
        <p:spPr>
          <a:xfrm>
            <a:off x="4611935" y="4048790"/>
            <a:ext cx="73152" cy="754020"/>
          </a:xfrm>
          <a:prstGeom prst="rect">
            <a:avLst/>
          </a:prstGeom>
          <a:solidFill>
            <a:srgbClr val="35E0D4"/>
          </a:solidFill>
          <a:ln w="12700">
            <a:solidFill>
              <a:srgbClr val="35E0D4">
                <a:alpha val="0"/>
              </a:srgbClr>
            </a:solidFill>
            <a:prstDash val="solid"/>
          </a:ln>
        </p:spPr>
        <p:txBody>
          <a:bodyPr/>
          <a:lstStyle/>
          <a:p>
            <a:endParaRPr lang="es-AR"/>
          </a:p>
        </p:txBody>
      </p:sp>
      <p:sp>
        <p:nvSpPr>
          <p:cNvPr id="18" name="Text 21">
            <a:extLst>
              <a:ext uri="{FF2B5EF4-FFF2-40B4-BE49-F238E27FC236}">
                <a16:creationId xmlns:a16="http://schemas.microsoft.com/office/drawing/2014/main" id="{7D4DCFAF-5303-4F39-3F16-37A4EEB1915E}"/>
              </a:ext>
            </a:extLst>
          </p:cNvPr>
          <p:cNvSpPr/>
          <p:nvPr/>
        </p:nvSpPr>
        <p:spPr>
          <a:xfrm>
            <a:off x="4776527" y="4185950"/>
            <a:ext cx="388620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Application</a:t>
            </a:r>
            <a:endParaRPr lang="en-US" sz="1300" dirty="0"/>
          </a:p>
        </p:txBody>
      </p:sp>
      <p:sp>
        <p:nvSpPr>
          <p:cNvPr id="19" name="Text 22">
            <a:extLst>
              <a:ext uri="{FF2B5EF4-FFF2-40B4-BE49-F238E27FC236}">
                <a16:creationId xmlns:a16="http://schemas.microsoft.com/office/drawing/2014/main" id="{07B7E893-CC9A-FE0B-1CAE-98F60C2C7B04}"/>
              </a:ext>
            </a:extLst>
          </p:cNvPr>
          <p:cNvSpPr/>
          <p:nvPr/>
        </p:nvSpPr>
        <p:spPr>
          <a:xfrm>
            <a:off x="4776527" y="4524278"/>
            <a:ext cx="3886200" cy="64008"/>
          </a:xfrm>
          <a:prstGeom prst="rect">
            <a:avLst/>
          </a:prstGeom>
          <a:noFill/>
          <a:ln/>
        </p:spPr>
        <p:txBody>
          <a:bodyPr wrap="square" lIns="254" tIns="254" rIns="254" bIns="254" rtlCol="0" anchor="t">
            <a:noAutofit/>
          </a:bodyPr>
          <a:lstStyle/>
          <a:p>
            <a:pPr marL="0" indent="0">
              <a:buNone/>
            </a:pPr>
            <a:r>
              <a:rPr lang="en-US" sz="1200" dirty="0">
                <a:solidFill>
                  <a:srgbClr val="B8BCD4"/>
                </a:solidFill>
                <a:latin typeface="Aptos" pitchFamily="34" charset="0"/>
                <a:ea typeface="Aptos" pitchFamily="34" charset="-122"/>
                <a:cs typeface="Aptos" pitchFamily="34" charset="-120"/>
              </a:rPr>
              <a:t>MagicCafeService</a:t>
            </a:r>
            <a:endParaRPr lang="en-US" sz="1200" dirty="0"/>
          </a:p>
        </p:txBody>
      </p:sp>
      <p:sp>
        <p:nvSpPr>
          <p:cNvPr id="21" name="Shape 24">
            <a:extLst>
              <a:ext uri="{FF2B5EF4-FFF2-40B4-BE49-F238E27FC236}">
                <a16:creationId xmlns:a16="http://schemas.microsoft.com/office/drawing/2014/main" id="{7F4ADE80-A01F-3F8F-B23B-E5756B152F2C}"/>
              </a:ext>
            </a:extLst>
          </p:cNvPr>
          <p:cNvSpPr/>
          <p:nvPr/>
        </p:nvSpPr>
        <p:spPr>
          <a:xfrm>
            <a:off x="4611935" y="5013632"/>
            <a:ext cx="4206240" cy="754020"/>
          </a:xfrm>
          <a:prstGeom prst="roundRect">
            <a:avLst>
              <a:gd name="adj" fmla="val 11111"/>
            </a:avLst>
          </a:prstGeom>
          <a:solidFill>
            <a:srgbClr val="242A44"/>
          </a:solidFill>
          <a:ln w="12700">
            <a:solidFill>
              <a:srgbClr val="38405F">
                <a:alpha val="85000"/>
              </a:srgbClr>
            </a:solidFill>
            <a:prstDash val="solid"/>
          </a:ln>
        </p:spPr>
        <p:txBody>
          <a:bodyPr/>
          <a:lstStyle/>
          <a:p>
            <a:endParaRPr lang="es-AR"/>
          </a:p>
        </p:txBody>
      </p:sp>
      <p:sp>
        <p:nvSpPr>
          <p:cNvPr id="22" name="Shape 25">
            <a:extLst>
              <a:ext uri="{FF2B5EF4-FFF2-40B4-BE49-F238E27FC236}">
                <a16:creationId xmlns:a16="http://schemas.microsoft.com/office/drawing/2014/main" id="{990ADD55-F289-88AA-3954-4618E7C57096}"/>
              </a:ext>
            </a:extLst>
          </p:cNvPr>
          <p:cNvSpPr/>
          <p:nvPr/>
        </p:nvSpPr>
        <p:spPr>
          <a:xfrm>
            <a:off x="4611935" y="5013632"/>
            <a:ext cx="73152" cy="754020"/>
          </a:xfrm>
          <a:prstGeom prst="rect">
            <a:avLst/>
          </a:prstGeom>
          <a:solidFill>
            <a:srgbClr val="FFB86B"/>
          </a:solidFill>
          <a:ln w="12700">
            <a:solidFill>
              <a:srgbClr val="FFB86B">
                <a:alpha val="0"/>
              </a:srgbClr>
            </a:solidFill>
            <a:prstDash val="solid"/>
          </a:ln>
        </p:spPr>
        <p:txBody>
          <a:bodyPr/>
          <a:lstStyle/>
          <a:p>
            <a:endParaRPr lang="es-AR"/>
          </a:p>
        </p:txBody>
      </p:sp>
      <p:sp>
        <p:nvSpPr>
          <p:cNvPr id="23" name="Text 26">
            <a:extLst>
              <a:ext uri="{FF2B5EF4-FFF2-40B4-BE49-F238E27FC236}">
                <a16:creationId xmlns:a16="http://schemas.microsoft.com/office/drawing/2014/main" id="{1580AFBB-7A40-1D92-548E-5B407929B360}"/>
              </a:ext>
            </a:extLst>
          </p:cNvPr>
          <p:cNvSpPr/>
          <p:nvPr/>
        </p:nvSpPr>
        <p:spPr>
          <a:xfrm>
            <a:off x="4776527" y="5150792"/>
            <a:ext cx="388620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Domain</a:t>
            </a:r>
            <a:endParaRPr lang="en-US" sz="1300" dirty="0"/>
          </a:p>
        </p:txBody>
      </p:sp>
      <p:sp>
        <p:nvSpPr>
          <p:cNvPr id="24" name="Text 27">
            <a:extLst>
              <a:ext uri="{FF2B5EF4-FFF2-40B4-BE49-F238E27FC236}">
                <a16:creationId xmlns:a16="http://schemas.microsoft.com/office/drawing/2014/main" id="{B9D94DF2-0E72-42EC-6BDB-ED7C67F1E495}"/>
              </a:ext>
            </a:extLst>
          </p:cNvPr>
          <p:cNvSpPr/>
          <p:nvPr/>
        </p:nvSpPr>
        <p:spPr>
          <a:xfrm>
            <a:off x="4776527" y="5489120"/>
            <a:ext cx="3886200" cy="64008"/>
          </a:xfrm>
          <a:prstGeom prst="rect">
            <a:avLst/>
          </a:prstGeom>
          <a:noFill/>
          <a:ln/>
        </p:spPr>
        <p:txBody>
          <a:bodyPr wrap="square" lIns="254" tIns="254" rIns="254" bIns="254" rtlCol="0" anchor="t">
            <a:noAutofit/>
          </a:bodyPr>
          <a:lstStyle/>
          <a:p>
            <a:pPr marL="0" indent="0">
              <a:buNone/>
            </a:pPr>
            <a:r>
              <a:rPr lang="en-US" sz="1200" dirty="0">
                <a:solidFill>
                  <a:srgbClr val="B8BCD4"/>
                </a:solidFill>
                <a:latin typeface="Aptos" pitchFamily="34" charset="0"/>
                <a:ea typeface="Aptos" pitchFamily="34" charset="-122"/>
                <a:cs typeface="Aptos" pitchFamily="34" charset="-120"/>
              </a:rPr>
              <a:t>Pedido + EstadoPedido</a:t>
            </a:r>
            <a:endParaRPr lang="en-US" sz="1200" dirty="0"/>
          </a:p>
        </p:txBody>
      </p:sp>
      <p:sp>
        <p:nvSpPr>
          <p:cNvPr id="26" name="Shape 29">
            <a:extLst>
              <a:ext uri="{FF2B5EF4-FFF2-40B4-BE49-F238E27FC236}">
                <a16:creationId xmlns:a16="http://schemas.microsoft.com/office/drawing/2014/main" id="{ACC74996-0EFE-ED8E-008A-2E2F202CA61C}"/>
              </a:ext>
            </a:extLst>
          </p:cNvPr>
          <p:cNvSpPr/>
          <p:nvPr/>
        </p:nvSpPr>
        <p:spPr>
          <a:xfrm>
            <a:off x="4611935" y="5978474"/>
            <a:ext cx="4206240" cy="754020"/>
          </a:xfrm>
          <a:prstGeom prst="roundRect">
            <a:avLst>
              <a:gd name="adj" fmla="val 11111"/>
            </a:avLst>
          </a:prstGeom>
          <a:solidFill>
            <a:srgbClr val="242A44"/>
          </a:solidFill>
          <a:ln w="12700">
            <a:solidFill>
              <a:srgbClr val="38405F">
                <a:alpha val="85000"/>
              </a:srgbClr>
            </a:solidFill>
            <a:prstDash val="solid"/>
          </a:ln>
        </p:spPr>
        <p:txBody>
          <a:bodyPr/>
          <a:lstStyle/>
          <a:p>
            <a:endParaRPr lang="es-AR"/>
          </a:p>
        </p:txBody>
      </p:sp>
      <p:sp>
        <p:nvSpPr>
          <p:cNvPr id="27" name="Shape 30">
            <a:extLst>
              <a:ext uri="{FF2B5EF4-FFF2-40B4-BE49-F238E27FC236}">
                <a16:creationId xmlns:a16="http://schemas.microsoft.com/office/drawing/2014/main" id="{D5CFE1B4-B1DB-654D-28B2-51862954B9A9}"/>
              </a:ext>
            </a:extLst>
          </p:cNvPr>
          <p:cNvSpPr/>
          <p:nvPr/>
        </p:nvSpPr>
        <p:spPr>
          <a:xfrm>
            <a:off x="4611935" y="5978474"/>
            <a:ext cx="73152" cy="754020"/>
          </a:xfrm>
          <a:prstGeom prst="rect">
            <a:avLst/>
          </a:prstGeom>
          <a:solidFill>
            <a:srgbClr val="58D68D"/>
          </a:solidFill>
          <a:ln w="12700">
            <a:solidFill>
              <a:srgbClr val="58D68D">
                <a:alpha val="0"/>
              </a:srgbClr>
            </a:solidFill>
            <a:prstDash val="solid"/>
          </a:ln>
        </p:spPr>
        <p:txBody>
          <a:bodyPr/>
          <a:lstStyle/>
          <a:p>
            <a:endParaRPr lang="es-AR"/>
          </a:p>
        </p:txBody>
      </p:sp>
      <p:sp>
        <p:nvSpPr>
          <p:cNvPr id="28" name="Text 31">
            <a:extLst>
              <a:ext uri="{FF2B5EF4-FFF2-40B4-BE49-F238E27FC236}">
                <a16:creationId xmlns:a16="http://schemas.microsoft.com/office/drawing/2014/main" id="{823E3FE9-A0D1-D479-944B-E14FD3E2FE27}"/>
              </a:ext>
            </a:extLst>
          </p:cNvPr>
          <p:cNvSpPr/>
          <p:nvPr/>
        </p:nvSpPr>
        <p:spPr>
          <a:xfrm>
            <a:off x="4776527" y="6115634"/>
            <a:ext cx="3886200" cy="237744"/>
          </a:xfrm>
          <a:prstGeom prst="rect">
            <a:avLst/>
          </a:prstGeom>
          <a:noFill/>
          <a:ln/>
        </p:spPr>
        <p:txBody>
          <a:bodyPr wrap="square" lIns="0" tIns="0" rIns="0" bIns="0" rtlCol="0" anchor="ctr">
            <a:normAutofit/>
          </a:bodyPr>
          <a:lstStyle/>
          <a:p>
            <a:pPr marL="0" indent="0">
              <a:buNone/>
            </a:pPr>
            <a:r>
              <a:rPr lang="en-US" sz="1300" b="1" dirty="0">
                <a:solidFill>
                  <a:srgbClr val="F4F6FF"/>
                </a:solidFill>
                <a:latin typeface="Aptos Display" pitchFamily="34" charset="0"/>
                <a:ea typeface="Aptos Display" pitchFamily="34" charset="-122"/>
                <a:cs typeface="Aptos Display" pitchFamily="34" charset="-120"/>
              </a:rPr>
              <a:t>Infrastructure</a:t>
            </a:r>
            <a:endParaRPr lang="en-US" sz="1300" dirty="0"/>
          </a:p>
        </p:txBody>
      </p:sp>
      <p:sp>
        <p:nvSpPr>
          <p:cNvPr id="29" name="Text 32">
            <a:extLst>
              <a:ext uri="{FF2B5EF4-FFF2-40B4-BE49-F238E27FC236}">
                <a16:creationId xmlns:a16="http://schemas.microsoft.com/office/drawing/2014/main" id="{4823A125-5B9B-A771-E899-13F1A9EB103A}"/>
              </a:ext>
            </a:extLst>
          </p:cNvPr>
          <p:cNvSpPr/>
          <p:nvPr/>
        </p:nvSpPr>
        <p:spPr>
          <a:xfrm>
            <a:off x="4776527" y="6453962"/>
            <a:ext cx="3886200" cy="64008"/>
          </a:xfrm>
          <a:prstGeom prst="rect">
            <a:avLst/>
          </a:prstGeom>
          <a:noFill/>
          <a:ln/>
        </p:spPr>
        <p:txBody>
          <a:bodyPr wrap="square" lIns="254" tIns="254" rIns="254" bIns="254" rtlCol="0" anchor="t">
            <a:noAutofit/>
          </a:bodyPr>
          <a:lstStyle/>
          <a:p>
            <a:pPr marL="0" indent="0">
              <a:buNone/>
            </a:pPr>
            <a:r>
              <a:rPr lang="en-US" sz="1200" dirty="0">
                <a:solidFill>
                  <a:srgbClr val="B8BCD4"/>
                </a:solidFill>
                <a:latin typeface="Aptos" pitchFamily="34" charset="0"/>
                <a:ea typeface="Aptos" pitchFamily="34" charset="-122"/>
                <a:cs typeface="Aptos" pitchFamily="34" charset="-120"/>
              </a:rPr>
              <a:t>PedidoRepository / JPA</a:t>
            </a:r>
            <a:endParaRPr lang="en-US" sz="1200" dirty="0"/>
          </a:p>
        </p:txBody>
      </p:sp>
    </p:spTree>
    <p:extLst>
      <p:ext uri="{BB962C8B-B14F-4D97-AF65-F5344CB8AC3E}">
        <p14:creationId xmlns:p14="http://schemas.microsoft.com/office/powerpoint/2010/main" val="1941803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9A9667-ED9B-1A79-3CAA-048EDABE4754}"/>
              </a:ext>
            </a:extLst>
          </p:cNvPr>
          <p:cNvSpPr>
            <a:spLocks noGrp="1"/>
          </p:cNvSpPr>
          <p:nvPr>
            <p:ph type="title"/>
          </p:nvPr>
        </p:nvSpPr>
        <p:spPr/>
        <p:txBody>
          <a:bodyPr/>
          <a:lstStyle/>
          <a:p>
            <a:r>
              <a:rPr lang="es-AR" dirty="0"/>
              <a:t>Resolver persistencia con JPA</a:t>
            </a:r>
          </a:p>
        </p:txBody>
      </p:sp>
      <p:sp>
        <p:nvSpPr>
          <p:cNvPr id="3" name="Marcador de contenido 2">
            <a:extLst>
              <a:ext uri="{FF2B5EF4-FFF2-40B4-BE49-F238E27FC236}">
                <a16:creationId xmlns:a16="http://schemas.microsoft.com/office/drawing/2014/main" id="{D3B04FDD-6814-5AC3-E73B-6320D43D9794}"/>
              </a:ext>
            </a:extLst>
          </p:cNvPr>
          <p:cNvSpPr>
            <a:spLocks noGrp="1"/>
          </p:cNvSpPr>
          <p:nvPr>
            <p:ph idx="1"/>
          </p:nvPr>
        </p:nvSpPr>
        <p:spPr>
          <a:xfrm>
            <a:off x="864382" y="2489200"/>
            <a:ext cx="7589336" cy="1168400"/>
          </a:xfrm>
        </p:spPr>
        <p:txBody>
          <a:bodyPr>
            <a:normAutofit fontScale="92500" lnSpcReduction="10000"/>
          </a:bodyPr>
          <a:lstStyle/>
          <a:p>
            <a:r>
              <a:rPr lang="es-AR" dirty="0"/>
              <a:t>El comportamiento State vive en memoria; la base guarda un valor simple.</a:t>
            </a:r>
          </a:p>
          <a:p>
            <a:r>
              <a:rPr lang="es-AR" dirty="0"/>
              <a:t>La DB no necesita conocer clases Java. Guarda “PAGADO”; al cargar, Java reconstruye </a:t>
            </a:r>
            <a:r>
              <a:rPr lang="es-AR" dirty="0" err="1"/>
              <a:t>EstadoPagado</a:t>
            </a:r>
            <a:r>
              <a:rPr lang="es-AR" dirty="0"/>
              <a:t>.</a:t>
            </a:r>
          </a:p>
        </p:txBody>
      </p:sp>
      <p:sp>
        <p:nvSpPr>
          <p:cNvPr id="4" name="Shape 7">
            <a:extLst>
              <a:ext uri="{FF2B5EF4-FFF2-40B4-BE49-F238E27FC236}">
                <a16:creationId xmlns:a16="http://schemas.microsoft.com/office/drawing/2014/main" id="{2A0A1F46-691A-E0E2-704B-A3912977DA53}"/>
              </a:ext>
            </a:extLst>
          </p:cNvPr>
          <p:cNvSpPr/>
          <p:nvPr/>
        </p:nvSpPr>
        <p:spPr>
          <a:xfrm>
            <a:off x="282390" y="3909509"/>
            <a:ext cx="4262717" cy="2240280"/>
          </a:xfrm>
          <a:prstGeom prst="roundRect">
            <a:avLst>
              <a:gd name="adj" fmla="val 1099"/>
            </a:avLst>
          </a:prstGeom>
          <a:solidFill>
            <a:srgbClr val="0A0C12"/>
          </a:solidFill>
          <a:ln w="12700">
            <a:solidFill>
              <a:srgbClr val="38405F"/>
            </a:solidFill>
            <a:prstDash val="solid"/>
          </a:ln>
        </p:spPr>
        <p:txBody>
          <a:bodyPr/>
          <a:lstStyle/>
          <a:p>
            <a:endParaRPr lang="es-AR" sz="900"/>
          </a:p>
        </p:txBody>
      </p:sp>
      <p:sp>
        <p:nvSpPr>
          <p:cNvPr id="5" name="Shape 8">
            <a:extLst>
              <a:ext uri="{FF2B5EF4-FFF2-40B4-BE49-F238E27FC236}">
                <a16:creationId xmlns:a16="http://schemas.microsoft.com/office/drawing/2014/main" id="{2D9E43D6-850C-76D8-96CF-CF43FBEAC63F}"/>
              </a:ext>
            </a:extLst>
          </p:cNvPr>
          <p:cNvSpPr/>
          <p:nvPr/>
        </p:nvSpPr>
        <p:spPr>
          <a:xfrm>
            <a:off x="282390" y="3909509"/>
            <a:ext cx="4262717" cy="167406"/>
          </a:xfrm>
          <a:prstGeom prst="rect">
            <a:avLst/>
          </a:prstGeom>
          <a:solidFill>
            <a:srgbClr val="171B2B"/>
          </a:solidFill>
          <a:ln w="12700">
            <a:solidFill>
              <a:srgbClr val="171B2B">
                <a:alpha val="0"/>
              </a:srgbClr>
            </a:solidFill>
            <a:prstDash val="solid"/>
          </a:ln>
        </p:spPr>
        <p:txBody>
          <a:bodyPr/>
          <a:lstStyle/>
          <a:p>
            <a:endParaRPr lang="es-AR" sz="900"/>
          </a:p>
        </p:txBody>
      </p:sp>
      <p:sp>
        <p:nvSpPr>
          <p:cNvPr id="6" name="Shape 9">
            <a:extLst>
              <a:ext uri="{FF2B5EF4-FFF2-40B4-BE49-F238E27FC236}">
                <a16:creationId xmlns:a16="http://schemas.microsoft.com/office/drawing/2014/main" id="{8BA92D25-8C88-0472-D578-943EE6D2886D}"/>
              </a:ext>
            </a:extLst>
          </p:cNvPr>
          <p:cNvSpPr/>
          <p:nvPr/>
        </p:nvSpPr>
        <p:spPr>
          <a:xfrm>
            <a:off x="401261" y="4014664"/>
            <a:ext cx="58796" cy="45719"/>
          </a:xfrm>
          <a:prstGeom prst="ellipse">
            <a:avLst/>
          </a:prstGeom>
          <a:solidFill>
            <a:srgbClr val="FF5C7A"/>
          </a:solidFill>
          <a:ln w="12700">
            <a:solidFill>
              <a:srgbClr val="FF5C7A">
                <a:alpha val="0"/>
              </a:srgbClr>
            </a:solidFill>
            <a:prstDash val="solid"/>
          </a:ln>
        </p:spPr>
        <p:txBody>
          <a:bodyPr/>
          <a:lstStyle/>
          <a:p>
            <a:endParaRPr lang="es-AR" sz="900"/>
          </a:p>
        </p:txBody>
      </p:sp>
      <p:sp>
        <p:nvSpPr>
          <p:cNvPr id="7" name="Shape 10">
            <a:extLst>
              <a:ext uri="{FF2B5EF4-FFF2-40B4-BE49-F238E27FC236}">
                <a16:creationId xmlns:a16="http://schemas.microsoft.com/office/drawing/2014/main" id="{299265F9-6B24-A367-AC00-AA9C30D10632}"/>
              </a:ext>
            </a:extLst>
          </p:cNvPr>
          <p:cNvSpPr/>
          <p:nvPr/>
        </p:nvSpPr>
        <p:spPr>
          <a:xfrm>
            <a:off x="538421" y="4014664"/>
            <a:ext cx="58796" cy="45719"/>
          </a:xfrm>
          <a:prstGeom prst="ellipse">
            <a:avLst/>
          </a:prstGeom>
          <a:solidFill>
            <a:srgbClr val="FFB86B"/>
          </a:solidFill>
          <a:ln w="12700">
            <a:solidFill>
              <a:srgbClr val="FFB86B">
                <a:alpha val="0"/>
              </a:srgbClr>
            </a:solidFill>
            <a:prstDash val="solid"/>
          </a:ln>
        </p:spPr>
        <p:txBody>
          <a:bodyPr/>
          <a:lstStyle/>
          <a:p>
            <a:endParaRPr lang="es-AR" sz="900"/>
          </a:p>
        </p:txBody>
      </p:sp>
      <p:sp>
        <p:nvSpPr>
          <p:cNvPr id="8" name="Shape 11">
            <a:extLst>
              <a:ext uri="{FF2B5EF4-FFF2-40B4-BE49-F238E27FC236}">
                <a16:creationId xmlns:a16="http://schemas.microsoft.com/office/drawing/2014/main" id="{C0F39912-5085-4C9A-CC84-585CEA5257CF}"/>
              </a:ext>
            </a:extLst>
          </p:cNvPr>
          <p:cNvSpPr/>
          <p:nvPr/>
        </p:nvSpPr>
        <p:spPr>
          <a:xfrm>
            <a:off x="675581" y="4014664"/>
            <a:ext cx="58796" cy="45719"/>
          </a:xfrm>
          <a:prstGeom prst="ellipse">
            <a:avLst/>
          </a:prstGeom>
          <a:solidFill>
            <a:srgbClr val="58D68D"/>
          </a:solidFill>
          <a:ln w="12700">
            <a:solidFill>
              <a:srgbClr val="58D68D">
                <a:alpha val="0"/>
              </a:srgbClr>
            </a:solidFill>
            <a:prstDash val="solid"/>
          </a:ln>
        </p:spPr>
        <p:txBody>
          <a:bodyPr/>
          <a:lstStyle/>
          <a:p>
            <a:endParaRPr lang="es-AR" sz="900"/>
          </a:p>
        </p:txBody>
      </p:sp>
      <p:sp>
        <p:nvSpPr>
          <p:cNvPr id="9" name="Text 12">
            <a:extLst>
              <a:ext uri="{FF2B5EF4-FFF2-40B4-BE49-F238E27FC236}">
                <a16:creationId xmlns:a16="http://schemas.microsoft.com/office/drawing/2014/main" id="{ED929798-DB32-17DC-48C3-840B2EC54666}"/>
              </a:ext>
            </a:extLst>
          </p:cNvPr>
          <p:cNvSpPr/>
          <p:nvPr/>
        </p:nvSpPr>
        <p:spPr>
          <a:xfrm>
            <a:off x="849317" y="4019236"/>
            <a:ext cx="3674756" cy="49237"/>
          </a:xfrm>
          <a:prstGeom prst="rect">
            <a:avLst/>
          </a:prstGeom>
          <a:noFill/>
          <a:ln/>
        </p:spPr>
        <p:txBody>
          <a:bodyPr wrap="square" lIns="0" tIns="0" rIns="0" bIns="0" rtlCol="0" anchor="ctr"/>
          <a:lstStyle/>
          <a:p>
            <a:pPr marL="0" indent="0">
              <a:buNone/>
            </a:pPr>
            <a:r>
              <a:rPr lang="en-US" sz="900" dirty="0">
                <a:solidFill>
                  <a:srgbClr val="B8BCD4"/>
                </a:solidFill>
                <a:latin typeface="Aptos" pitchFamily="34" charset="0"/>
                <a:ea typeface="Aptos" pitchFamily="34" charset="-122"/>
                <a:cs typeface="Aptos" pitchFamily="34" charset="-120"/>
              </a:rPr>
              <a:t>Pedido.java</a:t>
            </a:r>
            <a:endParaRPr lang="en-US" sz="900" dirty="0"/>
          </a:p>
        </p:txBody>
      </p:sp>
      <p:sp>
        <p:nvSpPr>
          <p:cNvPr id="10" name="Text 13">
            <a:extLst>
              <a:ext uri="{FF2B5EF4-FFF2-40B4-BE49-F238E27FC236}">
                <a16:creationId xmlns:a16="http://schemas.microsoft.com/office/drawing/2014/main" id="{682AA556-56BC-1E38-5649-EF8C30A9C5C5}"/>
              </a:ext>
            </a:extLst>
          </p:cNvPr>
          <p:cNvSpPr/>
          <p:nvPr/>
        </p:nvSpPr>
        <p:spPr>
          <a:xfrm>
            <a:off x="446981" y="4348420"/>
            <a:ext cx="3998135" cy="1935011"/>
          </a:xfrm>
          <a:prstGeom prst="rect">
            <a:avLst/>
          </a:prstGeom>
          <a:noFill/>
          <a:ln/>
        </p:spPr>
        <p:txBody>
          <a:bodyPr wrap="square" lIns="0" tIns="0" rIns="0" bIns="0" rtlCol="0" anchor="t">
            <a:normAutofit/>
          </a:bodyPr>
          <a:lstStyle/>
          <a:p>
            <a:pPr marL="0" indent="0">
              <a:buNone/>
            </a:pPr>
            <a:r>
              <a:rPr lang="en-US" sz="900" dirty="0">
                <a:solidFill>
                  <a:srgbClr val="F4F6FF"/>
                </a:solidFill>
                <a:latin typeface="Courier New" pitchFamily="34" charset="0"/>
                <a:ea typeface="Courier New" pitchFamily="34" charset="-122"/>
                <a:cs typeface="Courier New" pitchFamily="34" charset="-120"/>
              </a:rPr>
              <a:t>@Column(nullable = false)</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private String estado = "CREADO";</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@Transient</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private EstadoPedido estadoActual = new EstadoCreado();</a:t>
            </a:r>
            <a:endParaRPr lang="en-US" sz="900" dirty="0"/>
          </a:p>
          <a:p>
            <a:pPr marL="0" indent="0">
              <a:buNone/>
            </a:pP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@PostLoad</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private void reconstruirEstadoActual()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this.estadoActual = EstadoPedidoFactory</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.desdeNombre(this.estado);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p:txBody>
      </p:sp>
      <p:sp>
        <p:nvSpPr>
          <p:cNvPr id="11" name="Shape 14">
            <a:extLst>
              <a:ext uri="{FF2B5EF4-FFF2-40B4-BE49-F238E27FC236}">
                <a16:creationId xmlns:a16="http://schemas.microsoft.com/office/drawing/2014/main" id="{EF195002-44F1-3D08-AABC-985659F54E66}"/>
              </a:ext>
            </a:extLst>
          </p:cNvPr>
          <p:cNvSpPr/>
          <p:nvPr/>
        </p:nvSpPr>
        <p:spPr>
          <a:xfrm>
            <a:off x="4752676" y="3909509"/>
            <a:ext cx="4115727" cy="2240280"/>
          </a:xfrm>
          <a:prstGeom prst="roundRect">
            <a:avLst>
              <a:gd name="adj" fmla="val 1099"/>
            </a:avLst>
          </a:prstGeom>
          <a:solidFill>
            <a:srgbClr val="0A0C12"/>
          </a:solidFill>
          <a:ln w="12700">
            <a:solidFill>
              <a:srgbClr val="38405F"/>
            </a:solidFill>
            <a:prstDash val="solid"/>
          </a:ln>
        </p:spPr>
        <p:txBody>
          <a:bodyPr/>
          <a:lstStyle/>
          <a:p>
            <a:endParaRPr lang="es-AR" sz="900"/>
          </a:p>
        </p:txBody>
      </p:sp>
      <p:sp>
        <p:nvSpPr>
          <p:cNvPr id="12" name="Shape 15">
            <a:extLst>
              <a:ext uri="{FF2B5EF4-FFF2-40B4-BE49-F238E27FC236}">
                <a16:creationId xmlns:a16="http://schemas.microsoft.com/office/drawing/2014/main" id="{3ADB4366-D7EC-8B83-02D3-874EECBE4375}"/>
              </a:ext>
            </a:extLst>
          </p:cNvPr>
          <p:cNvSpPr/>
          <p:nvPr/>
        </p:nvSpPr>
        <p:spPr>
          <a:xfrm>
            <a:off x="4752676" y="3909509"/>
            <a:ext cx="4115727" cy="167406"/>
          </a:xfrm>
          <a:prstGeom prst="rect">
            <a:avLst/>
          </a:prstGeom>
          <a:solidFill>
            <a:srgbClr val="171B2B"/>
          </a:solidFill>
          <a:ln w="12700">
            <a:solidFill>
              <a:srgbClr val="171B2B">
                <a:alpha val="0"/>
              </a:srgbClr>
            </a:solidFill>
            <a:prstDash val="solid"/>
          </a:ln>
        </p:spPr>
        <p:txBody>
          <a:bodyPr/>
          <a:lstStyle/>
          <a:p>
            <a:endParaRPr lang="es-AR" sz="900"/>
          </a:p>
        </p:txBody>
      </p:sp>
      <p:sp>
        <p:nvSpPr>
          <p:cNvPr id="13" name="Shape 16">
            <a:extLst>
              <a:ext uri="{FF2B5EF4-FFF2-40B4-BE49-F238E27FC236}">
                <a16:creationId xmlns:a16="http://schemas.microsoft.com/office/drawing/2014/main" id="{938FCDCC-A15F-4B82-DC14-271420EC5DA1}"/>
              </a:ext>
            </a:extLst>
          </p:cNvPr>
          <p:cNvSpPr/>
          <p:nvPr/>
        </p:nvSpPr>
        <p:spPr>
          <a:xfrm>
            <a:off x="4871548" y="4014664"/>
            <a:ext cx="58796" cy="45719"/>
          </a:xfrm>
          <a:prstGeom prst="ellipse">
            <a:avLst/>
          </a:prstGeom>
          <a:solidFill>
            <a:srgbClr val="FF5C7A"/>
          </a:solidFill>
          <a:ln w="12700">
            <a:solidFill>
              <a:srgbClr val="FF5C7A">
                <a:alpha val="0"/>
              </a:srgbClr>
            </a:solidFill>
            <a:prstDash val="solid"/>
          </a:ln>
        </p:spPr>
        <p:txBody>
          <a:bodyPr/>
          <a:lstStyle/>
          <a:p>
            <a:endParaRPr lang="es-AR" sz="900"/>
          </a:p>
        </p:txBody>
      </p:sp>
      <p:sp>
        <p:nvSpPr>
          <p:cNvPr id="14" name="Shape 17">
            <a:extLst>
              <a:ext uri="{FF2B5EF4-FFF2-40B4-BE49-F238E27FC236}">
                <a16:creationId xmlns:a16="http://schemas.microsoft.com/office/drawing/2014/main" id="{D7CFAF99-BD51-2524-B08F-FD0AF5E92F0D}"/>
              </a:ext>
            </a:extLst>
          </p:cNvPr>
          <p:cNvSpPr/>
          <p:nvPr/>
        </p:nvSpPr>
        <p:spPr>
          <a:xfrm>
            <a:off x="5008708" y="4014664"/>
            <a:ext cx="58796" cy="45719"/>
          </a:xfrm>
          <a:prstGeom prst="ellipse">
            <a:avLst/>
          </a:prstGeom>
          <a:solidFill>
            <a:srgbClr val="FFB86B"/>
          </a:solidFill>
          <a:ln w="12700">
            <a:solidFill>
              <a:srgbClr val="FFB86B">
                <a:alpha val="0"/>
              </a:srgbClr>
            </a:solidFill>
            <a:prstDash val="solid"/>
          </a:ln>
        </p:spPr>
        <p:txBody>
          <a:bodyPr/>
          <a:lstStyle/>
          <a:p>
            <a:endParaRPr lang="es-AR" sz="900"/>
          </a:p>
        </p:txBody>
      </p:sp>
      <p:sp>
        <p:nvSpPr>
          <p:cNvPr id="15" name="Shape 18">
            <a:extLst>
              <a:ext uri="{FF2B5EF4-FFF2-40B4-BE49-F238E27FC236}">
                <a16:creationId xmlns:a16="http://schemas.microsoft.com/office/drawing/2014/main" id="{80A0378A-AF15-CA29-AEF2-F60893C39222}"/>
              </a:ext>
            </a:extLst>
          </p:cNvPr>
          <p:cNvSpPr/>
          <p:nvPr/>
        </p:nvSpPr>
        <p:spPr>
          <a:xfrm>
            <a:off x="5145868" y="4014664"/>
            <a:ext cx="58796" cy="45719"/>
          </a:xfrm>
          <a:prstGeom prst="ellipse">
            <a:avLst/>
          </a:prstGeom>
          <a:solidFill>
            <a:srgbClr val="58D68D"/>
          </a:solidFill>
          <a:ln w="12700">
            <a:solidFill>
              <a:srgbClr val="58D68D">
                <a:alpha val="0"/>
              </a:srgbClr>
            </a:solidFill>
            <a:prstDash val="solid"/>
          </a:ln>
        </p:spPr>
        <p:txBody>
          <a:bodyPr/>
          <a:lstStyle/>
          <a:p>
            <a:endParaRPr lang="es-AR" sz="900"/>
          </a:p>
        </p:txBody>
      </p:sp>
      <p:sp>
        <p:nvSpPr>
          <p:cNvPr id="16" name="Text 19">
            <a:extLst>
              <a:ext uri="{FF2B5EF4-FFF2-40B4-BE49-F238E27FC236}">
                <a16:creationId xmlns:a16="http://schemas.microsoft.com/office/drawing/2014/main" id="{95C39E28-5CB1-D156-2994-E5C8F95B87C5}"/>
              </a:ext>
            </a:extLst>
          </p:cNvPr>
          <p:cNvSpPr/>
          <p:nvPr/>
        </p:nvSpPr>
        <p:spPr>
          <a:xfrm>
            <a:off x="5319605" y="4019236"/>
            <a:ext cx="3527766" cy="49237"/>
          </a:xfrm>
          <a:prstGeom prst="rect">
            <a:avLst/>
          </a:prstGeom>
          <a:noFill/>
          <a:ln/>
        </p:spPr>
        <p:txBody>
          <a:bodyPr wrap="square" lIns="0" tIns="0" rIns="0" bIns="0" rtlCol="0" anchor="ctr"/>
          <a:lstStyle/>
          <a:p>
            <a:pPr marL="0" indent="0">
              <a:buNone/>
            </a:pPr>
            <a:r>
              <a:rPr lang="en-US" sz="900" dirty="0">
                <a:solidFill>
                  <a:srgbClr val="B8BCD4"/>
                </a:solidFill>
                <a:latin typeface="Aptos" pitchFamily="34" charset="0"/>
                <a:ea typeface="Aptos" pitchFamily="34" charset="-122"/>
                <a:cs typeface="Aptos" pitchFamily="34" charset="-120"/>
              </a:rPr>
              <a:t>EstadoPedidoFactory.java</a:t>
            </a:r>
            <a:endParaRPr lang="en-US" sz="900" dirty="0"/>
          </a:p>
        </p:txBody>
      </p:sp>
      <p:sp>
        <p:nvSpPr>
          <p:cNvPr id="17" name="Text 20">
            <a:extLst>
              <a:ext uri="{FF2B5EF4-FFF2-40B4-BE49-F238E27FC236}">
                <a16:creationId xmlns:a16="http://schemas.microsoft.com/office/drawing/2014/main" id="{902BD276-8A1E-9E6F-2140-3F3FE303716A}"/>
              </a:ext>
            </a:extLst>
          </p:cNvPr>
          <p:cNvSpPr/>
          <p:nvPr/>
        </p:nvSpPr>
        <p:spPr>
          <a:xfrm>
            <a:off x="4917268" y="4348420"/>
            <a:ext cx="3851145" cy="1935011"/>
          </a:xfrm>
          <a:prstGeom prst="rect">
            <a:avLst/>
          </a:prstGeom>
          <a:noFill/>
          <a:ln/>
        </p:spPr>
        <p:txBody>
          <a:bodyPr wrap="square" lIns="0" tIns="0" rIns="0" bIns="0" rtlCol="0" anchor="t">
            <a:normAutofit/>
          </a:bodyPr>
          <a:lstStyle/>
          <a:p>
            <a:pPr marL="0" indent="0">
              <a:buNone/>
            </a:pPr>
            <a:r>
              <a:rPr lang="en-US" sz="900" dirty="0">
                <a:solidFill>
                  <a:srgbClr val="F4F6FF"/>
                </a:solidFill>
                <a:latin typeface="Courier New" pitchFamily="34" charset="0"/>
                <a:ea typeface="Courier New" pitchFamily="34" charset="-122"/>
                <a:cs typeface="Courier New" pitchFamily="34" charset="-120"/>
              </a:rPr>
              <a:t>return switch (nombre) {</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case "CREADO" -&gt; new EstadoCreado();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case "PAGADO" -&gt; new EstadoPagado();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case "PREPARANDO" -&gt; new EstadoPreparando();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case "ENTREGADO" -&gt; new EstadoEntregado();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case "CANCELADO" -&gt; new EstadoCancelado();</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  default -&gt; throw new IllegalArgumentException(...);</a:t>
            </a:r>
            <a:endParaRPr lang="en-US" sz="900" dirty="0"/>
          </a:p>
          <a:p>
            <a:pPr marL="0" indent="0">
              <a:buNone/>
            </a:pPr>
            <a:r>
              <a:rPr lang="en-US" sz="900" dirty="0">
                <a:solidFill>
                  <a:srgbClr val="F4F6FF"/>
                </a:solidFill>
                <a:latin typeface="Courier New" pitchFamily="34" charset="0"/>
                <a:ea typeface="Courier New" pitchFamily="34" charset="-122"/>
                <a:cs typeface="Courier New" pitchFamily="34" charset="-120"/>
              </a:rPr>
              <a:t>};</a:t>
            </a:r>
            <a:endParaRPr lang="en-US" sz="900" dirty="0"/>
          </a:p>
        </p:txBody>
      </p:sp>
    </p:spTree>
    <p:extLst>
      <p:ext uri="{BB962C8B-B14F-4D97-AF65-F5344CB8AC3E}">
        <p14:creationId xmlns:p14="http://schemas.microsoft.com/office/powerpoint/2010/main" val="2860678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19AEA3-221F-7898-A591-FABC56686029}"/>
              </a:ext>
            </a:extLst>
          </p:cNvPr>
          <p:cNvSpPr>
            <a:spLocks noGrp="1"/>
          </p:cNvSpPr>
          <p:nvPr>
            <p:ph type="title"/>
          </p:nvPr>
        </p:nvSpPr>
        <p:spPr/>
        <p:txBody>
          <a:bodyPr/>
          <a:lstStyle/>
          <a:p>
            <a:r>
              <a:rPr lang="es-AR" dirty="0"/>
              <a:t>Diagrama UML</a:t>
            </a:r>
          </a:p>
        </p:txBody>
      </p:sp>
      <p:sp>
        <p:nvSpPr>
          <p:cNvPr id="3" name="Marcador de contenido 2">
            <a:extLst>
              <a:ext uri="{FF2B5EF4-FFF2-40B4-BE49-F238E27FC236}">
                <a16:creationId xmlns:a16="http://schemas.microsoft.com/office/drawing/2014/main" id="{7FAB1B15-BA9B-BB4F-ADF0-B40D397933B2}"/>
              </a:ext>
            </a:extLst>
          </p:cNvPr>
          <p:cNvSpPr>
            <a:spLocks noGrp="1"/>
          </p:cNvSpPr>
          <p:nvPr>
            <p:ph idx="1"/>
          </p:nvPr>
        </p:nvSpPr>
        <p:spPr>
          <a:xfrm>
            <a:off x="864382" y="2489200"/>
            <a:ext cx="7625194" cy="3530600"/>
          </a:xfrm>
        </p:spPr>
        <p:txBody>
          <a:bodyPr>
            <a:normAutofit/>
          </a:bodyPr>
          <a:lstStyle/>
          <a:p>
            <a:r>
              <a:rPr lang="es-AR" sz="1600" dirty="0"/>
              <a:t>Vista UML simplificada de las clases intervinientes</a:t>
            </a:r>
          </a:p>
          <a:p>
            <a:r>
              <a:rPr lang="es-AR" sz="1600" dirty="0"/>
              <a:t>Pedido tiene una referencia a </a:t>
            </a:r>
            <a:r>
              <a:rPr lang="es-AR" sz="1600" dirty="0" err="1"/>
              <a:t>EstadoPedido</a:t>
            </a:r>
            <a:r>
              <a:rPr lang="es-AR" sz="1600" dirty="0"/>
              <a:t>. Cada estado concreto implementa el contrato y define las transiciones permitidas.</a:t>
            </a:r>
          </a:p>
        </p:txBody>
      </p:sp>
      <p:pic>
        <p:nvPicPr>
          <p:cNvPr id="4" name="Imagen 3">
            <a:extLst>
              <a:ext uri="{FF2B5EF4-FFF2-40B4-BE49-F238E27FC236}">
                <a16:creationId xmlns:a16="http://schemas.microsoft.com/office/drawing/2014/main" id="{BA7EC293-9C59-4040-5645-3BDBDF15CFB0}"/>
              </a:ext>
            </a:extLst>
          </p:cNvPr>
          <p:cNvPicPr>
            <a:picLocks noChangeAspect="1"/>
          </p:cNvPicPr>
          <p:nvPr/>
        </p:nvPicPr>
        <p:blipFill>
          <a:blip r:embed="rId2"/>
          <a:stretch>
            <a:fillRect/>
          </a:stretch>
        </p:blipFill>
        <p:spPr>
          <a:xfrm>
            <a:off x="1394806" y="3746524"/>
            <a:ext cx="6354388" cy="2823369"/>
          </a:xfrm>
          <a:prstGeom prst="rect">
            <a:avLst/>
          </a:prstGeom>
        </p:spPr>
      </p:pic>
    </p:spTree>
    <p:extLst>
      <p:ext uri="{BB962C8B-B14F-4D97-AF65-F5344CB8AC3E}">
        <p14:creationId xmlns:p14="http://schemas.microsoft.com/office/powerpoint/2010/main" val="3219921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211DD3-2DC0-BF59-2C9C-F124882DE248}"/>
              </a:ext>
            </a:extLst>
          </p:cNvPr>
          <p:cNvSpPr>
            <a:spLocks noGrp="1"/>
          </p:cNvSpPr>
          <p:nvPr>
            <p:ph type="title"/>
          </p:nvPr>
        </p:nvSpPr>
        <p:spPr/>
        <p:txBody>
          <a:bodyPr/>
          <a:lstStyle/>
          <a:p>
            <a:r>
              <a:rPr lang="es-AR" dirty="0"/>
              <a:t>Antes y después</a:t>
            </a:r>
          </a:p>
        </p:txBody>
      </p:sp>
      <p:sp>
        <p:nvSpPr>
          <p:cNvPr id="4" name="Shape 7">
            <a:extLst>
              <a:ext uri="{FF2B5EF4-FFF2-40B4-BE49-F238E27FC236}">
                <a16:creationId xmlns:a16="http://schemas.microsoft.com/office/drawing/2014/main" id="{2A48269F-82CE-B79B-458A-606C0FA70520}"/>
              </a:ext>
            </a:extLst>
          </p:cNvPr>
          <p:cNvSpPr/>
          <p:nvPr/>
        </p:nvSpPr>
        <p:spPr>
          <a:xfrm>
            <a:off x="597050" y="2601558"/>
            <a:ext cx="3407485" cy="2795195"/>
          </a:xfrm>
          <a:prstGeom prst="roundRect">
            <a:avLst>
              <a:gd name="adj" fmla="val 1818"/>
            </a:avLst>
          </a:prstGeom>
          <a:solidFill>
            <a:srgbClr val="242A44"/>
          </a:solidFill>
          <a:ln w="12700">
            <a:solidFill>
              <a:srgbClr val="38405F">
                <a:alpha val="85000"/>
              </a:srgbClr>
            </a:solidFill>
            <a:prstDash val="solid"/>
          </a:ln>
        </p:spPr>
        <p:txBody>
          <a:bodyPr/>
          <a:lstStyle/>
          <a:p>
            <a:endParaRPr lang="es-AR" sz="1400"/>
          </a:p>
        </p:txBody>
      </p:sp>
      <p:sp>
        <p:nvSpPr>
          <p:cNvPr id="5" name="Shape 8">
            <a:extLst>
              <a:ext uri="{FF2B5EF4-FFF2-40B4-BE49-F238E27FC236}">
                <a16:creationId xmlns:a16="http://schemas.microsoft.com/office/drawing/2014/main" id="{8E3AA191-5E6F-9585-9DC2-E7DFC3E36F0E}"/>
              </a:ext>
            </a:extLst>
          </p:cNvPr>
          <p:cNvSpPr/>
          <p:nvPr/>
        </p:nvSpPr>
        <p:spPr>
          <a:xfrm>
            <a:off x="597050" y="2601558"/>
            <a:ext cx="53451" cy="2795195"/>
          </a:xfrm>
          <a:prstGeom prst="rect">
            <a:avLst/>
          </a:prstGeom>
          <a:solidFill>
            <a:srgbClr val="FF5C7A"/>
          </a:solidFill>
          <a:ln w="12700">
            <a:solidFill>
              <a:srgbClr val="FF5C7A">
                <a:alpha val="0"/>
              </a:srgbClr>
            </a:solidFill>
            <a:prstDash val="solid"/>
          </a:ln>
        </p:spPr>
        <p:txBody>
          <a:bodyPr/>
          <a:lstStyle/>
          <a:p>
            <a:endParaRPr lang="es-AR" sz="1400"/>
          </a:p>
        </p:txBody>
      </p:sp>
      <p:sp>
        <p:nvSpPr>
          <p:cNvPr id="6" name="Text 9">
            <a:extLst>
              <a:ext uri="{FF2B5EF4-FFF2-40B4-BE49-F238E27FC236}">
                <a16:creationId xmlns:a16="http://schemas.microsoft.com/office/drawing/2014/main" id="{1F7C45E3-A26D-4FED-5E3D-9822BA1B0630}"/>
              </a:ext>
            </a:extLst>
          </p:cNvPr>
          <p:cNvSpPr/>
          <p:nvPr/>
        </p:nvSpPr>
        <p:spPr>
          <a:xfrm>
            <a:off x="761642" y="2738718"/>
            <a:ext cx="3173638" cy="165171"/>
          </a:xfrm>
          <a:prstGeom prst="rect">
            <a:avLst/>
          </a:prstGeom>
          <a:noFill/>
          <a:ln/>
        </p:spPr>
        <p:txBody>
          <a:bodyPr wrap="square" lIns="0" tIns="0" rIns="0" bIns="0" rtlCol="0" anchor="ctr">
            <a:noAutofit/>
          </a:bodyPr>
          <a:lstStyle/>
          <a:p>
            <a:pPr marL="0" indent="0">
              <a:buNone/>
            </a:pPr>
            <a:r>
              <a:rPr lang="en-US" sz="1400" b="1" dirty="0">
                <a:solidFill>
                  <a:srgbClr val="F4F6FF"/>
                </a:solidFill>
                <a:latin typeface="Aptos Display" pitchFamily="34" charset="0"/>
                <a:ea typeface="Aptos Display" pitchFamily="34" charset="-122"/>
                <a:cs typeface="Aptos Display" pitchFamily="34" charset="-120"/>
              </a:rPr>
              <a:t>ANTES</a:t>
            </a:r>
            <a:endParaRPr lang="en-US" sz="1400" dirty="0"/>
          </a:p>
        </p:txBody>
      </p:sp>
      <p:sp>
        <p:nvSpPr>
          <p:cNvPr id="7" name="Text 10">
            <a:extLst>
              <a:ext uri="{FF2B5EF4-FFF2-40B4-BE49-F238E27FC236}">
                <a16:creationId xmlns:a16="http://schemas.microsoft.com/office/drawing/2014/main" id="{91959160-46F4-7B76-27B7-BA1BB6BE5036}"/>
              </a:ext>
            </a:extLst>
          </p:cNvPr>
          <p:cNvSpPr/>
          <p:nvPr/>
        </p:nvSpPr>
        <p:spPr>
          <a:xfrm>
            <a:off x="761642" y="3077046"/>
            <a:ext cx="3173638" cy="2382268"/>
          </a:xfrm>
          <a:prstGeom prst="rect">
            <a:avLst/>
          </a:prstGeom>
          <a:noFill/>
          <a:ln/>
        </p:spPr>
        <p:txBody>
          <a:bodyPr wrap="square" lIns="254" tIns="254" rIns="254" bIns="254" rtlCol="0" anchor="t">
            <a:normAutofit/>
          </a:bodyPr>
          <a:lstStyle/>
          <a:p>
            <a:pPr marL="0" indent="0">
              <a:buNone/>
            </a:pPr>
            <a:r>
              <a:rPr lang="en-US" sz="1400" dirty="0">
                <a:solidFill>
                  <a:srgbClr val="B8BCD4"/>
                </a:solidFill>
                <a:latin typeface="Aptos" pitchFamily="34" charset="0"/>
                <a:ea typeface="Aptos" pitchFamily="34" charset="-122"/>
                <a:cs typeface="Aptos" pitchFamily="34" charset="-120"/>
              </a:rPr>
              <a:t>Pedido concentra la lógica.</a:t>
            </a:r>
            <a:endParaRPr lang="en-US" sz="1400" dirty="0"/>
          </a:p>
          <a:p>
            <a:pPr marL="0" indent="0">
              <a:buNone/>
            </a:pPr>
            <a:endParaRPr lang="en-US" sz="1400" dirty="0"/>
          </a:p>
          <a:p>
            <a:pPr marL="0" indent="0">
              <a:buNone/>
            </a:pPr>
            <a:r>
              <a:rPr lang="en-US" sz="1400" dirty="0">
                <a:solidFill>
                  <a:srgbClr val="B8BCD4"/>
                </a:solidFill>
                <a:latin typeface="Aptos" pitchFamily="34" charset="0"/>
                <a:ea typeface="Aptos" pitchFamily="34" charset="-122"/>
                <a:cs typeface="Aptos" pitchFamily="34" charset="-120"/>
              </a:rPr>
              <a:t>• muchos if/else o switch</a:t>
            </a:r>
            <a:endParaRPr lang="en-US" sz="1400" dirty="0"/>
          </a:p>
          <a:p>
            <a:pPr marL="0" indent="0">
              <a:buNone/>
            </a:pPr>
            <a:r>
              <a:rPr lang="en-US" sz="1400" dirty="0">
                <a:solidFill>
                  <a:srgbClr val="B8BCD4"/>
                </a:solidFill>
                <a:latin typeface="Aptos" pitchFamily="34" charset="0"/>
                <a:ea typeface="Aptos" pitchFamily="34" charset="-122"/>
                <a:cs typeface="Aptos" pitchFamily="34" charset="-120"/>
              </a:rPr>
              <a:t>• difícil agregar estados</a:t>
            </a:r>
            <a:endParaRPr lang="en-US" sz="1400" dirty="0"/>
          </a:p>
          <a:p>
            <a:pPr marL="0" indent="0">
              <a:buNone/>
            </a:pPr>
            <a:r>
              <a:rPr lang="en-US" sz="1400" dirty="0">
                <a:solidFill>
                  <a:srgbClr val="B8BCD4"/>
                </a:solidFill>
                <a:latin typeface="Aptos" pitchFamily="34" charset="0"/>
                <a:ea typeface="Aptos" pitchFamily="34" charset="-122"/>
                <a:cs typeface="Aptos" pitchFamily="34" charset="-120"/>
              </a:rPr>
              <a:t>• mayor riesgo de romper reglas</a:t>
            </a:r>
            <a:endParaRPr lang="en-US" sz="1400" dirty="0"/>
          </a:p>
          <a:p>
            <a:pPr marL="0" indent="0">
              <a:buNone/>
            </a:pPr>
            <a:r>
              <a:rPr lang="en-US" sz="1400" dirty="0">
                <a:solidFill>
                  <a:srgbClr val="B8BCD4"/>
                </a:solidFill>
                <a:latin typeface="Aptos" pitchFamily="34" charset="0"/>
                <a:ea typeface="Aptos" pitchFamily="34" charset="-122"/>
                <a:cs typeface="Aptos" pitchFamily="34" charset="-120"/>
              </a:rPr>
              <a:t>• baja cohesión en Pedido</a:t>
            </a:r>
            <a:endParaRPr lang="en-US" sz="1400" dirty="0"/>
          </a:p>
          <a:p>
            <a:pPr marL="0" indent="0">
              <a:buNone/>
            </a:pPr>
            <a:r>
              <a:rPr lang="en-US" sz="1400" dirty="0">
                <a:solidFill>
                  <a:srgbClr val="B8BCD4"/>
                </a:solidFill>
                <a:latin typeface="Aptos" pitchFamily="34" charset="0"/>
                <a:ea typeface="Aptos" pitchFamily="34" charset="-122"/>
                <a:cs typeface="Aptos" pitchFamily="34" charset="-120"/>
              </a:rPr>
              <a:t>• OCP débil</a:t>
            </a:r>
            <a:endParaRPr lang="en-US" sz="1400" dirty="0"/>
          </a:p>
        </p:txBody>
      </p:sp>
      <p:sp>
        <p:nvSpPr>
          <p:cNvPr id="8" name="Shape 11">
            <a:extLst>
              <a:ext uri="{FF2B5EF4-FFF2-40B4-BE49-F238E27FC236}">
                <a16:creationId xmlns:a16="http://schemas.microsoft.com/office/drawing/2014/main" id="{C8699CFE-0A9A-4B85-D583-87A8128BEB7B}"/>
              </a:ext>
            </a:extLst>
          </p:cNvPr>
          <p:cNvSpPr/>
          <p:nvPr/>
        </p:nvSpPr>
        <p:spPr>
          <a:xfrm>
            <a:off x="5208722" y="2601557"/>
            <a:ext cx="3407485" cy="2795195"/>
          </a:xfrm>
          <a:prstGeom prst="roundRect">
            <a:avLst>
              <a:gd name="adj" fmla="val 1818"/>
            </a:avLst>
          </a:prstGeom>
          <a:solidFill>
            <a:srgbClr val="242A44"/>
          </a:solidFill>
          <a:ln w="12700">
            <a:solidFill>
              <a:srgbClr val="38405F">
                <a:alpha val="85000"/>
              </a:srgbClr>
            </a:solidFill>
            <a:prstDash val="solid"/>
          </a:ln>
        </p:spPr>
        <p:txBody>
          <a:bodyPr/>
          <a:lstStyle/>
          <a:p>
            <a:endParaRPr lang="es-AR" sz="1400"/>
          </a:p>
        </p:txBody>
      </p:sp>
      <p:sp>
        <p:nvSpPr>
          <p:cNvPr id="9" name="Shape 12">
            <a:extLst>
              <a:ext uri="{FF2B5EF4-FFF2-40B4-BE49-F238E27FC236}">
                <a16:creationId xmlns:a16="http://schemas.microsoft.com/office/drawing/2014/main" id="{94A4BD48-482A-D08D-6475-064972E30FC2}"/>
              </a:ext>
            </a:extLst>
          </p:cNvPr>
          <p:cNvSpPr/>
          <p:nvPr/>
        </p:nvSpPr>
        <p:spPr>
          <a:xfrm>
            <a:off x="5208722" y="2601557"/>
            <a:ext cx="53451" cy="2795195"/>
          </a:xfrm>
          <a:prstGeom prst="rect">
            <a:avLst/>
          </a:prstGeom>
          <a:solidFill>
            <a:srgbClr val="58D68D"/>
          </a:solidFill>
          <a:ln w="12700">
            <a:solidFill>
              <a:srgbClr val="58D68D">
                <a:alpha val="0"/>
              </a:srgbClr>
            </a:solidFill>
            <a:prstDash val="solid"/>
          </a:ln>
        </p:spPr>
        <p:txBody>
          <a:bodyPr/>
          <a:lstStyle/>
          <a:p>
            <a:endParaRPr lang="es-AR" sz="1400"/>
          </a:p>
        </p:txBody>
      </p:sp>
      <p:sp>
        <p:nvSpPr>
          <p:cNvPr id="10" name="Text 13">
            <a:extLst>
              <a:ext uri="{FF2B5EF4-FFF2-40B4-BE49-F238E27FC236}">
                <a16:creationId xmlns:a16="http://schemas.microsoft.com/office/drawing/2014/main" id="{1263D2D5-0C9B-6430-AAE5-EDC76ADEB3A9}"/>
              </a:ext>
            </a:extLst>
          </p:cNvPr>
          <p:cNvSpPr/>
          <p:nvPr/>
        </p:nvSpPr>
        <p:spPr>
          <a:xfrm>
            <a:off x="5373314" y="2738717"/>
            <a:ext cx="3173638" cy="165171"/>
          </a:xfrm>
          <a:prstGeom prst="rect">
            <a:avLst/>
          </a:prstGeom>
          <a:noFill/>
          <a:ln/>
        </p:spPr>
        <p:txBody>
          <a:bodyPr wrap="square" lIns="0" tIns="0" rIns="0" bIns="0" rtlCol="0" anchor="ctr">
            <a:noAutofit/>
          </a:bodyPr>
          <a:lstStyle/>
          <a:p>
            <a:pPr marL="0" indent="0">
              <a:buNone/>
            </a:pPr>
            <a:r>
              <a:rPr lang="en-US" sz="1400" b="1" dirty="0">
                <a:solidFill>
                  <a:srgbClr val="F4F6FF"/>
                </a:solidFill>
                <a:latin typeface="Aptos Display" pitchFamily="34" charset="0"/>
                <a:ea typeface="Aptos Display" pitchFamily="34" charset="-122"/>
                <a:cs typeface="Aptos Display" pitchFamily="34" charset="-120"/>
              </a:rPr>
              <a:t>DESPUÉS</a:t>
            </a:r>
            <a:endParaRPr lang="en-US" sz="1400" dirty="0"/>
          </a:p>
        </p:txBody>
      </p:sp>
      <p:sp>
        <p:nvSpPr>
          <p:cNvPr id="11" name="Text 14">
            <a:extLst>
              <a:ext uri="{FF2B5EF4-FFF2-40B4-BE49-F238E27FC236}">
                <a16:creationId xmlns:a16="http://schemas.microsoft.com/office/drawing/2014/main" id="{8DF9B79C-E963-B4C2-8649-AEED73304549}"/>
              </a:ext>
            </a:extLst>
          </p:cNvPr>
          <p:cNvSpPr/>
          <p:nvPr/>
        </p:nvSpPr>
        <p:spPr>
          <a:xfrm>
            <a:off x="5373314" y="3077045"/>
            <a:ext cx="3173638" cy="2382268"/>
          </a:xfrm>
          <a:prstGeom prst="rect">
            <a:avLst/>
          </a:prstGeom>
          <a:noFill/>
          <a:ln/>
        </p:spPr>
        <p:txBody>
          <a:bodyPr wrap="square" lIns="254" tIns="254" rIns="254" bIns="254" rtlCol="0" anchor="t">
            <a:normAutofit/>
          </a:bodyPr>
          <a:lstStyle/>
          <a:p>
            <a:pPr marL="0" indent="0">
              <a:buNone/>
            </a:pPr>
            <a:r>
              <a:rPr lang="en-US" sz="1400" dirty="0">
                <a:solidFill>
                  <a:srgbClr val="B8BCD4"/>
                </a:solidFill>
                <a:latin typeface="Aptos" pitchFamily="34" charset="0"/>
                <a:ea typeface="Aptos" pitchFamily="34" charset="-122"/>
                <a:cs typeface="Aptos" pitchFamily="34" charset="-120"/>
              </a:rPr>
              <a:t>Pedido delega en estadoActual.</a:t>
            </a:r>
            <a:endParaRPr lang="en-US" sz="1400" dirty="0"/>
          </a:p>
          <a:p>
            <a:pPr marL="0" indent="0">
              <a:buNone/>
            </a:pPr>
            <a:endParaRPr lang="en-US" sz="1400" dirty="0"/>
          </a:p>
          <a:p>
            <a:pPr marL="0" indent="0">
              <a:buNone/>
            </a:pPr>
            <a:r>
              <a:rPr lang="en-US" sz="1400" dirty="0">
                <a:solidFill>
                  <a:srgbClr val="B8BCD4"/>
                </a:solidFill>
                <a:latin typeface="Aptos" pitchFamily="34" charset="0"/>
                <a:ea typeface="Aptos" pitchFamily="34" charset="-122"/>
                <a:cs typeface="Aptos" pitchFamily="34" charset="-120"/>
              </a:rPr>
              <a:t>• reglas distribuidas por estado</a:t>
            </a:r>
            <a:endParaRPr lang="en-US" sz="1400" dirty="0"/>
          </a:p>
          <a:p>
            <a:pPr marL="0" indent="0">
              <a:buNone/>
            </a:pPr>
            <a:r>
              <a:rPr lang="en-US" sz="1400" dirty="0">
                <a:solidFill>
                  <a:srgbClr val="B8BCD4"/>
                </a:solidFill>
                <a:latin typeface="Aptos" pitchFamily="34" charset="0"/>
                <a:ea typeface="Aptos" pitchFamily="34" charset="-122"/>
                <a:cs typeface="Aptos" pitchFamily="34" charset="-120"/>
              </a:rPr>
              <a:t>• agregar estado es más simple</a:t>
            </a:r>
            <a:endParaRPr lang="en-US" sz="1400" dirty="0"/>
          </a:p>
          <a:p>
            <a:pPr marL="0" indent="0">
              <a:buNone/>
            </a:pPr>
            <a:r>
              <a:rPr lang="en-US" sz="1400" dirty="0">
                <a:solidFill>
                  <a:srgbClr val="B8BCD4"/>
                </a:solidFill>
                <a:latin typeface="Aptos" pitchFamily="34" charset="0"/>
                <a:ea typeface="Aptos" pitchFamily="34" charset="-122"/>
                <a:cs typeface="Aptos" pitchFamily="34" charset="-120"/>
              </a:rPr>
              <a:t>• transiciones inválidas centralizadas</a:t>
            </a:r>
            <a:endParaRPr lang="en-US" sz="1400" dirty="0"/>
          </a:p>
          <a:p>
            <a:pPr marL="0" indent="0">
              <a:buNone/>
            </a:pPr>
            <a:r>
              <a:rPr lang="en-US" sz="1400" dirty="0">
                <a:solidFill>
                  <a:srgbClr val="B8BCD4"/>
                </a:solidFill>
                <a:latin typeface="Aptos" pitchFamily="34" charset="0"/>
                <a:ea typeface="Aptos" pitchFamily="34" charset="-122"/>
                <a:cs typeface="Aptos" pitchFamily="34" charset="-120"/>
              </a:rPr>
              <a:t>• alta cohesión por clase</a:t>
            </a:r>
            <a:endParaRPr lang="en-US" sz="1400" dirty="0"/>
          </a:p>
          <a:p>
            <a:pPr marL="0" indent="0">
              <a:buNone/>
            </a:pPr>
            <a:r>
              <a:rPr lang="en-US" sz="1400" dirty="0">
                <a:solidFill>
                  <a:srgbClr val="B8BCD4"/>
                </a:solidFill>
                <a:latin typeface="Aptos" pitchFamily="34" charset="0"/>
                <a:ea typeface="Aptos" pitchFamily="34" charset="-122"/>
                <a:cs typeface="Aptos" pitchFamily="34" charset="-120"/>
              </a:rPr>
              <a:t>• OCP más fuerte</a:t>
            </a:r>
            <a:endParaRPr lang="en-US" sz="1400" dirty="0"/>
          </a:p>
        </p:txBody>
      </p:sp>
      <p:sp>
        <p:nvSpPr>
          <p:cNvPr id="12" name="Shape 15">
            <a:extLst>
              <a:ext uri="{FF2B5EF4-FFF2-40B4-BE49-F238E27FC236}">
                <a16:creationId xmlns:a16="http://schemas.microsoft.com/office/drawing/2014/main" id="{66FCD3DF-5772-9A48-298E-B5DD322465B0}"/>
              </a:ext>
            </a:extLst>
          </p:cNvPr>
          <p:cNvSpPr/>
          <p:nvPr/>
        </p:nvSpPr>
        <p:spPr>
          <a:xfrm>
            <a:off x="4478461" y="3516317"/>
            <a:ext cx="187078" cy="412927"/>
          </a:xfrm>
          <a:prstGeom prst="chevron">
            <a:avLst/>
          </a:prstGeom>
          <a:solidFill>
            <a:srgbClr val="8A5CFF"/>
          </a:solidFill>
          <a:ln w="12700">
            <a:solidFill>
              <a:srgbClr val="8A5CFF">
                <a:alpha val="0"/>
              </a:srgbClr>
            </a:solidFill>
            <a:prstDash val="solid"/>
          </a:ln>
        </p:spPr>
        <p:txBody>
          <a:bodyPr/>
          <a:lstStyle/>
          <a:p>
            <a:endParaRPr lang="es-AR" sz="1400"/>
          </a:p>
        </p:txBody>
      </p:sp>
      <p:sp>
        <p:nvSpPr>
          <p:cNvPr id="13" name="Text 16">
            <a:extLst>
              <a:ext uri="{FF2B5EF4-FFF2-40B4-BE49-F238E27FC236}">
                <a16:creationId xmlns:a16="http://schemas.microsoft.com/office/drawing/2014/main" id="{650FA393-1F1A-9A0A-4E35-EA96D0EAC7CD}"/>
              </a:ext>
            </a:extLst>
          </p:cNvPr>
          <p:cNvSpPr/>
          <p:nvPr/>
        </p:nvSpPr>
        <p:spPr>
          <a:xfrm>
            <a:off x="4271339" y="4213413"/>
            <a:ext cx="601321" cy="127054"/>
          </a:xfrm>
          <a:prstGeom prst="rect">
            <a:avLst/>
          </a:prstGeom>
          <a:noFill/>
          <a:ln/>
        </p:spPr>
        <p:txBody>
          <a:bodyPr wrap="square" lIns="0" tIns="0" rIns="0" bIns="0" rtlCol="0" anchor="ctr"/>
          <a:lstStyle/>
          <a:p>
            <a:pPr marL="0" indent="0" algn="ctr">
              <a:buNone/>
            </a:pPr>
            <a:r>
              <a:rPr lang="en-US" sz="1400" b="1" dirty="0">
                <a:solidFill>
                  <a:srgbClr val="B497FF"/>
                </a:solidFill>
              </a:rPr>
              <a:t>State</a:t>
            </a:r>
            <a:endParaRPr lang="en-US" sz="1400" dirty="0"/>
          </a:p>
        </p:txBody>
      </p:sp>
    </p:spTree>
    <p:extLst>
      <p:ext uri="{BB962C8B-B14F-4D97-AF65-F5344CB8AC3E}">
        <p14:creationId xmlns:p14="http://schemas.microsoft.com/office/powerpoint/2010/main" val="2964763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C8CADC-5FA9-19B3-1F46-83F76A202928}"/>
              </a:ext>
            </a:extLst>
          </p:cNvPr>
          <p:cNvSpPr>
            <a:spLocks noGrp="1"/>
          </p:cNvSpPr>
          <p:nvPr>
            <p:ph type="title"/>
          </p:nvPr>
        </p:nvSpPr>
        <p:spPr/>
        <p:txBody>
          <a:bodyPr/>
          <a:lstStyle/>
          <a:p>
            <a:r>
              <a:rPr lang="es-AR" dirty="0"/>
              <a:t>Gracias!</a:t>
            </a:r>
          </a:p>
        </p:txBody>
      </p:sp>
      <p:pic>
        <p:nvPicPr>
          <p:cNvPr id="1030" name="Picture 6" descr="Para qué sirven las Preguntas? - INSM Blog ¿Para qué sirven las Preguntas?">
            <a:extLst>
              <a:ext uri="{FF2B5EF4-FFF2-40B4-BE49-F238E27FC236}">
                <a16:creationId xmlns:a16="http://schemas.microsoft.com/office/drawing/2014/main" id="{AEFA8919-1401-F664-2C40-645A64028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6100" y="4685465"/>
            <a:ext cx="2454023" cy="17832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01224076-C980-5F13-DE86-6AFDCD413530}"/>
              </a:ext>
            </a:extLst>
          </p:cNvPr>
          <p:cNvSpPr>
            <a:spLocks noGrp="1"/>
          </p:cNvSpPr>
          <p:nvPr>
            <p:ph idx="1"/>
          </p:nvPr>
        </p:nvSpPr>
        <p:spPr>
          <a:xfrm>
            <a:off x="864382" y="2489200"/>
            <a:ext cx="6213218" cy="3530600"/>
          </a:xfrm>
        </p:spPr>
        <p:txBody>
          <a:bodyPr>
            <a:normAutofit/>
          </a:bodyPr>
          <a:lstStyle/>
          <a:p>
            <a:r>
              <a:rPr lang="es-419" sz="2400" dirty="0"/>
              <a:t>Preguntas?</a:t>
            </a:r>
          </a:p>
          <a:p>
            <a:r>
              <a:rPr lang="es-419" sz="2400" dirty="0"/>
              <a:t>mailto: </a:t>
            </a:r>
            <a:r>
              <a:rPr lang="es-419" sz="2400" dirty="0">
                <a:solidFill>
                  <a:srgbClr val="0070C0"/>
                </a:solidFill>
              </a:rPr>
              <a:t>mstricagnoli@uade.edu.ar</a:t>
            </a:r>
            <a:endParaRPr sz="2400" dirty="0">
              <a:solidFill>
                <a:srgbClr val="0070C0"/>
              </a:solidFill>
            </a:endParaRPr>
          </a:p>
        </p:txBody>
      </p:sp>
    </p:spTree>
    <p:extLst>
      <p:ext uri="{BB962C8B-B14F-4D97-AF65-F5344CB8AC3E}">
        <p14:creationId xmlns:p14="http://schemas.microsoft.com/office/powerpoint/2010/main" val="35024851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a de reuniones Ion">
  <a:themeElements>
    <a:clrScheme name="Sala de reuniones 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Sala de reuniones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la de reuniones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358434839BD0E4EAAAF06F450293D30" ma:contentTypeVersion="3" ma:contentTypeDescription="Crear nuevo documento." ma:contentTypeScope="" ma:versionID="6c3ac9d209a2af0f43285baa666677c9">
  <xsd:schema xmlns:xsd="http://www.w3.org/2001/XMLSchema" xmlns:xs="http://www.w3.org/2001/XMLSchema" xmlns:p="http://schemas.microsoft.com/office/2006/metadata/properties" xmlns:ns2="0bae8a1c-04f4-4e38-bae2-21c1b7d9b3aa" targetNamespace="http://schemas.microsoft.com/office/2006/metadata/properties" ma:root="true" ma:fieldsID="c5f32b7e70e3171cc1864de2dea8615c" ns2:_="">
    <xsd:import namespace="0bae8a1c-04f4-4e38-bae2-21c1b7d9b3a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ae8a1c-04f4-4e38-bae2-21c1b7d9b3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4F8C317-3BC1-4C62-B29C-1EB4ACF3E306}"/>
</file>

<file path=customXml/itemProps2.xml><?xml version="1.0" encoding="utf-8"?>
<ds:datastoreItem xmlns:ds="http://schemas.openxmlformats.org/officeDocument/2006/customXml" ds:itemID="{B00527D0-BCCA-4CA5-A9D7-C20361143DBE}"/>
</file>

<file path=customXml/itemProps3.xml><?xml version="1.0" encoding="utf-8"?>
<ds:datastoreItem xmlns:ds="http://schemas.openxmlformats.org/officeDocument/2006/customXml" ds:itemID="{41874CA6-9DDB-465B-9E51-DDE8D1CD1178}"/>
</file>

<file path=docProps/app.xml><?xml version="1.0" encoding="utf-8"?>
<Properties xmlns="http://schemas.openxmlformats.org/officeDocument/2006/extended-properties" xmlns:vt="http://schemas.openxmlformats.org/officeDocument/2006/docPropsVTypes">
  <Template/>
  <TotalTime>2601</TotalTime>
  <Words>1745</Words>
  <Application>Microsoft Macintosh PowerPoint</Application>
  <PresentationFormat>Presentación en pantalla (4:3)</PresentationFormat>
  <Paragraphs>350</Paragraphs>
  <Slides>25</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25</vt:i4>
      </vt:variant>
    </vt:vector>
  </HeadingPairs>
  <TitlesOfParts>
    <vt:vector size="33" baseType="lpstr">
      <vt:lpstr>Aptos</vt:lpstr>
      <vt:lpstr>Aptos Display</vt:lpstr>
      <vt:lpstr>Arial</vt:lpstr>
      <vt:lpstr>Century Gothic</vt:lpstr>
      <vt:lpstr>Consolas</vt:lpstr>
      <vt:lpstr>Courier New</vt:lpstr>
      <vt:lpstr>Wingdings 3</vt:lpstr>
      <vt:lpstr>Sala de reuniones Ion</vt:lpstr>
      <vt:lpstr>Procesos de Desarrollo de Software</vt:lpstr>
      <vt:lpstr>Agenda de la clase</vt:lpstr>
      <vt:lpstr>State</vt:lpstr>
      <vt:lpstr>Componentes</vt:lpstr>
      <vt:lpstr>Diagrama UML</vt:lpstr>
      <vt:lpstr>Ejemplo</vt:lpstr>
      <vt:lpstr>Práctica</vt:lpstr>
      <vt:lpstr>Magic Café ☕✨</vt:lpstr>
      <vt:lpstr>Problema de diseño</vt:lpstr>
      <vt:lpstr>Patrón State</vt:lpstr>
      <vt:lpstr>Objetivo de la clase</vt:lpstr>
      <vt:lpstr>El pedido cambia de comportamiento</vt:lpstr>
      <vt:lpstr>Antes: una clase Pedido llena de condicionales</vt:lpstr>
      <vt:lpstr>La idea central del patrón State</vt:lpstr>
      <vt:lpstr>Aplicado a Magic Café</vt:lpstr>
      <vt:lpstr>Paso 1: Identificar estados y transiciones</vt:lpstr>
      <vt:lpstr>Paso 2: Crear el contrato EstadoPedido</vt:lpstr>
      <vt:lpstr>Paso 3: Crear una clase base para transiciones inválidas</vt:lpstr>
      <vt:lpstr>Paso 4: implementar estados concretos</vt:lpstr>
      <vt:lpstr>Pedido delega el comportamiento</vt:lpstr>
      <vt:lpstr>El service orquesta el caso de uso</vt:lpstr>
      <vt:lpstr>Resolver persistencia con JPA</vt:lpstr>
      <vt:lpstr>Diagrama UML</vt:lpstr>
      <vt:lpstr>Antes y después</vt:lpstr>
      <vt:lpstr>Gracias!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Stricagnoli Matias Damian</cp:lastModifiedBy>
  <cp:revision>610</cp:revision>
  <dcterms:created xsi:type="dcterms:W3CDTF">2013-01-27T09:14:16Z</dcterms:created>
  <dcterms:modified xsi:type="dcterms:W3CDTF">2026-05-26T00:41:18Z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0x010100F358434839BD0E4EAAAF06F450293D30</vt:lpwstr>
  </property>
</Properties>
</file>