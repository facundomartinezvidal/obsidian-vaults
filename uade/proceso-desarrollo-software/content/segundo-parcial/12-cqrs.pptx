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9" r:id="rId1"/>
  </p:sldMasterIdLst>
  <p:notesMasterIdLst>
    <p:notesMasterId r:id="rId36"/>
  </p:notesMasterIdLst>
  <p:sldIdLst>
    <p:sldId id="256" r:id="rId2"/>
    <p:sldId id="258" r:id="rId3"/>
    <p:sldId id="432" r:id="rId4"/>
    <p:sldId id="433" r:id="rId5"/>
    <p:sldId id="454" r:id="rId6"/>
    <p:sldId id="436" r:id="rId7"/>
    <p:sldId id="435" r:id="rId8"/>
    <p:sldId id="437" r:id="rId9"/>
    <p:sldId id="438" r:id="rId10"/>
    <p:sldId id="457" r:id="rId11"/>
    <p:sldId id="458" r:id="rId12"/>
    <p:sldId id="459" r:id="rId13"/>
    <p:sldId id="460" r:id="rId14"/>
    <p:sldId id="461" r:id="rId15"/>
    <p:sldId id="462" r:id="rId16"/>
    <p:sldId id="463" r:id="rId17"/>
    <p:sldId id="452" r:id="rId18"/>
    <p:sldId id="464" r:id="rId19"/>
    <p:sldId id="465" r:id="rId20"/>
    <p:sldId id="434" r:id="rId21"/>
    <p:sldId id="455" r:id="rId22"/>
    <p:sldId id="456" r:id="rId23"/>
    <p:sldId id="466" r:id="rId24"/>
    <p:sldId id="467" r:id="rId25"/>
    <p:sldId id="468" r:id="rId26"/>
    <p:sldId id="469" r:id="rId27"/>
    <p:sldId id="470" r:id="rId28"/>
    <p:sldId id="471" r:id="rId29"/>
    <p:sldId id="472" r:id="rId30"/>
    <p:sldId id="473" r:id="rId31"/>
    <p:sldId id="474" r:id="rId32"/>
    <p:sldId id="475" r:id="rId33"/>
    <p:sldId id="476" r:id="rId34"/>
    <p:sldId id="303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2E66"/>
    <a:srgbClr val="B31366"/>
    <a:srgbClr val="5D4E70"/>
    <a:srgbClr val="36234D"/>
    <a:srgbClr val="5F2D60"/>
    <a:srgbClr val="4C2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9"/>
    <p:restoredTop sz="90186"/>
  </p:normalViewPr>
  <p:slideViewPr>
    <p:cSldViewPr snapToGrid="0" snapToObjects="1">
      <p:cViewPr varScale="1">
        <p:scale>
          <a:sx n="190" d="100"/>
          <a:sy n="190" d="100"/>
        </p:scale>
        <p:origin x="42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C3094-54F3-9B4F-9FFC-2D3DC4BBE891}" type="datetimeFigureOut">
              <a:rPr lang="es-AR" smtClean="0"/>
              <a:t>12/6/26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8CE7-C04C-1242-8D65-EF1635ED09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037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113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4720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26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539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32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1505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0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6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2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7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3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5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4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09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3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5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6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14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06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03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72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13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6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04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  <p:sldLayoutId id="21474838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/>
              <a:t>Procesos de Desarrollo de Software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6626560" cy="86142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Clase </a:t>
            </a:r>
            <a:r>
              <a:rPr lang="es-419" dirty="0">
                <a:solidFill>
                  <a:schemeClr val="bg1"/>
                </a:solidFill>
              </a:rPr>
              <a:t>12</a:t>
            </a:r>
            <a:r>
              <a:rPr dirty="0">
                <a:solidFill>
                  <a:schemeClr val="bg1"/>
                </a:solidFill>
              </a:rPr>
              <a:t> –</a:t>
            </a:r>
            <a:r>
              <a:rPr lang="es-419" dirty="0">
                <a:solidFill>
                  <a:schemeClr val="bg1"/>
                </a:solidFill>
              </a:rPr>
              <a:t> Patrones de diseño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 de la </a:t>
            </a:r>
            <a:r>
              <a:rPr dirty="0" err="1"/>
              <a:t>clase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Observer</a:t>
            </a:r>
          </a:p>
          <a:p>
            <a:endParaRPr lang="es-4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2AC8A-4EDC-CD59-8C06-030C08DD0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Observer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ED74D0-CC3E-BC80-E395-3370F3879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199"/>
            <a:ext cx="7535339" cy="3951357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s-AR" dirty="0"/>
              <a:t>Es un patrón de </a:t>
            </a:r>
            <a:r>
              <a:rPr lang="es-AR" b="1" dirty="0"/>
              <a:t>Comportamiento.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b="1" u="sng" dirty="0"/>
              <a:t>¿Qué hace?</a:t>
            </a:r>
          </a:p>
          <a:p>
            <a:pPr algn="just"/>
            <a:r>
              <a:rPr lang="es-AR" dirty="0"/>
              <a:t>Permite notificar a los interesados de cierto sujeto los eventos que a </a:t>
            </a:r>
            <a:r>
              <a:rPr lang="es-AR" dirty="0" err="1"/>
              <a:t>éste</a:t>
            </a:r>
            <a:r>
              <a:rPr lang="es-AR" dirty="0"/>
              <a:t> le ocurren y que ellos actúen en consecuencia. </a:t>
            </a:r>
          </a:p>
          <a:p>
            <a:pPr algn="just"/>
            <a:r>
              <a:rPr lang="es-AR" dirty="0"/>
              <a:t>Desacopla las acciones que se ejecutan de los eventos que las activan.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/>
              <a:t>Se </a:t>
            </a:r>
            <a:r>
              <a:rPr lang="es-AR" b="1" dirty="0"/>
              <a:t>sugiere</a:t>
            </a:r>
            <a:r>
              <a:rPr lang="es-AR" dirty="0"/>
              <a:t> su utilización </a:t>
            </a:r>
            <a:r>
              <a:rPr lang="es-AR" b="1" dirty="0"/>
              <a:t>cuando</a:t>
            </a:r>
            <a:r>
              <a:rPr lang="es-AR" dirty="0"/>
              <a:t>: </a:t>
            </a:r>
          </a:p>
          <a:p>
            <a:pPr algn="just"/>
            <a:r>
              <a:rPr lang="es-AR" dirty="0"/>
              <a:t>Se requiere disparar acciones de diferentes naturalezas frente a la ocurrencia de un evento en algún objeto. </a:t>
            </a:r>
          </a:p>
          <a:p>
            <a:pPr algn="just"/>
            <a:r>
              <a:rPr lang="es-AR" dirty="0"/>
              <a:t>Se requiere notificar/avisar a algunos interesados de un objeto sobre la ocurrencia de algún evento y no interesa saber quiénes son y/o cuántos son.</a:t>
            </a:r>
          </a:p>
        </p:txBody>
      </p:sp>
    </p:spTree>
    <p:extLst>
      <p:ext uri="{BB962C8B-B14F-4D97-AF65-F5344CB8AC3E}">
        <p14:creationId xmlns:p14="http://schemas.microsoft.com/office/powerpoint/2010/main" val="156000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98D0C-5A1A-39B3-D9C5-75F6C53F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Componentes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FBC819-43F0-3581-7491-4B5448A3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73940" cy="3530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AR" b="1" dirty="0"/>
              <a:t>Interface (o clase abstracta) Observable: </a:t>
            </a:r>
            <a:r>
              <a:rPr lang="es-AR" dirty="0"/>
              <a:t>Define los mensajes principales que debe entender todo sujeto que permita ser observado. El mensaje más importante se denomina “notificar”, el cuál llamará a todos los observadores. </a:t>
            </a:r>
          </a:p>
          <a:p>
            <a:pPr algn="just"/>
            <a:r>
              <a:rPr lang="es-AR" b="1" dirty="0"/>
              <a:t>Sujetos concretos:</a:t>
            </a:r>
            <a:r>
              <a:rPr lang="es-AR" dirty="0"/>
              <a:t> Clases que implementan (o “heredan de”, si fuera clase abstracta) la interfaz Observable. Tienen el comportamiento real y eligen cuándo enviar notificaciones a sus observadores. </a:t>
            </a:r>
          </a:p>
          <a:p>
            <a:pPr algn="just"/>
            <a:r>
              <a:rPr lang="es-AR" b="1" dirty="0"/>
              <a:t>Interface </a:t>
            </a:r>
            <a:r>
              <a:rPr lang="es-AR" b="1" dirty="0" err="1"/>
              <a:t>Observer</a:t>
            </a:r>
            <a:r>
              <a:rPr lang="es-AR" b="1" dirty="0"/>
              <a:t>:</a:t>
            </a:r>
            <a:r>
              <a:rPr lang="es-AR" dirty="0"/>
              <a:t> Define el método que llamarán los observables cuando estos quieran notificar sobre algo. </a:t>
            </a:r>
          </a:p>
          <a:p>
            <a:pPr algn="just"/>
            <a:r>
              <a:rPr lang="es-AR" b="1" dirty="0"/>
              <a:t>Observadores Concretos:</a:t>
            </a:r>
            <a:r>
              <a:rPr lang="es-AR" dirty="0"/>
              <a:t> Clases que implementan la interfaz </a:t>
            </a:r>
            <a:r>
              <a:rPr lang="es-AR" dirty="0" err="1"/>
              <a:t>Observer</a:t>
            </a:r>
            <a:r>
              <a:rPr lang="es-AR" dirty="0"/>
              <a:t>, cuyos objetos actúan cuando los observables los llaman. </a:t>
            </a:r>
          </a:p>
        </p:txBody>
      </p:sp>
    </p:spTree>
    <p:extLst>
      <p:ext uri="{BB962C8B-B14F-4D97-AF65-F5344CB8AC3E}">
        <p14:creationId xmlns:p14="http://schemas.microsoft.com/office/powerpoint/2010/main" val="208845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F4BF-A049-701F-7CB3-26A72EB40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9172-7003-DF2D-D6DD-37CD8040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Diagrama UML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45F3519F-88D5-999C-0C49-7B3194926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53" y="2230552"/>
            <a:ext cx="7903494" cy="2242930"/>
          </a:xfrm>
        </p:spPr>
        <p:txBody>
          <a:bodyPr>
            <a:normAutofit fontScale="77500" lnSpcReduction="20000"/>
          </a:bodyPr>
          <a:lstStyle/>
          <a:p>
            <a:r>
              <a:rPr lang="es-AR" dirty="0"/>
              <a:t>Beneficios:</a:t>
            </a:r>
          </a:p>
          <a:p>
            <a:pPr lvl="1"/>
            <a:r>
              <a:rPr lang="es-AR" dirty="0"/>
              <a:t>Mayor mantenibilidad debido a que el comportamiento por cada estado es fácilmente localizable.</a:t>
            </a:r>
          </a:p>
          <a:p>
            <a:pPr lvl="1"/>
            <a:r>
              <a:rPr lang="es-AR" dirty="0"/>
              <a:t>Extensibilidad para incorporar nuevos estados (nuevos comportamientos).</a:t>
            </a:r>
          </a:p>
          <a:p>
            <a:pPr lvl="1"/>
            <a:r>
              <a:rPr lang="es-AR" dirty="0"/>
              <a:t>Mayor cohesión a la clase Contexto</a:t>
            </a:r>
          </a:p>
          <a:p>
            <a:r>
              <a:rPr lang="es-AR" dirty="0"/>
              <a:t>Code </a:t>
            </a:r>
            <a:r>
              <a:rPr lang="es-AR" dirty="0" err="1"/>
              <a:t>smells</a:t>
            </a:r>
            <a:r>
              <a:rPr lang="es-AR" dirty="0"/>
              <a:t> que soluciona/evita de forma directa:</a:t>
            </a:r>
          </a:p>
          <a:p>
            <a:pPr lvl="1"/>
            <a:r>
              <a:rPr lang="es-AR" dirty="0"/>
              <a:t>Métodos largos</a:t>
            </a:r>
          </a:p>
          <a:p>
            <a:pPr lvl="1"/>
            <a:r>
              <a:rPr lang="es-AR" dirty="0"/>
              <a:t>Clase 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589BC6-1E26-37F3-E40A-6513C611B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06" y="2841395"/>
            <a:ext cx="7772400" cy="343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95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FC907-DF7A-B4E3-FE1A-D6C508F9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F801A4-F0ED-8B49-C663-A6C05663E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07153"/>
            <a:ext cx="7772400" cy="358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FBB1F-4D27-C60D-64DF-E427F267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Práctica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C97FF7-67BE-9B10-80AE-78A792511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73940" cy="3530600"/>
          </a:xfrm>
        </p:spPr>
        <p:txBody>
          <a:bodyPr/>
          <a:lstStyle/>
          <a:p>
            <a:r>
              <a:rPr lang="es-AR" dirty="0"/>
              <a:t>Realizar el ejercicio de aplicación de patrones “</a:t>
            </a:r>
            <a:r>
              <a:rPr lang="es-AR" b="1" dirty="0" err="1"/>
              <a:t>Garbarisi</a:t>
            </a:r>
            <a:r>
              <a:rPr lang="es-AR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627595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41F50-EB85-570C-B305-B5AD8D3A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Magic Café ☕✨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B7B451-CF52-E0F0-C5D7-26043419F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535547" cy="780093"/>
          </a:xfrm>
        </p:spPr>
        <p:txBody>
          <a:bodyPr>
            <a:normAutofit/>
          </a:bodyPr>
          <a:lstStyle/>
          <a:p>
            <a:r>
              <a:rPr lang="es-AR" dirty="0"/>
              <a:t>Aplicar el patrón </a:t>
            </a:r>
            <a:r>
              <a:rPr lang="es-AR" dirty="0" err="1"/>
              <a:t>Observer</a:t>
            </a:r>
            <a:r>
              <a:rPr lang="es-AR" dirty="0"/>
              <a:t> para enviar notificaciones por distintos canales.</a:t>
            </a:r>
          </a:p>
          <a:p>
            <a:endParaRPr lang="es-AR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191BFC1B-BAD5-5BBF-6A77-95693C952140}"/>
              </a:ext>
            </a:extLst>
          </p:cNvPr>
          <p:cNvSpPr/>
          <p:nvPr/>
        </p:nvSpPr>
        <p:spPr>
          <a:xfrm>
            <a:off x="1265129" y="3273552"/>
            <a:ext cx="1508760" cy="310896"/>
          </a:xfrm>
          <a:prstGeom prst="rect">
            <a:avLst/>
          </a:prstGeom>
          <a:solidFill>
            <a:srgbClr val="082F49">
              <a:alpha val="95000"/>
            </a:srgbClr>
          </a:solidFill>
          <a:ln w="12700">
            <a:solidFill>
              <a:srgbClr val="22D3EE">
                <a:alpha val="7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</a:rPr>
              <a:t>JAVA + JPA</a:t>
            </a:r>
            <a:endParaRPr lang="en-US" sz="1150" dirty="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D44B32A9-959F-29DB-CA9E-D651945AD75F}"/>
              </a:ext>
            </a:extLst>
          </p:cNvPr>
          <p:cNvSpPr/>
          <p:nvPr/>
        </p:nvSpPr>
        <p:spPr>
          <a:xfrm>
            <a:off x="3002489" y="3273552"/>
            <a:ext cx="1417320" cy="310896"/>
          </a:xfrm>
          <a:prstGeom prst="rect">
            <a:avLst/>
          </a:prstGeom>
          <a:solidFill>
            <a:srgbClr val="1F2937">
              <a:alpha val="95000"/>
            </a:srgbClr>
          </a:solidFill>
          <a:ln w="12700">
            <a:solidFill>
              <a:srgbClr val="34D399">
                <a:alpha val="7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D399"/>
                </a:solidFill>
              </a:rPr>
              <a:t>OBSERVER</a:t>
            </a:r>
            <a:endParaRPr lang="en-US" sz="115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38922E35-FB71-6102-AE8B-65DEF6247E68}"/>
              </a:ext>
            </a:extLst>
          </p:cNvPr>
          <p:cNvSpPr/>
          <p:nvPr/>
        </p:nvSpPr>
        <p:spPr>
          <a:xfrm>
            <a:off x="4778980" y="4097264"/>
            <a:ext cx="1417320" cy="1078992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B"/>
                </a:solidFill>
              </a:rPr>
              <a:t>☕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F7FB"/>
                </a:solidFill>
              </a:rPr>
              <a:t>Pedido</a:t>
            </a:r>
            <a:endParaRPr lang="en-US" sz="18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569885C0-13ED-0C67-A7C8-0840869E7EB7}"/>
              </a:ext>
            </a:extLst>
          </p:cNvPr>
          <p:cNvSpPr/>
          <p:nvPr/>
        </p:nvSpPr>
        <p:spPr>
          <a:xfrm>
            <a:off x="6837306" y="3136392"/>
            <a:ext cx="1234440" cy="896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📲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Push</a:t>
            </a:r>
            <a:endParaRPr lang="en-US" sz="16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6A714896-1848-4C3A-7E42-AA6972AC6A8D}"/>
              </a:ext>
            </a:extLst>
          </p:cNvPr>
          <p:cNvSpPr/>
          <p:nvPr/>
        </p:nvSpPr>
        <p:spPr>
          <a:xfrm>
            <a:off x="7293880" y="4372711"/>
            <a:ext cx="1234440" cy="896112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✉️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Email</a:t>
            </a:r>
            <a:endParaRPr lang="en-US" sz="16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25B7E2A3-EDA4-4AA2-24BF-F241EAC575D1}"/>
              </a:ext>
            </a:extLst>
          </p:cNvPr>
          <p:cNvSpPr/>
          <p:nvPr/>
        </p:nvSpPr>
        <p:spPr>
          <a:xfrm>
            <a:off x="6479688" y="5495544"/>
            <a:ext cx="1234440" cy="896112"/>
          </a:xfrm>
          <a:prstGeom prst="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📊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Report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43601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D3AAB-2A40-D4A6-E935-CB653829D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Punto de partida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F48CA7-058A-884A-8F60-6546DD1EE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284" y="2311393"/>
            <a:ext cx="7741736" cy="709859"/>
          </a:xfrm>
        </p:spPr>
        <p:txBody>
          <a:bodyPr>
            <a:normAutofit/>
          </a:bodyPr>
          <a:lstStyle/>
          <a:p>
            <a:r>
              <a:rPr lang="es-AR" dirty="0"/>
              <a:t>El pedido ya podía armarse, cobrarse y avanzar por estados.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21DA952-4A19-9DF3-DBC2-FDB022A23B7F}"/>
              </a:ext>
            </a:extLst>
          </p:cNvPr>
          <p:cNvSpPr/>
          <p:nvPr/>
        </p:nvSpPr>
        <p:spPr>
          <a:xfrm>
            <a:off x="238620" y="3066371"/>
            <a:ext cx="1500709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60A5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Strategy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Descuentos</a:t>
            </a:r>
            <a:endParaRPr lang="en-US" sz="16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929462A-3BBF-6FB4-B647-0390B39B7316}"/>
              </a:ext>
            </a:extLst>
          </p:cNvPr>
          <p:cNvSpPr/>
          <p:nvPr/>
        </p:nvSpPr>
        <p:spPr>
          <a:xfrm>
            <a:off x="2021701" y="3066371"/>
            <a:ext cx="1500709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Decorator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Extras</a:t>
            </a:r>
            <a:endParaRPr lang="en-US" sz="16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D2AB7DA-6E3B-72CB-C40B-C388EECF0CDE}"/>
              </a:ext>
            </a:extLst>
          </p:cNvPr>
          <p:cNvSpPr/>
          <p:nvPr/>
        </p:nvSpPr>
        <p:spPr>
          <a:xfrm>
            <a:off x="3855778" y="3066371"/>
            <a:ext cx="1500709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Composite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Combos</a:t>
            </a:r>
            <a:endParaRPr lang="en-US" sz="16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F54DEC0-8B79-8131-59B9-FFECBC4BFB61}"/>
              </a:ext>
            </a:extLst>
          </p:cNvPr>
          <p:cNvSpPr/>
          <p:nvPr/>
        </p:nvSpPr>
        <p:spPr>
          <a:xfrm>
            <a:off x="5621789" y="3066371"/>
            <a:ext cx="1500709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State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Estados</a:t>
            </a:r>
            <a:endParaRPr lang="en-US" sz="16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E990EDF-4B34-CB70-B8F8-E4671EF52CA4}"/>
              </a:ext>
            </a:extLst>
          </p:cNvPr>
          <p:cNvSpPr/>
          <p:nvPr/>
        </p:nvSpPr>
        <p:spPr>
          <a:xfrm>
            <a:off x="7450411" y="3066371"/>
            <a:ext cx="1500709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Ahora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Observer</a:t>
            </a:r>
            <a:endParaRPr lang="en-US" sz="16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8987BD9-10C6-F49A-0DEA-3F95567196EB}"/>
              </a:ext>
            </a:extLst>
          </p:cNvPr>
          <p:cNvSpPr/>
          <p:nvPr/>
        </p:nvSpPr>
        <p:spPr>
          <a:xfrm>
            <a:off x="1776190" y="3523571"/>
            <a:ext cx="219674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EF635F9-345C-339F-10C7-D469282E7FF6}"/>
              </a:ext>
            </a:extLst>
          </p:cNvPr>
          <p:cNvSpPr/>
          <p:nvPr/>
        </p:nvSpPr>
        <p:spPr>
          <a:xfrm>
            <a:off x="3566629" y="3523571"/>
            <a:ext cx="24493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61F987A-8968-DC1C-F371-5E80EB826848}"/>
              </a:ext>
            </a:extLst>
          </p:cNvPr>
          <p:cNvSpPr/>
          <p:nvPr/>
        </p:nvSpPr>
        <p:spPr>
          <a:xfrm>
            <a:off x="5380775" y="3523571"/>
            <a:ext cx="22603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65059711-0D9D-FA38-0F6F-1E55CD2F2C70}"/>
              </a:ext>
            </a:extLst>
          </p:cNvPr>
          <p:cNvSpPr/>
          <p:nvPr/>
        </p:nvSpPr>
        <p:spPr>
          <a:xfrm>
            <a:off x="7168111" y="3523571"/>
            <a:ext cx="226134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EAC1C2C4-0B33-F8BD-3E4B-7C46ACB649A7}"/>
              </a:ext>
            </a:extLst>
          </p:cNvPr>
          <p:cNvSpPr txBox="1">
            <a:spLocks/>
          </p:cNvSpPr>
          <p:nvPr/>
        </p:nvSpPr>
        <p:spPr>
          <a:xfrm>
            <a:off x="576283" y="4401506"/>
            <a:ext cx="4064609" cy="21120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Problemas nuevo:</a:t>
            </a:r>
          </a:p>
          <a:p>
            <a:pPr lvl="1"/>
            <a:r>
              <a:rPr lang="es-AR" dirty="0"/>
              <a:t>Cada vez que un pedido cambia de estado necesitamos avisar a distintos sistemas: app del cliente, email y </a:t>
            </a:r>
            <a:r>
              <a:rPr lang="es-AR" dirty="0" err="1"/>
              <a:t>reporting</a:t>
            </a:r>
            <a:r>
              <a:rPr lang="es-AR" dirty="0"/>
              <a:t>.</a:t>
            </a:r>
          </a:p>
          <a:p>
            <a:pPr lvl="1"/>
            <a:r>
              <a:rPr lang="es-AR" dirty="0"/>
              <a:t>La clase Pedido no debería conocer </a:t>
            </a:r>
            <a:r>
              <a:rPr lang="es-AR" b="1" dirty="0" err="1"/>
              <a:t>Firebase</a:t>
            </a:r>
            <a:r>
              <a:rPr lang="es-AR" dirty="0"/>
              <a:t>, </a:t>
            </a:r>
            <a:r>
              <a:rPr lang="es-AR" b="1" dirty="0" err="1"/>
              <a:t>JavaMail</a:t>
            </a:r>
            <a:r>
              <a:rPr lang="es-AR" dirty="0"/>
              <a:t> ni </a:t>
            </a:r>
            <a:r>
              <a:rPr lang="es-AR" b="1" dirty="0"/>
              <a:t>reportes</a:t>
            </a:r>
            <a:r>
              <a:rPr lang="es-AR" dirty="0"/>
              <a:t>.</a:t>
            </a:r>
          </a:p>
          <a:p>
            <a:endParaRPr lang="es-AR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F9FC4743-3CB7-5B79-B616-3C397062C3E1}"/>
              </a:ext>
            </a:extLst>
          </p:cNvPr>
          <p:cNvSpPr/>
          <p:nvPr/>
        </p:nvSpPr>
        <p:spPr>
          <a:xfrm>
            <a:off x="4728575" y="4913329"/>
            <a:ext cx="1828800" cy="82296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7FB"/>
                </a:solidFill>
              </a:rPr>
              <a:t>Pedido cambia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5F7FB"/>
                </a:solidFill>
              </a:rPr>
              <a:t>de estado</a:t>
            </a:r>
            <a:endParaRPr lang="en-US" sz="17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875C5892-A8E4-4C55-07CC-42C4E1166D82}"/>
              </a:ext>
            </a:extLst>
          </p:cNvPr>
          <p:cNvSpPr/>
          <p:nvPr/>
        </p:nvSpPr>
        <p:spPr>
          <a:xfrm>
            <a:off x="7563215" y="4364689"/>
            <a:ext cx="1325880" cy="50292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Push</a:t>
            </a:r>
            <a:endParaRPr lang="en-US" sz="15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F343DE3B-131B-D9B5-DAD7-C5327D1136F3}"/>
              </a:ext>
            </a:extLst>
          </p:cNvPr>
          <p:cNvSpPr/>
          <p:nvPr/>
        </p:nvSpPr>
        <p:spPr>
          <a:xfrm>
            <a:off x="7563215" y="5187649"/>
            <a:ext cx="1325880" cy="502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Email</a:t>
            </a:r>
            <a:endParaRPr lang="en-US" sz="150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68C93B29-C05A-F093-C7DE-62CED605DC21}"/>
              </a:ext>
            </a:extLst>
          </p:cNvPr>
          <p:cNvSpPr/>
          <p:nvPr/>
        </p:nvSpPr>
        <p:spPr>
          <a:xfrm>
            <a:off x="7563215" y="6010609"/>
            <a:ext cx="1325880" cy="502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Reporting</a:t>
            </a:r>
            <a:endParaRPr lang="en-US" sz="150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C86F6A04-88BC-B437-92FE-F0049DCB890F}"/>
              </a:ext>
            </a:extLst>
          </p:cNvPr>
          <p:cNvSpPr/>
          <p:nvPr/>
        </p:nvSpPr>
        <p:spPr>
          <a:xfrm flipV="1">
            <a:off x="6557375" y="4614950"/>
            <a:ext cx="893036" cy="709859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E6813EA1-FE87-D670-5648-AEBA58DE07DA}"/>
              </a:ext>
            </a:extLst>
          </p:cNvPr>
          <p:cNvSpPr/>
          <p:nvPr/>
        </p:nvSpPr>
        <p:spPr>
          <a:xfrm>
            <a:off x="6557375" y="5324809"/>
            <a:ext cx="1005840" cy="91440"/>
          </a:xfrm>
          <a:prstGeom prst="line">
            <a:avLst/>
          </a:prstGeom>
          <a:noFill/>
          <a:ln w="254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BFBE0551-705E-7D23-149F-A8B6512DC112}"/>
              </a:ext>
            </a:extLst>
          </p:cNvPr>
          <p:cNvSpPr/>
          <p:nvPr/>
        </p:nvSpPr>
        <p:spPr>
          <a:xfrm>
            <a:off x="6557375" y="5324809"/>
            <a:ext cx="1005840" cy="9144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5784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BF719-04DD-2340-2CE8-5F0F5E46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Antes y después del </a:t>
            </a:r>
            <a:r>
              <a:rPr lang="es-AR" dirty="0" err="1"/>
              <a:t>Observer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174EE3-7B51-36B0-7262-A8917DC73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90686" cy="705683"/>
          </a:xfrm>
        </p:spPr>
        <p:txBody>
          <a:bodyPr/>
          <a:lstStyle/>
          <a:p>
            <a:r>
              <a:rPr lang="es-AR" dirty="0"/>
              <a:t>La mejora es desacoplar el evento de cambio de estado de las acciones que se disparan.</a:t>
            </a:r>
          </a:p>
          <a:p>
            <a:endParaRPr lang="es-AR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E6615C71-75EC-C5C9-9527-DBB4C2A9938B}"/>
              </a:ext>
            </a:extLst>
          </p:cNvPr>
          <p:cNvSpPr/>
          <p:nvPr/>
        </p:nvSpPr>
        <p:spPr>
          <a:xfrm>
            <a:off x="777240" y="3224199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B7185"/>
                </a:solidFill>
              </a:rPr>
              <a:t>ANTES</a:t>
            </a:r>
            <a:endParaRPr lang="en-US" sz="18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EA927413-6D69-9CF4-4A92-FAC5D5FDF2AE}"/>
              </a:ext>
            </a:extLst>
          </p:cNvPr>
          <p:cNvSpPr/>
          <p:nvPr/>
        </p:nvSpPr>
        <p:spPr>
          <a:xfrm>
            <a:off x="777240" y="3663111"/>
            <a:ext cx="3024409" cy="1316725"/>
          </a:xfrm>
          <a:prstGeom prst="rect">
            <a:avLst/>
          </a:prstGeom>
          <a:solidFill>
            <a:srgbClr val="050A16"/>
          </a:solidFill>
          <a:ln w="12700">
            <a:solidFill>
              <a:srgbClr val="2D3B5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public void cambiarEstado(...)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this.estado = nuevoEstado;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firebase.enviar(...);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</a:t>
            </a:r>
            <a:r>
              <a:rPr lang="en-US" sz="1100" dirty="0" err="1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email.enviar</a:t>
            </a: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(...);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</a:t>
            </a:r>
            <a:r>
              <a:rPr lang="en-US" sz="1100" dirty="0" err="1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reporting.informar</a:t>
            </a: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(...);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1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E3C8D165-1934-9421-1741-A86D2EEA4718}"/>
              </a:ext>
            </a:extLst>
          </p:cNvPr>
          <p:cNvSpPr/>
          <p:nvPr/>
        </p:nvSpPr>
        <p:spPr>
          <a:xfrm>
            <a:off x="777239" y="5228989"/>
            <a:ext cx="3218563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/>
              <a:t>Problema</a:t>
            </a:r>
            <a:r>
              <a:rPr lang="en-US" sz="1400" dirty="0"/>
              <a:t>: Pedido </a:t>
            </a:r>
            <a:r>
              <a:rPr lang="en-US" sz="1400" dirty="0" err="1"/>
              <a:t>queda</a:t>
            </a:r>
            <a:r>
              <a:rPr lang="en-US" sz="1400" dirty="0"/>
              <a:t> </a:t>
            </a:r>
            <a:r>
              <a:rPr lang="en-US" sz="1400" dirty="0" err="1"/>
              <a:t>acoplado</a:t>
            </a:r>
            <a:r>
              <a:rPr lang="en-US" sz="1400" dirty="0"/>
              <a:t> a integraciones externas.</a:t>
            </a: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239BEE76-19AE-12E4-C2FD-00F7B540CB1E}"/>
              </a:ext>
            </a:extLst>
          </p:cNvPr>
          <p:cNvSpPr/>
          <p:nvPr/>
        </p:nvSpPr>
        <p:spPr>
          <a:xfrm>
            <a:off x="4572000" y="3224199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</a:rPr>
              <a:t>DESPUÉS</a:t>
            </a:r>
            <a:endParaRPr lang="en-US" sz="18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1A2CEFDA-67B0-0BC4-9C82-FB94B6177292}"/>
              </a:ext>
            </a:extLst>
          </p:cNvPr>
          <p:cNvSpPr/>
          <p:nvPr/>
        </p:nvSpPr>
        <p:spPr>
          <a:xfrm>
            <a:off x="4572000" y="3663111"/>
            <a:ext cx="3024409" cy="1316714"/>
          </a:xfrm>
          <a:prstGeom prst="rect">
            <a:avLst/>
          </a:prstGeom>
          <a:solidFill>
            <a:srgbClr val="050A16"/>
          </a:solidFill>
          <a:ln w="12700">
            <a:solidFill>
              <a:srgbClr val="2D3B5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public void cambiarEstado(...)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</a:t>
            </a:r>
            <a:r>
              <a:rPr lang="en-US" sz="1100" dirty="0" err="1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this.estado</a:t>
            </a: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= nuevoEstado;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notificarObservers(evento);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</a:p>
          <a:p>
            <a:pPr marL="0" indent="0">
              <a:buNone/>
            </a:pPr>
            <a:r>
              <a:rPr lang="en-US" sz="1100" dirty="0"/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</a:t>
            </a:r>
            <a:r>
              <a:rPr lang="en-US" sz="1100" dirty="0" err="1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observer.actualizar</a:t>
            </a: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(evento);</a:t>
            </a:r>
            <a:endParaRPr lang="en-US" sz="11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B65133A8-BAE7-B272-9714-079A053718C4}"/>
              </a:ext>
            </a:extLst>
          </p:cNvPr>
          <p:cNvSpPr/>
          <p:nvPr/>
        </p:nvSpPr>
        <p:spPr>
          <a:xfrm>
            <a:off x="4572000" y="5228978"/>
            <a:ext cx="3275556" cy="752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/>
              <a:t>Beneficio</a:t>
            </a:r>
            <a:r>
              <a:rPr lang="en-US" sz="1400" dirty="0"/>
              <a:t>: puedo agregar más avisos sin tocar la lógica central del pedido.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F667A681-0AA2-01DB-7E0A-261D37C7A2D6}"/>
              </a:ext>
            </a:extLst>
          </p:cNvPr>
          <p:cNvSpPr/>
          <p:nvPr/>
        </p:nvSpPr>
        <p:spPr>
          <a:xfrm>
            <a:off x="3887953" y="4090374"/>
            <a:ext cx="464842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8DC0CC74-61BE-4DFD-122B-3EBCB4CAAD4F}"/>
              </a:ext>
            </a:extLst>
          </p:cNvPr>
          <p:cNvSpPr/>
          <p:nvPr/>
        </p:nvSpPr>
        <p:spPr>
          <a:xfrm>
            <a:off x="3836910" y="4202601"/>
            <a:ext cx="5669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</a:rPr>
              <a:t>OCP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87573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B2B5E-B32C-002A-FE7E-571E564B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680962" cy="709865"/>
          </a:xfrm>
        </p:spPr>
        <p:txBody>
          <a:bodyPr/>
          <a:lstStyle/>
          <a:p>
            <a:r>
              <a:rPr lang="es-AR" dirty="0"/>
              <a:t>Qué resuelve el patrón </a:t>
            </a:r>
            <a:r>
              <a:rPr lang="es-AR" dirty="0" err="1"/>
              <a:t>Observer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3743C6-AA6B-F8F2-D1F6-E23099F77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609476" cy="823934"/>
          </a:xfrm>
        </p:spPr>
        <p:txBody>
          <a:bodyPr/>
          <a:lstStyle/>
          <a:p>
            <a:r>
              <a:rPr lang="es-AR" dirty="0"/>
              <a:t>Un objeto Subject avisa automáticamente a muchos </a:t>
            </a:r>
            <a:r>
              <a:rPr lang="es-AR" dirty="0" err="1"/>
              <a:t>Observer</a:t>
            </a:r>
            <a:r>
              <a:rPr lang="es-AR" dirty="0"/>
              <a:t> cuando ocurre un evento.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52C5D8BA-715E-878B-EDFA-0898AE14559A}"/>
              </a:ext>
            </a:extLst>
          </p:cNvPr>
          <p:cNvSpPr/>
          <p:nvPr/>
        </p:nvSpPr>
        <p:spPr>
          <a:xfrm flipV="1">
            <a:off x="2510842" y="3645450"/>
            <a:ext cx="889974" cy="251399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553B5268-773F-4A89-B802-4F9E62153EC0}"/>
              </a:ext>
            </a:extLst>
          </p:cNvPr>
          <p:cNvSpPr/>
          <p:nvPr/>
        </p:nvSpPr>
        <p:spPr>
          <a:xfrm>
            <a:off x="2510842" y="4194090"/>
            <a:ext cx="889974" cy="223573"/>
          </a:xfrm>
          <a:prstGeom prst="line">
            <a:avLst/>
          </a:prstGeom>
          <a:noFill/>
          <a:ln w="254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EB9457C2-3DDA-8BFE-CA77-11B7029B82E5}"/>
              </a:ext>
            </a:extLst>
          </p:cNvPr>
          <p:cNvSpPr/>
          <p:nvPr/>
        </p:nvSpPr>
        <p:spPr>
          <a:xfrm>
            <a:off x="2510842" y="4417664"/>
            <a:ext cx="822960" cy="576588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E08AB086-62B5-38BA-4C06-C07BC4D96E40}"/>
              </a:ext>
            </a:extLst>
          </p:cNvPr>
          <p:cNvSpPr/>
          <p:nvPr/>
        </p:nvSpPr>
        <p:spPr>
          <a:xfrm>
            <a:off x="362002" y="3645451"/>
            <a:ext cx="2148840" cy="105156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B"/>
                </a:solidFill>
              </a:rPr>
              <a:t>Subject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5F7FB"/>
                </a:solidFill>
              </a:rPr>
              <a:t>Pedido</a:t>
            </a:r>
            <a:endParaRPr lang="en-US" sz="20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02ED1EAC-FA23-A853-5532-6D10175EC6E4}"/>
              </a:ext>
            </a:extLst>
          </p:cNvPr>
          <p:cNvSpPr/>
          <p:nvPr/>
        </p:nvSpPr>
        <p:spPr>
          <a:xfrm>
            <a:off x="3448415" y="3313134"/>
            <a:ext cx="205740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Observer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FirebasePush</a:t>
            </a:r>
            <a:endParaRPr lang="en-US" sz="16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323464CC-0347-CF6B-1BE8-A6A7A9CD03D9}"/>
              </a:ext>
            </a:extLst>
          </p:cNvPr>
          <p:cNvSpPr/>
          <p:nvPr/>
        </p:nvSpPr>
        <p:spPr>
          <a:xfrm>
            <a:off x="3448415" y="4136094"/>
            <a:ext cx="205740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Observer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Email</a:t>
            </a:r>
            <a:endParaRPr lang="en-US" sz="16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47B1E680-8C6D-8AC4-D599-6947131E2B14}"/>
              </a:ext>
            </a:extLst>
          </p:cNvPr>
          <p:cNvSpPr/>
          <p:nvPr/>
        </p:nvSpPr>
        <p:spPr>
          <a:xfrm>
            <a:off x="3448415" y="4968198"/>
            <a:ext cx="205740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Observer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Reporting</a:t>
            </a:r>
            <a:endParaRPr lang="en-US" sz="16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2803F3E5-7C6A-97B4-45C3-3914C9AF387C}"/>
              </a:ext>
            </a:extLst>
          </p:cNvPr>
          <p:cNvSpPr/>
          <p:nvPr/>
        </p:nvSpPr>
        <p:spPr>
          <a:xfrm>
            <a:off x="6328775" y="4039566"/>
            <a:ext cx="2606040" cy="960120"/>
          </a:xfrm>
          <a:prstGeom prst="rect">
            <a:avLst/>
          </a:prstGeom>
          <a:solidFill>
            <a:srgbClr val="050A16"/>
          </a:solidFill>
          <a:ln w="1905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B"/>
                </a:solidFill>
              </a:rPr>
              <a:t>PedidoEstadoCambiadoEvent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7FB"/>
                </a:solidFill>
              </a:rPr>
              <a:t>{id, anterior, nuevo, fecha}</a:t>
            </a:r>
            <a:endParaRPr lang="en-US" sz="12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4F435ABF-619C-73A8-4B1B-F94787A86FDE}"/>
              </a:ext>
            </a:extLst>
          </p:cNvPr>
          <p:cNvSpPr/>
          <p:nvPr/>
        </p:nvSpPr>
        <p:spPr>
          <a:xfrm>
            <a:off x="5505815" y="4501854"/>
            <a:ext cx="775988" cy="2004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8E156482-FAAA-17D4-54BB-8CCE1047FD21}"/>
              </a:ext>
            </a:extLst>
          </p:cNvPr>
          <p:cNvSpPr/>
          <p:nvPr/>
        </p:nvSpPr>
        <p:spPr>
          <a:xfrm>
            <a:off x="5505815" y="3625407"/>
            <a:ext cx="775988" cy="539963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8823A05-0216-E94E-99CC-99710B199C6F}"/>
              </a:ext>
            </a:extLst>
          </p:cNvPr>
          <p:cNvSpPr/>
          <p:nvPr/>
        </p:nvSpPr>
        <p:spPr>
          <a:xfrm flipV="1">
            <a:off x="5505815" y="4849326"/>
            <a:ext cx="822960" cy="455446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369EABFB-D2D2-18DB-AADD-1699AB55F5A3}"/>
              </a:ext>
            </a:extLst>
          </p:cNvPr>
          <p:cNvSpPr txBox="1">
            <a:spLocks/>
          </p:cNvSpPr>
          <p:nvPr/>
        </p:nvSpPr>
        <p:spPr>
          <a:xfrm>
            <a:off x="864382" y="5865907"/>
            <a:ext cx="7609476" cy="8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El pedido solo publica “</a:t>
            </a:r>
            <a:r>
              <a:rPr lang="es-AR" b="1" dirty="0"/>
              <a:t>pasó algo</a:t>
            </a:r>
            <a:r>
              <a:rPr lang="es-AR" dirty="0"/>
              <a:t>”. Cada observador decide qué hacer con ese evento.</a:t>
            </a:r>
          </a:p>
        </p:txBody>
      </p:sp>
    </p:spTree>
    <p:extLst>
      <p:ext uri="{BB962C8B-B14F-4D97-AF65-F5344CB8AC3E}">
        <p14:creationId xmlns:p14="http://schemas.microsoft.com/office/powerpoint/2010/main" val="200529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C48F6-56B2-113D-0732-6FFC55EA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693488" cy="709865"/>
          </a:xfrm>
        </p:spPr>
        <p:txBody>
          <a:bodyPr/>
          <a:lstStyle/>
          <a:p>
            <a:r>
              <a:rPr lang="es-AR" dirty="0"/>
              <a:t>Dónde vive cada pieza en </a:t>
            </a:r>
            <a:r>
              <a:rPr lang="es-AR" dirty="0" err="1"/>
              <a:t>Clean</a:t>
            </a:r>
            <a:r>
              <a:rPr lang="es-AR" dirty="0"/>
              <a:t> </a:t>
            </a:r>
            <a:r>
              <a:rPr lang="es-AR" dirty="0" err="1"/>
              <a:t>Architecture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791C89-5D6B-BBF8-BA62-1A43E9EBA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653317" cy="3530600"/>
          </a:xfrm>
        </p:spPr>
        <p:txBody>
          <a:bodyPr/>
          <a:lstStyle/>
          <a:p>
            <a:r>
              <a:rPr lang="es-AR" dirty="0"/>
              <a:t>Dominio define contratos; infraestructura implementa integraciones.</a:t>
            </a:r>
          </a:p>
          <a:p>
            <a:r>
              <a:rPr lang="es-AR" b="1" dirty="0"/>
              <a:t>Importante</a:t>
            </a:r>
            <a:r>
              <a:rPr lang="es-AR" dirty="0"/>
              <a:t>: Pedido no importa librerías ni sabe cómo se manda un email. Solo conoce la interfaz </a:t>
            </a:r>
            <a:r>
              <a:rPr lang="es-AR" dirty="0" err="1"/>
              <a:t>PedidoObserver</a:t>
            </a:r>
            <a:r>
              <a:rPr lang="es-AR" dirty="0"/>
              <a:t>.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CD553292-AF04-EFC9-79F8-97CF0AC942E6}"/>
              </a:ext>
            </a:extLst>
          </p:cNvPr>
          <p:cNvSpPr/>
          <p:nvPr/>
        </p:nvSpPr>
        <p:spPr>
          <a:xfrm>
            <a:off x="864381" y="4069080"/>
            <a:ext cx="2423160" cy="91440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DOMAIN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Pedido, PedidoObserver, Event</a:t>
            </a:r>
            <a:endParaRPr lang="en-US" sz="15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971557C0-46B8-1F72-AF9A-F1B5E8A6B237}"/>
              </a:ext>
            </a:extLst>
          </p:cNvPr>
          <p:cNvSpPr/>
          <p:nvPr/>
        </p:nvSpPr>
        <p:spPr>
          <a:xfrm>
            <a:off x="3551128" y="4069080"/>
            <a:ext cx="2151032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APPLICATION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MagicCafeService</a:t>
            </a:r>
            <a:endParaRPr lang="en-US" sz="15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FD191368-1F9C-0A31-80C1-49FE77B4B0BF}"/>
              </a:ext>
            </a:extLst>
          </p:cNvPr>
          <p:cNvSpPr/>
          <p:nvPr/>
        </p:nvSpPr>
        <p:spPr>
          <a:xfrm>
            <a:off x="5965747" y="4069080"/>
            <a:ext cx="2423160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PRESENTATION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Controller + Swing</a:t>
            </a:r>
            <a:endParaRPr lang="en-US" sz="15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D89CC0C-3F29-80BB-BB19-86A8968394B5}"/>
              </a:ext>
            </a:extLst>
          </p:cNvPr>
          <p:cNvSpPr/>
          <p:nvPr/>
        </p:nvSpPr>
        <p:spPr>
          <a:xfrm>
            <a:off x="3177602" y="5293291"/>
            <a:ext cx="3026873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INFRASTRUCTURE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Firebase, Email, Reporting, JPA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91513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EA49-7E17-7C2A-829C-13A3E4A97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69" y="927098"/>
            <a:ext cx="6825011" cy="709865"/>
          </a:xfrm>
        </p:spPr>
        <p:txBody>
          <a:bodyPr/>
          <a:lstStyle/>
          <a:p>
            <a:r>
              <a:rPr lang="en-US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1: </a:t>
            </a:r>
            <a:r>
              <a:rPr lang="en-US" b="1" dirty="0" err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</a:t>
            </a:r>
            <a:r>
              <a:rPr lang="en-US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</a:t>
            </a:r>
            <a:r>
              <a:rPr lang="en-US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</a:t>
            </a:r>
            <a:r>
              <a:rPr lang="en-US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Observer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8EC217-F4CE-CAD5-2FB4-F0D8F2569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615740" cy="498258"/>
          </a:xfrm>
        </p:spPr>
        <p:txBody>
          <a:bodyPr/>
          <a:lstStyle/>
          <a:p>
            <a:r>
              <a:rPr lang="es-AR" dirty="0"/>
              <a:t>Primero definimos qué mensaje reciben todos los observadores.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286F2B5F-CCD4-BFF8-C631-EB6785D68154}"/>
              </a:ext>
            </a:extLst>
          </p:cNvPr>
          <p:cNvSpPr/>
          <p:nvPr/>
        </p:nvSpPr>
        <p:spPr>
          <a:xfrm>
            <a:off x="574859" y="2987458"/>
            <a:ext cx="2194560" cy="68580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B"/>
                </a:solidFill>
              </a:rPr>
              <a:t>PedidoObserver</a:t>
            </a:r>
            <a:endParaRPr lang="en-US" sz="18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FD701080-E5B7-EDBC-E1DA-C79C45192E99}"/>
              </a:ext>
            </a:extLst>
          </p:cNvPr>
          <p:cNvSpPr/>
          <p:nvPr/>
        </p:nvSpPr>
        <p:spPr>
          <a:xfrm>
            <a:off x="574859" y="3773842"/>
            <a:ext cx="2194560" cy="566928"/>
          </a:xfrm>
          <a:prstGeom prst="rect">
            <a:avLst/>
          </a:prstGeom>
          <a:solidFill>
            <a:srgbClr val="050A16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actualizar(evento)</a:t>
            </a:r>
            <a:endParaRPr lang="en-US" sz="15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C9F02B70-59F9-ADC6-3FC7-B202393D969D}"/>
              </a:ext>
            </a:extLst>
          </p:cNvPr>
          <p:cNvSpPr/>
          <p:nvPr/>
        </p:nvSpPr>
        <p:spPr>
          <a:xfrm>
            <a:off x="3015641" y="2987458"/>
            <a:ext cx="2194560" cy="685800"/>
          </a:xfrm>
          <a:prstGeom prst="rect">
            <a:avLst/>
          </a:prstGeom>
          <a:solidFill>
            <a:srgbClr val="172033"/>
          </a:solidFill>
          <a:ln w="1905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B"/>
                </a:solidFill>
              </a:rPr>
              <a:t>PedidoSubject</a:t>
            </a:r>
            <a:endParaRPr lang="en-US" sz="18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69902E35-0E89-C35B-1A8F-A88391E0B978}"/>
              </a:ext>
            </a:extLst>
          </p:cNvPr>
          <p:cNvSpPr/>
          <p:nvPr/>
        </p:nvSpPr>
        <p:spPr>
          <a:xfrm>
            <a:off x="3015641" y="3773842"/>
            <a:ext cx="2194560" cy="749808"/>
          </a:xfrm>
          <a:prstGeom prst="rect">
            <a:avLst/>
          </a:prstGeom>
          <a:solidFill>
            <a:srgbClr val="050A16"/>
          </a:solidFill>
          <a:ln w="1905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5F7FB"/>
                </a:solidFill>
              </a:rPr>
              <a:t>agregarObserver</a:t>
            </a:r>
            <a:r>
              <a:rPr lang="en-US" sz="1400" b="1" dirty="0">
                <a:solidFill>
                  <a:srgbClr val="F5F7FB"/>
                </a:solidFill>
              </a:rPr>
              <a:t>()</a:t>
            </a:r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F5F7FB"/>
                </a:solidFill>
              </a:rPr>
              <a:t>quitarObserver</a:t>
            </a:r>
            <a:r>
              <a:rPr lang="en-US" sz="1400" b="1" dirty="0">
                <a:solidFill>
                  <a:srgbClr val="F5F7FB"/>
                </a:solidFill>
              </a:rPr>
              <a:t>()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</a:rPr>
              <a:t>notificarObservers()</a:t>
            </a:r>
            <a:endParaRPr lang="en-US" sz="14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D057B9C3-EF71-98AB-4C7F-EF9BA843F11D}"/>
              </a:ext>
            </a:extLst>
          </p:cNvPr>
          <p:cNvSpPr/>
          <p:nvPr/>
        </p:nvSpPr>
        <p:spPr>
          <a:xfrm>
            <a:off x="5369907" y="2987458"/>
            <a:ext cx="3348207" cy="685800"/>
          </a:xfrm>
          <a:prstGeom prst="rect">
            <a:avLst/>
          </a:prstGeom>
          <a:solidFill>
            <a:srgbClr val="172033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7FB"/>
                </a:solidFill>
              </a:rPr>
              <a:t>PedidoEstadoCambiadoEvent</a:t>
            </a:r>
            <a:endParaRPr lang="en-US" sz="17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80989A8F-D17E-AC36-56D7-3F332C87A0EA}"/>
              </a:ext>
            </a:extLst>
          </p:cNvPr>
          <p:cNvSpPr/>
          <p:nvPr/>
        </p:nvSpPr>
        <p:spPr>
          <a:xfrm>
            <a:off x="5369908" y="3773842"/>
            <a:ext cx="3348206" cy="1097280"/>
          </a:xfrm>
          <a:prstGeom prst="rect">
            <a:avLst/>
          </a:prstGeom>
          <a:solidFill>
            <a:srgbClr val="050A16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</a:rPr>
              <a:t>pedidoId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</a:rPr>
              <a:t>estadoAnterior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</a:rPr>
              <a:t>estadoNuevo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</a:rPr>
              <a:t>fechaCambio</a:t>
            </a:r>
            <a:endParaRPr lang="en-US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62DF1EC6-8A48-7B4A-0428-046106536E40}"/>
              </a:ext>
            </a:extLst>
          </p:cNvPr>
          <p:cNvSpPr/>
          <p:nvPr/>
        </p:nvSpPr>
        <p:spPr>
          <a:xfrm>
            <a:off x="416988" y="5292435"/>
            <a:ext cx="4704862" cy="914400"/>
          </a:xfrm>
          <a:prstGeom prst="rect">
            <a:avLst/>
          </a:prstGeom>
          <a:solidFill>
            <a:srgbClr val="050A16"/>
          </a:solidFill>
          <a:ln w="12700">
            <a:solidFill>
              <a:srgbClr val="2D3B5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public interface PedidoObserver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void actualizar(</a:t>
            </a:r>
            <a:r>
              <a:rPr lang="en-US" sz="1100" dirty="0" err="1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PedidoEstadoCambiadoEvent</a:t>
            </a: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n-US" sz="1100" dirty="0" err="1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evento</a:t>
            </a: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1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BF7EEECD-8AB8-8D7D-257E-005E3740802E}"/>
              </a:ext>
            </a:extLst>
          </p:cNvPr>
          <p:cNvSpPr/>
          <p:nvPr/>
        </p:nvSpPr>
        <p:spPr>
          <a:xfrm>
            <a:off x="5265857" y="5292435"/>
            <a:ext cx="3270631" cy="989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/>
              <a:t>Esto nos permite tratar igual a cualquier canal: push, email, auditoría, reporting, WhatsApp, etc.</a:t>
            </a:r>
          </a:p>
        </p:txBody>
      </p:sp>
    </p:spTree>
    <p:extLst>
      <p:ext uri="{BB962C8B-B14F-4D97-AF65-F5344CB8AC3E}">
        <p14:creationId xmlns:p14="http://schemas.microsoft.com/office/powerpoint/2010/main" val="243710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9C4CE-D05E-B22F-D1AC-91A4175B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69" y="927098"/>
            <a:ext cx="6618331" cy="709865"/>
          </a:xfrm>
        </p:spPr>
        <p:txBody>
          <a:bodyPr/>
          <a:lstStyle/>
          <a:p>
            <a:r>
              <a:rPr lang="es-AR" dirty="0"/>
              <a:t>Paso 2: Pedido publica el evento al cambiar de estado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4E8FD2-F27D-1ACB-B07E-0E133EE9C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891311" cy="629781"/>
          </a:xfrm>
        </p:spPr>
        <p:txBody>
          <a:bodyPr/>
          <a:lstStyle/>
          <a:p>
            <a:r>
              <a:rPr lang="es-AR" dirty="0"/>
              <a:t>State cambia el estado; </a:t>
            </a:r>
            <a:r>
              <a:rPr lang="es-AR" dirty="0" err="1"/>
              <a:t>Observer</a:t>
            </a:r>
            <a:r>
              <a:rPr lang="es-AR" dirty="0"/>
              <a:t> avisa que el cambio ocurrió.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D27980D6-51CE-4354-9B1F-FDC86FC33814}"/>
              </a:ext>
            </a:extLst>
          </p:cNvPr>
          <p:cNvSpPr/>
          <p:nvPr/>
        </p:nvSpPr>
        <p:spPr>
          <a:xfrm>
            <a:off x="231106" y="3033178"/>
            <a:ext cx="4791205" cy="2121283"/>
          </a:xfrm>
          <a:prstGeom prst="rect">
            <a:avLst/>
          </a:prstGeom>
          <a:solidFill>
            <a:srgbClr val="050A16"/>
          </a:solidFill>
          <a:ln w="12700">
            <a:solidFill>
              <a:srgbClr val="2D3B5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public void cambiarEstado(EstadoPedido nuevoEstado)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String anterior = this.estado;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this.estadoActual = nuevoEstado;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this.estado = nuevoEstado.getNombre();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(!anterior.equals(this.estado))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notificarObservers(new PedidoEstadoCambiadoEvent(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this, anterior, this.estado));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1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7956720A-37FB-CF77-A57B-BA48B302845E}"/>
              </a:ext>
            </a:extLst>
          </p:cNvPr>
          <p:cNvSpPr/>
          <p:nvPr/>
        </p:nvSpPr>
        <p:spPr>
          <a:xfrm>
            <a:off x="5218969" y="3033178"/>
            <a:ext cx="1344669" cy="82296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7FB"/>
                </a:solidFill>
              </a:rPr>
              <a:t>Pedido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5F7FB"/>
                </a:solidFill>
              </a:rPr>
              <a:t>Subject</a:t>
            </a:r>
            <a:endParaRPr lang="en-US" sz="17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E9DDEA3D-85DE-EA14-C20A-9C64D1D080F0}"/>
              </a:ext>
            </a:extLst>
          </p:cNvPr>
          <p:cNvSpPr/>
          <p:nvPr/>
        </p:nvSpPr>
        <p:spPr>
          <a:xfrm>
            <a:off x="7039627" y="3033177"/>
            <a:ext cx="173736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7FB"/>
                </a:solidFill>
              </a:rPr>
              <a:t>EstadoPedido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5F7FB"/>
                </a:solidFill>
              </a:rPr>
              <a:t>State</a:t>
            </a:r>
            <a:endParaRPr lang="en-US" sz="17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F6B0DC35-C833-A77A-14CD-404295E8751A}"/>
              </a:ext>
            </a:extLst>
          </p:cNvPr>
          <p:cNvSpPr/>
          <p:nvPr/>
        </p:nvSpPr>
        <p:spPr>
          <a:xfrm>
            <a:off x="6563638" y="3429000"/>
            <a:ext cx="475989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2BFA31C3-8E6E-3455-6F90-F4994FFFD69B}"/>
              </a:ext>
            </a:extLst>
          </p:cNvPr>
          <p:cNvSpPr/>
          <p:nvPr/>
        </p:nvSpPr>
        <p:spPr>
          <a:xfrm>
            <a:off x="6273660" y="4524437"/>
            <a:ext cx="1920240" cy="7772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7FB"/>
                </a:solidFill>
              </a:rPr>
              <a:t>Observers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5F7FB"/>
                </a:solidFill>
              </a:rPr>
              <a:t>notificados</a:t>
            </a:r>
            <a:endParaRPr lang="en-US" sz="1700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1A485E7D-56B4-4B34-F3C3-5193F23DAD31}"/>
              </a:ext>
            </a:extLst>
          </p:cNvPr>
          <p:cNvSpPr/>
          <p:nvPr/>
        </p:nvSpPr>
        <p:spPr>
          <a:xfrm>
            <a:off x="6087649" y="3856138"/>
            <a:ext cx="826718" cy="629782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FEB22E83-3C48-4DEA-5826-28E1C57FFA59}"/>
              </a:ext>
            </a:extLst>
          </p:cNvPr>
          <p:cNvSpPr/>
          <p:nvPr/>
        </p:nvSpPr>
        <p:spPr>
          <a:xfrm>
            <a:off x="231106" y="5325441"/>
            <a:ext cx="2468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D3EE"/>
                </a:solidFill>
              </a:rPr>
              <a:t>Importante para JPA</a:t>
            </a:r>
            <a:endParaRPr lang="en-US" sz="19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6CBF652C-3DF6-2676-31F1-65862DDF602A}"/>
              </a:ext>
            </a:extLst>
          </p:cNvPr>
          <p:cNvSpPr/>
          <p:nvPr/>
        </p:nvSpPr>
        <p:spPr>
          <a:xfrm>
            <a:off x="231106" y="5691201"/>
            <a:ext cx="597554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/>
              <a:t>La lista de observers es </a:t>
            </a:r>
            <a:r>
              <a:rPr lang="en-US" sz="1650" b="1" dirty="0"/>
              <a:t>@Transient</a:t>
            </a:r>
            <a:r>
              <a:rPr lang="en-US" sz="1650" dirty="0"/>
              <a:t>: no se guarda en base porque representa integraciones de runtime.</a:t>
            </a:r>
          </a:p>
        </p:txBody>
      </p:sp>
    </p:spTree>
    <p:extLst>
      <p:ext uri="{BB962C8B-B14F-4D97-AF65-F5344CB8AC3E}">
        <p14:creationId xmlns:p14="http://schemas.microsoft.com/office/powerpoint/2010/main" val="442733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8A8DC-0BE3-586D-2D42-8F0FB30D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Paso 3: agregar observadores concretos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797206-A7CF-1693-B4D0-CA4440474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653317" cy="848986"/>
          </a:xfrm>
        </p:spPr>
        <p:txBody>
          <a:bodyPr/>
          <a:lstStyle/>
          <a:p>
            <a:r>
              <a:rPr lang="es-AR" dirty="0"/>
              <a:t>Cada canal implementa la misma interfaz y reacciona a su manera.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8718FF61-69FD-2B15-FAA9-1F70D890FB39}"/>
              </a:ext>
            </a:extLst>
          </p:cNvPr>
          <p:cNvSpPr/>
          <p:nvPr/>
        </p:nvSpPr>
        <p:spPr>
          <a:xfrm>
            <a:off x="3051967" y="3156647"/>
            <a:ext cx="2103120" cy="658368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B"/>
                </a:solidFill>
              </a:rPr>
              <a:t>PedidoObserver</a:t>
            </a:r>
            <a:endParaRPr lang="en-US" sz="1800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8B2FEEB1-1695-6764-2E8E-106AEED2F81F}"/>
              </a:ext>
            </a:extLst>
          </p:cNvPr>
          <p:cNvSpPr/>
          <p:nvPr/>
        </p:nvSpPr>
        <p:spPr>
          <a:xfrm flipH="1">
            <a:off x="2407483" y="3849807"/>
            <a:ext cx="1099807" cy="396515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27CBDD29-56E2-0EDA-D61F-C71C339A53EC}"/>
              </a:ext>
            </a:extLst>
          </p:cNvPr>
          <p:cNvSpPr/>
          <p:nvPr/>
        </p:nvSpPr>
        <p:spPr>
          <a:xfrm>
            <a:off x="4103529" y="3849809"/>
            <a:ext cx="1251" cy="476828"/>
          </a:xfrm>
          <a:prstGeom prst="line">
            <a:avLst/>
          </a:prstGeom>
          <a:noFill/>
          <a:ln w="254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F068AD36-84DF-9AB4-B687-17DEC84CDE44}"/>
              </a:ext>
            </a:extLst>
          </p:cNvPr>
          <p:cNvSpPr/>
          <p:nvPr/>
        </p:nvSpPr>
        <p:spPr>
          <a:xfrm>
            <a:off x="4359684" y="3849808"/>
            <a:ext cx="1494983" cy="340615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7F9FEE07-68D9-8520-3B30-74D3C55B2F59}"/>
              </a:ext>
            </a:extLst>
          </p:cNvPr>
          <p:cNvSpPr/>
          <p:nvPr/>
        </p:nvSpPr>
        <p:spPr>
          <a:xfrm>
            <a:off x="629434" y="4326637"/>
            <a:ext cx="219456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FirebasePush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PedidoObserver</a:t>
            </a:r>
            <a:endParaRPr lang="en-US" sz="15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C1E7A7AD-B19E-6AE3-C89D-6B4F6BF375AE}"/>
              </a:ext>
            </a:extLst>
          </p:cNvPr>
          <p:cNvSpPr/>
          <p:nvPr/>
        </p:nvSpPr>
        <p:spPr>
          <a:xfrm>
            <a:off x="3006247" y="4326637"/>
            <a:ext cx="219456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Email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PedidoObserver</a:t>
            </a:r>
            <a:endParaRPr lang="en-US" sz="15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640EE66D-E6A0-488A-242D-2F5987A1F45F}"/>
              </a:ext>
            </a:extLst>
          </p:cNvPr>
          <p:cNvSpPr/>
          <p:nvPr/>
        </p:nvSpPr>
        <p:spPr>
          <a:xfrm>
            <a:off x="5381182" y="4326637"/>
            <a:ext cx="219456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Reporting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</a:rPr>
              <a:t>PedidoObserver</a:t>
            </a:r>
            <a:endParaRPr lang="en-US" sz="15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EA08EA93-A5DA-8C56-44A3-4598549B686A}"/>
              </a:ext>
            </a:extLst>
          </p:cNvPr>
          <p:cNvSpPr/>
          <p:nvPr/>
        </p:nvSpPr>
        <p:spPr>
          <a:xfrm>
            <a:off x="629434" y="5359402"/>
            <a:ext cx="3942566" cy="1143000"/>
          </a:xfrm>
          <a:prstGeom prst="rect">
            <a:avLst/>
          </a:prstGeom>
          <a:solidFill>
            <a:srgbClr val="050A16"/>
          </a:solidFill>
          <a:ln w="12700">
            <a:solidFill>
              <a:srgbClr val="2D3B5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service = new MagicCafeService(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vendibleRepo, pedidoRepo, descuentoRepo,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List.of(new FirebasePushPedidoObserver(),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new EmailPedidoObserver(),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new ReportingPedidoObserver()));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96750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36945-B3BD-B0EE-53F5-8A6725FC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587016" cy="709865"/>
          </a:xfrm>
        </p:spPr>
        <p:txBody>
          <a:bodyPr/>
          <a:lstStyle/>
          <a:p>
            <a:r>
              <a:rPr lang="es-AR" dirty="0"/>
              <a:t>Flujo completo: de la UI a las notificaciones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961116-70F0-C8E8-6747-C1C7AC026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615739" cy="579677"/>
          </a:xfrm>
        </p:spPr>
        <p:txBody>
          <a:bodyPr/>
          <a:lstStyle/>
          <a:p>
            <a:r>
              <a:rPr lang="es-AR" dirty="0"/>
              <a:t>La UI no sabe nada de </a:t>
            </a:r>
            <a:r>
              <a:rPr lang="es-AR" dirty="0" err="1"/>
              <a:t>observers</a:t>
            </a:r>
            <a:r>
              <a:rPr lang="es-AR" dirty="0"/>
              <a:t>; solo pide avanzar el estado.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2B5C423-EF7C-3827-0A81-F636BC2A0C3B}"/>
              </a:ext>
            </a:extLst>
          </p:cNvPr>
          <p:cNvSpPr/>
          <p:nvPr/>
        </p:nvSpPr>
        <p:spPr>
          <a:xfrm>
            <a:off x="159707" y="3007499"/>
            <a:ext cx="1234440" cy="50292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</a:rPr>
              <a:t>Swing UI</a:t>
            </a:r>
            <a:endParaRPr lang="en-US" sz="1300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D1EF492E-795D-AECC-30F7-BC4A14349811}"/>
              </a:ext>
            </a:extLst>
          </p:cNvPr>
          <p:cNvSpPr/>
          <p:nvPr/>
        </p:nvSpPr>
        <p:spPr>
          <a:xfrm>
            <a:off x="776927" y="3510419"/>
            <a:ext cx="0" cy="2112264"/>
          </a:xfrm>
          <a:prstGeom prst="line">
            <a:avLst/>
          </a:prstGeom>
          <a:noFill/>
          <a:ln w="12700">
            <a:solidFill>
              <a:srgbClr val="34415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6223A5C6-30F5-C054-C064-20358B5922BF}"/>
              </a:ext>
            </a:extLst>
          </p:cNvPr>
          <p:cNvSpPr/>
          <p:nvPr/>
        </p:nvSpPr>
        <p:spPr>
          <a:xfrm>
            <a:off x="1569117" y="3007499"/>
            <a:ext cx="1234440" cy="50292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8FEAF971-35A3-B79B-CF8D-898C5305B322}"/>
              </a:ext>
            </a:extLst>
          </p:cNvPr>
          <p:cNvSpPr/>
          <p:nvPr/>
        </p:nvSpPr>
        <p:spPr>
          <a:xfrm>
            <a:off x="2186337" y="3510419"/>
            <a:ext cx="0" cy="2112264"/>
          </a:xfrm>
          <a:prstGeom prst="line">
            <a:avLst/>
          </a:prstGeom>
          <a:noFill/>
          <a:ln w="12700">
            <a:solidFill>
              <a:srgbClr val="34415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6A8DC4A4-D464-62EF-D649-40FF2C0586E6}"/>
              </a:ext>
            </a:extLst>
          </p:cNvPr>
          <p:cNvSpPr/>
          <p:nvPr/>
        </p:nvSpPr>
        <p:spPr>
          <a:xfrm>
            <a:off x="3085350" y="3007499"/>
            <a:ext cx="1234440" cy="50292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</a:rPr>
              <a:t>Service</a:t>
            </a:r>
            <a:endParaRPr lang="en-US" sz="1300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471BEF5A-CDC6-068E-CE74-75157E866A68}"/>
              </a:ext>
            </a:extLst>
          </p:cNvPr>
          <p:cNvSpPr/>
          <p:nvPr/>
        </p:nvSpPr>
        <p:spPr>
          <a:xfrm>
            <a:off x="3702570" y="3510419"/>
            <a:ext cx="0" cy="2112264"/>
          </a:xfrm>
          <a:prstGeom prst="line">
            <a:avLst/>
          </a:prstGeom>
          <a:noFill/>
          <a:ln w="12700">
            <a:solidFill>
              <a:srgbClr val="34415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F98C2370-86A7-5242-DD72-355D45571C45}"/>
              </a:ext>
            </a:extLst>
          </p:cNvPr>
          <p:cNvSpPr/>
          <p:nvPr/>
        </p:nvSpPr>
        <p:spPr>
          <a:xfrm>
            <a:off x="4601582" y="3007499"/>
            <a:ext cx="1234440" cy="50292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</a:rPr>
              <a:t>Pedido</a:t>
            </a:r>
            <a:endParaRPr lang="en-US" sz="130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33F6365C-BE31-55D6-056C-06D42604E173}"/>
              </a:ext>
            </a:extLst>
          </p:cNvPr>
          <p:cNvSpPr/>
          <p:nvPr/>
        </p:nvSpPr>
        <p:spPr>
          <a:xfrm>
            <a:off x="5218802" y="3510419"/>
            <a:ext cx="0" cy="2157605"/>
          </a:xfrm>
          <a:prstGeom prst="line">
            <a:avLst/>
          </a:prstGeom>
          <a:noFill/>
          <a:ln w="12700">
            <a:solidFill>
              <a:srgbClr val="34415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41B30697-143B-1833-72C9-4327F37175D4}"/>
              </a:ext>
            </a:extLst>
          </p:cNvPr>
          <p:cNvSpPr/>
          <p:nvPr/>
        </p:nvSpPr>
        <p:spPr>
          <a:xfrm>
            <a:off x="6384246" y="3007499"/>
            <a:ext cx="1234440" cy="50292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</a:rPr>
              <a:t>State</a:t>
            </a:r>
            <a:endParaRPr lang="en-US" sz="1300" dirty="0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E61682EB-9574-CB52-AF82-4D18097F919F}"/>
              </a:ext>
            </a:extLst>
          </p:cNvPr>
          <p:cNvSpPr/>
          <p:nvPr/>
        </p:nvSpPr>
        <p:spPr>
          <a:xfrm>
            <a:off x="7001466" y="3510419"/>
            <a:ext cx="0" cy="2213976"/>
          </a:xfrm>
          <a:prstGeom prst="line">
            <a:avLst/>
          </a:prstGeom>
          <a:noFill/>
          <a:ln w="12700">
            <a:solidFill>
              <a:srgbClr val="34415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E039C1EB-6DBF-F559-FE85-7D432278C44D}"/>
              </a:ext>
            </a:extLst>
          </p:cNvPr>
          <p:cNvSpPr/>
          <p:nvPr/>
        </p:nvSpPr>
        <p:spPr>
          <a:xfrm>
            <a:off x="7764042" y="3007499"/>
            <a:ext cx="1234440" cy="502920"/>
          </a:xfrm>
          <a:prstGeom prst="rect">
            <a:avLst/>
          </a:prstGeom>
          <a:solidFill>
            <a:srgbClr val="172033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</a:rPr>
              <a:t>Observers</a:t>
            </a:r>
            <a:endParaRPr lang="en-US" sz="1300" dirty="0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3C5C5937-5BEC-89A6-F29A-2C5D22C13184}"/>
              </a:ext>
            </a:extLst>
          </p:cNvPr>
          <p:cNvSpPr/>
          <p:nvPr/>
        </p:nvSpPr>
        <p:spPr>
          <a:xfrm>
            <a:off x="8381262" y="3510419"/>
            <a:ext cx="0" cy="2257817"/>
          </a:xfrm>
          <a:prstGeom prst="line">
            <a:avLst/>
          </a:prstGeom>
          <a:noFill/>
          <a:ln w="12700">
            <a:solidFill>
              <a:srgbClr val="34415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30ABC0F3-C242-53DD-7BC6-20451D1B8E26}"/>
              </a:ext>
            </a:extLst>
          </p:cNvPr>
          <p:cNvSpPr/>
          <p:nvPr/>
        </p:nvSpPr>
        <p:spPr>
          <a:xfrm>
            <a:off x="840496" y="3830459"/>
            <a:ext cx="1232561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3FCC6643-D5EF-3885-F869-5D7CD86251C7}"/>
              </a:ext>
            </a:extLst>
          </p:cNvPr>
          <p:cNvSpPr/>
          <p:nvPr/>
        </p:nvSpPr>
        <p:spPr>
          <a:xfrm>
            <a:off x="800839" y="3611003"/>
            <a:ext cx="138549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/>
              <a:t>prepararPedido(id)</a:t>
            </a: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52970C0B-290C-06DE-9AD0-0A00D8844F09}"/>
              </a:ext>
            </a:extLst>
          </p:cNvPr>
          <p:cNvSpPr/>
          <p:nvPr/>
        </p:nvSpPr>
        <p:spPr>
          <a:xfrm>
            <a:off x="2306513" y="4142983"/>
            <a:ext cx="1294720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31EA46F3-B692-8B8E-53F5-EBDE64CB5626}"/>
              </a:ext>
            </a:extLst>
          </p:cNvPr>
          <p:cNvSpPr/>
          <p:nvPr/>
        </p:nvSpPr>
        <p:spPr>
          <a:xfrm>
            <a:off x="2299618" y="3896409"/>
            <a:ext cx="1357379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/>
              <a:t>prepararPedido(id)</a:t>
            </a:r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13DD4720-5171-749D-BEB9-FE5BB86C31A3}"/>
              </a:ext>
            </a:extLst>
          </p:cNvPr>
          <p:cNvSpPr/>
          <p:nvPr/>
        </p:nvSpPr>
        <p:spPr>
          <a:xfrm>
            <a:off x="3794759" y="4315467"/>
            <a:ext cx="1336259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D19364BC-75D3-50D9-90FC-F1D1B627E579}"/>
              </a:ext>
            </a:extLst>
          </p:cNvPr>
          <p:cNvSpPr/>
          <p:nvPr/>
        </p:nvSpPr>
        <p:spPr>
          <a:xfrm>
            <a:off x="3855118" y="4096011"/>
            <a:ext cx="1275901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/>
              <a:t>pedido.preparar()</a:t>
            </a: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E5225590-FCD4-27F7-B06C-1377CAD00799}"/>
              </a:ext>
            </a:extLst>
          </p:cNvPr>
          <p:cNvSpPr/>
          <p:nvPr/>
        </p:nvSpPr>
        <p:spPr>
          <a:xfrm>
            <a:off x="5310242" y="4522397"/>
            <a:ext cx="1616651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5E18DC0A-EB2C-1D3D-52C4-4F027E7B62C7}"/>
              </a:ext>
            </a:extLst>
          </p:cNvPr>
          <p:cNvSpPr/>
          <p:nvPr/>
        </p:nvSpPr>
        <p:spPr>
          <a:xfrm>
            <a:off x="5306586" y="4258098"/>
            <a:ext cx="168173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/>
              <a:t>estado.preparar(pedido)</a:t>
            </a:r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61A356D4-4D6C-95C6-AD5E-E5EA75CE888D}"/>
              </a:ext>
            </a:extLst>
          </p:cNvPr>
          <p:cNvSpPr/>
          <p:nvPr/>
        </p:nvSpPr>
        <p:spPr>
          <a:xfrm>
            <a:off x="5485234" y="4681603"/>
            <a:ext cx="1230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/>
              <a:t>cambiarEstado()</a:t>
            </a:r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6D886B88-99D3-388A-1FCF-2F95E58EDF7A}"/>
              </a:ext>
            </a:extLst>
          </p:cNvPr>
          <p:cNvSpPr/>
          <p:nvPr/>
        </p:nvSpPr>
        <p:spPr>
          <a:xfrm>
            <a:off x="5329507" y="5377674"/>
            <a:ext cx="2918882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3B43B4CD-2B55-0A1D-F379-D2B06EEB9B37}"/>
              </a:ext>
            </a:extLst>
          </p:cNvPr>
          <p:cNvSpPr/>
          <p:nvPr/>
        </p:nvSpPr>
        <p:spPr>
          <a:xfrm>
            <a:off x="5329507" y="5129659"/>
            <a:ext cx="1813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/>
              <a:t>notificarObservers(evento)</a:t>
            </a: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1F11993B-2974-673E-B5B3-AB5CE84BB3F0}"/>
              </a:ext>
            </a:extLst>
          </p:cNvPr>
          <p:cNvSpPr/>
          <p:nvPr/>
        </p:nvSpPr>
        <p:spPr>
          <a:xfrm flipH="1">
            <a:off x="5306586" y="4925318"/>
            <a:ext cx="1549524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F0FB94D9-EBB5-C014-D197-887E187EAC3A}"/>
              </a:ext>
            </a:extLst>
          </p:cNvPr>
          <p:cNvSpPr txBox="1">
            <a:spLocks/>
          </p:cNvSpPr>
          <p:nvPr/>
        </p:nvSpPr>
        <p:spPr>
          <a:xfrm>
            <a:off x="864381" y="6115481"/>
            <a:ext cx="7615739" cy="5796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/>
              <a:t>Resultado</a:t>
            </a:r>
            <a:r>
              <a:rPr lang="es-AR" dirty="0"/>
              <a:t>: se actualiza el estado y salen los avisos sin acoplar la UI ni el Pedido a canales concretos.</a:t>
            </a:r>
          </a:p>
        </p:txBody>
      </p:sp>
    </p:spTree>
    <p:extLst>
      <p:ext uri="{BB962C8B-B14F-4D97-AF65-F5344CB8AC3E}">
        <p14:creationId xmlns:p14="http://schemas.microsoft.com/office/powerpoint/2010/main" val="3232664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9AEA3-221F-7898-A591-FABC5668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Diagrama UML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B1B15-BA9B-BB4F-ADF0-B40D39793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625194" cy="504521"/>
          </a:xfrm>
        </p:spPr>
        <p:txBody>
          <a:bodyPr>
            <a:normAutofit/>
          </a:bodyPr>
          <a:lstStyle/>
          <a:p>
            <a:r>
              <a:rPr lang="es-AR" sz="1600" dirty="0"/>
              <a:t>Vista UML simplificada de las clases interviniente.</a:t>
            </a:r>
          </a:p>
        </p:txBody>
      </p:sp>
    </p:spTree>
    <p:extLst>
      <p:ext uri="{BB962C8B-B14F-4D97-AF65-F5344CB8AC3E}">
        <p14:creationId xmlns:p14="http://schemas.microsoft.com/office/powerpoint/2010/main" val="3219921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00EEF-CC6D-BE4A-4405-EC1FC14C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561964" cy="709865"/>
          </a:xfrm>
        </p:spPr>
        <p:txBody>
          <a:bodyPr/>
          <a:lstStyle/>
          <a:p>
            <a:r>
              <a:rPr lang="es-AR" dirty="0"/>
              <a:t>Por qué queda mejor diseñado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3B218D-11CE-2D5A-9E7B-2B7D72219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653317" cy="523310"/>
          </a:xfrm>
        </p:spPr>
        <p:txBody>
          <a:bodyPr/>
          <a:lstStyle/>
          <a:p>
            <a:r>
              <a:rPr lang="es-AR" dirty="0" err="1"/>
              <a:t>Observer</a:t>
            </a:r>
            <a:r>
              <a:rPr lang="es-AR" dirty="0"/>
              <a:t> suma extensibilidad sin romper lo que ya funcionaba.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15953F78-7B58-A2A7-0570-9FDF2ED6ADBA}"/>
              </a:ext>
            </a:extLst>
          </p:cNvPr>
          <p:cNvSpPr/>
          <p:nvPr/>
        </p:nvSpPr>
        <p:spPr>
          <a:xfrm>
            <a:off x="522335" y="3023499"/>
            <a:ext cx="2204581" cy="841248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Bajo acoplamiento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GRASP</a:t>
            </a:r>
            <a:endParaRPr lang="en-US" sz="16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46C98DB8-E290-C21B-095B-17795E5D6C2B}"/>
              </a:ext>
            </a:extLst>
          </p:cNvPr>
          <p:cNvSpPr/>
          <p:nvPr/>
        </p:nvSpPr>
        <p:spPr>
          <a:xfrm>
            <a:off x="562732" y="4029339"/>
            <a:ext cx="2164184" cy="567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/>
              <a:t>Pedido no depende de Firebase, Email ni Reporting.</a:t>
            </a: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60C29515-26F9-C13A-3244-C82C4C791D64}"/>
              </a:ext>
            </a:extLst>
          </p:cNvPr>
          <p:cNvSpPr/>
          <p:nvPr/>
        </p:nvSpPr>
        <p:spPr>
          <a:xfrm>
            <a:off x="2824620" y="3023499"/>
            <a:ext cx="1778696" cy="841248"/>
          </a:xfrm>
          <a:prstGeom prst="rect">
            <a:avLst/>
          </a:prstGeom>
          <a:solidFill>
            <a:srgbClr val="172033"/>
          </a:solidFill>
          <a:ln w="1905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Alta cohesión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GRASP</a:t>
            </a:r>
            <a:endParaRPr lang="en-US" sz="16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815D2B67-C918-FAD0-A87F-5E8B6D3C57AF}"/>
              </a:ext>
            </a:extLst>
          </p:cNvPr>
          <p:cNvSpPr/>
          <p:nvPr/>
        </p:nvSpPr>
        <p:spPr>
          <a:xfrm>
            <a:off x="2824620" y="4029339"/>
            <a:ext cx="17786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/>
              <a:t>Pedido gestiona estados. Cada observer gestiona su canal.</a:t>
            </a: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D536991C-7480-9824-E6A7-7A353B2F8D1E}"/>
              </a:ext>
            </a:extLst>
          </p:cNvPr>
          <p:cNvSpPr/>
          <p:nvPr/>
        </p:nvSpPr>
        <p:spPr>
          <a:xfrm>
            <a:off x="4701020" y="3023499"/>
            <a:ext cx="1778696" cy="841248"/>
          </a:xfrm>
          <a:prstGeom prst="rect">
            <a:avLst/>
          </a:prstGeom>
          <a:solidFill>
            <a:srgbClr val="172033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Open/Closed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SOLID</a:t>
            </a:r>
            <a:endParaRPr lang="en-US" sz="16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A18AAD56-36DA-688E-F6C1-D11BEBAFE031}"/>
              </a:ext>
            </a:extLst>
          </p:cNvPr>
          <p:cNvSpPr/>
          <p:nvPr/>
        </p:nvSpPr>
        <p:spPr>
          <a:xfrm>
            <a:off x="4701020" y="4029339"/>
            <a:ext cx="17786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/>
              <a:t>Para sumar WhatsApp, agrego otro observer sin tocar Pedido.</a:t>
            </a: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A3DD7173-E8BA-B356-8C6B-E33E4A69044D}"/>
              </a:ext>
            </a:extLst>
          </p:cNvPr>
          <p:cNvSpPr/>
          <p:nvPr/>
        </p:nvSpPr>
        <p:spPr>
          <a:xfrm>
            <a:off x="6577420" y="3023499"/>
            <a:ext cx="2099047" cy="841248"/>
          </a:xfrm>
          <a:prstGeom prst="rect">
            <a:avLst/>
          </a:prstGeom>
          <a:solidFill>
            <a:srgbClr val="172033"/>
          </a:solidFill>
          <a:ln w="19050">
            <a:solidFill>
              <a:srgbClr val="F472B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</a:rPr>
              <a:t>Dependency Inversion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</a:rPr>
              <a:t>SOLID</a:t>
            </a:r>
            <a:endParaRPr lang="en-US" sz="14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76997854-7924-F9E4-4023-3D12FF6B3584}"/>
              </a:ext>
            </a:extLst>
          </p:cNvPr>
          <p:cNvSpPr/>
          <p:nvPr/>
        </p:nvSpPr>
        <p:spPr>
          <a:xfrm>
            <a:off x="6577420" y="4029339"/>
            <a:ext cx="2099047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/>
              <a:t>El dominio depende de abstracciones, no de implementaciones.</a:t>
            </a: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7658BD7D-7E2C-7993-61EB-4CE3E381BF39}"/>
              </a:ext>
            </a:extLst>
          </p:cNvPr>
          <p:cNvSpPr/>
          <p:nvPr/>
        </p:nvSpPr>
        <p:spPr>
          <a:xfrm>
            <a:off x="864381" y="5016891"/>
            <a:ext cx="5609779" cy="1325880"/>
          </a:xfrm>
          <a:prstGeom prst="rect">
            <a:avLst/>
          </a:prstGeom>
          <a:solidFill>
            <a:srgbClr val="050A16"/>
          </a:solidFill>
          <a:ln w="12700">
            <a:solidFill>
              <a:srgbClr val="2D3B5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// Nuevo canal sin modificar Pedido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public class WhatsAppPedidoObserver implements PedidoObserver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public void actualizar(PedidoEstadoCambiadoEvent 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// enviar WhatsApp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E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57975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1C19A-788C-1D1D-E161-377F2053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6D66F8-D649-E24F-EE0F-50165748F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653317" cy="1256082"/>
          </a:xfrm>
        </p:spPr>
        <p:txBody>
          <a:bodyPr/>
          <a:lstStyle/>
          <a:p>
            <a:r>
              <a:rPr lang="es-AR" dirty="0"/>
              <a:t>Cuando el pedido cambia de estado, el dominio publica un evento. Los observadores se enteran y ejecutan acciones externas, sin que el Pedido conozca esas integraciones.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9ACB7691-C340-C71D-732E-A083CC97CCD8}"/>
              </a:ext>
            </a:extLst>
          </p:cNvPr>
          <p:cNvSpPr/>
          <p:nvPr/>
        </p:nvSpPr>
        <p:spPr>
          <a:xfrm>
            <a:off x="328182" y="3928789"/>
            <a:ext cx="1965960" cy="914400"/>
          </a:xfrm>
          <a:prstGeom prst="rect">
            <a:avLst/>
          </a:prstGeom>
          <a:solidFill>
            <a:srgbClr val="172033"/>
          </a:solidFill>
          <a:ln w="19050">
            <a:solidFill>
              <a:srgbClr val="22D3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Pedido cambia de estado</a:t>
            </a:r>
            <a:endParaRPr lang="en-US" sz="16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5BEDDDFE-49C9-45D0-6DD4-D67B8BB743D1}"/>
              </a:ext>
            </a:extLst>
          </p:cNvPr>
          <p:cNvSpPr/>
          <p:nvPr/>
        </p:nvSpPr>
        <p:spPr>
          <a:xfrm>
            <a:off x="2606040" y="3928789"/>
            <a:ext cx="1721702" cy="914400"/>
          </a:xfrm>
          <a:prstGeom prst="rect">
            <a:avLst/>
          </a:prstGeom>
          <a:solidFill>
            <a:srgbClr val="172033"/>
          </a:solidFill>
          <a:ln w="19050">
            <a:solidFill>
              <a:srgbClr val="A78BF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Crea un evento</a:t>
            </a:r>
            <a:endParaRPr lang="en-US" sz="16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507A2E3B-24D3-2C6A-D81B-B9E6FA8832B4}"/>
              </a:ext>
            </a:extLst>
          </p:cNvPr>
          <p:cNvSpPr/>
          <p:nvPr/>
        </p:nvSpPr>
        <p:spPr>
          <a:xfrm>
            <a:off x="4647156" y="3928789"/>
            <a:ext cx="1965960" cy="914400"/>
          </a:xfrm>
          <a:prstGeom prst="rect">
            <a:avLst/>
          </a:prstGeom>
          <a:solidFill>
            <a:srgbClr val="172033"/>
          </a:solidFill>
          <a:ln w="19050">
            <a:solidFill>
              <a:srgbClr val="34D39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Notifica observers</a:t>
            </a:r>
            <a:endParaRPr lang="en-US" sz="16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BDA80437-1AD9-BB37-8E5D-A0F432E3E745}"/>
              </a:ext>
            </a:extLst>
          </p:cNvPr>
          <p:cNvSpPr/>
          <p:nvPr/>
        </p:nvSpPr>
        <p:spPr>
          <a:xfrm>
            <a:off x="6932530" y="3928789"/>
            <a:ext cx="1965960" cy="914400"/>
          </a:xfrm>
          <a:prstGeom prst="rect">
            <a:avLst/>
          </a:prstGeom>
          <a:solidFill>
            <a:srgbClr val="172033"/>
          </a:solidFill>
          <a:ln w="19050">
            <a:solidFill>
              <a:srgbClr val="F472B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4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</a:rPr>
              <a:t>Cada canal actúa</a:t>
            </a:r>
            <a:endParaRPr lang="en-US" sz="16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3F6A4F8E-DD9C-0865-73E8-E7712CF5F890}"/>
              </a:ext>
            </a:extLst>
          </p:cNvPr>
          <p:cNvSpPr/>
          <p:nvPr/>
        </p:nvSpPr>
        <p:spPr>
          <a:xfrm>
            <a:off x="2294142" y="4385989"/>
            <a:ext cx="292483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31AE0412-890A-0323-6D04-A6FC675FFA63}"/>
              </a:ext>
            </a:extLst>
          </p:cNvPr>
          <p:cNvSpPr/>
          <p:nvPr/>
        </p:nvSpPr>
        <p:spPr>
          <a:xfrm>
            <a:off x="4327742" y="4385989"/>
            <a:ext cx="249268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ABB198E6-3F1E-79A9-9035-288F6F597AFA}"/>
              </a:ext>
            </a:extLst>
          </p:cNvPr>
          <p:cNvSpPr/>
          <p:nvPr/>
        </p:nvSpPr>
        <p:spPr>
          <a:xfrm>
            <a:off x="6613116" y="4385989"/>
            <a:ext cx="231105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E2B09643-CF5A-0388-4145-96A6BBC22EEB}"/>
              </a:ext>
            </a:extLst>
          </p:cNvPr>
          <p:cNvSpPr/>
          <p:nvPr/>
        </p:nvSpPr>
        <p:spPr>
          <a:xfrm>
            <a:off x="1559219" y="6278045"/>
            <a:ext cx="6263640" cy="310896"/>
          </a:xfrm>
          <a:prstGeom prst="rect">
            <a:avLst/>
          </a:prstGeom>
          <a:solidFill>
            <a:srgbClr val="082F49">
              <a:alpha val="95000"/>
            </a:srgbClr>
          </a:solidFill>
          <a:ln w="12700">
            <a:solidFill>
              <a:srgbClr val="22D3EE">
                <a:alpha val="7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</a:rPr>
              <a:t>Strategy + Decorator + Composite + State + Observer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943133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981BA-823E-B770-7182-5C3A8FB4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Beneficios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C59A611D-3D48-2263-10EE-BF2A84D83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53" y="2230551"/>
            <a:ext cx="7903494" cy="4188177"/>
          </a:xfrm>
        </p:spPr>
        <p:txBody>
          <a:bodyPr>
            <a:normAutofit fontScale="85000" lnSpcReduction="20000"/>
          </a:bodyPr>
          <a:lstStyle/>
          <a:p>
            <a:r>
              <a:rPr lang="es-AR" b="1" dirty="0"/>
              <a:t>Bajo acoplamiento</a:t>
            </a:r>
            <a:r>
              <a:rPr lang="es-AR" dirty="0"/>
              <a:t>: el objeto principal (Subject) no conoce detalles de quién recibe las notificaciones.</a:t>
            </a:r>
          </a:p>
          <a:p>
            <a:pPr lvl="1"/>
            <a:r>
              <a:rPr lang="es-AR" dirty="0" err="1"/>
              <a:t>pedido.notificar</a:t>
            </a:r>
            <a:r>
              <a:rPr lang="es-AR" dirty="0"/>
              <a:t>();</a:t>
            </a:r>
          </a:p>
          <a:p>
            <a:r>
              <a:rPr lang="es-AR" dirty="0"/>
              <a:t>El Pedido no sabe si existe:</a:t>
            </a:r>
          </a:p>
          <a:p>
            <a:pPr lvl="1"/>
            <a:r>
              <a:rPr lang="es-AR" dirty="0" err="1"/>
              <a:t>EmailNotificationObserver</a:t>
            </a:r>
            <a:endParaRPr lang="es-AR" dirty="0"/>
          </a:p>
          <a:p>
            <a:pPr lvl="1"/>
            <a:r>
              <a:rPr lang="es-AR" dirty="0" err="1"/>
              <a:t>PushNotificationObserver</a:t>
            </a:r>
            <a:endParaRPr lang="es-AR" dirty="0"/>
          </a:p>
          <a:p>
            <a:pPr lvl="1"/>
            <a:r>
              <a:rPr lang="es-AR" dirty="0" err="1"/>
              <a:t>WhatsAppNotificationObserver</a:t>
            </a:r>
            <a:endParaRPr lang="es-AR" dirty="0"/>
          </a:p>
          <a:p>
            <a:pPr lvl="1"/>
            <a:r>
              <a:rPr lang="es-AR" dirty="0" err="1"/>
              <a:t>ReportingObserver</a:t>
            </a:r>
            <a:endParaRPr lang="es-AR" dirty="0"/>
          </a:p>
          <a:p>
            <a:r>
              <a:rPr lang="es-AR" b="1" dirty="0"/>
              <a:t>Fácil de extender (Open/</a:t>
            </a:r>
            <a:r>
              <a:rPr lang="es-AR" b="1" dirty="0" err="1"/>
              <a:t>Closed</a:t>
            </a:r>
            <a:r>
              <a:rPr lang="es-AR" b="1" dirty="0"/>
              <a:t> Principle): </a:t>
            </a:r>
            <a:r>
              <a:rPr lang="es-AR" dirty="0"/>
              <a:t>si mañana el negocio pide:</a:t>
            </a:r>
          </a:p>
          <a:p>
            <a:pPr lvl="1"/>
            <a:r>
              <a:rPr lang="es-AR" dirty="0" err="1"/>
              <a:t>Telegram</a:t>
            </a:r>
            <a:endParaRPr lang="es-AR" dirty="0"/>
          </a:p>
          <a:p>
            <a:pPr lvl="1"/>
            <a:r>
              <a:rPr lang="es-AR" dirty="0"/>
              <a:t>SMS</a:t>
            </a:r>
          </a:p>
          <a:p>
            <a:pPr lvl="1"/>
            <a:r>
              <a:rPr lang="es-AR" dirty="0" err="1"/>
              <a:t>Discord</a:t>
            </a:r>
            <a:endParaRPr lang="es-AR" dirty="0"/>
          </a:p>
          <a:p>
            <a:pPr lvl="1"/>
            <a:r>
              <a:rPr lang="es-AR" dirty="0"/>
              <a:t>Microsoft </a:t>
            </a:r>
            <a:r>
              <a:rPr lang="es-AR" dirty="0" err="1"/>
              <a:t>Teams</a:t>
            </a:r>
            <a:endParaRPr lang="es-AR" dirty="0"/>
          </a:p>
          <a:p>
            <a:pPr lvl="1"/>
            <a:r>
              <a:rPr lang="es-AR" dirty="0"/>
              <a:t>No modificamos Pedido.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16578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0984B-94BF-69C2-C34C-B54FB97D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C9810-5043-E875-12C6-1C6A8EF4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Beneficios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09C39008-CB86-45F7-8FAA-8446FEB42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53" y="2230551"/>
            <a:ext cx="7903494" cy="4188177"/>
          </a:xfrm>
        </p:spPr>
        <p:txBody>
          <a:bodyPr>
            <a:normAutofit/>
          </a:bodyPr>
          <a:lstStyle/>
          <a:p>
            <a:r>
              <a:rPr lang="es-AR" b="1" dirty="0"/>
              <a:t>Centraliza eventos del dominio</a:t>
            </a:r>
          </a:p>
          <a:p>
            <a:pPr lvl="1"/>
            <a:r>
              <a:rPr lang="es-AR" dirty="0"/>
              <a:t>El cambio ocurre en un solo lugar, Pedido, y desde allí se disparan todos los efectos secundarios.</a:t>
            </a:r>
          </a:p>
          <a:p>
            <a:r>
              <a:rPr lang="es-AR" b="1" dirty="0"/>
              <a:t>Muy alineado con sistemas modernos</a:t>
            </a:r>
          </a:p>
          <a:p>
            <a:r>
              <a:rPr lang="es-AR" dirty="0"/>
              <a:t>Lo vemos en:</a:t>
            </a:r>
          </a:p>
          <a:p>
            <a:pPr lvl="1"/>
            <a:r>
              <a:rPr lang="es-AR" dirty="0"/>
              <a:t>Spring </a:t>
            </a:r>
            <a:r>
              <a:rPr lang="es-AR" dirty="0" err="1"/>
              <a:t>Events</a:t>
            </a:r>
            <a:endParaRPr lang="es-AR" dirty="0"/>
          </a:p>
          <a:p>
            <a:pPr lvl="1"/>
            <a:r>
              <a:rPr lang="es-AR" dirty="0"/>
              <a:t>Kafka</a:t>
            </a:r>
          </a:p>
          <a:p>
            <a:pPr lvl="1"/>
            <a:r>
              <a:rPr lang="es-AR" dirty="0" err="1"/>
              <a:t>RabbitMQ</a:t>
            </a:r>
            <a:endParaRPr lang="es-AR" dirty="0"/>
          </a:p>
          <a:p>
            <a:pPr lvl="1"/>
            <a:r>
              <a:rPr lang="es-AR" dirty="0"/>
              <a:t>Azure Service Bus</a:t>
            </a:r>
          </a:p>
          <a:p>
            <a:pPr lvl="1"/>
            <a:r>
              <a:rPr lang="es-AR" dirty="0"/>
              <a:t>AWS SNS</a:t>
            </a:r>
          </a:p>
          <a:p>
            <a:pPr lvl="1"/>
            <a:r>
              <a:rPr lang="es-AR" dirty="0"/>
              <a:t>Domain </a:t>
            </a:r>
            <a:r>
              <a:rPr lang="es-AR" dirty="0" err="1"/>
              <a:t>Events</a:t>
            </a:r>
            <a:r>
              <a:rPr lang="es-AR" dirty="0"/>
              <a:t> (DDD)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18808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2D8B0-E87A-DF71-1755-D4F43C0A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Desventajas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6D3DB5-F294-891C-D79F-1346781A0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199"/>
            <a:ext cx="7723806" cy="4099859"/>
          </a:xfrm>
        </p:spPr>
        <p:txBody>
          <a:bodyPr>
            <a:normAutofit fontScale="92500" lnSpcReduction="20000"/>
          </a:bodyPr>
          <a:lstStyle/>
          <a:p>
            <a:r>
              <a:rPr lang="es-AR" b="1" dirty="0"/>
              <a:t>Difícil de seguir el flujo: </a:t>
            </a:r>
          </a:p>
          <a:p>
            <a:pPr marL="0" indent="0">
              <a:buNone/>
            </a:pPr>
            <a:r>
              <a:rPr lang="es-AR" dirty="0"/>
              <a:t>	</a:t>
            </a:r>
            <a:r>
              <a:rPr lang="es-AR" dirty="0" err="1"/>
              <a:t>pedido.cambiarEstado</a:t>
            </a:r>
            <a:r>
              <a:rPr lang="es-AR" dirty="0"/>
              <a:t>();</a:t>
            </a:r>
          </a:p>
          <a:p>
            <a:pPr marL="0" indent="0">
              <a:buNone/>
            </a:pPr>
            <a:r>
              <a:rPr lang="es-AR" dirty="0"/>
              <a:t>puede parecer simple, pero por detrás:</a:t>
            </a:r>
          </a:p>
          <a:p>
            <a:pPr lvl="1"/>
            <a:r>
              <a:rPr lang="es-AR" dirty="0"/>
              <a:t>EmailObserver</a:t>
            </a:r>
          </a:p>
          <a:p>
            <a:pPr lvl="1"/>
            <a:r>
              <a:rPr lang="es-AR" dirty="0" err="1"/>
              <a:t>PushObserver</a:t>
            </a:r>
            <a:endParaRPr lang="es-AR" dirty="0"/>
          </a:p>
          <a:p>
            <a:pPr lvl="1"/>
            <a:r>
              <a:rPr lang="es-AR" dirty="0" err="1"/>
              <a:t>WhatsAppObserver</a:t>
            </a:r>
            <a:endParaRPr lang="es-AR" dirty="0"/>
          </a:p>
          <a:p>
            <a:pPr lvl="1"/>
            <a:r>
              <a:rPr lang="es-AR" dirty="0" err="1"/>
              <a:t>ReportingObserver</a:t>
            </a:r>
            <a:endParaRPr lang="es-AR" dirty="0"/>
          </a:p>
          <a:p>
            <a:pPr lvl="1"/>
            <a:r>
              <a:rPr lang="es-AR" dirty="0" err="1"/>
              <a:t>AuditoriaObserver</a:t>
            </a:r>
            <a:endParaRPr lang="es-AR" dirty="0"/>
          </a:p>
          <a:p>
            <a:r>
              <a:rPr lang="es-AR" b="1" dirty="0"/>
              <a:t>Puede generar efectos inesperados: </a:t>
            </a:r>
            <a:r>
              <a:rPr lang="es-AR" dirty="0"/>
              <a:t>un </a:t>
            </a:r>
            <a:r>
              <a:rPr lang="es-AR" dirty="0" err="1"/>
              <a:t>dev</a:t>
            </a:r>
            <a:r>
              <a:rPr lang="es-AR" dirty="0"/>
              <a:t> agrega "</a:t>
            </a:r>
            <a:r>
              <a:rPr lang="es-AR" dirty="0" err="1"/>
              <a:t>MarketingObserver</a:t>
            </a:r>
            <a:r>
              <a:rPr lang="es-AR" dirty="0"/>
              <a:t>” y de repente cada pedido manda campañas de marketing. El Subject no tiene control sobre eso.</a:t>
            </a:r>
          </a:p>
          <a:p>
            <a:r>
              <a:rPr lang="es-AR" b="1" dirty="0"/>
              <a:t>Problemas de rendimiento: </a:t>
            </a:r>
            <a:r>
              <a:rPr lang="es-AR" dirty="0"/>
              <a:t>si hay 100 </a:t>
            </a:r>
            <a:r>
              <a:rPr lang="es-AR" dirty="0" err="1"/>
              <a:t>observers</a:t>
            </a:r>
            <a:r>
              <a:rPr lang="es-AR" dirty="0"/>
              <a:t>, cada actualización dispara “</a:t>
            </a:r>
            <a:r>
              <a:rPr lang="es-AR" dirty="0" err="1"/>
              <a:t>observer.update</a:t>
            </a:r>
            <a:r>
              <a:rPr lang="es-AR" dirty="0"/>
              <a:t>();”. Si además hacen llamadas externas (SMTP, </a:t>
            </a:r>
            <a:r>
              <a:rPr lang="es-AR" dirty="0" err="1"/>
              <a:t>Firebase</a:t>
            </a:r>
            <a:r>
              <a:rPr lang="es-AR" dirty="0"/>
              <a:t>, WhatsApp API), puede volverse lento.</a:t>
            </a:r>
            <a:endParaRPr lang="es-AR" b="1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71339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40085-1797-C794-B4D4-09EDA8DF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Observer</a:t>
            </a:r>
            <a:r>
              <a:rPr lang="es-AR" dirty="0"/>
              <a:t> en el mundo real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25F3B3-F6BC-C6D1-2175-F339744A0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788800" cy="939800"/>
          </a:xfrm>
        </p:spPr>
        <p:txBody>
          <a:bodyPr/>
          <a:lstStyle/>
          <a:p>
            <a:r>
              <a:rPr lang="es-AR" dirty="0"/>
              <a:t>Nota: el video se muestra con </a:t>
            </a:r>
            <a:r>
              <a:rPr lang="es-AR" dirty="0" err="1"/>
              <a:t>JavaFX</a:t>
            </a:r>
            <a:r>
              <a:rPr lang="es-AR" dirty="0"/>
              <a:t> dentro de una pantalla Swing.</a:t>
            </a:r>
          </a:p>
        </p:txBody>
      </p:sp>
      <p:sp>
        <p:nvSpPr>
          <p:cNvPr id="4" name="Shape 13">
            <a:extLst>
              <a:ext uri="{FF2B5EF4-FFF2-40B4-BE49-F238E27FC236}">
                <a16:creationId xmlns:a16="http://schemas.microsoft.com/office/drawing/2014/main" id="{81DC813C-0DFF-20BE-8438-FCB57201A2EB}"/>
              </a:ext>
            </a:extLst>
          </p:cNvPr>
          <p:cNvSpPr/>
          <p:nvPr/>
        </p:nvSpPr>
        <p:spPr>
          <a:xfrm>
            <a:off x="735554" y="3671048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D2230"/>
          </a:solidFill>
          <a:ln w="1016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B176C018-4D74-C27B-34D6-9D99F0ED2D45}"/>
              </a:ext>
            </a:extLst>
          </p:cNvPr>
          <p:cNvSpPr/>
          <p:nvPr/>
        </p:nvSpPr>
        <p:spPr>
          <a:xfrm>
            <a:off x="900146" y="3853928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Usuario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presiona Play</a:t>
            </a:r>
            <a:endParaRPr lang="en-US" sz="1400" dirty="0"/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5F99A4B0-B35D-B610-C67D-A882D8C9EC87}"/>
              </a:ext>
            </a:extLst>
          </p:cNvPr>
          <p:cNvSpPr/>
          <p:nvPr/>
        </p:nvSpPr>
        <p:spPr>
          <a:xfrm>
            <a:off x="2655794" y="4155680"/>
            <a:ext cx="5338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FED38852-06C9-DB9A-0D41-B112892927E7}"/>
              </a:ext>
            </a:extLst>
          </p:cNvPr>
          <p:cNvSpPr/>
          <p:nvPr/>
        </p:nvSpPr>
        <p:spPr>
          <a:xfrm>
            <a:off x="3281082" y="3671048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D2230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2C1D5D4F-A630-68C1-6511-A2DC27E087E7}"/>
              </a:ext>
            </a:extLst>
          </p:cNvPr>
          <p:cNvSpPr/>
          <p:nvPr/>
        </p:nvSpPr>
        <p:spPr>
          <a:xfrm>
            <a:off x="3445674" y="3853928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</a:rPr>
              <a:t>ContentStartedEvent</a:t>
            </a:r>
            <a:endParaRPr lang="en-US" sz="1400" dirty="0"/>
          </a:p>
        </p:txBody>
      </p:sp>
      <p:sp>
        <p:nvSpPr>
          <p:cNvPr id="9" name="Shape 18">
            <a:extLst>
              <a:ext uri="{FF2B5EF4-FFF2-40B4-BE49-F238E27FC236}">
                <a16:creationId xmlns:a16="http://schemas.microsoft.com/office/drawing/2014/main" id="{F23E8A11-0F75-3DCD-7DE6-DB9FCBC001CA}"/>
              </a:ext>
            </a:extLst>
          </p:cNvPr>
          <p:cNvSpPr/>
          <p:nvPr/>
        </p:nvSpPr>
        <p:spPr>
          <a:xfrm>
            <a:off x="5658522" y="4155680"/>
            <a:ext cx="500231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19">
            <a:extLst>
              <a:ext uri="{FF2B5EF4-FFF2-40B4-BE49-F238E27FC236}">
                <a16:creationId xmlns:a16="http://schemas.microsoft.com/office/drawing/2014/main" id="{D1C872B2-5C92-02A5-CF5A-F63EBAD49D23}"/>
              </a:ext>
            </a:extLst>
          </p:cNvPr>
          <p:cNvSpPr/>
          <p:nvPr/>
        </p:nvSpPr>
        <p:spPr>
          <a:xfrm>
            <a:off x="6250193" y="3671048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D2230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20">
            <a:extLst>
              <a:ext uri="{FF2B5EF4-FFF2-40B4-BE49-F238E27FC236}">
                <a16:creationId xmlns:a16="http://schemas.microsoft.com/office/drawing/2014/main" id="{1D74A74B-D1F1-0768-7920-896152256FF7}"/>
              </a:ext>
            </a:extLst>
          </p:cNvPr>
          <p:cNvSpPr/>
          <p:nvPr/>
        </p:nvSpPr>
        <p:spPr>
          <a:xfrm>
            <a:off x="6414785" y="385392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Subscribers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reaccionan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34492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07F20-85AE-17A0-6111-1E9CA5C3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135030" cy="709865"/>
          </a:xfrm>
        </p:spPr>
        <p:txBody>
          <a:bodyPr/>
          <a:lstStyle/>
          <a:p>
            <a:r>
              <a:rPr lang="es-AR" dirty="0"/>
              <a:t>Punto de partida: </a:t>
            </a:r>
            <a:r>
              <a:rPr lang="es-AR" dirty="0" err="1"/>
              <a:t>Observer</a:t>
            </a:r>
            <a:r>
              <a:rPr lang="es-AR" dirty="0"/>
              <a:t> clásico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753737-E28A-5447-0DC1-802E6D38D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701394" cy="1739900"/>
          </a:xfrm>
        </p:spPr>
        <p:txBody>
          <a:bodyPr>
            <a:normAutofit fontScale="92500" lnSpcReduction="10000"/>
          </a:bodyPr>
          <a:lstStyle/>
          <a:p>
            <a:r>
              <a:rPr lang="es-AR" dirty="0"/>
              <a:t>Subject conoce la lista de </a:t>
            </a:r>
            <a:r>
              <a:rPr lang="es-AR" dirty="0" err="1"/>
              <a:t>observers</a:t>
            </a:r>
            <a:r>
              <a:rPr lang="es-AR" dirty="0"/>
              <a:t>, pero no conoce sus implementaciones concretas.</a:t>
            </a:r>
          </a:p>
          <a:p>
            <a:r>
              <a:rPr lang="es-AR" dirty="0"/>
              <a:t>Bajo acoplamiento: el Publisher no sabe qué hace cada </a:t>
            </a:r>
            <a:r>
              <a:rPr lang="es-AR" dirty="0" err="1"/>
              <a:t>observer</a:t>
            </a:r>
            <a:r>
              <a:rPr lang="es-AR" dirty="0"/>
              <a:t>.</a:t>
            </a:r>
          </a:p>
          <a:p>
            <a:r>
              <a:rPr lang="es-AR" dirty="0"/>
              <a:t>Open/</a:t>
            </a:r>
            <a:r>
              <a:rPr lang="es-AR" dirty="0" err="1"/>
              <a:t>Closed</a:t>
            </a:r>
            <a:r>
              <a:rPr lang="es-AR" dirty="0"/>
              <a:t>: agregamos </a:t>
            </a:r>
            <a:r>
              <a:rPr lang="es-AR" dirty="0" err="1"/>
              <a:t>observers</a:t>
            </a:r>
            <a:r>
              <a:rPr lang="es-AR" dirty="0"/>
              <a:t> sin tocar </a:t>
            </a:r>
            <a:r>
              <a:rPr lang="es-AR" dirty="0" err="1"/>
              <a:t>PlaybackService</a:t>
            </a:r>
            <a:r>
              <a:rPr lang="es-AR" dirty="0"/>
              <a:t>.
El evento permite que varias acciones ocurran ante el mismo Play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05DE6AF3-6326-2574-FD75-F6D4F17D486B}"/>
              </a:ext>
            </a:extLst>
          </p:cNvPr>
          <p:cNvSpPr/>
          <p:nvPr/>
        </p:nvSpPr>
        <p:spPr>
          <a:xfrm>
            <a:off x="215153" y="4674198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D2230"/>
          </a:solidFill>
          <a:ln w="1016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CAA9421-5EF3-7A68-A85A-15B77198345E}"/>
              </a:ext>
            </a:extLst>
          </p:cNvPr>
          <p:cNvSpPr/>
          <p:nvPr/>
        </p:nvSpPr>
        <p:spPr>
          <a:xfrm>
            <a:off x="379745" y="485707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</a:rPr>
              <a:t>PlaybackEventPublisher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</a:rPr>
              <a:t>(Subject)</a:t>
            </a:r>
            <a:endParaRPr lang="en-US" sz="14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D77F16CF-DE44-CE4B-D0BE-AC53F638B6EE}"/>
              </a:ext>
            </a:extLst>
          </p:cNvPr>
          <p:cNvSpPr/>
          <p:nvPr/>
        </p:nvSpPr>
        <p:spPr>
          <a:xfrm>
            <a:off x="2681075" y="5085678"/>
            <a:ext cx="372483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7A0B2FCB-F5AE-48DC-40AB-0FA99B28B1C0}"/>
              </a:ext>
            </a:extLst>
          </p:cNvPr>
          <p:cNvSpPr/>
          <p:nvPr/>
        </p:nvSpPr>
        <p:spPr>
          <a:xfrm>
            <a:off x="3184532" y="4674198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D2230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B3F017C-493D-6058-21B5-52D192D8633A}"/>
              </a:ext>
            </a:extLst>
          </p:cNvPr>
          <p:cNvSpPr/>
          <p:nvPr/>
        </p:nvSpPr>
        <p:spPr>
          <a:xfrm>
            <a:off x="3264677" y="4857078"/>
            <a:ext cx="21813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</a:rPr>
              <a:t>ContentEventObserver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</a:rPr>
              <a:t>(interface)</a:t>
            </a:r>
            <a:endParaRPr lang="en-US" sz="14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7DE3474F-835D-80C9-9E98-917A9230D408}"/>
              </a:ext>
            </a:extLst>
          </p:cNvPr>
          <p:cNvSpPr/>
          <p:nvPr/>
        </p:nvSpPr>
        <p:spPr>
          <a:xfrm>
            <a:off x="5585101" y="5131398"/>
            <a:ext cx="47737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298B337E-FBF1-6473-8D54-92CA0F1ADA79}"/>
              </a:ext>
            </a:extLst>
          </p:cNvPr>
          <p:cNvSpPr/>
          <p:nvPr/>
        </p:nvSpPr>
        <p:spPr>
          <a:xfrm flipV="1">
            <a:off x="5585101" y="4674198"/>
            <a:ext cx="557515" cy="2861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77977B5A-CD94-0130-04DF-8A12218512FC}"/>
              </a:ext>
            </a:extLst>
          </p:cNvPr>
          <p:cNvSpPr/>
          <p:nvPr/>
        </p:nvSpPr>
        <p:spPr>
          <a:xfrm>
            <a:off x="5585101" y="5263986"/>
            <a:ext cx="477370" cy="65836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3120B387-20DA-BAE2-5858-8AAC4610E037}"/>
              </a:ext>
            </a:extLst>
          </p:cNvPr>
          <p:cNvSpPr/>
          <p:nvPr/>
        </p:nvSpPr>
        <p:spPr>
          <a:xfrm>
            <a:off x="6142616" y="433587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252B3A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7DD614F8-7228-583E-609A-80C4822133A9}"/>
              </a:ext>
            </a:extLst>
          </p:cNvPr>
          <p:cNvSpPr/>
          <p:nvPr/>
        </p:nvSpPr>
        <p:spPr>
          <a:xfrm>
            <a:off x="6307208" y="4518750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</a:rPr>
              <a:t>AnalyticsObserver</a:t>
            </a:r>
            <a:endParaRPr lang="en-US" sz="120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2B5703F0-2390-BC3C-DE1F-53BAA313A90D}"/>
              </a:ext>
            </a:extLst>
          </p:cNvPr>
          <p:cNvSpPr/>
          <p:nvPr/>
        </p:nvSpPr>
        <p:spPr>
          <a:xfrm>
            <a:off x="6142616" y="5085678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252B3A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9215160E-E412-F502-3AD0-6BAE5B70429F}"/>
              </a:ext>
            </a:extLst>
          </p:cNvPr>
          <p:cNvSpPr/>
          <p:nvPr/>
        </p:nvSpPr>
        <p:spPr>
          <a:xfrm>
            <a:off x="6307208" y="5268558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</a:rPr>
              <a:t>RecommendationObserver</a:t>
            </a:r>
            <a:endParaRPr lang="en-US" sz="120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4BDFC30B-663B-6433-5282-72424FA8B912}"/>
              </a:ext>
            </a:extLst>
          </p:cNvPr>
          <p:cNvSpPr/>
          <p:nvPr/>
        </p:nvSpPr>
        <p:spPr>
          <a:xfrm>
            <a:off x="6142616" y="5835486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252B3A"/>
          </a:solidFill>
          <a:ln w="10160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8F2EECA5-6182-E2DA-8474-0E23B7DA1CFB}"/>
              </a:ext>
            </a:extLst>
          </p:cNvPr>
          <p:cNvSpPr/>
          <p:nvPr/>
        </p:nvSpPr>
        <p:spPr>
          <a:xfrm>
            <a:off x="6307208" y="6018366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</a:rPr>
              <a:t>NotificationObserver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8930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F8B30-402F-394F-8318-DB664BF3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Antes: una clase centralizada y acoplada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4861CC-693C-8E68-366B-3741011C3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694671" cy="709865"/>
          </a:xfrm>
        </p:spPr>
        <p:txBody>
          <a:bodyPr/>
          <a:lstStyle/>
          <a:p>
            <a:r>
              <a:rPr lang="es-AR" dirty="0"/>
              <a:t>Sin </a:t>
            </a:r>
            <a:r>
              <a:rPr lang="es-AR" dirty="0" err="1"/>
              <a:t>Observer</a:t>
            </a:r>
            <a:r>
              <a:rPr lang="es-AR" dirty="0"/>
              <a:t>, el servicio principal empieza a tener demasiadas responsabilidades.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4B54A80-17BF-67DB-19AF-ED691A409634}"/>
              </a:ext>
            </a:extLst>
          </p:cNvPr>
          <p:cNvSpPr/>
          <p:nvPr/>
        </p:nvSpPr>
        <p:spPr>
          <a:xfrm>
            <a:off x="383240" y="3701985"/>
            <a:ext cx="1593477" cy="914400"/>
          </a:xfrm>
          <a:prstGeom prst="roundRect">
            <a:avLst>
              <a:gd name="adj" fmla="val 8000"/>
            </a:avLst>
          </a:prstGeom>
          <a:solidFill>
            <a:srgbClr val="1D2230"/>
          </a:solidFill>
          <a:ln w="1016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7C048630-C60C-56F1-AF31-AD65581FA2E4}"/>
              </a:ext>
            </a:extLst>
          </p:cNvPr>
          <p:cNvSpPr/>
          <p:nvPr/>
        </p:nvSpPr>
        <p:spPr>
          <a:xfrm>
            <a:off x="457201" y="3884865"/>
            <a:ext cx="1434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</a:rPr>
              <a:t>PlaybackService</a:t>
            </a:r>
            <a:endParaRPr lang="en-US" sz="12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4EF53C4F-BB0C-18E4-94F9-69FFBE3AC2A6}"/>
              </a:ext>
            </a:extLst>
          </p:cNvPr>
          <p:cNvSpPr/>
          <p:nvPr/>
        </p:nvSpPr>
        <p:spPr>
          <a:xfrm>
            <a:off x="2045297" y="4159185"/>
            <a:ext cx="96012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543A8B9C-5199-A76D-AB35-7DB95D8DC720}"/>
              </a:ext>
            </a:extLst>
          </p:cNvPr>
          <p:cNvSpPr/>
          <p:nvPr/>
        </p:nvSpPr>
        <p:spPr>
          <a:xfrm flipV="1">
            <a:off x="2045297" y="3564825"/>
            <a:ext cx="937260" cy="59436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A1ABC853-6F55-F4C3-A5BE-F8FA750E7E9A}"/>
              </a:ext>
            </a:extLst>
          </p:cNvPr>
          <p:cNvSpPr/>
          <p:nvPr/>
        </p:nvSpPr>
        <p:spPr>
          <a:xfrm>
            <a:off x="2056489" y="4182044"/>
            <a:ext cx="948928" cy="59435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48A7C7A8-A12A-53E6-B980-A8BE628A6C74}"/>
              </a:ext>
            </a:extLst>
          </p:cNvPr>
          <p:cNvSpPr/>
          <p:nvPr/>
        </p:nvSpPr>
        <p:spPr>
          <a:xfrm>
            <a:off x="2045297" y="4182043"/>
            <a:ext cx="888167" cy="1109367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B9D4E489-A7AF-49FE-A190-55BFF94209B7}"/>
              </a:ext>
            </a:extLst>
          </p:cNvPr>
          <p:cNvSpPr/>
          <p:nvPr/>
        </p:nvSpPr>
        <p:spPr>
          <a:xfrm>
            <a:off x="3051138" y="3244785"/>
            <a:ext cx="1762702" cy="594360"/>
          </a:xfrm>
          <a:prstGeom prst="roundRect">
            <a:avLst>
              <a:gd name="adj" fmla="val 12308"/>
            </a:avLst>
          </a:prstGeom>
          <a:solidFill>
            <a:srgbClr val="252B3A"/>
          </a:solidFill>
          <a:ln w="10160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693A9BBE-0545-FC16-F480-3368F1FCFF53}"/>
              </a:ext>
            </a:extLst>
          </p:cNvPr>
          <p:cNvSpPr/>
          <p:nvPr/>
        </p:nvSpPr>
        <p:spPr>
          <a:xfrm>
            <a:off x="3215729" y="3427665"/>
            <a:ext cx="1756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guardarAnalytics()</a:t>
            </a:r>
            <a:endParaRPr lang="en-US" sz="12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BACA8F67-403C-68BB-425D-1823DEE3E63F}"/>
              </a:ext>
            </a:extLst>
          </p:cNvPr>
          <p:cNvSpPr/>
          <p:nvPr/>
        </p:nvSpPr>
        <p:spPr>
          <a:xfrm>
            <a:off x="3051137" y="3884865"/>
            <a:ext cx="2430609" cy="594360"/>
          </a:xfrm>
          <a:prstGeom prst="roundRect">
            <a:avLst>
              <a:gd name="adj" fmla="val 12308"/>
            </a:avLst>
          </a:prstGeom>
          <a:solidFill>
            <a:srgbClr val="252B3A"/>
          </a:solidFill>
          <a:ln w="10160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CF70BDEE-8A15-13D0-14CE-522D80B6CE9E}"/>
              </a:ext>
            </a:extLst>
          </p:cNvPr>
          <p:cNvSpPr/>
          <p:nvPr/>
        </p:nvSpPr>
        <p:spPr>
          <a:xfrm>
            <a:off x="3215729" y="4067745"/>
            <a:ext cx="214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actualizarContinuarViendo()</a:t>
            </a:r>
            <a:endParaRPr lang="en-US" sz="120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B950B946-CD32-84C3-80AE-CBFB0F418A78}"/>
              </a:ext>
            </a:extLst>
          </p:cNvPr>
          <p:cNvSpPr/>
          <p:nvPr/>
        </p:nvSpPr>
        <p:spPr>
          <a:xfrm>
            <a:off x="3051137" y="4524945"/>
            <a:ext cx="2587422" cy="594360"/>
          </a:xfrm>
          <a:prstGeom prst="roundRect">
            <a:avLst>
              <a:gd name="adj" fmla="val 12308"/>
            </a:avLst>
          </a:prstGeom>
          <a:solidFill>
            <a:srgbClr val="252B3A"/>
          </a:solidFill>
          <a:ln w="10160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EFF1215C-31FC-CCA7-7494-D52DEE6242EF}"/>
              </a:ext>
            </a:extLst>
          </p:cNvPr>
          <p:cNvSpPr/>
          <p:nvPr/>
        </p:nvSpPr>
        <p:spPr>
          <a:xfrm>
            <a:off x="3215729" y="4707825"/>
            <a:ext cx="2305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recalcularRecomendaciones()</a:t>
            </a:r>
            <a:endParaRPr lang="en-US" sz="120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BF4E41B1-8FA6-4FD2-5C04-41840FC67EB4}"/>
              </a:ext>
            </a:extLst>
          </p:cNvPr>
          <p:cNvSpPr/>
          <p:nvPr/>
        </p:nvSpPr>
        <p:spPr>
          <a:xfrm>
            <a:off x="3051137" y="5165025"/>
            <a:ext cx="2069938" cy="594360"/>
          </a:xfrm>
          <a:prstGeom prst="roundRect">
            <a:avLst>
              <a:gd name="adj" fmla="val 12308"/>
            </a:avLst>
          </a:prstGeom>
          <a:solidFill>
            <a:srgbClr val="252B3A"/>
          </a:solidFill>
          <a:ln w="10160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F8084A7B-6463-0BF8-07CF-FAE0D362C511}"/>
              </a:ext>
            </a:extLst>
          </p:cNvPr>
          <p:cNvSpPr/>
          <p:nvPr/>
        </p:nvSpPr>
        <p:spPr>
          <a:xfrm>
            <a:off x="3215729" y="5347905"/>
            <a:ext cx="2069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evaluarNotificaciones()</a:t>
            </a:r>
            <a:endParaRPr lang="en-US" sz="12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2697090D-E5AA-1A93-D1C3-C8D3D6FE206C}"/>
              </a:ext>
            </a:extLst>
          </p:cNvPr>
          <p:cNvSpPr/>
          <p:nvPr/>
        </p:nvSpPr>
        <p:spPr>
          <a:xfrm>
            <a:off x="6217920" y="3244785"/>
            <a:ext cx="207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7185"/>
                </a:solidFill>
              </a:rPr>
              <a:t>Problema</a:t>
            </a:r>
            <a:endParaRPr lang="en-US" sz="1600" dirty="0"/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4D2FEA23-4AFF-B35C-73CF-EE095DD12288}"/>
              </a:ext>
            </a:extLst>
          </p:cNvPr>
          <p:cNvSpPr txBox="1">
            <a:spLocks/>
          </p:cNvSpPr>
          <p:nvPr/>
        </p:nvSpPr>
        <p:spPr>
          <a:xfrm>
            <a:off x="6217920" y="3701984"/>
            <a:ext cx="2663862" cy="22289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Alta </a:t>
            </a:r>
            <a:r>
              <a:rPr lang="en-US" dirty="0" err="1"/>
              <a:t>dependencia</a:t>
            </a:r>
            <a:r>
              <a:rPr lang="en-US" dirty="0"/>
              <a:t> entre </a:t>
            </a:r>
            <a:r>
              <a:rPr lang="en-US" dirty="0" err="1"/>
              <a:t>módulos</a:t>
            </a:r>
            <a:r>
              <a:rPr lang="en-US" dirty="0"/>
              <a:t>.</a:t>
            </a:r>
          </a:p>
          <a:p>
            <a:r>
              <a:rPr lang="en-US" dirty="0"/>
              <a:t>Cada </a:t>
            </a:r>
            <a:r>
              <a:rPr lang="en-US" dirty="0" err="1"/>
              <a:t>nueva</a:t>
            </a:r>
            <a:r>
              <a:rPr lang="en-US" dirty="0"/>
              <a:t> </a:t>
            </a:r>
            <a:r>
              <a:rPr lang="en-US" dirty="0" err="1"/>
              <a:t>reacción</a:t>
            </a:r>
            <a:r>
              <a:rPr lang="en-US" dirty="0"/>
              <a:t>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servicio</a:t>
            </a:r>
            <a:r>
              <a:rPr lang="en-US" dirty="0"/>
              <a:t>.
</a:t>
            </a:r>
            <a:r>
              <a:rPr lang="en-US" dirty="0" err="1"/>
              <a:t>Difícil</a:t>
            </a:r>
            <a:r>
              <a:rPr lang="en-US" dirty="0"/>
              <a:t> </a:t>
            </a:r>
            <a:r>
              <a:rPr lang="en-US" dirty="0" err="1"/>
              <a:t>testear</a:t>
            </a:r>
            <a:r>
              <a:rPr lang="en-US" dirty="0"/>
              <a:t> y </a:t>
            </a:r>
            <a:r>
              <a:rPr lang="en-US" dirty="0" err="1"/>
              <a:t>mantener</a:t>
            </a:r>
            <a:r>
              <a:rPr lang="en-US" dirty="0"/>
              <a:t>.
Se </a:t>
            </a:r>
            <a:r>
              <a:rPr lang="en-US" dirty="0" err="1"/>
              <a:t>parece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God Class.</a:t>
            </a:r>
          </a:p>
        </p:txBody>
      </p:sp>
    </p:spTree>
    <p:extLst>
      <p:ext uri="{BB962C8B-B14F-4D97-AF65-F5344CB8AC3E}">
        <p14:creationId xmlns:p14="http://schemas.microsoft.com/office/powerpoint/2010/main" val="3558140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1C9A6-8F19-428A-C3FF-50A43DD02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69" y="927098"/>
            <a:ext cx="6859365" cy="709865"/>
          </a:xfrm>
        </p:spPr>
        <p:txBody>
          <a:bodyPr/>
          <a:lstStyle/>
          <a:p>
            <a:r>
              <a:rPr lang="es-AR" dirty="0"/>
              <a:t>Después: Play </a:t>
            </a:r>
            <a:r>
              <a:rPr lang="es-AR" dirty="0" err="1"/>
              <a:t>Event</a:t>
            </a:r>
            <a:r>
              <a:rPr lang="es-AR" dirty="0"/>
              <a:t> + </a:t>
            </a:r>
            <a:r>
              <a:rPr lang="es-AR" dirty="0" err="1"/>
              <a:t>Subscribers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282CD3-35E2-C028-FA5B-0EE10F6EB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466071" cy="709865"/>
          </a:xfrm>
        </p:spPr>
        <p:txBody>
          <a:bodyPr/>
          <a:lstStyle/>
          <a:p>
            <a:r>
              <a:rPr lang="es-AR" dirty="0"/>
              <a:t>El servicio reproduce y publica; los </a:t>
            </a:r>
            <a:r>
              <a:rPr lang="es-AR" dirty="0" err="1"/>
              <a:t>observers</a:t>
            </a:r>
            <a:r>
              <a:rPr lang="es-AR" dirty="0"/>
              <a:t> reaccionan por separado.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32CB7666-9FC4-D78F-6AE9-667E4CF4D53E}"/>
              </a:ext>
            </a:extLst>
          </p:cNvPr>
          <p:cNvSpPr/>
          <p:nvPr/>
        </p:nvSpPr>
        <p:spPr>
          <a:xfrm>
            <a:off x="254149" y="3703320"/>
            <a:ext cx="1379669" cy="822960"/>
          </a:xfrm>
          <a:prstGeom prst="roundRect">
            <a:avLst>
              <a:gd name="adj" fmla="val 8889"/>
            </a:avLst>
          </a:prstGeom>
          <a:solidFill>
            <a:srgbClr val="1D2230"/>
          </a:solidFill>
          <a:ln w="1016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45E9396-74A2-E625-1D6B-CA9827B0CEC1}"/>
              </a:ext>
            </a:extLst>
          </p:cNvPr>
          <p:cNvSpPr/>
          <p:nvPr/>
        </p:nvSpPr>
        <p:spPr>
          <a:xfrm>
            <a:off x="418741" y="3886200"/>
            <a:ext cx="1103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</a:rPr>
              <a:t>MainFrame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</a:rPr>
              <a:t>Swing UI</a:t>
            </a:r>
            <a:endParaRPr lang="en-US" sz="15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E90458A7-79B9-B4B6-1B47-D35C4BCF9677}"/>
              </a:ext>
            </a:extLst>
          </p:cNvPr>
          <p:cNvSpPr/>
          <p:nvPr/>
        </p:nvSpPr>
        <p:spPr>
          <a:xfrm flipV="1">
            <a:off x="1709121" y="4125558"/>
            <a:ext cx="656217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F394CCF1-CCA1-0FA7-42D0-D2986EFB337A}"/>
              </a:ext>
            </a:extLst>
          </p:cNvPr>
          <p:cNvSpPr/>
          <p:nvPr/>
        </p:nvSpPr>
        <p:spPr>
          <a:xfrm>
            <a:off x="2365338" y="3245452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D2230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1DDA11ED-36F4-3A38-7400-7C0E0C9E5688}"/>
              </a:ext>
            </a:extLst>
          </p:cNvPr>
          <p:cNvSpPr/>
          <p:nvPr/>
        </p:nvSpPr>
        <p:spPr>
          <a:xfrm>
            <a:off x="2529930" y="342833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</a:rPr>
              <a:t>JavaFXVideoPlayer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</a:rPr>
              <a:t>MP4</a:t>
            </a:r>
            <a:endParaRPr lang="en-US" sz="15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AB914B90-BAAA-28F7-F3D8-AA4F8C4F288F}"/>
              </a:ext>
            </a:extLst>
          </p:cNvPr>
          <p:cNvSpPr/>
          <p:nvPr/>
        </p:nvSpPr>
        <p:spPr>
          <a:xfrm>
            <a:off x="2365338" y="4196827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D2230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AF04AAC-E0EB-8BF9-740D-CA78B5DED658}"/>
              </a:ext>
            </a:extLst>
          </p:cNvPr>
          <p:cNvSpPr/>
          <p:nvPr/>
        </p:nvSpPr>
        <p:spPr>
          <a:xfrm>
            <a:off x="2529930" y="4379707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</a:rPr>
              <a:t>PlaybackService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</a:rPr>
              <a:t>publica evento</a:t>
            </a:r>
            <a:endParaRPr lang="en-US" sz="15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3F2CED0A-1982-C98B-BF36-016809FB5CE2}"/>
              </a:ext>
            </a:extLst>
          </p:cNvPr>
          <p:cNvSpPr/>
          <p:nvPr/>
        </p:nvSpPr>
        <p:spPr>
          <a:xfrm>
            <a:off x="4465767" y="4125558"/>
            <a:ext cx="334833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FFB6F225-3670-5565-512D-711F47DE93DB}"/>
              </a:ext>
            </a:extLst>
          </p:cNvPr>
          <p:cNvSpPr/>
          <p:nvPr/>
        </p:nvSpPr>
        <p:spPr>
          <a:xfrm>
            <a:off x="4837717" y="3714078"/>
            <a:ext cx="1780389" cy="822960"/>
          </a:xfrm>
          <a:prstGeom prst="roundRect">
            <a:avLst>
              <a:gd name="adj" fmla="val 8889"/>
            </a:avLst>
          </a:prstGeom>
          <a:solidFill>
            <a:srgbClr val="1D2230"/>
          </a:solidFill>
          <a:ln w="1016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CA1E208B-A3D7-AD1D-0D7B-24A28032C4BE}"/>
              </a:ext>
            </a:extLst>
          </p:cNvPr>
          <p:cNvSpPr/>
          <p:nvPr/>
        </p:nvSpPr>
        <p:spPr>
          <a:xfrm>
            <a:off x="4900917" y="3896958"/>
            <a:ext cx="16405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4F7FB"/>
                </a:solidFill>
              </a:rPr>
              <a:t>PlaybackEventPublisher</a:t>
            </a:r>
            <a:endParaRPr lang="en-US" sz="110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3028D792-67FE-41ED-0452-3C8A944DA0B8}"/>
              </a:ext>
            </a:extLst>
          </p:cNvPr>
          <p:cNvSpPr/>
          <p:nvPr/>
        </p:nvSpPr>
        <p:spPr>
          <a:xfrm>
            <a:off x="8182537" y="4568633"/>
            <a:ext cx="685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DFFFC3FD-A602-7E01-3460-F6F907C966D1}"/>
              </a:ext>
            </a:extLst>
          </p:cNvPr>
          <p:cNvSpPr/>
          <p:nvPr/>
        </p:nvSpPr>
        <p:spPr>
          <a:xfrm>
            <a:off x="8182537" y="4568633"/>
            <a:ext cx="685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401157DB-4FE7-B80D-AC10-96E4B0312D14}"/>
              </a:ext>
            </a:extLst>
          </p:cNvPr>
          <p:cNvSpPr/>
          <p:nvPr/>
        </p:nvSpPr>
        <p:spPr>
          <a:xfrm>
            <a:off x="8182537" y="4568633"/>
            <a:ext cx="68580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D10379B6-A99B-7B7E-9006-42E2C21F3FA5}"/>
              </a:ext>
            </a:extLst>
          </p:cNvPr>
          <p:cNvSpPr/>
          <p:nvPr/>
        </p:nvSpPr>
        <p:spPr>
          <a:xfrm flipV="1">
            <a:off x="6706050" y="3358547"/>
            <a:ext cx="408446" cy="709865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C08B3F05-A6EF-FCD0-BBED-91770ECA1A8A}"/>
              </a:ext>
            </a:extLst>
          </p:cNvPr>
          <p:cNvSpPr/>
          <p:nvPr/>
        </p:nvSpPr>
        <p:spPr>
          <a:xfrm>
            <a:off x="7206280" y="2962397"/>
            <a:ext cx="1780389" cy="594360"/>
          </a:xfrm>
          <a:prstGeom prst="roundRect">
            <a:avLst>
              <a:gd name="adj" fmla="val 12308"/>
            </a:avLst>
          </a:prstGeom>
          <a:solidFill>
            <a:srgbClr val="252B3A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48C02E12-F8B9-3F94-39BB-69618040B7CA}"/>
              </a:ext>
            </a:extLst>
          </p:cNvPr>
          <p:cNvSpPr/>
          <p:nvPr/>
        </p:nvSpPr>
        <p:spPr>
          <a:xfrm>
            <a:off x="7370872" y="3145277"/>
            <a:ext cx="15240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</a:rPr>
              <a:t>Analytics + H2</a:t>
            </a:r>
            <a:endParaRPr lang="en-US" sz="130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491AC5F4-62A2-02EE-54C1-B044B9CE9B4D}"/>
              </a:ext>
            </a:extLst>
          </p:cNvPr>
          <p:cNvSpPr/>
          <p:nvPr/>
        </p:nvSpPr>
        <p:spPr>
          <a:xfrm>
            <a:off x="7206280" y="3639451"/>
            <a:ext cx="1780389" cy="594360"/>
          </a:xfrm>
          <a:prstGeom prst="roundRect">
            <a:avLst>
              <a:gd name="adj" fmla="val 12308"/>
            </a:avLst>
          </a:prstGeom>
          <a:solidFill>
            <a:srgbClr val="252B3A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8107ECF8-38D9-0951-F437-D4B618FD240E}"/>
              </a:ext>
            </a:extLst>
          </p:cNvPr>
          <p:cNvSpPr/>
          <p:nvPr/>
        </p:nvSpPr>
        <p:spPr>
          <a:xfrm>
            <a:off x="7370872" y="3822331"/>
            <a:ext cx="15240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</a:rPr>
              <a:t>Recommendation</a:t>
            </a:r>
            <a:endParaRPr lang="en-US" sz="1300" dirty="0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652AD5EA-1506-78C5-4C8B-74AC285874FE}"/>
              </a:ext>
            </a:extLst>
          </p:cNvPr>
          <p:cNvSpPr/>
          <p:nvPr/>
        </p:nvSpPr>
        <p:spPr>
          <a:xfrm>
            <a:off x="7206280" y="4316505"/>
            <a:ext cx="1780389" cy="594360"/>
          </a:xfrm>
          <a:prstGeom prst="roundRect">
            <a:avLst>
              <a:gd name="adj" fmla="val 12308"/>
            </a:avLst>
          </a:prstGeom>
          <a:solidFill>
            <a:srgbClr val="252B3A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7F58E834-DF68-4CBC-030B-D4EC46BAEB92}"/>
              </a:ext>
            </a:extLst>
          </p:cNvPr>
          <p:cNvSpPr/>
          <p:nvPr/>
        </p:nvSpPr>
        <p:spPr>
          <a:xfrm>
            <a:off x="7370872" y="4499385"/>
            <a:ext cx="15240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</a:rPr>
              <a:t>Continue Watching</a:t>
            </a:r>
            <a:endParaRPr lang="en-US" sz="1300" dirty="0"/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73A68BD7-0E00-B52B-0A7F-CA157DF8D182}"/>
              </a:ext>
            </a:extLst>
          </p:cNvPr>
          <p:cNvSpPr/>
          <p:nvPr/>
        </p:nvSpPr>
        <p:spPr>
          <a:xfrm>
            <a:off x="7206280" y="5019787"/>
            <a:ext cx="1780389" cy="594360"/>
          </a:xfrm>
          <a:prstGeom prst="roundRect">
            <a:avLst>
              <a:gd name="adj" fmla="val 12308"/>
            </a:avLst>
          </a:prstGeom>
          <a:solidFill>
            <a:srgbClr val="252B3A"/>
          </a:solidFill>
          <a:ln w="10160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B6997A2E-A7A3-B9EF-C681-A30ADD7DCE6B}"/>
              </a:ext>
            </a:extLst>
          </p:cNvPr>
          <p:cNvSpPr/>
          <p:nvPr/>
        </p:nvSpPr>
        <p:spPr>
          <a:xfrm>
            <a:off x="7370872" y="5202667"/>
            <a:ext cx="15240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</a:rPr>
              <a:t>Notification</a:t>
            </a:r>
            <a:endParaRPr lang="en-US" sz="13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297EB26C-739F-4F63-D3FD-9FC305828178}"/>
              </a:ext>
            </a:extLst>
          </p:cNvPr>
          <p:cNvSpPr/>
          <p:nvPr/>
        </p:nvSpPr>
        <p:spPr>
          <a:xfrm flipV="1">
            <a:off x="6681306" y="3822330"/>
            <a:ext cx="448326" cy="35493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CE5623B3-A282-0E34-3A6F-03FAB5F7A49D}"/>
              </a:ext>
            </a:extLst>
          </p:cNvPr>
          <p:cNvSpPr/>
          <p:nvPr/>
        </p:nvSpPr>
        <p:spPr>
          <a:xfrm>
            <a:off x="6690258" y="4241131"/>
            <a:ext cx="424237" cy="28514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37629D7E-13F2-94A4-32BA-5BFBE13180F5}"/>
              </a:ext>
            </a:extLst>
          </p:cNvPr>
          <p:cNvSpPr/>
          <p:nvPr/>
        </p:nvSpPr>
        <p:spPr>
          <a:xfrm>
            <a:off x="6687496" y="4366796"/>
            <a:ext cx="424236" cy="749809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3802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4502C-7A1A-FA81-0406-92581A05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Paso 1: el usuario selecciona un MP4 local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419E39-982F-6D47-F658-BEF560BD1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620712" cy="939800"/>
          </a:xfrm>
        </p:spPr>
        <p:txBody>
          <a:bodyPr/>
          <a:lstStyle/>
          <a:p>
            <a:r>
              <a:rPr lang="es-AR" dirty="0"/>
              <a:t>La UI Swing usa </a:t>
            </a:r>
            <a:r>
              <a:rPr lang="es-AR" dirty="0" err="1"/>
              <a:t>JFXPanel</a:t>
            </a:r>
            <a:r>
              <a:rPr lang="es-AR" dirty="0"/>
              <a:t> para incrustar </a:t>
            </a:r>
            <a:r>
              <a:rPr lang="es-AR" dirty="0" err="1"/>
              <a:t>JavaFX</a:t>
            </a:r>
            <a:r>
              <a:rPr lang="es-AR" dirty="0"/>
              <a:t>.</a:t>
            </a:r>
          </a:p>
          <a:p>
            <a:r>
              <a:rPr lang="es-AR" dirty="0"/>
              <a:t>El MP4 se reproduce con Media + </a:t>
            </a:r>
            <a:r>
              <a:rPr lang="es-AR" dirty="0" err="1"/>
              <a:t>MediaPlayer</a:t>
            </a:r>
            <a:r>
              <a:rPr lang="es-AR" dirty="0"/>
              <a:t> + </a:t>
            </a:r>
            <a:r>
              <a:rPr lang="es-AR" dirty="0" err="1"/>
              <a:t>MediaView</a:t>
            </a:r>
            <a:r>
              <a:rPr lang="es-AR" dirty="0"/>
              <a:t>.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3C19BF8C-229D-DAE8-3C84-FD69F9BD1D24}"/>
              </a:ext>
            </a:extLst>
          </p:cNvPr>
          <p:cNvSpPr/>
          <p:nvPr/>
        </p:nvSpPr>
        <p:spPr>
          <a:xfrm>
            <a:off x="671682" y="3437218"/>
            <a:ext cx="3106942" cy="594360"/>
          </a:xfrm>
          <a:prstGeom prst="roundRect">
            <a:avLst>
              <a:gd name="adj" fmla="val 12308"/>
            </a:avLst>
          </a:prstGeom>
          <a:solidFill>
            <a:srgbClr val="1D2230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2375ABD-5792-C2F4-94AE-B7A445D6D7AE}"/>
              </a:ext>
            </a:extLst>
          </p:cNvPr>
          <p:cNvSpPr/>
          <p:nvPr/>
        </p:nvSpPr>
        <p:spPr>
          <a:xfrm>
            <a:off x="836274" y="362009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</a:rPr>
              <a:t>src/main/resources/videos/</a:t>
            </a:r>
            <a:endParaRPr lang="en-US" sz="16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15D6BB63-6B47-45E8-FA1F-8B0A1CEDC8DA}"/>
              </a:ext>
            </a:extLst>
          </p:cNvPr>
          <p:cNvSpPr/>
          <p:nvPr/>
        </p:nvSpPr>
        <p:spPr>
          <a:xfrm>
            <a:off x="375846" y="4283038"/>
            <a:ext cx="2880360" cy="1403604"/>
          </a:xfrm>
          <a:prstGeom prst="roundRect">
            <a:avLst>
              <a:gd name="adj" fmla="val 2424"/>
            </a:avLst>
          </a:prstGeom>
          <a:solidFill>
            <a:srgbClr val="0B10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B1D3B41-408B-7817-D335-31328CF998F1}"/>
              </a:ext>
            </a:extLst>
          </p:cNvPr>
          <p:cNvSpPr/>
          <p:nvPr/>
        </p:nvSpPr>
        <p:spPr>
          <a:xfrm>
            <a:off x="522150" y="4433914"/>
            <a:ext cx="2570673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videos/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toystory.mp4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mandaloriangrogu.mp4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COLOCA_TUS_MP4_AQUI.txt</a:t>
            </a:r>
            <a:endParaRPr lang="en-US" sz="13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439E98B4-585A-00BD-7FA0-539A51633DAA}"/>
              </a:ext>
            </a:extLst>
          </p:cNvPr>
          <p:cNvSpPr/>
          <p:nvPr/>
        </p:nvSpPr>
        <p:spPr>
          <a:xfrm>
            <a:off x="3361764" y="5037418"/>
            <a:ext cx="363071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E21F2F09-0454-2168-9081-FFC021C5088C}"/>
              </a:ext>
            </a:extLst>
          </p:cNvPr>
          <p:cNvSpPr/>
          <p:nvPr/>
        </p:nvSpPr>
        <p:spPr>
          <a:xfrm>
            <a:off x="3830393" y="4351618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D2230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4E3D28D7-FFF4-38FC-BDE5-B40D203FEB11}"/>
              </a:ext>
            </a:extLst>
          </p:cNvPr>
          <p:cNvSpPr/>
          <p:nvPr/>
        </p:nvSpPr>
        <p:spPr>
          <a:xfrm>
            <a:off x="3994985" y="4534498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4F7FB"/>
                </a:solidFill>
              </a:rPr>
              <a:t>StreamingContent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F7FB"/>
                </a:solidFill>
              </a:rPr>
              <a:t>resourcePath=/videos/toystory.mp4</a:t>
            </a:r>
            <a:endParaRPr lang="en-US" sz="11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776663ED-F6F7-2917-BC72-BE35719D14D5}"/>
              </a:ext>
            </a:extLst>
          </p:cNvPr>
          <p:cNvSpPr/>
          <p:nvPr/>
        </p:nvSpPr>
        <p:spPr>
          <a:xfrm>
            <a:off x="6655620" y="5037418"/>
            <a:ext cx="343573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BCF70BE8-5E83-27FD-13F2-CB836A6551F4}"/>
              </a:ext>
            </a:extLst>
          </p:cNvPr>
          <p:cNvSpPr/>
          <p:nvPr/>
        </p:nvSpPr>
        <p:spPr>
          <a:xfrm>
            <a:off x="7081220" y="4351618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D2230"/>
          </a:solidFill>
          <a:ln w="1016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6F7A0383-A26F-290F-57C1-A4B730BC05B5}"/>
              </a:ext>
            </a:extLst>
          </p:cNvPr>
          <p:cNvSpPr/>
          <p:nvPr/>
        </p:nvSpPr>
        <p:spPr>
          <a:xfrm>
            <a:off x="7245812" y="4534498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</a:rPr>
              <a:t>JavaFX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</a:rPr>
              <a:t>MediaPlayer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51966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67C0C-970A-6C0D-0EA2-5F461976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711448" cy="709865"/>
          </a:xfrm>
        </p:spPr>
        <p:txBody>
          <a:bodyPr/>
          <a:lstStyle/>
          <a:p>
            <a:r>
              <a:rPr lang="es-AR" dirty="0"/>
              <a:t>Paso 2: se publica </a:t>
            </a:r>
            <a:r>
              <a:rPr lang="es-AR" dirty="0" err="1"/>
              <a:t>ContentStartedEvent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780A0C-282F-7C41-D5B9-7DB28A6BA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681224" cy="709865"/>
          </a:xfrm>
        </p:spPr>
        <p:txBody>
          <a:bodyPr/>
          <a:lstStyle/>
          <a:p>
            <a:r>
              <a:rPr lang="es-AR" dirty="0"/>
              <a:t>El evento representa algo que ocurrió en el dominio: comenzó una reproducción.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4602CEC-007B-DC4C-76BC-4F2E3A7D3517}"/>
              </a:ext>
            </a:extLst>
          </p:cNvPr>
          <p:cNvSpPr/>
          <p:nvPr/>
        </p:nvSpPr>
        <p:spPr>
          <a:xfrm>
            <a:off x="185934" y="3267645"/>
            <a:ext cx="3720801" cy="1874520"/>
          </a:xfrm>
          <a:prstGeom prst="roundRect">
            <a:avLst>
              <a:gd name="adj" fmla="val 1951"/>
            </a:avLst>
          </a:prstGeom>
          <a:solidFill>
            <a:srgbClr val="0B10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AR" sz="110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2A7EE08-DAFB-ED5B-1116-4C21169CD8E5}"/>
              </a:ext>
            </a:extLst>
          </p:cNvPr>
          <p:cNvSpPr/>
          <p:nvPr/>
        </p:nvSpPr>
        <p:spPr>
          <a:xfrm>
            <a:off x="332238" y="3395661"/>
            <a:ext cx="3500309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public class ContentStartedEvent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private final String userId;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private final StreamingContent content;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private final LocalDateTime occurredAt;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A41025FE-6AE2-B46A-A7FD-817FC1B21D33}"/>
              </a:ext>
            </a:extLst>
          </p:cNvPr>
          <p:cNvSpPr/>
          <p:nvPr/>
        </p:nvSpPr>
        <p:spPr>
          <a:xfrm>
            <a:off x="3978851" y="3267645"/>
            <a:ext cx="4993192" cy="1874520"/>
          </a:xfrm>
          <a:prstGeom prst="roundRect">
            <a:avLst>
              <a:gd name="adj" fmla="val 1951"/>
            </a:avLst>
          </a:prstGeom>
          <a:solidFill>
            <a:srgbClr val="0B10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AR" sz="105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01D9CBD-181E-DFF4-31F6-CF0DA948AA98}"/>
              </a:ext>
            </a:extLst>
          </p:cNvPr>
          <p:cNvSpPr/>
          <p:nvPr/>
        </p:nvSpPr>
        <p:spPr>
          <a:xfrm>
            <a:off x="4125155" y="3395661"/>
            <a:ext cx="46866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public void play(String userId, StreamingContent content)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ContentStartedEvent event = new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			 ContentStartedEvent(userId, content);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publisher.notifyContentStarted(event);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DA3AF0E4-B372-EE15-E986-403EE607953E}"/>
              </a:ext>
            </a:extLst>
          </p:cNvPr>
          <p:cNvSpPr/>
          <p:nvPr/>
        </p:nvSpPr>
        <p:spPr>
          <a:xfrm>
            <a:off x="353658" y="5633722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D2230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A09E4A3D-12CA-AD2A-D713-A7B00D717050}"/>
              </a:ext>
            </a:extLst>
          </p:cNvPr>
          <p:cNvSpPr/>
          <p:nvPr/>
        </p:nvSpPr>
        <p:spPr>
          <a:xfrm>
            <a:off x="518250" y="581660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</a:rPr>
              <a:t>Dato importante</a:t>
            </a:r>
            <a:endParaRPr lang="en-US" sz="15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B75DB8E8-2349-27B3-6FBC-E94D2F75A465}"/>
              </a:ext>
            </a:extLst>
          </p:cNvPr>
          <p:cNvSpPr/>
          <p:nvPr/>
        </p:nvSpPr>
        <p:spPr>
          <a:xfrm>
            <a:off x="2639658" y="5679442"/>
            <a:ext cx="57983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El evento no dice “mandá email”, “guardá DB” o “recomendá”. Solo comunica que algo pasó.</a:t>
            </a:r>
          </a:p>
        </p:txBody>
      </p:sp>
    </p:spTree>
    <p:extLst>
      <p:ext uri="{BB962C8B-B14F-4D97-AF65-F5344CB8AC3E}">
        <p14:creationId xmlns:p14="http://schemas.microsoft.com/office/powerpoint/2010/main" val="3868611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4F74B-9F03-286E-DDCD-AB63163E3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Paso 3: cada </a:t>
            </a:r>
            <a:r>
              <a:rPr lang="es-AR" dirty="0" err="1"/>
              <a:t>observer</a:t>
            </a:r>
            <a:r>
              <a:rPr lang="es-AR" dirty="0"/>
              <a:t> hace su trabajo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2BB152-6CF3-0A25-5D7E-60F61959B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60200" cy="709865"/>
          </a:xfrm>
        </p:spPr>
        <p:txBody>
          <a:bodyPr/>
          <a:lstStyle/>
          <a:p>
            <a:r>
              <a:rPr lang="es-AR" dirty="0"/>
              <a:t>Cada </a:t>
            </a:r>
            <a:r>
              <a:rPr lang="es-AR" dirty="0" err="1"/>
              <a:t>subscriber</a:t>
            </a:r>
            <a:r>
              <a:rPr lang="es-AR" dirty="0"/>
              <a:t> implementa la misma interfaz, pero con una reacción distinta.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CBFAA86-BA66-6E10-487E-042EBFA5B70A}"/>
              </a:ext>
            </a:extLst>
          </p:cNvPr>
          <p:cNvSpPr/>
          <p:nvPr/>
        </p:nvSpPr>
        <p:spPr>
          <a:xfrm>
            <a:off x="389965" y="3409506"/>
            <a:ext cx="2043953" cy="731520"/>
          </a:xfrm>
          <a:prstGeom prst="roundRect">
            <a:avLst>
              <a:gd name="adj" fmla="val 10000"/>
            </a:avLst>
          </a:prstGeom>
          <a:solidFill>
            <a:srgbClr val="1D2230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1893890-8A8C-FE7B-6D19-BE8E6014BBAB}"/>
              </a:ext>
            </a:extLst>
          </p:cNvPr>
          <p:cNvSpPr/>
          <p:nvPr/>
        </p:nvSpPr>
        <p:spPr>
          <a:xfrm>
            <a:off x="554557" y="3592386"/>
            <a:ext cx="1749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ContentEventObserver</a:t>
            </a:r>
            <a:endParaRPr lang="en-US" sz="12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175A2003-6BE1-D373-1B52-3D41433B74D5}"/>
              </a:ext>
            </a:extLst>
          </p:cNvPr>
          <p:cNvSpPr/>
          <p:nvPr/>
        </p:nvSpPr>
        <p:spPr>
          <a:xfrm flipV="1">
            <a:off x="2510566" y="3536576"/>
            <a:ext cx="864646" cy="187721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A25F1240-1E05-CDE2-1E4F-01693645D54A}"/>
              </a:ext>
            </a:extLst>
          </p:cNvPr>
          <p:cNvSpPr/>
          <p:nvPr/>
        </p:nvSpPr>
        <p:spPr>
          <a:xfrm>
            <a:off x="2510566" y="3775266"/>
            <a:ext cx="1005840" cy="3657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753580B3-F2FF-E37E-6604-6A2EAF3F88C8}"/>
              </a:ext>
            </a:extLst>
          </p:cNvPr>
          <p:cNvSpPr/>
          <p:nvPr/>
        </p:nvSpPr>
        <p:spPr>
          <a:xfrm>
            <a:off x="2510566" y="3775266"/>
            <a:ext cx="1005840" cy="11887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6FB4E21E-5917-F47A-C8E1-B8F661198A4D}"/>
              </a:ext>
            </a:extLst>
          </p:cNvPr>
          <p:cNvSpPr/>
          <p:nvPr/>
        </p:nvSpPr>
        <p:spPr>
          <a:xfrm>
            <a:off x="2510566" y="3775266"/>
            <a:ext cx="1005840" cy="201168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sz="1200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46CBB75E-21F0-0112-3E95-63957E4E22A2}"/>
              </a:ext>
            </a:extLst>
          </p:cNvPr>
          <p:cNvSpPr/>
          <p:nvPr/>
        </p:nvSpPr>
        <p:spPr>
          <a:xfrm>
            <a:off x="3652221" y="3157369"/>
            <a:ext cx="2365338" cy="749808"/>
          </a:xfrm>
          <a:prstGeom prst="roundRect">
            <a:avLst>
              <a:gd name="adj" fmla="val 9756"/>
            </a:avLst>
          </a:prstGeom>
          <a:solidFill>
            <a:srgbClr val="252B3A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631D3ADC-4D4E-D733-EE48-C59C33CAB25F}"/>
              </a:ext>
            </a:extLst>
          </p:cNvPr>
          <p:cNvSpPr/>
          <p:nvPr/>
        </p:nvSpPr>
        <p:spPr>
          <a:xfrm>
            <a:off x="3816813" y="3340249"/>
            <a:ext cx="206122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AnalyticsObserver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Guarda en H2</a:t>
            </a:r>
            <a:endParaRPr lang="en-US" sz="12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03DC54EE-045B-5C08-440E-94D4C1D6872C}"/>
              </a:ext>
            </a:extLst>
          </p:cNvPr>
          <p:cNvSpPr/>
          <p:nvPr/>
        </p:nvSpPr>
        <p:spPr>
          <a:xfrm>
            <a:off x="3652221" y="3934609"/>
            <a:ext cx="2365338" cy="749808"/>
          </a:xfrm>
          <a:prstGeom prst="roundRect">
            <a:avLst>
              <a:gd name="adj" fmla="val 9756"/>
            </a:avLst>
          </a:prstGeom>
          <a:solidFill>
            <a:srgbClr val="252B3A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1B84873C-D794-202F-FD63-942ADD591729}"/>
              </a:ext>
            </a:extLst>
          </p:cNvPr>
          <p:cNvSpPr/>
          <p:nvPr/>
        </p:nvSpPr>
        <p:spPr>
          <a:xfrm>
            <a:off x="3816813" y="4117489"/>
            <a:ext cx="206122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RecommendationObserver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Recalcula sugerencias</a:t>
            </a:r>
            <a:endParaRPr lang="en-US" sz="120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42308366-0783-9519-5009-D483DAF47BC5}"/>
              </a:ext>
            </a:extLst>
          </p:cNvPr>
          <p:cNvSpPr/>
          <p:nvPr/>
        </p:nvSpPr>
        <p:spPr>
          <a:xfrm>
            <a:off x="3652221" y="4713332"/>
            <a:ext cx="2365338" cy="749808"/>
          </a:xfrm>
          <a:prstGeom prst="roundRect">
            <a:avLst>
              <a:gd name="adj" fmla="val 9756"/>
            </a:avLst>
          </a:prstGeom>
          <a:solidFill>
            <a:srgbClr val="252B3A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B6E400AB-F7CA-1058-AB2E-F00BF1C7685C}"/>
              </a:ext>
            </a:extLst>
          </p:cNvPr>
          <p:cNvSpPr/>
          <p:nvPr/>
        </p:nvSpPr>
        <p:spPr>
          <a:xfrm>
            <a:off x="3816813" y="4896212"/>
            <a:ext cx="206122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ContinueWatchingObserver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Actualiza progreso</a:t>
            </a:r>
            <a:endParaRPr lang="en-US" sz="120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9DC70D04-CDD3-2A4E-DEA3-02B941153F64}"/>
              </a:ext>
            </a:extLst>
          </p:cNvPr>
          <p:cNvSpPr/>
          <p:nvPr/>
        </p:nvSpPr>
        <p:spPr>
          <a:xfrm>
            <a:off x="3652221" y="5492055"/>
            <a:ext cx="2365338" cy="749808"/>
          </a:xfrm>
          <a:prstGeom prst="roundRect">
            <a:avLst>
              <a:gd name="adj" fmla="val 9756"/>
            </a:avLst>
          </a:prstGeom>
          <a:solidFill>
            <a:srgbClr val="252B3A"/>
          </a:solidFill>
          <a:ln w="10160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20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1458F55C-7EB9-6359-2C49-25A4F4FC8412}"/>
              </a:ext>
            </a:extLst>
          </p:cNvPr>
          <p:cNvSpPr/>
          <p:nvPr/>
        </p:nvSpPr>
        <p:spPr>
          <a:xfrm>
            <a:off x="3816813" y="5674935"/>
            <a:ext cx="206122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NotificationObserver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Evalúa campañas</a:t>
            </a:r>
            <a:endParaRPr lang="en-US" sz="1200" dirty="0"/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5ABE8D6A-2714-B83D-E934-A953C38B3E38}"/>
              </a:ext>
            </a:extLst>
          </p:cNvPr>
          <p:cNvSpPr txBox="1">
            <a:spLocks/>
          </p:cNvSpPr>
          <p:nvPr/>
        </p:nvSpPr>
        <p:spPr>
          <a:xfrm>
            <a:off x="6182151" y="3157369"/>
            <a:ext cx="2782012" cy="2080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Agrego un nuevo </a:t>
            </a:r>
            <a:r>
              <a:rPr lang="es-AR" dirty="0" err="1"/>
              <a:t>observer</a:t>
            </a:r>
            <a:r>
              <a:rPr lang="es-AR" dirty="0"/>
              <a:t> sin tocar </a:t>
            </a:r>
            <a:r>
              <a:rPr lang="es-AR" dirty="0" err="1"/>
              <a:t>PlaybackService</a:t>
            </a:r>
            <a:r>
              <a:rPr lang="es-AR" dirty="0"/>
              <a:t>.
Cada clase tiene una única responsabilidad.
La demo se parece a cómo reaccionan servicios reales ante eventos.</a:t>
            </a:r>
          </a:p>
        </p:txBody>
      </p:sp>
    </p:spTree>
    <p:extLst>
      <p:ext uri="{BB962C8B-B14F-4D97-AF65-F5344CB8AC3E}">
        <p14:creationId xmlns:p14="http://schemas.microsoft.com/office/powerpoint/2010/main" val="4196099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F0744-873B-84FE-1D43-D04131A7E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141754" cy="709865"/>
          </a:xfrm>
        </p:spPr>
        <p:txBody>
          <a:bodyPr/>
          <a:lstStyle/>
          <a:p>
            <a:r>
              <a:rPr lang="es-AR" dirty="0"/>
              <a:t>Paso 4: persistencia con H2 + JDBC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50DC8-943A-F0B3-8B37-D60CC3C06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66924" cy="778435"/>
          </a:xfrm>
        </p:spPr>
        <p:txBody>
          <a:bodyPr/>
          <a:lstStyle/>
          <a:p>
            <a:r>
              <a:rPr lang="es-AR" dirty="0"/>
              <a:t>Agregamos una base embebida para que el ejemplo tenga trazabilidad.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5B93813-927A-8839-0BBB-D5BBCFC38FCD}"/>
              </a:ext>
            </a:extLst>
          </p:cNvPr>
          <p:cNvSpPr/>
          <p:nvPr/>
        </p:nvSpPr>
        <p:spPr>
          <a:xfrm>
            <a:off x="712694" y="3267635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B3DA933-2E5F-E227-1766-72295EC8537B}"/>
              </a:ext>
            </a:extLst>
          </p:cNvPr>
          <p:cNvSpPr/>
          <p:nvPr/>
        </p:nvSpPr>
        <p:spPr>
          <a:xfrm>
            <a:off x="877286" y="3450515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</a:rPr>
              <a:t>AnalyticsObserver</a:t>
            </a:r>
            <a:endParaRPr lang="en-US" sz="16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8B0893FB-C264-D021-F9E2-6F37599DB8A6}"/>
              </a:ext>
            </a:extLst>
          </p:cNvPr>
          <p:cNvSpPr/>
          <p:nvPr/>
        </p:nvSpPr>
        <p:spPr>
          <a:xfrm>
            <a:off x="2971800" y="3679115"/>
            <a:ext cx="25549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29646F53-4677-44F6-11A7-7FD5F5D5F8EC}"/>
              </a:ext>
            </a:extLst>
          </p:cNvPr>
          <p:cNvSpPr/>
          <p:nvPr/>
        </p:nvSpPr>
        <p:spPr>
          <a:xfrm>
            <a:off x="3264948" y="3267635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9354B9A4-3413-6A6C-C250-002383A38741}"/>
              </a:ext>
            </a:extLst>
          </p:cNvPr>
          <p:cNvSpPr/>
          <p:nvPr/>
        </p:nvSpPr>
        <p:spPr>
          <a:xfrm>
            <a:off x="3429540" y="3450515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PlaybackEventRepository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(interface)</a:t>
            </a:r>
            <a:endParaRPr lang="en-US" sz="14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FC810AEF-C83F-8A2C-FC15-49C02174C0E1}"/>
              </a:ext>
            </a:extLst>
          </p:cNvPr>
          <p:cNvSpPr/>
          <p:nvPr/>
        </p:nvSpPr>
        <p:spPr>
          <a:xfrm>
            <a:off x="5968610" y="3679115"/>
            <a:ext cx="22241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5A70AB32-0A10-7C9A-77B4-8F09492F2D1B}"/>
              </a:ext>
            </a:extLst>
          </p:cNvPr>
          <p:cNvSpPr/>
          <p:nvPr/>
        </p:nvSpPr>
        <p:spPr>
          <a:xfrm>
            <a:off x="6191028" y="3267635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53CC7E78-0302-B9DB-1EE1-FE5E269F3637}"/>
              </a:ext>
            </a:extLst>
          </p:cNvPr>
          <p:cNvSpPr/>
          <p:nvPr/>
        </p:nvSpPr>
        <p:spPr>
          <a:xfrm>
            <a:off x="6355620" y="3450515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JdbcPlaybackEventRepository</a:t>
            </a:r>
            <a:endParaRPr lang="en-US" sz="14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D43D3F2C-104F-EB39-0941-B2237767303A}"/>
              </a:ext>
            </a:extLst>
          </p:cNvPr>
          <p:cNvSpPr/>
          <p:nvPr/>
        </p:nvSpPr>
        <p:spPr>
          <a:xfrm>
            <a:off x="7407180" y="4090595"/>
            <a:ext cx="0" cy="7772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A4E6EB4B-0E8E-62AD-95D0-44CE2DD88C70}"/>
              </a:ext>
            </a:extLst>
          </p:cNvPr>
          <p:cNvSpPr/>
          <p:nvPr/>
        </p:nvSpPr>
        <p:spPr>
          <a:xfrm>
            <a:off x="5916708" y="5004995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252B3A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FD59FBA1-83C0-94AB-00F2-74D4119AB046}"/>
              </a:ext>
            </a:extLst>
          </p:cNvPr>
          <p:cNvSpPr/>
          <p:nvPr/>
        </p:nvSpPr>
        <p:spPr>
          <a:xfrm>
            <a:off x="6081300" y="5187875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H2 DB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target/streaming-observer-db</a:t>
            </a:r>
            <a:endParaRPr lang="en-US" sz="1400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357515A5-E8F4-3D11-CBCF-B7529C6776F0}"/>
              </a:ext>
            </a:extLst>
          </p:cNvPr>
          <p:cNvSpPr/>
          <p:nvPr/>
        </p:nvSpPr>
        <p:spPr>
          <a:xfrm>
            <a:off x="712694" y="4592170"/>
            <a:ext cx="4754880" cy="1508760"/>
          </a:xfrm>
          <a:prstGeom prst="roundRect">
            <a:avLst>
              <a:gd name="adj" fmla="val 2424"/>
            </a:avLst>
          </a:prstGeom>
          <a:solidFill>
            <a:srgbClr val="0B10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D2625823-7935-78FE-00CA-391C5B51EA76}"/>
              </a:ext>
            </a:extLst>
          </p:cNvPr>
          <p:cNvSpPr/>
          <p:nvPr/>
        </p:nvSpPr>
        <p:spPr>
          <a:xfrm>
            <a:off x="858998" y="4720186"/>
            <a:ext cx="446227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TABLE playback_events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id IDENTITY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user_id VARCHAR(100),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content_id VARCHAR(100),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title VARCHAR(255),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genre VARCHAR(100),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occurred_at TIMESTAMP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E3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04603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CFFFB-6758-F48D-BE2C-69D40798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Arquitectura del proyecto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29CF5A6-B739-FB69-F2B4-714C10E71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735012" cy="890042"/>
          </a:xfrm>
        </p:spPr>
        <p:txBody>
          <a:bodyPr>
            <a:normAutofit fontScale="77500" lnSpcReduction="20000"/>
          </a:bodyPr>
          <a:lstStyle/>
          <a:p>
            <a:r>
              <a:rPr lang="es-AR" dirty="0"/>
              <a:t>El dominio define interfaces.
</a:t>
            </a:r>
            <a:r>
              <a:rPr lang="es-AR" dirty="0" err="1"/>
              <a:t>Infrastructure</a:t>
            </a:r>
            <a:r>
              <a:rPr lang="es-AR" dirty="0"/>
              <a:t> implementa detalles técnicos.
Main/</a:t>
            </a:r>
            <a:r>
              <a:rPr lang="es-AR" dirty="0" err="1"/>
              <a:t>AppFactory</a:t>
            </a:r>
            <a:r>
              <a:rPr lang="es-AR" dirty="0"/>
              <a:t> cablea dependencias manualmente.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2BE1623-BDC8-8415-33EF-78F98B7D3EB1}"/>
              </a:ext>
            </a:extLst>
          </p:cNvPr>
          <p:cNvSpPr/>
          <p:nvPr/>
        </p:nvSpPr>
        <p:spPr>
          <a:xfrm>
            <a:off x="290457" y="3710044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D2230"/>
          </a:solidFill>
          <a:ln w="1016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65884694-4BD7-39EE-D267-CD49B45D4B8D}"/>
              </a:ext>
            </a:extLst>
          </p:cNvPr>
          <p:cNvSpPr/>
          <p:nvPr/>
        </p:nvSpPr>
        <p:spPr>
          <a:xfrm>
            <a:off x="455049" y="3892924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</a:rPr>
              <a:t>Presentation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F7FB"/>
                </a:solidFill>
              </a:rPr>
              <a:t>MainFrame Swing</a:t>
            </a:r>
            <a:endParaRPr lang="en-US" sz="15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02250D3A-B680-CEFB-B92E-207471976697}"/>
              </a:ext>
            </a:extLst>
          </p:cNvPr>
          <p:cNvSpPr/>
          <p:nvPr/>
        </p:nvSpPr>
        <p:spPr>
          <a:xfrm>
            <a:off x="2560320" y="4121524"/>
            <a:ext cx="70059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4AD0AEB-1683-20BC-0A56-C8FC23D3EDAE}"/>
              </a:ext>
            </a:extLst>
          </p:cNvPr>
          <p:cNvSpPr/>
          <p:nvPr/>
        </p:nvSpPr>
        <p:spPr>
          <a:xfrm>
            <a:off x="3337560" y="3527164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D2230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0CDD721-298A-C635-8840-02F822CF7A6A}"/>
              </a:ext>
            </a:extLst>
          </p:cNvPr>
          <p:cNvSpPr/>
          <p:nvPr/>
        </p:nvSpPr>
        <p:spPr>
          <a:xfrm>
            <a:off x="3502152" y="3710044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Application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B"/>
                </a:solidFill>
              </a:rPr>
              <a:t>PlaybackService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B"/>
                </a:solidFill>
              </a:rPr>
              <a:t>PlaybackEventPublisher</a:t>
            </a:r>
            <a:endParaRPr lang="en-US" sz="14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DA47D31C-9672-84D3-BFA0-28016ADF3BED}"/>
              </a:ext>
            </a:extLst>
          </p:cNvPr>
          <p:cNvSpPr/>
          <p:nvPr/>
        </p:nvSpPr>
        <p:spPr>
          <a:xfrm>
            <a:off x="5903259" y="4121524"/>
            <a:ext cx="645459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8908561D-7CA9-E791-E3F8-64A516567F2A}"/>
              </a:ext>
            </a:extLst>
          </p:cNvPr>
          <p:cNvSpPr/>
          <p:nvPr/>
        </p:nvSpPr>
        <p:spPr>
          <a:xfrm>
            <a:off x="6675120" y="3527164"/>
            <a:ext cx="2099086" cy="1143000"/>
          </a:xfrm>
          <a:prstGeom prst="roundRect">
            <a:avLst>
              <a:gd name="adj" fmla="val 6400"/>
            </a:avLst>
          </a:prstGeom>
          <a:solidFill>
            <a:srgbClr val="1D2230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A4BAD7D6-6959-212D-D21F-A77BAFCFBB54}"/>
              </a:ext>
            </a:extLst>
          </p:cNvPr>
          <p:cNvSpPr/>
          <p:nvPr/>
        </p:nvSpPr>
        <p:spPr>
          <a:xfrm>
            <a:off x="6839712" y="3710044"/>
            <a:ext cx="1819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Domain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B"/>
                </a:solidFill>
              </a:rPr>
              <a:t>Event + Observer + Model</a:t>
            </a:r>
            <a:endParaRPr lang="en-US" sz="14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2218F89A-F4B4-AEFF-F618-F721B7AD696D}"/>
              </a:ext>
            </a:extLst>
          </p:cNvPr>
          <p:cNvSpPr/>
          <p:nvPr/>
        </p:nvSpPr>
        <p:spPr>
          <a:xfrm>
            <a:off x="4572000" y="4733364"/>
            <a:ext cx="0" cy="366567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56245FA0-091C-B46C-535B-B80F529F0486}"/>
              </a:ext>
            </a:extLst>
          </p:cNvPr>
          <p:cNvSpPr/>
          <p:nvPr/>
        </p:nvSpPr>
        <p:spPr>
          <a:xfrm>
            <a:off x="3200400" y="5142921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252B3A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6298DEC-E822-1434-FEBE-9F919316E003}"/>
              </a:ext>
            </a:extLst>
          </p:cNvPr>
          <p:cNvSpPr/>
          <p:nvPr/>
        </p:nvSpPr>
        <p:spPr>
          <a:xfrm>
            <a:off x="3364992" y="5325801"/>
            <a:ext cx="2459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</a:rPr>
              <a:t>Infrastructure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B"/>
                </a:solidFill>
              </a:rPr>
              <a:t>JavaFXVideoPlayer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B"/>
                </a:solidFill>
              </a:rPr>
              <a:t>H2/JDBC Repository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B"/>
                </a:solidFill>
              </a:rPr>
              <a:t>Observers concretos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93239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714E0-7A2B-B1E3-20AF-BF7FE833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 </a:t>
            </a:r>
            <a:r>
              <a:rPr lang="es-AR" dirty="0" err="1"/>
              <a:t>Observer</a:t>
            </a:r>
            <a:r>
              <a:rPr lang="es-AR" dirty="0"/>
              <a:t> a </a:t>
            </a:r>
            <a:r>
              <a:rPr lang="es-AR" dirty="0" err="1"/>
              <a:t>Event</a:t>
            </a:r>
            <a:r>
              <a:rPr lang="es-AR" dirty="0"/>
              <a:t> </a:t>
            </a:r>
            <a:r>
              <a:rPr lang="es-AR" dirty="0" err="1"/>
              <a:t>Driven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97A13F-F560-A53D-9759-173D76CC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6908018" cy="563282"/>
          </a:xfrm>
        </p:spPr>
        <p:txBody>
          <a:bodyPr/>
          <a:lstStyle/>
          <a:p>
            <a:r>
              <a:rPr lang="es-AR" dirty="0"/>
              <a:t>Mismo concepto, distinta escala.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C8B71AB8-BC80-B1C5-9FB4-18B230BE2E09}"/>
              </a:ext>
            </a:extLst>
          </p:cNvPr>
          <p:cNvSpPr/>
          <p:nvPr/>
        </p:nvSpPr>
        <p:spPr>
          <a:xfrm>
            <a:off x="922469" y="291532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Observer académico</a:t>
            </a:r>
            <a:endParaRPr lang="en-US" sz="1200" b="1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F1714BA-6D7B-260B-F07D-9E549FF5DDAA}"/>
              </a:ext>
            </a:extLst>
          </p:cNvPr>
          <p:cNvSpPr/>
          <p:nvPr/>
        </p:nvSpPr>
        <p:spPr>
          <a:xfrm>
            <a:off x="922469" y="3372522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1D2230"/>
          </a:solidFill>
          <a:ln w="1016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097959F-7C0D-1E83-87F0-4CE467EF49C7}"/>
              </a:ext>
            </a:extLst>
          </p:cNvPr>
          <p:cNvSpPr/>
          <p:nvPr/>
        </p:nvSpPr>
        <p:spPr>
          <a:xfrm>
            <a:off x="1087061" y="3555402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App Java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Publisher</a:t>
            </a:r>
            <a:endParaRPr lang="en-US" sz="14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2792EFB2-CD83-8B9A-E09F-26D986D934BF}"/>
              </a:ext>
            </a:extLst>
          </p:cNvPr>
          <p:cNvSpPr/>
          <p:nvPr/>
        </p:nvSpPr>
        <p:spPr>
          <a:xfrm>
            <a:off x="2705549" y="3738282"/>
            <a:ext cx="4746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8AA21BCE-BAB2-2700-CD5B-277D5954AE1D}"/>
              </a:ext>
            </a:extLst>
          </p:cNvPr>
          <p:cNvSpPr/>
          <p:nvPr/>
        </p:nvSpPr>
        <p:spPr>
          <a:xfrm>
            <a:off x="3339713" y="3372522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D2230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3DAC4BBE-4C51-01B8-D6AB-5E1369953AF5}"/>
              </a:ext>
            </a:extLst>
          </p:cNvPr>
          <p:cNvSpPr/>
          <p:nvPr/>
        </p:nvSpPr>
        <p:spPr>
          <a:xfrm>
            <a:off x="3504305" y="3555402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Observers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en memoria</a:t>
            </a:r>
            <a:endParaRPr lang="en-US" sz="14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A3635FC8-1A60-E6C7-5B98-13C254BD426E}"/>
              </a:ext>
            </a:extLst>
          </p:cNvPr>
          <p:cNvSpPr/>
          <p:nvPr/>
        </p:nvSpPr>
        <p:spPr>
          <a:xfrm>
            <a:off x="922469" y="437836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Event Driven real</a:t>
            </a:r>
            <a:endParaRPr lang="en-US" sz="1200" b="1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43F971B-BA9A-5CE6-21C4-54FD03B1ABA1}"/>
              </a:ext>
            </a:extLst>
          </p:cNvPr>
          <p:cNvSpPr/>
          <p:nvPr/>
        </p:nvSpPr>
        <p:spPr>
          <a:xfrm>
            <a:off x="922469" y="4835562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D1860338-5522-2632-64E1-17DE17D97B23}"/>
              </a:ext>
            </a:extLst>
          </p:cNvPr>
          <p:cNvSpPr/>
          <p:nvPr/>
        </p:nvSpPr>
        <p:spPr>
          <a:xfrm>
            <a:off x="1087061" y="501844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Playback Service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Producer</a:t>
            </a:r>
            <a:endParaRPr lang="en-US" sz="140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4DB6ADF8-A0DB-328D-5AD1-E9A6A91A23FF}"/>
              </a:ext>
            </a:extLst>
          </p:cNvPr>
          <p:cNvSpPr/>
          <p:nvPr/>
        </p:nvSpPr>
        <p:spPr>
          <a:xfrm>
            <a:off x="2826573" y="5247042"/>
            <a:ext cx="441063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1394A0CC-4342-60D3-CE7E-1476938E5715}"/>
              </a:ext>
            </a:extLst>
          </p:cNvPr>
          <p:cNvSpPr/>
          <p:nvPr/>
        </p:nvSpPr>
        <p:spPr>
          <a:xfrm>
            <a:off x="3321425" y="483556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F3B70E61-B6DC-E77B-E295-126876C27AF9}"/>
              </a:ext>
            </a:extLst>
          </p:cNvPr>
          <p:cNvSpPr/>
          <p:nvPr/>
        </p:nvSpPr>
        <p:spPr>
          <a:xfrm>
            <a:off x="3486017" y="501844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Kafka / RabbitMQ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</a:rPr>
              <a:t>Event Bus</a:t>
            </a:r>
            <a:endParaRPr lang="en-US" sz="140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8B1CD910-1AED-015D-CF4E-917E9112E9BB}"/>
              </a:ext>
            </a:extLst>
          </p:cNvPr>
          <p:cNvSpPr/>
          <p:nvPr/>
        </p:nvSpPr>
        <p:spPr>
          <a:xfrm>
            <a:off x="5386894" y="5247042"/>
            <a:ext cx="785306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83CFA755-D6EA-9B8C-51FA-4DD145FAB838}"/>
              </a:ext>
            </a:extLst>
          </p:cNvPr>
          <p:cNvSpPr/>
          <p:nvPr/>
        </p:nvSpPr>
        <p:spPr>
          <a:xfrm flipV="1">
            <a:off x="5386894" y="4606962"/>
            <a:ext cx="731518" cy="61722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CA9B2A35-1692-3724-B5D0-4E3726AA6B13}"/>
              </a:ext>
            </a:extLst>
          </p:cNvPr>
          <p:cNvSpPr/>
          <p:nvPr/>
        </p:nvSpPr>
        <p:spPr>
          <a:xfrm>
            <a:off x="5386894" y="5306501"/>
            <a:ext cx="731518" cy="624395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F60465A4-78BC-366D-BA0B-847E9323C5A7}"/>
              </a:ext>
            </a:extLst>
          </p:cNvPr>
          <p:cNvSpPr/>
          <p:nvPr/>
        </p:nvSpPr>
        <p:spPr>
          <a:xfrm>
            <a:off x="6240780" y="433264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52B3A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7432E99C-2974-CEEB-C0C1-E0181D118306}"/>
              </a:ext>
            </a:extLst>
          </p:cNvPr>
          <p:cNvSpPr/>
          <p:nvPr/>
        </p:nvSpPr>
        <p:spPr>
          <a:xfrm>
            <a:off x="6405372" y="451552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Analytics MS</a:t>
            </a:r>
            <a:endParaRPr lang="en-US" sz="1200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E2C0578C-A8E8-A57C-680A-A595DD6DD264}"/>
              </a:ext>
            </a:extLst>
          </p:cNvPr>
          <p:cNvSpPr/>
          <p:nvPr/>
        </p:nvSpPr>
        <p:spPr>
          <a:xfrm>
            <a:off x="6240780" y="506416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52B3A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1D9C689C-A875-A5A3-B560-DF9BC290353B}"/>
              </a:ext>
            </a:extLst>
          </p:cNvPr>
          <p:cNvSpPr/>
          <p:nvPr/>
        </p:nvSpPr>
        <p:spPr>
          <a:xfrm>
            <a:off x="6405372" y="524704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Recommender MS</a:t>
            </a:r>
            <a:endParaRPr lang="en-US" sz="1200" dirty="0"/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13C9B7E0-C6B9-F087-D21F-BBDDC8196ED4}"/>
              </a:ext>
            </a:extLst>
          </p:cNvPr>
          <p:cNvSpPr/>
          <p:nvPr/>
        </p:nvSpPr>
        <p:spPr>
          <a:xfrm>
            <a:off x="6240780" y="579568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52B3A"/>
          </a:solidFill>
          <a:ln w="10160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CEFCBF58-6124-010B-ADAD-1FA5618AACA3}"/>
              </a:ext>
            </a:extLst>
          </p:cNvPr>
          <p:cNvSpPr/>
          <p:nvPr/>
        </p:nvSpPr>
        <p:spPr>
          <a:xfrm>
            <a:off x="6405372" y="597856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</a:rPr>
              <a:t>Notifications MS</a:t>
            </a:r>
            <a:endParaRPr lang="en-US" sz="1200" dirty="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D4BFACE4-7A98-8C85-4A1C-673BB195EB35}"/>
              </a:ext>
            </a:extLst>
          </p:cNvPr>
          <p:cNvSpPr/>
          <p:nvPr/>
        </p:nvSpPr>
        <p:spPr>
          <a:xfrm>
            <a:off x="6076726" y="2755302"/>
            <a:ext cx="2838674" cy="960120"/>
          </a:xfrm>
          <a:prstGeom prst="roundRect">
            <a:avLst>
              <a:gd name="adj" fmla="val 7619"/>
            </a:avLst>
          </a:prstGeom>
          <a:solidFill>
            <a:srgbClr val="252B3A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400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FE249210-F647-A87A-423B-63546532411C}"/>
              </a:ext>
            </a:extLst>
          </p:cNvPr>
          <p:cNvSpPr/>
          <p:nvPr/>
        </p:nvSpPr>
        <p:spPr>
          <a:xfrm>
            <a:off x="6241318" y="2938182"/>
            <a:ext cx="25548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B"/>
                </a:solidFill>
              </a:rPr>
              <a:t>Nuestra demo reemplaza Kafka por una lista de observers en memoria.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7598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F1706-7332-F284-AC22-552FDDCF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6080B9-585A-ED88-92DD-72AE946D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540031" cy="1645771"/>
          </a:xfrm>
        </p:spPr>
        <p:txBody>
          <a:bodyPr>
            <a:normAutofit fontScale="85000" lnSpcReduction="20000"/>
          </a:bodyPr>
          <a:lstStyle/>
          <a:p>
            <a:r>
              <a:rPr lang="es-AR" dirty="0"/>
              <a:t>Aplicamos </a:t>
            </a:r>
            <a:r>
              <a:rPr lang="es-AR" b="1" dirty="0" err="1"/>
              <a:t>Observer</a:t>
            </a:r>
            <a:r>
              <a:rPr lang="es-AR" dirty="0"/>
              <a:t> para desacoplar el servicio de reproducción de las acciones que deben ocurrir cuando un usuario inicia un contenido. </a:t>
            </a:r>
            <a:r>
              <a:rPr lang="es-AR" b="1" dirty="0" err="1"/>
              <a:t>PlaybackService</a:t>
            </a:r>
            <a:r>
              <a:rPr lang="es-AR" dirty="0"/>
              <a:t> publica un evento, mientras que </a:t>
            </a:r>
            <a:r>
              <a:rPr lang="es-AR" b="1" dirty="0" err="1"/>
              <a:t>Analytics</a:t>
            </a:r>
            <a:r>
              <a:rPr lang="es-AR" dirty="0"/>
              <a:t>, </a:t>
            </a:r>
            <a:r>
              <a:rPr lang="es-AR" b="1" dirty="0" err="1"/>
              <a:t>Recommendation</a:t>
            </a:r>
            <a:r>
              <a:rPr lang="es-AR" dirty="0"/>
              <a:t>, </a:t>
            </a:r>
            <a:r>
              <a:rPr lang="es-AR" b="1" dirty="0"/>
              <a:t>Continue</a:t>
            </a:r>
            <a:r>
              <a:rPr lang="es-AR" dirty="0"/>
              <a:t> </a:t>
            </a:r>
            <a:r>
              <a:rPr lang="es-AR" b="1" dirty="0" err="1"/>
              <a:t>Watching</a:t>
            </a:r>
            <a:r>
              <a:rPr lang="es-AR" dirty="0"/>
              <a:t> y </a:t>
            </a:r>
            <a:r>
              <a:rPr lang="es-AR" b="1" dirty="0" err="1"/>
              <a:t>Notification</a:t>
            </a:r>
            <a:r>
              <a:rPr lang="es-AR" dirty="0"/>
              <a:t> reaccionan como </a:t>
            </a:r>
            <a:r>
              <a:rPr lang="es-AR" b="1" dirty="0" err="1"/>
              <a:t>observers</a:t>
            </a:r>
            <a:r>
              <a:rPr lang="es-AR" dirty="0"/>
              <a:t> </a:t>
            </a:r>
            <a:r>
              <a:rPr lang="es-AR" b="1" dirty="0"/>
              <a:t>independientes</a:t>
            </a:r>
            <a:r>
              <a:rPr lang="es-AR" dirty="0"/>
              <a:t>. </a:t>
            </a:r>
          </a:p>
          <a:p>
            <a:r>
              <a:rPr lang="es-AR" dirty="0"/>
              <a:t>Esto permite agregar nuevos </a:t>
            </a:r>
            <a:r>
              <a:rPr lang="es-AR" b="1" dirty="0" err="1"/>
              <a:t>subscribers</a:t>
            </a:r>
            <a:r>
              <a:rPr lang="es-AR" dirty="0"/>
              <a:t> sin modificar el servicio principal, cumpliendo </a:t>
            </a:r>
            <a:r>
              <a:rPr lang="es-AR" b="1" dirty="0"/>
              <a:t>Open/</a:t>
            </a:r>
            <a:r>
              <a:rPr lang="es-AR" b="1" dirty="0" err="1"/>
              <a:t>Closed</a:t>
            </a:r>
            <a:r>
              <a:rPr lang="es-AR" b="1" dirty="0"/>
              <a:t> </a:t>
            </a:r>
            <a:r>
              <a:rPr lang="es-AR" dirty="0"/>
              <a:t>y </a:t>
            </a:r>
            <a:r>
              <a:rPr lang="es-AR" b="1" dirty="0"/>
              <a:t>reduciendo</a:t>
            </a:r>
            <a:r>
              <a:rPr lang="es-AR" dirty="0"/>
              <a:t> el </a:t>
            </a:r>
            <a:r>
              <a:rPr lang="es-AR" b="1" dirty="0"/>
              <a:t>acoplamiento</a:t>
            </a:r>
            <a:r>
              <a:rPr lang="es-AR" dirty="0"/>
              <a:t>.</a:t>
            </a:r>
          </a:p>
          <a:p>
            <a:endParaRPr lang="es-AR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BA8DC375-5F98-79AB-C31B-8D87806B2A68}"/>
              </a:ext>
            </a:extLst>
          </p:cNvPr>
          <p:cNvSpPr/>
          <p:nvPr/>
        </p:nvSpPr>
        <p:spPr>
          <a:xfrm>
            <a:off x="247504" y="4467711"/>
            <a:ext cx="2311259" cy="411480"/>
          </a:xfrm>
          <a:prstGeom prst="roundRect">
            <a:avLst>
              <a:gd name="adj" fmla="val 17778"/>
            </a:avLst>
          </a:prstGeom>
          <a:solidFill>
            <a:srgbClr val="1D2230"/>
          </a:solidFill>
          <a:ln w="10160">
            <a:solidFill>
              <a:srgbClr val="34D39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DE5A2751-A156-1C74-27AF-0FF4CBF2C9D0}"/>
              </a:ext>
            </a:extLst>
          </p:cNvPr>
          <p:cNvSpPr/>
          <p:nvPr/>
        </p:nvSpPr>
        <p:spPr>
          <a:xfrm>
            <a:off x="247504" y="4467710"/>
            <a:ext cx="2311259" cy="41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</a:rPr>
              <a:t>Pros</a:t>
            </a:r>
            <a:endParaRPr lang="en-US" sz="16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8D9DEC57-A0B7-D94F-98CE-24D3153E2BD5}"/>
              </a:ext>
            </a:extLst>
          </p:cNvPr>
          <p:cNvSpPr/>
          <p:nvPr/>
        </p:nvSpPr>
        <p:spPr>
          <a:xfrm>
            <a:off x="247505" y="5070737"/>
            <a:ext cx="2311259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400" dirty="0"/>
              <a:t>Extensible</a:t>
            </a:r>
          </a:p>
          <a:p>
            <a:pPr algn="ctr"/>
            <a:r>
              <a:rPr lang="en-US" sz="1400" dirty="0"/>
              <a:t>Bajo </a:t>
            </a:r>
            <a:r>
              <a:rPr lang="en-US" sz="1400" dirty="0" err="1"/>
              <a:t>acoplamiento</a:t>
            </a:r>
            <a:endParaRPr lang="en-US" sz="1400" dirty="0"/>
          </a:p>
          <a:p>
            <a:pPr algn="ctr"/>
            <a:r>
              <a:rPr lang="en-US" sz="1400" dirty="0"/>
              <a:t>Más cohesión por clase
</a:t>
            </a:r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7BE7BE31-3E27-F453-CF4A-F1BC2052508D}"/>
              </a:ext>
            </a:extLst>
          </p:cNvPr>
          <p:cNvSpPr/>
          <p:nvPr/>
        </p:nvSpPr>
        <p:spPr>
          <a:xfrm>
            <a:off x="3081287" y="4467711"/>
            <a:ext cx="2398391" cy="411480"/>
          </a:xfrm>
          <a:prstGeom prst="roundRect">
            <a:avLst>
              <a:gd name="adj" fmla="val 17778"/>
            </a:avLst>
          </a:prstGeom>
          <a:solidFill>
            <a:srgbClr val="1D2230"/>
          </a:solidFill>
          <a:ln w="10160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B55ADD0E-46E9-4DA5-2A79-531E9FC055B5}"/>
              </a:ext>
            </a:extLst>
          </p:cNvPr>
          <p:cNvSpPr/>
          <p:nvPr/>
        </p:nvSpPr>
        <p:spPr>
          <a:xfrm>
            <a:off x="3081287" y="4467710"/>
            <a:ext cx="2398389" cy="41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</a:rPr>
              <a:t>Contras</a:t>
            </a:r>
            <a:endParaRPr lang="en-US" sz="16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89F40718-E664-376A-BEBF-410E83BD1CBF}"/>
              </a:ext>
            </a:extLst>
          </p:cNvPr>
          <p:cNvSpPr/>
          <p:nvPr/>
        </p:nvSpPr>
        <p:spPr>
          <a:xfrm>
            <a:off x="2989608" y="5070737"/>
            <a:ext cx="26522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400" dirty="0"/>
              <a:t>Flujo </a:t>
            </a:r>
            <a:r>
              <a:rPr lang="en-US" sz="1400" dirty="0" err="1"/>
              <a:t>menos</a:t>
            </a:r>
            <a:r>
              <a:rPr lang="en-US" sz="1400" dirty="0"/>
              <a:t> visible</a:t>
            </a:r>
          </a:p>
          <a:p>
            <a:pPr algn="ctr"/>
            <a:r>
              <a:rPr lang="en-US" sz="1400" dirty="0" err="1"/>
              <a:t>Errores</a:t>
            </a:r>
            <a:r>
              <a:rPr lang="en-US" sz="1400" dirty="0"/>
              <a:t> </a:t>
            </a:r>
            <a:r>
              <a:rPr lang="en-US" sz="1400" dirty="0" err="1"/>
              <a:t>distribuidos</a:t>
            </a:r>
            <a:endParaRPr lang="en-US" sz="1400" dirty="0"/>
          </a:p>
          <a:p>
            <a:pPr algn="ctr"/>
            <a:r>
              <a:rPr lang="en-US" sz="1400" dirty="0"/>
              <a:t>En memoria no escala solo
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F0A35E93-0014-9329-0D8B-6C88536EF657}"/>
              </a:ext>
            </a:extLst>
          </p:cNvPr>
          <p:cNvSpPr/>
          <p:nvPr/>
        </p:nvSpPr>
        <p:spPr>
          <a:xfrm>
            <a:off x="6131858" y="4467711"/>
            <a:ext cx="2398391" cy="411480"/>
          </a:xfrm>
          <a:prstGeom prst="roundRect">
            <a:avLst>
              <a:gd name="adj" fmla="val 17778"/>
            </a:avLst>
          </a:prstGeom>
          <a:solidFill>
            <a:srgbClr val="1D2230"/>
          </a:solidFill>
          <a:ln w="1016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002B35F5-B03F-26A1-D805-EA3C3BD7A957}"/>
              </a:ext>
            </a:extLst>
          </p:cNvPr>
          <p:cNvSpPr/>
          <p:nvPr/>
        </p:nvSpPr>
        <p:spPr>
          <a:xfrm>
            <a:off x="6131856" y="4467710"/>
            <a:ext cx="2398389" cy="41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</a:rPr>
              <a:t>Evolución</a:t>
            </a:r>
            <a:endParaRPr lang="en-US" sz="160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DB6284F0-ADDA-8A9B-8180-E6E7E091C27E}"/>
              </a:ext>
            </a:extLst>
          </p:cNvPr>
          <p:cNvSpPr/>
          <p:nvPr/>
        </p:nvSpPr>
        <p:spPr>
          <a:xfrm>
            <a:off x="6072692" y="5070737"/>
            <a:ext cx="2652241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400" dirty="0"/>
              <a:t>Kafka</a:t>
            </a:r>
          </a:p>
          <a:p>
            <a:pPr algn="ctr"/>
            <a:r>
              <a:rPr lang="en-US" sz="1400" dirty="0"/>
              <a:t>RabbitMQ</a:t>
            </a:r>
          </a:p>
          <a:p>
            <a:pPr algn="ctr"/>
            <a:r>
              <a:rPr lang="en-US" sz="1400" dirty="0"/>
              <a:t>Microservicios Event Driven
</a:t>
            </a:r>
          </a:p>
        </p:txBody>
      </p:sp>
    </p:spTree>
    <p:extLst>
      <p:ext uri="{BB962C8B-B14F-4D97-AF65-F5344CB8AC3E}">
        <p14:creationId xmlns:p14="http://schemas.microsoft.com/office/powerpoint/2010/main" val="2496744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8CADC-5FA9-19B3-1F46-83F76A20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Gracias!</a:t>
            </a:r>
          </a:p>
        </p:txBody>
      </p:sp>
      <p:pic>
        <p:nvPicPr>
          <p:cNvPr id="1030" name="Picture 6" descr="Para qué sirven las Preguntas? - INSM Blog ¿Para qué sirven las Preguntas?">
            <a:extLst>
              <a:ext uri="{FF2B5EF4-FFF2-40B4-BE49-F238E27FC236}">
                <a16:creationId xmlns:a16="http://schemas.microsoft.com/office/drawing/2014/main" id="{AEFA8919-1401-F664-2C40-645A64028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100" y="4685465"/>
            <a:ext cx="2454023" cy="17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224076-C980-5F13-DE86-6AFDCD413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6213218" cy="3530600"/>
          </a:xfrm>
        </p:spPr>
        <p:txBody>
          <a:bodyPr>
            <a:normAutofit/>
          </a:bodyPr>
          <a:lstStyle/>
          <a:p>
            <a:r>
              <a:rPr lang="es-419" sz="2400" dirty="0"/>
              <a:t>Preguntas?</a:t>
            </a:r>
          </a:p>
          <a:p>
            <a:r>
              <a:rPr lang="es-419" sz="2400" dirty="0"/>
              <a:t>mailto: </a:t>
            </a:r>
            <a:r>
              <a:rPr lang="es-419" sz="2400" dirty="0">
                <a:solidFill>
                  <a:srgbClr val="0070C0"/>
                </a:solidFill>
              </a:rPr>
              <a:t>mstricagnoli@uade.edu.ar</a:t>
            </a:r>
            <a:endParaRPr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485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358434839BD0E4EAAAF06F450293D30" ma:contentTypeVersion="3" ma:contentTypeDescription="Crear nuevo documento." ma:contentTypeScope="" ma:versionID="6c3ac9d209a2af0f43285baa666677c9">
  <xsd:schema xmlns:xsd="http://www.w3.org/2001/XMLSchema" xmlns:xs="http://www.w3.org/2001/XMLSchema" xmlns:p="http://schemas.microsoft.com/office/2006/metadata/properties" xmlns:ns2="0bae8a1c-04f4-4e38-bae2-21c1b7d9b3aa" targetNamespace="http://schemas.microsoft.com/office/2006/metadata/properties" ma:root="true" ma:fieldsID="c5f32b7e70e3171cc1864de2dea8615c" ns2:_="">
    <xsd:import namespace="0bae8a1c-04f4-4e38-bae2-21c1b7d9b3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e8a1c-04f4-4e38-bae2-21c1b7d9b3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D38E92-E513-4224-970D-E2D2D1A04BCA}"/>
</file>

<file path=customXml/itemProps2.xml><?xml version="1.0" encoding="utf-8"?>
<ds:datastoreItem xmlns:ds="http://schemas.openxmlformats.org/officeDocument/2006/customXml" ds:itemID="{07AD7386-E1F0-4052-844E-22C763DCEEBF}"/>
</file>

<file path=customXml/itemProps3.xml><?xml version="1.0" encoding="utf-8"?>
<ds:datastoreItem xmlns:ds="http://schemas.openxmlformats.org/officeDocument/2006/customXml" ds:itemID="{2F8D9001-0424-4A09-B51E-6B7172EE281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2770</TotalTime>
  <Words>1950</Words>
  <Application>Microsoft Macintosh PowerPoint</Application>
  <PresentationFormat>Presentación en pantalla (4:3)</PresentationFormat>
  <Paragraphs>387</Paragraphs>
  <Slides>34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Aptos Mono</vt:lpstr>
      <vt:lpstr>Arial</vt:lpstr>
      <vt:lpstr>Century Gothic</vt:lpstr>
      <vt:lpstr>Wingdings 3</vt:lpstr>
      <vt:lpstr>Sala de reuniones Ion</vt:lpstr>
      <vt:lpstr>Procesos de Desarrollo de Software</vt:lpstr>
      <vt:lpstr>Agenda de la clase</vt:lpstr>
      <vt:lpstr>Observer</vt:lpstr>
      <vt:lpstr>Componentes</vt:lpstr>
      <vt:lpstr>Diagrama UML</vt:lpstr>
      <vt:lpstr>Ejemplo</vt:lpstr>
      <vt:lpstr>Práctica</vt:lpstr>
      <vt:lpstr>Magic Café ☕✨</vt:lpstr>
      <vt:lpstr>Punto de partida</vt:lpstr>
      <vt:lpstr>Antes y después del Observer</vt:lpstr>
      <vt:lpstr>Qué resuelve el patrón Observer</vt:lpstr>
      <vt:lpstr>Dónde vive cada pieza en Clean Architecture</vt:lpstr>
      <vt:lpstr>Paso 1: crear el contrato del Observer</vt:lpstr>
      <vt:lpstr>Paso 2: Pedido publica el evento al cambiar de estado</vt:lpstr>
      <vt:lpstr>Paso 3: agregar observadores concretos</vt:lpstr>
      <vt:lpstr>Flujo completo: de la UI a las notificaciones</vt:lpstr>
      <vt:lpstr>Diagrama UML</vt:lpstr>
      <vt:lpstr>Por qué queda mejor diseñado</vt:lpstr>
      <vt:lpstr>Conclusión</vt:lpstr>
      <vt:lpstr>Beneficios</vt:lpstr>
      <vt:lpstr>Beneficios</vt:lpstr>
      <vt:lpstr>Desventajas</vt:lpstr>
      <vt:lpstr>Observer en el mundo real</vt:lpstr>
      <vt:lpstr>Punto de partida: Observer clásico</vt:lpstr>
      <vt:lpstr>Antes: una clase centralizada y acoplada</vt:lpstr>
      <vt:lpstr>Después: Play Event + Subscribers</vt:lpstr>
      <vt:lpstr>Paso 1: el usuario selecciona un MP4 local</vt:lpstr>
      <vt:lpstr>Paso 2: se publica ContentStartedEvent</vt:lpstr>
      <vt:lpstr>Paso 3: cada observer hace su trabajo</vt:lpstr>
      <vt:lpstr>Paso 4: persistencia con H2 + JDBC</vt:lpstr>
      <vt:lpstr>Arquitectura del proyecto</vt:lpstr>
      <vt:lpstr>De Observer a Event Driven</vt:lpstr>
      <vt:lpstr>Conclusión</vt:lpstr>
      <vt:lpstr>Gracias!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Stricagnoli Matias Damian</cp:lastModifiedBy>
  <cp:revision>666</cp:revision>
  <dcterms:created xsi:type="dcterms:W3CDTF">2013-01-27T09:14:16Z</dcterms:created>
  <dcterms:modified xsi:type="dcterms:W3CDTF">2026-06-12T21:02:14Z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0x010100F358434839BD0E4EAAAF06F450293D30</vt:lpwstr>
  </property>
</Properties>
</file>