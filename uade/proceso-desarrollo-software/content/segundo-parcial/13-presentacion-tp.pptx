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9" r:id="rId1"/>
  </p:sldMasterIdLst>
  <p:notesMasterIdLst>
    <p:notesMasterId r:id="rId27"/>
  </p:notesMasterIdLst>
  <p:sldIdLst>
    <p:sldId id="256" r:id="rId2"/>
    <p:sldId id="258" r:id="rId3"/>
    <p:sldId id="432" r:id="rId4"/>
    <p:sldId id="433" r:id="rId5"/>
    <p:sldId id="454" r:id="rId6"/>
    <p:sldId id="435" r:id="rId7"/>
    <p:sldId id="437" r:id="rId8"/>
    <p:sldId id="481" r:id="rId9"/>
    <p:sldId id="482" r:id="rId10"/>
    <p:sldId id="483" r:id="rId11"/>
    <p:sldId id="484" r:id="rId12"/>
    <p:sldId id="485" r:id="rId13"/>
    <p:sldId id="486" r:id="rId14"/>
    <p:sldId id="487" r:id="rId15"/>
    <p:sldId id="488" r:id="rId16"/>
    <p:sldId id="489" r:id="rId17"/>
    <p:sldId id="490" r:id="rId18"/>
    <p:sldId id="491" r:id="rId19"/>
    <p:sldId id="492" r:id="rId20"/>
    <p:sldId id="493" r:id="rId21"/>
    <p:sldId id="494" r:id="rId22"/>
    <p:sldId id="495" r:id="rId23"/>
    <p:sldId id="496" r:id="rId24"/>
    <p:sldId id="497" r:id="rId25"/>
    <p:sldId id="30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2E66"/>
    <a:srgbClr val="B31366"/>
    <a:srgbClr val="5D4E70"/>
    <a:srgbClr val="36234D"/>
    <a:srgbClr val="5F2D60"/>
    <a:srgbClr val="4C2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86"/>
    <p:restoredTop sz="90186"/>
  </p:normalViewPr>
  <p:slideViewPr>
    <p:cSldViewPr snapToGrid="0" snapToObjects="1">
      <p:cViewPr varScale="1">
        <p:scale>
          <a:sx n="190" d="100"/>
          <a:sy n="190" d="100"/>
        </p:scale>
        <p:origin x="36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C3094-54F3-9B4F-9FFC-2D3DC4BBE891}" type="datetimeFigureOut">
              <a:rPr lang="es-AR" smtClean="0"/>
              <a:t>19/6/26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08CE7-C04C-1242-8D65-EF1635ED09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0370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113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4720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0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6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2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7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3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5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4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09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3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5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67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14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06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03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72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13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6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04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  <p:sldLayoutId id="2147483893" r:id="rId14"/>
    <p:sldLayoutId id="2147483894" r:id="rId15"/>
    <p:sldLayoutId id="2147483895" r:id="rId16"/>
    <p:sldLayoutId id="21474838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dirty="0"/>
              <a:t>Procesos de Desarrollo de Software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6626560" cy="86142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Clase </a:t>
            </a:r>
            <a:r>
              <a:rPr lang="es-419" dirty="0">
                <a:solidFill>
                  <a:schemeClr val="bg1"/>
                </a:solidFill>
              </a:rPr>
              <a:t>13</a:t>
            </a:r>
            <a:r>
              <a:rPr dirty="0">
                <a:solidFill>
                  <a:schemeClr val="bg1"/>
                </a:solidFill>
              </a:rPr>
              <a:t> –</a:t>
            </a:r>
            <a:r>
              <a:rPr lang="es-419" dirty="0">
                <a:solidFill>
                  <a:schemeClr val="bg1"/>
                </a:solidFill>
              </a:rPr>
              <a:t> Patrones de diseño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 de la </a:t>
            </a:r>
            <a:r>
              <a:rPr dirty="0" err="1"/>
              <a:t>clase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Factory</a:t>
            </a:r>
          </a:p>
          <a:p>
            <a:r>
              <a:rPr lang="es-419" dirty="0"/>
              <a:t>Facade</a:t>
            </a:r>
          </a:p>
          <a:p>
            <a:endParaRPr lang="es-4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2AC8A-4EDC-CD59-8C06-030C08DD0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Factory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ED74D0-CC3E-BC80-E395-3370F3879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199"/>
            <a:ext cx="7535339" cy="395135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dirty="0"/>
              <a:t>Es un patrón de </a:t>
            </a:r>
            <a:r>
              <a:rPr lang="es-AR" b="1" dirty="0"/>
              <a:t>Creacional.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b="1" u="sng" dirty="0"/>
              <a:t>¿Qué hace?</a:t>
            </a:r>
          </a:p>
          <a:p>
            <a:pPr algn="just"/>
            <a:r>
              <a:rPr lang="es-AR" dirty="0"/>
              <a:t>Provee de una interface para crear familias de objetos sin especificar las clases concretas.</a:t>
            </a:r>
          </a:p>
          <a:p>
            <a:pPr algn="just"/>
            <a:endParaRPr lang="es-AR" dirty="0"/>
          </a:p>
          <a:p>
            <a:pPr marL="0" indent="0" algn="just">
              <a:buNone/>
            </a:pPr>
            <a:r>
              <a:rPr lang="es-AR" dirty="0"/>
              <a:t>Se </a:t>
            </a:r>
            <a:r>
              <a:rPr lang="es-AR" b="1" dirty="0"/>
              <a:t>sugiere</a:t>
            </a:r>
            <a:r>
              <a:rPr lang="es-AR" dirty="0"/>
              <a:t> su utilización </a:t>
            </a:r>
            <a:r>
              <a:rPr lang="es-AR" b="1" dirty="0"/>
              <a:t>cuando</a:t>
            </a:r>
            <a:r>
              <a:rPr lang="es-AR" dirty="0"/>
              <a:t>:</a:t>
            </a:r>
          </a:p>
          <a:p>
            <a:pPr algn="just"/>
            <a:r>
              <a:rPr lang="es-AR" dirty="0"/>
              <a:t>Cuando se necesita crear </a:t>
            </a:r>
            <a:r>
              <a:rPr lang="es-AR" b="1" dirty="0"/>
              <a:t>familias de objetos relacionados</a:t>
            </a:r>
            <a:r>
              <a:rPr lang="es-AR" dirty="0"/>
              <a:t> sin acoplarse a clases concretas.</a:t>
            </a:r>
          </a:p>
          <a:p>
            <a:pPr algn="just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60004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498D0C-5A1A-39B3-D9C5-75F6C53F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Tipos de Fábricas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FBC819-43F0-3581-7491-4B5448A3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73940" cy="3530600"/>
          </a:xfrm>
        </p:spPr>
        <p:txBody>
          <a:bodyPr>
            <a:normAutofit/>
          </a:bodyPr>
          <a:lstStyle/>
          <a:p>
            <a:pPr algn="just"/>
            <a:r>
              <a:rPr lang="es-AR" b="1" dirty="0"/>
              <a:t>Factory Method: </a:t>
            </a:r>
            <a:r>
              <a:rPr lang="es-AR" dirty="0"/>
              <a:t>Encapsula en un único punto (un </a:t>
            </a:r>
            <a:r>
              <a:rPr lang="es-AR" b="1" dirty="0"/>
              <a:t>método</a:t>
            </a:r>
            <a:r>
              <a:rPr lang="es-AR" dirty="0"/>
              <a:t>) la creación de objetos que tienen una interfaz común.</a:t>
            </a:r>
          </a:p>
          <a:p>
            <a:pPr lvl="1" algn="just"/>
            <a:r>
              <a:rPr lang="es-AR" dirty="0"/>
              <a:t>Una clase con </a:t>
            </a:r>
            <a:r>
              <a:rPr lang="es-AR" dirty="0" err="1"/>
              <a:t>if</a:t>
            </a:r>
            <a:r>
              <a:rPr lang="es-AR" dirty="0"/>
              <a:t>/switch crea objetos. </a:t>
            </a:r>
          </a:p>
          <a:p>
            <a:pPr algn="just"/>
            <a:r>
              <a:rPr lang="es-AR" b="1" dirty="0"/>
              <a:t>Simple Factory: </a:t>
            </a:r>
            <a:r>
              <a:rPr lang="es-AR" dirty="0"/>
              <a:t>Encapsula en un único punto (</a:t>
            </a:r>
            <a:r>
              <a:rPr lang="es-AR" b="1" dirty="0"/>
              <a:t>una clase</a:t>
            </a:r>
            <a:r>
              <a:rPr lang="es-AR" dirty="0"/>
              <a:t>) la creación de objetos que tienen, al menos, una interfaz común.</a:t>
            </a:r>
          </a:p>
          <a:p>
            <a:pPr lvl="1" algn="just"/>
            <a:r>
              <a:rPr lang="es-AR" dirty="0"/>
              <a:t>Una superclase define el flujo y las subclases deciden qué objeto crear.</a:t>
            </a:r>
            <a:endParaRPr lang="es-AR" b="1" dirty="0"/>
          </a:p>
          <a:p>
            <a:pPr algn="just"/>
            <a:r>
              <a:rPr lang="es-AR" b="1" dirty="0"/>
              <a:t>Abstract Factory:</a:t>
            </a:r>
            <a:r>
              <a:rPr lang="es-AR" dirty="0"/>
              <a:t> Crea familias completas de objetos compatibles.</a:t>
            </a:r>
          </a:p>
        </p:txBody>
      </p:sp>
    </p:spTree>
    <p:extLst>
      <p:ext uri="{BB962C8B-B14F-4D97-AF65-F5344CB8AC3E}">
        <p14:creationId xmlns:p14="http://schemas.microsoft.com/office/powerpoint/2010/main" val="2088458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BF4BF-A049-701F-7CB3-26A72EB40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29172-7003-DF2D-D6DD-37CD8040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Beneficios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45F3519F-88D5-999C-0C49-7B3194926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53" y="2230551"/>
            <a:ext cx="8201018" cy="4237484"/>
          </a:xfrm>
        </p:spPr>
        <p:txBody>
          <a:bodyPr>
            <a:normAutofit/>
          </a:bodyPr>
          <a:lstStyle/>
          <a:p>
            <a:r>
              <a:rPr lang="es-AR" sz="1400" dirty="0"/>
              <a:t>Beneficios:</a:t>
            </a:r>
          </a:p>
          <a:p>
            <a:pPr lvl="1"/>
            <a:r>
              <a:rPr lang="es-AR" sz="1400" b="1" dirty="0"/>
              <a:t>Desacoplamiento:</a:t>
            </a:r>
            <a:r>
              <a:rPr lang="es-AR" sz="1400" dirty="0"/>
              <a:t> el cliente no conoce las clases concretas.</a:t>
            </a:r>
          </a:p>
          <a:p>
            <a:pPr lvl="1"/>
            <a:r>
              <a:rPr lang="es-AR" sz="1400" dirty="0"/>
              <a:t>Sin Factory:</a:t>
            </a:r>
          </a:p>
          <a:p>
            <a:pPr marL="402336" lvl="1" indent="0">
              <a:buNone/>
            </a:pPr>
            <a:r>
              <a:rPr lang="es-AR" sz="1400" dirty="0"/>
              <a:t>		</a:t>
            </a:r>
          </a:p>
          <a:p>
            <a:pPr lvl="1"/>
            <a:r>
              <a:rPr lang="es-AR" sz="1400" dirty="0"/>
              <a:t>Con Factory:</a:t>
            </a:r>
          </a:p>
          <a:p>
            <a:pPr lvl="1"/>
            <a:r>
              <a:rPr lang="es-AR" sz="1400" dirty="0"/>
              <a:t>Cumple </a:t>
            </a:r>
            <a:r>
              <a:rPr lang="es-AR" sz="1400" b="1" dirty="0"/>
              <a:t>Open</a:t>
            </a:r>
            <a:r>
              <a:rPr lang="es-AR" sz="1400" dirty="0"/>
              <a:t>/</a:t>
            </a:r>
            <a:r>
              <a:rPr lang="es-AR" sz="1400" b="1" dirty="0" err="1"/>
              <a:t>Closed</a:t>
            </a:r>
            <a:r>
              <a:rPr lang="es-AR" sz="1400" dirty="0"/>
              <a:t>: El cliente depende de la abstracción, no de clases concretas. Si mañana aparece </a:t>
            </a:r>
            <a:r>
              <a:rPr lang="es-AR" sz="1400" dirty="0" err="1"/>
              <a:t>CafePremium</a:t>
            </a:r>
            <a:r>
              <a:rPr lang="es-AR" sz="1400" dirty="0"/>
              <a:t>, </a:t>
            </a:r>
            <a:r>
              <a:rPr lang="es-AR" sz="1400" dirty="0" err="1"/>
              <a:t>CafeColombiano</a:t>
            </a:r>
            <a:r>
              <a:rPr lang="es-AR" sz="1400" dirty="0"/>
              <a:t>, etc. No hay que tocar el cliente. No modificamos consumidores.</a:t>
            </a:r>
          </a:p>
          <a:p>
            <a:pPr lvl="1"/>
            <a:r>
              <a:rPr lang="es-AR" sz="1400" b="1" dirty="0"/>
              <a:t>Centraliza la creación:</a:t>
            </a:r>
            <a:r>
              <a:rPr lang="es-AR" sz="1400" dirty="0"/>
              <a:t> toda la lógica de construcción vive en un único lugar. </a:t>
            </a:r>
          </a:p>
          <a:p>
            <a:pPr lvl="1"/>
            <a:r>
              <a:rPr lang="es-AR" sz="1400" dirty="0"/>
              <a:t>Oculta la complejidad de la creación.</a:t>
            </a:r>
          </a:p>
          <a:p>
            <a:pPr lvl="1"/>
            <a:endParaRPr lang="es-AR" sz="1400" dirty="0"/>
          </a:p>
          <a:p>
            <a:pPr lvl="1"/>
            <a:endParaRPr lang="es-AR" sz="1400" b="1" dirty="0"/>
          </a:p>
          <a:p>
            <a:pPr lvl="1"/>
            <a:endParaRPr lang="es-AR" sz="1400" dirty="0"/>
          </a:p>
          <a:p>
            <a:pPr lvl="1"/>
            <a:endParaRPr lang="es-AR" sz="1400" dirty="0"/>
          </a:p>
          <a:p>
            <a:pPr lvl="1"/>
            <a:endParaRPr lang="es-AR" sz="1400" dirty="0"/>
          </a:p>
          <a:p>
            <a:pPr lvl="1"/>
            <a:endParaRPr lang="es-AR" sz="1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05BDE2-2BB8-FADE-0266-EA9B6DC898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049"/>
          <a:stretch>
            <a:fillRect/>
          </a:stretch>
        </p:blipFill>
        <p:spPr>
          <a:xfrm>
            <a:off x="2544922" y="2915418"/>
            <a:ext cx="3100294" cy="3663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CA9A03-1F9D-E452-F222-D50AFE4A1F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65" b="12396"/>
          <a:stretch>
            <a:fillRect/>
          </a:stretch>
        </p:blipFill>
        <p:spPr>
          <a:xfrm>
            <a:off x="2605434" y="3546564"/>
            <a:ext cx="3114714" cy="36633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3DDCCD2-3438-DC8C-D957-AF489B593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147" y="5075420"/>
            <a:ext cx="1410232" cy="163792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DF297BB-1F3D-6E90-AB05-4CAF7E360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853" y="5478713"/>
            <a:ext cx="1788459" cy="319368"/>
          </a:xfrm>
          <a:prstGeom prst="rect">
            <a:avLst/>
          </a:prstGeom>
        </p:spPr>
      </p:pic>
      <p:sp>
        <p:nvSpPr>
          <p:cNvPr id="8" name="Flecha derecha 7">
            <a:extLst>
              <a:ext uri="{FF2B5EF4-FFF2-40B4-BE49-F238E27FC236}">
                <a16:creationId xmlns:a16="http://schemas.microsoft.com/office/drawing/2014/main" id="{EC5A8093-1253-2CC6-E3FD-D3121B9274FC}"/>
              </a:ext>
            </a:extLst>
          </p:cNvPr>
          <p:cNvSpPr/>
          <p:nvPr/>
        </p:nvSpPr>
        <p:spPr>
          <a:xfrm>
            <a:off x="6360459" y="5533465"/>
            <a:ext cx="490817" cy="21515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57695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FBB1F-4D27-C60D-64DF-E427F267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Práctica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C97FF7-67BE-9B10-80AE-78A792511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73647" cy="1928159"/>
          </a:xfrm>
        </p:spPr>
        <p:txBody>
          <a:bodyPr>
            <a:normAutofit/>
          </a:bodyPr>
          <a:lstStyle/>
          <a:p>
            <a:r>
              <a:rPr lang="es-AR" dirty="0"/>
              <a:t>Mejoremos el diseño planteado para el ejercicio de aplicación “</a:t>
            </a:r>
            <a:r>
              <a:rPr lang="es-AR" b="1" dirty="0"/>
              <a:t>Módulo de Envío de Notificaciones</a:t>
            </a:r>
            <a:r>
              <a:rPr lang="es-AR" dirty="0"/>
              <a:t>”.</a:t>
            </a:r>
          </a:p>
          <a:p>
            <a:r>
              <a:rPr lang="es-AR" dirty="0"/>
              <a:t>Realicemos el ejercicio de aplicación de patrones “</a:t>
            </a:r>
            <a:r>
              <a:rPr lang="es-AR" b="1" dirty="0"/>
              <a:t>Módulo exportador</a:t>
            </a:r>
            <a:r>
              <a:rPr lang="es-AR" dirty="0"/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1627595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41F50-EB85-570C-B305-B5AD8D3A1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Magic Café ☕✨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B7B451-CF52-E0F0-C5D7-26043419F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535547" cy="780093"/>
          </a:xfrm>
        </p:spPr>
        <p:txBody>
          <a:bodyPr>
            <a:normAutofit/>
          </a:bodyPr>
          <a:lstStyle/>
          <a:p>
            <a:r>
              <a:rPr lang="es-AR" dirty="0"/>
              <a:t>Cómo sumar familias de menús y una entrada simple al sistema sin romper los patrones existentes.</a:t>
            </a:r>
          </a:p>
          <a:p>
            <a:endParaRPr lang="es-AR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56830DD0-0E4D-DAEF-27AE-AF0BD5816108}"/>
              </a:ext>
            </a:extLst>
          </p:cNvPr>
          <p:cNvSpPr/>
          <p:nvPr/>
        </p:nvSpPr>
        <p:spPr>
          <a:xfrm>
            <a:off x="1312433" y="3312010"/>
            <a:ext cx="1828800" cy="2541495"/>
          </a:xfrm>
          <a:prstGeom prst="roundRect">
            <a:avLst>
              <a:gd name="adj" fmla="val 4000"/>
            </a:avLst>
          </a:prstGeom>
          <a:solidFill>
            <a:srgbClr val="F6E3C7"/>
          </a:solidFill>
          <a:ln w="15240">
            <a:solidFill>
              <a:srgbClr val="C58C52"/>
            </a:solidFill>
            <a:prstDash val="solid"/>
          </a:ln>
          <a:effectLst>
            <a:outerShdw blurRad="12700" dist="50800" dir="2700000" algn="bl" rotWithShape="0">
              <a:srgbClr val="C9AA79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0A55B862-18C3-EA3C-A15D-EC63E02B4D09}"/>
              </a:ext>
            </a:extLst>
          </p:cNvPr>
          <p:cNvSpPr/>
          <p:nvPr/>
        </p:nvSpPr>
        <p:spPr>
          <a:xfrm>
            <a:off x="1422161" y="3312010"/>
            <a:ext cx="1609344" cy="254149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1A12"/>
                </a:solidFill>
              </a:rPr>
              <a:t>Composite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A1A12"/>
                </a:solidFill>
              </a:rPr>
              <a:t>Decorator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A1A12"/>
                </a:solidFill>
              </a:rPr>
              <a:t>Strategy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A1A12"/>
                </a:solidFill>
              </a:rPr>
              <a:t>State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A1A12"/>
                </a:solidFill>
              </a:rPr>
              <a:t>Observer</a:t>
            </a:r>
            <a:endParaRPr lang="en-US" sz="20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D02141A-3744-B42A-A2CF-0FB02C418DC8}"/>
              </a:ext>
            </a:extLst>
          </p:cNvPr>
          <p:cNvSpPr/>
          <p:nvPr/>
        </p:nvSpPr>
        <p:spPr>
          <a:xfrm>
            <a:off x="3504976" y="422641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8C52"/>
                </a:solidFill>
              </a:rPr>
              <a:t>+</a:t>
            </a:r>
            <a:endParaRPr lang="en-US" sz="28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00F029A0-8674-8272-21D2-C8921982F3B0}"/>
              </a:ext>
            </a:extLst>
          </p:cNvPr>
          <p:cNvSpPr/>
          <p:nvPr/>
        </p:nvSpPr>
        <p:spPr>
          <a:xfrm>
            <a:off x="4280199" y="3657599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F4D7A1"/>
          </a:solidFill>
          <a:ln w="15240">
            <a:solidFill>
              <a:srgbClr val="D99A2B"/>
            </a:solidFill>
            <a:prstDash val="solid"/>
          </a:ln>
          <a:effectLst>
            <a:outerShdw blurRad="12700" dist="50800" dir="2700000" algn="bl" rotWithShape="0">
              <a:srgbClr val="C9AA79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6326EB55-D1B2-5DE5-082D-9A6A2F39B93A}"/>
              </a:ext>
            </a:extLst>
          </p:cNvPr>
          <p:cNvSpPr/>
          <p:nvPr/>
        </p:nvSpPr>
        <p:spPr>
          <a:xfrm>
            <a:off x="4389927" y="3749039"/>
            <a:ext cx="133502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1A12"/>
                </a:solidFill>
              </a:rPr>
              <a:t>Abstract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A1A12"/>
                </a:solidFill>
              </a:rPr>
              <a:t>Factory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43601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CEE9-3230-8D5F-252A-101A7490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291A6-2263-DA15-1888-63BE2FC1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Punto de partida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CD3C6D-DCB6-FA82-64AA-1EBE1E3AA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73940" cy="845671"/>
          </a:xfrm>
        </p:spPr>
        <p:txBody>
          <a:bodyPr/>
          <a:lstStyle/>
          <a:p>
            <a:r>
              <a:rPr lang="es-AR" dirty="0"/>
              <a:t>El pedido ya podía armarse, decorarse, descontarse, avanzar por estados y notificar cambios.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041E0C04-7BB9-41BA-D6C5-1DC872F1E918}"/>
              </a:ext>
            </a:extLst>
          </p:cNvPr>
          <p:cNvSpPr/>
          <p:nvPr/>
        </p:nvSpPr>
        <p:spPr>
          <a:xfrm>
            <a:off x="441092" y="3429000"/>
            <a:ext cx="1325880" cy="384048"/>
          </a:xfrm>
          <a:prstGeom prst="roundRect">
            <a:avLst>
              <a:gd name="adj" fmla="val 23810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AE0638A6-3E38-D19B-AD98-DDCBDB5C8E58}"/>
              </a:ext>
            </a:extLst>
          </p:cNvPr>
          <p:cNvSpPr/>
          <p:nvPr/>
        </p:nvSpPr>
        <p:spPr>
          <a:xfrm>
            <a:off x="514244" y="352044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20E"/>
                </a:solidFill>
              </a:rPr>
              <a:t>Strategy</a:t>
            </a:r>
            <a:endParaRPr lang="en-US" sz="1000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42BE11A9-BA8B-BAD7-DEFD-B6F3D25F5480}"/>
              </a:ext>
            </a:extLst>
          </p:cNvPr>
          <p:cNvSpPr/>
          <p:nvPr/>
        </p:nvSpPr>
        <p:spPr>
          <a:xfrm>
            <a:off x="2041292" y="342900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2B0B2AE4-CE8F-D7EF-D714-F28F64CB7E95}"/>
              </a:ext>
            </a:extLst>
          </p:cNvPr>
          <p:cNvSpPr/>
          <p:nvPr/>
        </p:nvSpPr>
        <p:spPr>
          <a:xfrm>
            <a:off x="2114444" y="352044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20E"/>
                </a:solidFill>
              </a:rPr>
              <a:t>Decorator</a:t>
            </a:r>
            <a:endParaRPr lang="en-US" sz="1000" dirty="0"/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645F1EF3-B7F7-7EA6-8B01-94E25C7BB2D8}"/>
              </a:ext>
            </a:extLst>
          </p:cNvPr>
          <p:cNvSpPr/>
          <p:nvPr/>
        </p:nvSpPr>
        <p:spPr>
          <a:xfrm>
            <a:off x="3778652" y="342900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7BC67B"/>
          </a:solidFill>
          <a:ln w="12700">
            <a:solidFill>
              <a:srgbClr val="7BC67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5EFFB476-CC2D-F6D8-065E-88601F6FA110}"/>
              </a:ext>
            </a:extLst>
          </p:cNvPr>
          <p:cNvSpPr/>
          <p:nvPr/>
        </p:nvSpPr>
        <p:spPr>
          <a:xfrm>
            <a:off x="3851804" y="352044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20E"/>
                </a:solidFill>
              </a:rPr>
              <a:t>Composite</a:t>
            </a:r>
            <a:endParaRPr lang="en-US" sz="1000" dirty="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69B2C2EA-F21A-5985-3969-E8D35704C789}"/>
              </a:ext>
            </a:extLst>
          </p:cNvPr>
          <p:cNvSpPr/>
          <p:nvPr/>
        </p:nvSpPr>
        <p:spPr>
          <a:xfrm>
            <a:off x="5516012" y="3429000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38C2BC07-8D55-0210-7D4A-A3E3B69E9D91}"/>
              </a:ext>
            </a:extLst>
          </p:cNvPr>
          <p:cNvSpPr/>
          <p:nvPr/>
        </p:nvSpPr>
        <p:spPr>
          <a:xfrm>
            <a:off x="5589164" y="3520440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20E"/>
                </a:solidFill>
              </a:rPr>
              <a:t>State</a:t>
            </a:r>
            <a:endParaRPr lang="en-US" sz="1000" dirty="0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3B067F53-CDE6-A2F6-5ACE-2AADD3ADF90D}"/>
              </a:ext>
            </a:extLst>
          </p:cNvPr>
          <p:cNvSpPr/>
          <p:nvPr/>
        </p:nvSpPr>
        <p:spPr>
          <a:xfrm>
            <a:off x="7143644" y="3429000"/>
            <a:ext cx="1325880" cy="384048"/>
          </a:xfrm>
          <a:prstGeom prst="roundRect">
            <a:avLst>
              <a:gd name="adj" fmla="val 23810"/>
            </a:avLst>
          </a:prstGeom>
          <a:solidFill>
            <a:srgbClr val="C8A2C8"/>
          </a:solidFill>
          <a:ln w="12700">
            <a:solidFill>
              <a:srgbClr val="C8A2C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E317A500-3800-62B7-623E-1ACAB15EEA18}"/>
              </a:ext>
            </a:extLst>
          </p:cNvPr>
          <p:cNvSpPr/>
          <p:nvPr/>
        </p:nvSpPr>
        <p:spPr>
          <a:xfrm>
            <a:off x="7216796" y="352044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20E"/>
                </a:solidFill>
              </a:rPr>
              <a:t>Observer</a:t>
            </a:r>
            <a:endParaRPr lang="en-US" sz="1000" dirty="0"/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0287CA4C-5E06-104A-6A8D-DE723B836C2F}"/>
              </a:ext>
            </a:extLst>
          </p:cNvPr>
          <p:cNvSpPr/>
          <p:nvPr/>
        </p:nvSpPr>
        <p:spPr>
          <a:xfrm>
            <a:off x="377112" y="4075348"/>
            <a:ext cx="1527048" cy="1051560"/>
          </a:xfrm>
          <a:prstGeom prst="roundRect">
            <a:avLst>
              <a:gd name="adj" fmla="val 6957"/>
            </a:avLst>
          </a:prstGeom>
          <a:solidFill>
            <a:srgbClr val="241A15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50C46E76-A1EE-3118-8608-CA4894C8A1E5}"/>
              </a:ext>
            </a:extLst>
          </p:cNvPr>
          <p:cNvSpPr/>
          <p:nvPr/>
        </p:nvSpPr>
        <p:spPr>
          <a:xfrm>
            <a:off x="541704" y="4194220"/>
            <a:ext cx="125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Descuentos</a:t>
            </a:r>
            <a:endParaRPr lang="en-US" sz="1200" dirty="0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5DFDC5B5-E179-67E7-2445-FE5AA831A678}"/>
              </a:ext>
            </a:extLst>
          </p:cNvPr>
          <p:cNvSpPr/>
          <p:nvPr/>
        </p:nvSpPr>
        <p:spPr>
          <a:xfrm>
            <a:off x="541704" y="4514260"/>
            <a:ext cx="1258883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SinDescuento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Estudiante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Hechizo</a:t>
            </a:r>
            <a:endParaRPr lang="en-US" sz="1300" dirty="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8D8031FF-4625-3D76-4EEA-7600A7422244}"/>
              </a:ext>
            </a:extLst>
          </p:cNvPr>
          <p:cNvSpPr/>
          <p:nvPr/>
        </p:nvSpPr>
        <p:spPr>
          <a:xfrm>
            <a:off x="2041292" y="4075348"/>
            <a:ext cx="1475114" cy="1051560"/>
          </a:xfrm>
          <a:prstGeom prst="roundRect">
            <a:avLst>
              <a:gd name="adj" fmla="val 6957"/>
            </a:avLst>
          </a:prstGeom>
          <a:solidFill>
            <a:srgbClr val="241A15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69C1B8D6-0345-3C28-0CEA-2B43250236F1}"/>
              </a:ext>
            </a:extLst>
          </p:cNvPr>
          <p:cNvSpPr/>
          <p:nvPr/>
        </p:nvSpPr>
        <p:spPr>
          <a:xfrm>
            <a:off x="2205884" y="4194220"/>
            <a:ext cx="125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Extras</a:t>
            </a:r>
            <a:endParaRPr lang="en-US" sz="1200" dirty="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CD3A7E7E-9A02-FE21-B712-D93BDF3842DC}"/>
              </a:ext>
            </a:extLst>
          </p:cNvPr>
          <p:cNvSpPr/>
          <p:nvPr/>
        </p:nvSpPr>
        <p:spPr>
          <a:xfrm>
            <a:off x="2205884" y="4514260"/>
            <a:ext cx="1258883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Leche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Crema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Canela</a:t>
            </a:r>
            <a:endParaRPr lang="en-US" sz="1300" dirty="0"/>
          </a:p>
        </p:txBody>
      </p:sp>
      <p:sp>
        <p:nvSpPr>
          <p:cNvPr id="20" name="Shape 23">
            <a:extLst>
              <a:ext uri="{FF2B5EF4-FFF2-40B4-BE49-F238E27FC236}">
                <a16:creationId xmlns:a16="http://schemas.microsoft.com/office/drawing/2014/main" id="{1F0FAECC-F80C-44C3-E8A5-DC525C5A7694}"/>
              </a:ext>
            </a:extLst>
          </p:cNvPr>
          <p:cNvSpPr/>
          <p:nvPr/>
        </p:nvSpPr>
        <p:spPr>
          <a:xfrm>
            <a:off x="3778652" y="4075348"/>
            <a:ext cx="1527048" cy="1051560"/>
          </a:xfrm>
          <a:prstGeom prst="roundRect">
            <a:avLst>
              <a:gd name="adj" fmla="val 6957"/>
            </a:avLst>
          </a:prstGeom>
          <a:solidFill>
            <a:srgbClr val="241A15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5897EE5D-CE7D-6B60-EF5F-D1C55FBFFA4F}"/>
              </a:ext>
            </a:extLst>
          </p:cNvPr>
          <p:cNvSpPr/>
          <p:nvPr/>
        </p:nvSpPr>
        <p:spPr>
          <a:xfrm>
            <a:off x="3943244" y="4194220"/>
            <a:ext cx="125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Combos</a:t>
            </a:r>
            <a:endParaRPr lang="en-US" sz="1200" dirty="0"/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D4D1EDDD-D5D2-BE7F-F677-8FD990467B02}"/>
              </a:ext>
            </a:extLst>
          </p:cNvPr>
          <p:cNvSpPr/>
          <p:nvPr/>
        </p:nvSpPr>
        <p:spPr>
          <a:xfrm>
            <a:off x="3943244" y="4514260"/>
            <a:ext cx="1258883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Producto + Combo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tratados igual</a:t>
            </a:r>
            <a:endParaRPr lang="en-US" sz="1300" dirty="0"/>
          </a:p>
        </p:txBody>
      </p:sp>
      <p:sp>
        <p:nvSpPr>
          <p:cNvPr id="23" name="Shape 26">
            <a:extLst>
              <a:ext uri="{FF2B5EF4-FFF2-40B4-BE49-F238E27FC236}">
                <a16:creationId xmlns:a16="http://schemas.microsoft.com/office/drawing/2014/main" id="{EB9B0498-DA0D-7A15-8EED-8C87D0933491}"/>
              </a:ext>
            </a:extLst>
          </p:cNvPr>
          <p:cNvSpPr/>
          <p:nvPr/>
        </p:nvSpPr>
        <p:spPr>
          <a:xfrm>
            <a:off x="5516012" y="4075348"/>
            <a:ext cx="1422104" cy="1051560"/>
          </a:xfrm>
          <a:prstGeom prst="roundRect">
            <a:avLst>
              <a:gd name="adj" fmla="val 6957"/>
            </a:avLst>
          </a:prstGeom>
          <a:solidFill>
            <a:srgbClr val="241A15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7">
            <a:extLst>
              <a:ext uri="{FF2B5EF4-FFF2-40B4-BE49-F238E27FC236}">
                <a16:creationId xmlns:a16="http://schemas.microsoft.com/office/drawing/2014/main" id="{D3F99306-2D9A-FCD0-DBAE-6DCB3F6DD803}"/>
              </a:ext>
            </a:extLst>
          </p:cNvPr>
          <p:cNvSpPr/>
          <p:nvPr/>
        </p:nvSpPr>
        <p:spPr>
          <a:xfrm>
            <a:off x="5680604" y="4194220"/>
            <a:ext cx="125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Estados</a:t>
            </a:r>
            <a:endParaRPr lang="en-US" sz="1200" dirty="0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95E8763C-3391-95B1-12F6-654F43FECC68}"/>
              </a:ext>
            </a:extLst>
          </p:cNvPr>
          <p:cNvSpPr/>
          <p:nvPr/>
        </p:nvSpPr>
        <p:spPr>
          <a:xfrm>
            <a:off x="5680604" y="4514260"/>
            <a:ext cx="1258883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Creado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Pagado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Preparando</a:t>
            </a:r>
            <a:endParaRPr lang="en-US" sz="1300" dirty="0"/>
          </a:p>
        </p:txBody>
      </p:sp>
      <p:sp>
        <p:nvSpPr>
          <p:cNvPr id="26" name="Shape 29">
            <a:extLst>
              <a:ext uri="{FF2B5EF4-FFF2-40B4-BE49-F238E27FC236}">
                <a16:creationId xmlns:a16="http://schemas.microsoft.com/office/drawing/2014/main" id="{933041AC-36C5-4A49-ADAC-B65842CE2298}"/>
              </a:ext>
            </a:extLst>
          </p:cNvPr>
          <p:cNvSpPr/>
          <p:nvPr/>
        </p:nvSpPr>
        <p:spPr>
          <a:xfrm>
            <a:off x="7143644" y="4075348"/>
            <a:ext cx="1572456" cy="1051560"/>
          </a:xfrm>
          <a:prstGeom prst="roundRect">
            <a:avLst>
              <a:gd name="adj" fmla="val 6957"/>
            </a:avLst>
          </a:prstGeom>
          <a:solidFill>
            <a:srgbClr val="241A15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30">
            <a:extLst>
              <a:ext uri="{FF2B5EF4-FFF2-40B4-BE49-F238E27FC236}">
                <a16:creationId xmlns:a16="http://schemas.microsoft.com/office/drawing/2014/main" id="{896EA732-148E-AE4F-AA8B-3FEDE072127A}"/>
              </a:ext>
            </a:extLst>
          </p:cNvPr>
          <p:cNvSpPr/>
          <p:nvPr/>
        </p:nvSpPr>
        <p:spPr>
          <a:xfrm>
            <a:off x="7308236" y="4194220"/>
            <a:ext cx="140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Avisos</a:t>
            </a:r>
            <a:endParaRPr lang="en-US" sz="1200" dirty="0"/>
          </a:p>
        </p:txBody>
      </p:sp>
      <p:sp>
        <p:nvSpPr>
          <p:cNvPr id="28" name="Text 31">
            <a:extLst>
              <a:ext uri="{FF2B5EF4-FFF2-40B4-BE49-F238E27FC236}">
                <a16:creationId xmlns:a16="http://schemas.microsoft.com/office/drawing/2014/main" id="{B6474097-E64E-1774-B4BD-FA91BAF7F5A1}"/>
              </a:ext>
            </a:extLst>
          </p:cNvPr>
          <p:cNvSpPr/>
          <p:nvPr/>
        </p:nvSpPr>
        <p:spPr>
          <a:xfrm>
            <a:off x="7308236" y="4514260"/>
            <a:ext cx="1407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Push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Email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EFE7"/>
                </a:solidFill>
              </a:rPr>
              <a:t>Reporting</a:t>
            </a:r>
            <a:endParaRPr lang="en-US" sz="1300" dirty="0"/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27782CD3-7790-6C0B-BBF8-BBB3E23F8C86}"/>
              </a:ext>
            </a:extLst>
          </p:cNvPr>
          <p:cNvSpPr/>
          <p:nvPr/>
        </p:nvSpPr>
        <p:spPr>
          <a:xfrm>
            <a:off x="1480521" y="5478765"/>
            <a:ext cx="6309360" cy="777240"/>
          </a:xfrm>
          <a:prstGeom prst="roundRect">
            <a:avLst>
              <a:gd name="adj" fmla="val 9412"/>
            </a:avLst>
          </a:prstGeom>
          <a:solidFill>
            <a:srgbClr val="2D2119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06A59F63-21F8-8229-8AD3-E78B198A7E45}"/>
              </a:ext>
            </a:extLst>
          </p:cNvPr>
          <p:cNvSpPr/>
          <p:nvPr/>
        </p:nvSpPr>
        <p:spPr>
          <a:xfrm>
            <a:off x="1645113" y="5597637"/>
            <a:ext cx="5980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Ahora agregamos</a:t>
            </a:r>
            <a:endParaRPr lang="en-US" sz="1200" dirty="0"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3A12113D-0FA8-A2C0-E508-0550506C7446}"/>
              </a:ext>
            </a:extLst>
          </p:cNvPr>
          <p:cNvSpPr/>
          <p:nvPr/>
        </p:nvSpPr>
        <p:spPr>
          <a:xfrm>
            <a:off x="1645113" y="5917677"/>
            <a:ext cx="59801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7EFE7"/>
                </a:solidFill>
              </a:rPr>
              <a:t>Abstract Factory para crear familias completas de productos de Magic Café.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33228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B1F78-15C8-1462-59DD-8FCB4379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Problema: creación dispersa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0FE571-F2CC-12F5-0805-9F80E23F8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627436" cy="798606"/>
          </a:xfrm>
        </p:spPr>
        <p:txBody>
          <a:bodyPr/>
          <a:lstStyle/>
          <a:p>
            <a:r>
              <a:rPr lang="es-AR" dirty="0"/>
              <a:t>El problema no es vender un producto; el problema es crear conjuntos completos y consistentes.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0AB19A3D-9857-68D3-2850-B17B4C6A4746}"/>
              </a:ext>
            </a:extLst>
          </p:cNvPr>
          <p:cNvSpPr/>
          <p:nvPr/>
        </p:nvSpPr>
        <p:spPr>
          <a:xfrm>
            <a:off x="337521" y="3429000"/>
            <a:ext cx="4409291" cy="1718578"/>
          </a:xfrm>
          <a:prstGeom prst="roundRect">
            <a:avLst>
              <a:gd name="adj" fmla="val 1786"/>
            </a:avLst>
          </a:prstGeom>
          <a:solidFill>
            <a:srgbClr val="111111"/>
          </a:solidFill>
          <a:ln w="12700">
            <a:solidFill>
              <a:srgbClr val="4B3A31"/>
            </a:solidFill>
            <a:prstDash val="solid"/>
          </a:ln>
        </p:spPr>
        <p:txBody>
          <a:bodyPr/>
          <a:lstStyle/>
          <a:p>
            <a:endParaRPr lang="es-AR" sz="1000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DDCC7A04-90F6-8445-BD87-7B68774E97F7}"/>
              </a:ext>
            </a:extLst>
          </p:cNvPr>
          <p:cNvSpPr/>
          <p:nvPr/>
        </p:nvSpPr>
        <p:spPr>
          <a:xfrm>
            <a:off x="483825" y="3429000"/>
            <a:ext cx="4143070" cy="17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Vendible cafe = new Producto("Café", 4500);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Vendible croissant = new Producto("Croissant", 3200);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Vendible muffin = new Producto("Muffin", 3600);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Combo combo = new Combo("Desayuno");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combo.agregarVendible(cafe, 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combo.agregarVendible(croissant, 2);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combo.agregarVendible(muffin, 1);</a:t>
            </a:r>
            <a:endParaRPr lang="en-US" sz="1000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FD4343A9-E492-3F9E-3973-55F3DE725780}"/>
              </a:ext>
            </a:extLst>
          </p:cNvPr>
          <p:cNvSpPr/>
          <p:nvPr/>
        </p:nvSpPr>
        <p:spPr>
          <a:xfrm>
            <a:off x="4869180" y="3429000"/>
            <a:ext cx="3864685" cy="1718578"/>
          </a:xfrm>
          <a:prstGeom prst="roundRect">
            <a:avLst>
              <a:gd name="adj" fmla="val 2857"/>
            </a:avLst>
          </a:prstGeom>
          <a:solidFill>
            <a:srgbClr val="2D1717"/>
          </a:solidFill>
          <a:ln w="12700">
            <a:solidFill>
              <a:srgbClr val="F08A8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92B04E4E-3FF0-11E7-AB7A-7FF35F39AA44}"/>
              </a:ext>
            </a:extLst>
          </p:cNvPr>
          <p:cNvSpPr/>
          <p:nvPr/>
        </p:nvSpPr>
        <p:spPr>
          <a:xfrm>
            <a:off x="5059839" y="3513397"/>
            <a:ext cx="3597130" cy="19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A8A"/>
                </a:solidFill>
              </a:rPr>
              <a:t>Problemas</a:t>
            </a:r>
            <a:endParaRPr lang="en-US" sz="1200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EE9E7981-515C-6C56-0603-394D3FC1B1B3}"/>
              </a:ext>
            </a:extLst>
          </p:cNvPr>
          <p:cNvSpPr/>
          <p:nvPr/>
        </p:nvSpPr>
        <p:spPr>
          <a:xfrm>
            <a:off x="5059839" y="3796739"/>
            <a:ext cx="3597130" cy="120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7EFE7"/>
                </a:solidFill>
              </a:rPr>
              <a:t>El Service conoce demasiadas clases concretas.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7EFE7"/>
                </a:solidFill>
              </a:rPr>
              <a:t>Si agrego un menú nuevo, crece la lógica de creación.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7EFE7"/>
                </a:solidFill>
              </a:rPr>
              <a:t>Se puede mezclar por error una familia con otra.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7EFE7"/>
                </a:solidFill>
              </a:rPr>
              <a:t>Baja el nivel de cohesión del caso de uso.</a:t>
            </a:r>
            <a:endParaRPr lang="en-US" sz="1200" dirty="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A2C34E07-EE87-9DD6-F38F-DB219237419A}"/>
              </a:ext>
            </a:extLst>
          </p:cNvPr>
          <p:cNvSpPr/>
          <p:nvPr/>
        </p:nvSpPr>
        <p:spPr>
          <a:xfrm>
            <a:off x="864382" y="5444715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2F221B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6216C3B5-EB12-548C-033B-F81B76E147D6}"/>
              </a:ext>
            </a:extLst>
          </p:cNvPr>
          <p:cNvSpPr/>
          <p:nvPr/>
        </p:nvSpPr>
        <p:spPr>
          <a:xfrm>
            <a:off x="1028974" y="5563587"/>
            <a:ext cx="4558014" cy="188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Idea</a:t>
            </a:r>
            <a:endParaRPr lang="en-US" sz="120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60996E0B-4C78-FB74-DEEE-A6DE9CEA8CD5}"/>
              </a:ext>
            </a:extLst>
          </p:cNvPr>
          <p:cNvSpPr/>
          <p:nvPr/>
        </p:nvSpPr>
        <p:spPr>
          <a:xfrm>
            <a:off x="1028974" y="5883627"/>
            <a:ext cx="4739549" cy="1884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7EFE7"/>
                </a:solidFill>
              </a:rPr>
              <a:t>Sacar la creación de familias de objetos a factories especializadas.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55214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ED2EE-205A-38F4-F705-223EBA44C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69" y="927098"/>
            <a:ext cx="6691277" cy="709865"/>
          </a:xfrm>
        </p:spPr>
        <p:txBody>
          <a:bodyPr/>
          <a:lstStyle/>
          <a:p>
            <a:r>
              <a:rPr lang="es-AR" dirty="0"/>
              <a:t>Qué problema resuelve Abstract Factory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553110-6D49-E797-9CE8-1DF4DF1D4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620712" cy="764988"/>
          </a:xfrm>
        </p:spPr>
        <p:txBody>
          <a:bodyPr/>
          <a:lstStyle/>
          <a:p>
            <a:r>
              <a:rPr lang="es-AR" dirty="0"/>
              <a:t>Permite crear familias de objetos relacionados sin depender de clases concretas.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49AA0CD3-3A5C-E506-0B5B-FFBBF5499AC8}"/>
              </a:ext>
            </a:extLst>
          </p:cNvPr>
          <p:cNvSpPr/>
          <p:nvPr/>
        </p:nvSpPr>
        <p:spPr>
          <a:xfrm>
            <a:off x="337520" y="3689337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B555ADE5-CB83-E52B-CC4D-A60EBBA58C6F}"/>
              </a:ext>
            </a:extLst>
          </p:cNvPr>
          <p:cNvSpPr/>
          <p:nvPr/>
        </p:nvSpPr>
        <p:spPr>
          <a:xfrm>
            <a:off x="502112" y="3808209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Cliente</a:t>
            </a:r>
            <a:endParaRPr lang="en-US" sz="120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EEF4DE96-5566-8C43-D85A-4D6921319BD6}"/>
              </a:ext>
            </a:extLst>
          </p:cNvPr>
          <p:cNvSpPr/>
          <p:nvPr/>
        </p:nvSpPr>
        <p:spPr>
          <a:xfrm>
            <a:off x="502112" y="4128249"/>
            <a:ext cx="18196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MagicCafeService</a:t>
            </a:r>
            <a:endParaRPr lang="en-US" sz="14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3D4BB0E9-4628-8E70-5C1A-B430B2952507}"/>
              </a:ext>
            </a:extLst>
          </p:cNvPr>
          <p:cNvSpPr/>
          <p:nvPr/>
        </p:nvSpPr>
        <p:spPr>
          <a:xfrm>
            <a:off x="2578339" y="4199248"/>
            <a:ext cx="380014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0ADE2283-46ED-C779-AA4B-760C5FF9C683}"/>
              </a:ext>
            </a:extLst>
          </p:cNvPr>
          <p:cNvSpPr/>
          <p:nvPr/>
        </p:nvSpPr>
        <p:spPr>
          <a:xfrm>
            <a:off x="3050332" y="3373061"/>
            <a:ext cx="2288150" cy="1600200"/>
          </a:xfrm>
          <a:prstGeom prst="roundRect">
            <a:avLst>
              <a:gd name="adj" fmla="val 4571"/>
            </a:avLst>
          </a:prstGeom>
          <a:solidFill>
            <a:srgbClr val="2D2119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ECB428B5-4CD7-B00D-5540-542D3D221FFB}"/>
              </a:ext>
            </a:extLst>
          </p:cNvPr>
          <p:cNvSpPr/>
          <p:nvPr/>
        </p:nvSpPr>
        <p:spPr>
          <a:xfrm>
            <a:off x="3214924" y="3491933"/>
            <a:ext cx="198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Abstract Factory</a:t>
            </a:r>
            <a:endParaRPr lang="en-US" sz="120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B91714A9-2F73-1167-5968-36E7563B8E14}"/>
              </a:ext>
            </a:extLst>
          </p:cNvPr>
          <p:cNvSpPr/>
          <p:nvPr/>
        </p:nvSpPr>
        <p:spPr>
          <a:xfrm>
            <a:off x="3214924" y="3811973"/>
            <a:ext cx="198861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MenuMagicoFactory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crearBebida()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crearAcompanamiento()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crearPostre()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crearCombo()</a:t>
            </a:r>
            <a:endParaRPr lang="en-US" sz="1200" dirty="0"/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23BA0EFB-446D-32F5-F98D-BA157FA5D492}"/>
              </a:ext>
            </a:extLst>
          </p:cNvPr>
          <p:cNvSpPr/>
          <p:nvPr/>
        </p:nvSpPr>
        <p:spPr>
          <a:xfrm>
            <a:off x="5430461" y="4222914"/>
            <a:ext cx="620749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 sz="1200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2850E62E-698F-C610-A874-9AB655ECBD79}"/>
              </a:ext>
            </a:extLst>
          </p:cNvPr>
          <p:cNvSpPr/>
          <p:nvPr/>
        </p:nvSpPr>
        <p:spPr>
          <a:xfrm flipV="1">
            <a:off x="5379404" y="3373061"/>
            <a:ext cx="712728" cy="797677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 sz="1200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AA51B99D-61A2-70A6-A949-9DD448839CC3}"/>
              </a:ext>
            </a:extLst>
          </p:cNvPr>
          <p:cNvSpPr/>
          <p:nvPr/>
        </p:nvSpPr>
        <p:spPr>
          <a:xfrm>
            <a:off x="5379404" y="4276838"/>
            <a:ext cx="712728" cy="79767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 sz="1200"/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923BCFF7-97D8-12E0-30AC-0CAD16276819}"/>
              </a:ext>
            </a:extLst>
          </p:cNvPr>
          <p:cNvSpPr/>
          <p:nvPr/>
        </p:nvSpPr>
        <p:spPr>
          <a:xfrm>
            <a:off x="6227080" y="3016444"/>
            <a:ext cx="2258014" cy="658368"/>
          </a:xfrm>
          <a:prstGeom prst="roundRect">
            <a:avLst>
              <a:gd name="adj" fmla="val 11111"/>
            </a:avLst>
          </a:prstGeom>
          <a:solidFill>
            <a:srgbClr val="1D261B"/>
          </a:solidFill>
          <a:ln w="12700">
            <a:solidFill>
              <a:srgbClr val="7BC67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CEFF7B85-3793-997F-85E3-8450F640A6F7}"/>
              </a:ext>
            </a:extLst>
          </p:cNvPr>
          <p:cNvSpPr/>
          <p:nvPr/>
        </p:nvSpPr>
        <p:spPr>
          <a:xfrm>
            <a:off x="6391672" y="3135316"/>
            <a:ext cx="2003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C67B"/>
                </a:solidFill>
              </a:rPr>
              <a:t>DesayunoFactory</a:t>
            </a:r>
            <a:endParaRPr lang="en-US" sz="1200" dirty="0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3BF7404F-05C0-5600-7387-24C9827BE326}"/>
              </a:ext>
            </a:extLst>
          </p:cNvPr>
          <p:cNvSpPr/>
          <p:nvPr/>
        </p:nvSpPr>
        <p:spPr>
          <a:xfrm>
            <a:off x="6391672" y="3455356"/>
            <a:ext cx="2003987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Café + Croissant + Muffin</a:t>
            </a:r>
            <a:endParaRPr lang="en-US" sz="1200" dirty="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E6B13600-6B85-E984-6F38-1D87A88D5DBF}"/>
              </a:ext>
            </a:extLst>
          </p:cNvPr>
          <p:cNvSpPr/>
          <p:nvPr/>
        </p:nvSpPr>
        <p:spPr>
          <a:xfrm>
            <a:off x="6227080" y="3930844"/>
            <a:ext cx="2258014" cy="658368"/>
          </a:xfrm>
          <a:prstGeom prst="roundRect">
            <a:avLst>
              <a:gd name="adj" fmla="val 11111"/>
            </a:avLst>
          </a:prstGeom>
          <a:solidFill>
            <a:srgbClr val="22223A"/>
          </a:solidFill>
          <a:ln w="12700">
            <a:solidFill>
              <a:srgbClr val="90CAF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223954C2-964B-D48F-F1B2-6ED3751DCFDF}"/>
              </a:ext>
            </a:extLst>
          </p:cNvPr>
          <p:cNvSpPr/>
          <p:nvPr/>
        </p:nvSpPr>
        <p:spPr>
          <a:xfrm>
            <a:off x="6391672" y="4049716"/>
            <a:ext cx="2003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</a:rPr>
              <a:t>MeriendaFactory</a:t>
            </a:r>
            <a:endParaRPr lang="en-US" sz="1200" dirty="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CE7BC26A-143A-C2D1-6028-4CD098F73B44}"/>
              </a:ext>
            </a:extLst>
          </p:cNvPr>
          <p:cNvSpPr/>
          <p:nvPr/>
        </p:nvSpPr>
        <p:spPr>
          <a:xfrm>
            <a:off x="6391672" y="4369756"/>
            <a:ext cx="2003987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Té + Cookie + Torta</a:t>
            </a:r>
            <a:endParaRPr lang="en-US" sz="1200" dirty="0"/>
          </a:p>
        </p:txBody>
      </p:sp>
      <p:sp>
        <p:nvSpPr>
          <p:cNvPr id="20" name="Shape 23">
            <a:extLst>
              <a:ext uri="{FF2B5EF4-FFF2-40B4-BE49-F238E27FC236}">
                <a16:creationId xmlns:a16="http://schemas.microsoft.com/office/drawing/2014/main" id="{A1463974-B4DE-2E83-DEAF-346A08B6D5F0}"/>
              </a:ext>
            </a:extLst>
          </p:cNvPr>
          <p:cNvSpPr/>
          <p:nvPr/>
        </p:nvSpPr>
        <p:spPr>
          <a:xfrm>
            <a:off x="6227080" y="4845244"/>
            <a:ext cx="2258014" cy="658368"/>
          </a:xfrm>
          <a:prstGeom prst="roundRect">
            <a:avLst>
              <a:gd name="adj" fmla="val 11111"/>
            </a:avLst>
          </a:prstGeom>
          <a:solidFill>
            <a:srgbClr val="2B1F2B"/>
          </a:solidFill>
          <a:ln w="12700">
            <a:solidFill>
              <a:srgbClr val="C8A2C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9E140697-AE38-705D-4167-C0B24FA60B1B}"/>
              </a:ext>
            </a:extLst>
          </p:cNvPr>
          <p:cNvSpPr/>
          <p:nvPr/>
        </p:nvSpPr>
        <p:spPr>
          <a:xfrm>
            <a:off x="6391672" y="4964116"/>
            <a:ext cx="2003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A2C8"/>
                </a:solidFill>
              </a:rPr>
              <a:t>NocturnoFactory</a:t>
            </a:r>
            <a:endParaRPr lang="en-US" sz="1200" dirty="0"/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637A7251-C8A0-B466-937A-F1E8A9CB599B}"/>
              </a:ext>
            </a:extLst>
          </p:cNvPr>
          <p:cNvSpPr/>
          <p:nvPr/>
        </p:nvSpPr>
        <p:spPr>
          <a:xfrm>
            <a:off x="6391672" y="5284156"/>
            <a:ext cx="2003987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Chocolate + Bagel + Flan</a:t>
            </a:r>
            <a:endParaRPr lang="en-US" sz="1200" dirty="0"/>
          </a:p>
        </p:txBody>
      </p:sp>
      <p:sp>
        <p:nvSpPr>
          <p:cNvPr id="23" name="Shape 26">
            <a:extLst>
              <a:ext uri="{FF2B5EF4-FFF2-40B4-BE49-F238E27FC236}">
                <a16:creationId xmlns:a16="http://schemas.microsoft.com/office/drawing/2014/main" id="{308194DF-97FF-D1C9-CDDA-9401FCFF8E00}"/>
              </a:ext>
            </a:extLst>
          </p:cNvPr>
          <p:cNvSpPr/>
          <p:nvPr/>
        </p:nvSpPr>
        <p:spPr>
          <a:xfrm>
            <a:off x="515560" y="5762602"/>
            <a:ext cx="8043493" cy="839903"/>
          </a:xfrm>
          <a:prstGeom prst="roundRect">
            <a:avLst>
              <a:gd name="adj" fmla="val 9412"/>
            </a:avLst>
          </a:prstGeom>
          <a:solidFill>
            <a:srgbClr val="2F221B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7">
            <a:extLst>
              <a:ext uri="{FF2B5EF4-FFF2-40B4-BE49-F238E27FC236}">
                <a16:creationId xmlns:a16="http://schemas.microsoft.com/office/drawing/2014/main" id="{055923FE-5B09-616F-EF9F-35E7C0541D7A}"/>
              </a:ext>
            </a:extLst>
          </p:cNvPr>
          <p:cNvSpPr/>
          <p:nvPr/>
        </p:nvSpPr>
        <p:spPr>
          <a:xfrm>
            <a:off x="680151" y="5881475"/>
            <a:ext cx="77235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Idea clave</a:t>
            </a:r>
            <a:endParaRPr lang="en-US" sz="1200" dirty="0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B75E8F19-73D2-2041-7CD4-39392CC5F332}"/>
              </a:ext>
            </a:extLst>
          </p:cNvPr>
          <p:cNvSpPr/>
          <p:nvPr/>
        </p:nvSpPr>
        <p:spPr>
          <a:xfrm>
            <a:off x="680151" y="6201515"/>
            <a:ext cx="7723531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El cliente pide “dame una familia de menú”. La factory concreta decide qué productos la componen.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50524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8CBF0-C364-32E0-C4CD-0A66999EB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Antes y después del Abstract Factory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CE1959-93E7-BF1A-C9A6-ECD3A6BFF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358494" cy="798606"/>
          </a:xfrm>
        </p:spPr>
        <p:txBody>
          <a:bodyPr/>
          <a:lstStyle/>
          <a:p>
            <a:r>
              <a:rPr lang="es-AR" dirty="0"/>
              <a:t>La mejora es mover la responsabilidad de creación fuera del caso de uso.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32600C62-10CF-97AA-3019-0B6567927B0D}"/>
              </a:ext>
            </a:extLst>
          </p:cNvPr>
          <p:cNvSpPr/>
          <p:nvPr/>
        </p:nvSpPr>
        <p:spPr>
          <a:xfrm>
            <a:off x="194983" y="3232892"/>
            <a:ext cx="4202205" cy="2760682"/>
          </a:xfrm>
          <a:prstGeom prst="roundRect">
            <a:avLst>
              <a:gd name="adj" fmla="val 2025"/>
            </a:avLst>
          </a:prstGeom>
          <a:solidFill>
            <a:srgbClr val="2A1818"/>
          </a:solidFill>
          <a:ln w="12700">
            <a:solidFill>
              <a:srgbClr val="F08A8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83A891B6-D54A-0476-5D12-5FAAE7199825}"/>
              </a:ext>
            </a:extLst>
          </p:cNvPr>
          <p:cNvSpPr/>
          <p:nvPr/>
        </p:nvSpPr>
        <p:spPr>
          <a:xfrm>
            <a:off x="359576" y="3351764"/>
            <a:ext cx="3929630" cy="17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A8A"/>
                </a:solidFill>
              </a:rPr>
              <a:t>ANTES</a:t>
            </a:r>
            <a:endParaRPr lang="en-US" sz="120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6D9E26F7-6771-98B1-4DDC-B546F2494766}"/>
              </a:ext>
            </a:extLst>
          </p:cNvPr>
          <p:cNvSpPr/>
          <p:nvPr/>
        </p:nvSpPr>
        <p:spPr>
          <a:xfrm>
            <a:off x="359576" y="3671804"/>
            <a:ext cx="3929630" cy="23413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7EFE7"/>
                </a:solidFill>
              </a:rPr>
              <a:t>MagicCafeService instancia productos y combos directamente.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EFE7"/>
                </a:solidFill>
              </a:rPr>
              <a:t>new Producto("Café")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EFE7"/>
                </a:solidFill>
              </a:rPr>
              <a:t>new Producto("Croissant")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EFE7"/>
                </a:solidFill>
              </a:rPr>
              <a:t>new Combo("Desayuno")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7EFE7"/>
                </a:solidFill>
              </a:rPr>
              <a:t>Problema</a:t>
            </a:r>
            <a:r>
              <a:rPr lang="en-US" sz="1500" dirty="0">
                <a:solidFill>
                  <a:srgbClr val="F7EFE7"/>
                </a:solidFill>
              </a:rPr>
              <a:t>: el caso de uso se llena de detalles de construcción.</a:t>
            </a:r>
            <a:endParaRPr lang="en-US" sz="15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6BC0A00B-ED6C-E455-78D7-E481E9F29446}"/>
              </a:ext>
            </a:extLst>
          </p:cNvPr>
          <p:cNvSpPr/>
          <p:nvPr/>
        </p:nvSpPr>
        <p:spPr>
          <a:xfrm>
            <a:off x="4726642" y="3232892"/>
            <a:ext cx="4202205" cy="2760682"/>
          </a:xfrm>
          <a:prstGeom prst="roundRect">
            <a:avLst>
              <a:gd name="adj" fmla="val 2025"/>
            </a:avLst>
          </a:prstGeom>
          <a:solidFill>
            <a:srgbClr val="182618"/>
          </a:solidFill>
          <a:ln w="12700">
            <a:solidFill>
              <a:srgbClr val="7BC67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757F6CFF-615A-26F3-0848-267FC15DC4CF}"/>
              </a:ext>
            </a:extLst>
          </p:cNvPr>
          <p:cNvSpPr/>
          <p:nvPr/>
        </p:nvSpPr>
        <p:spPr>
          <a:xfrm>
            <a:off x="4891235" y="3351764"/>
            <a:ext cx="3929630" cy="17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C67B"/>
                </a:solidFill>
              </a:rPr>
              <a:t>DESPUÉS</a:t>
            </a:r>
            <a:endParaRPr lang="en-US" sz="12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B61C442B-1B34-0E1F-94AE-CE752FC059C9}"/>
              </a:ext>
            </a:extLst>
          </p:cNvPr>
          <p:cNvSpPr/>
          <p:nvPr/>
        </p:nvSpPr>
        <p:spPr>
          <a:xfrm>
            <a:off x="4891235" y="3671804"/>
            <a:ext cx="3929630" cy="23413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7EFE7"/>
                </a:solidFill>
              </a:rPr>
              <a:t>MagicCafeService recibe una abstracción: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EFE7"/>
                </a:solidFill>
              </a:rPr>
              <a:t>MenuMagicoFactory factory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EFE7"/>
                </a:solidFill>
              </a:rPr>
              <a:t>factory.crearBebida()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EFE7"/>
                </a:solidFill>
              </a:rPr>
              <a:t>factory.crearCombo(...)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7EFE7"/>
                </a:solidFill>
              </a:rPr>
              <a:t>Beneficio</a:t>
            </a:r>
            <a:r>
              <a:rPr lang="en-US" sz="1500" dirty="0">
                <a:solidFill>
                  <a:srgbClr val="F7EFE7"/>
                </a:solidFill>
              </a:rPr>
              <a:t>: agregar una familia nueva no rompe el flujo principal.</a:t>
            </a:r>
            <a:endParaRPr lang="en-US" sz="1500" dirty="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E8944B9C-9D6D-19BC-BFF4-9549A0316EF4}"/>
              </a:ext>
            </a:extLst>
          </p:cNvPr>
          <p:cNvSpPr/>
          <p:nvPr/>
        </p:nvSpPr>
        <p:spPr>
          <a:xfrm>
            <a:off x="3676589" y="6232711"/>
            <a:ext cx="1790821" cy="384048"/>
          </a:xfrm>
          <a:prstGeom prst="roundRect">
            <a:avLst>
              <a:gd name="adj" fmla="val 23810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C1F34CB4-A49C-6ECB-C769-E2BDF3C24995}"/>
              </a:ext>
            </a:extLst>
          </p:cNvPr>
          <p:cNvSpPr/>
          <p:nvPr/>
        </p:nvSpPr>
        <p:spPr>
          <a:xfrm>
            <a:off x="3749741" y="6324151"/>
            <a:ext cx="16634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20E"/>
                </a:solidFill>
              </a:rPr>
              <a:t>OCP + BAJO ACOPLAMIENTO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50692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AABD3-D6A8-4FD5-0ED1-6E3359C0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Piezas en </a:t>
            </a:r>
            <a:r>
              <a:rPr lang="es-AR" dirty="0" err="1"/>
              <a:t>Clean</a:t>
            </a:r>
            <a:r>
              <a:rPr lang="es-AR" dirty="0"/>
              <a:t> </a:t>
            </a:r>
            <a:r>
              <a:rPr lang="es-AR" dirty="0" err="1"/>
              <a:t>Architecture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9B49A5-F19C-A24E-78AA-DA6A0DAE4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60200" cy="709865"/>
          </a:xfrm>
        </p:spPr>
        <p:txBody>
          <a:bodyPr/>
          <a:lstStyle/>
          <a:p>
            <a:r>
              <a:rPr lang="es-AR" dirty="0"/>
              <a:t>El dominio define el patrón; la aplicación decide cuándo usarlo.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7708C0D7-82BA-BFED-F07F-F7FDB6742AA7}"/>
              </a:ext>
            </a:extLst>
          </p:cNvPr>
          <p:cNvSpPr/>
          <p:nvPr/>
        </p:nvSpPr>
        <p:spPr>
          <a:xfrm>
            <a:off x="217841" y="3447029"/>
            <a:ext cx="1906794" cy="1874520"/>
          </a:xfrm>
          <a:prstGeom prst="roundRect">
            <a:avLst>
              <a:gd name="adj" fmla="val 3902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AD6C3F33-D1C4-C8E0-9CA7-511C4FB70184}"/>
              </a:ext>
            </a:extLst>
          </p:cNvPr>
          <p:cNvSpPr/>
          <p:nvPr/>
        </p:nvSpPr>
        <p:spPr>
          <a:xfrm>
            <a:off x="382433" y="3565901"/>
            <a:ext cx="163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DOMAIN</a:t>
            </a:r>
            <a:endParaRPr lang="en-US" sz="120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93F119C6-B38C-F76E-2F9D-3CA3F3818235}"/>
              </a:ext>
            </a:extLst>
          </p:cNvPr>
          <p:cNvSpPr/>
          <p:nvPr/>
        </p:nvSpPr>
        <p:spPr>
          <a:xfrm>
            <a:off x="382433" y="3885941"/>
            <a:ext cx="16376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Producto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Combo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MenuMagicoFactory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DesayunoFactory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MeriendaFactory</a:t>
            </a:r>
            <a:endParaRPr lang="en-US" sz="12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BCF3D5EC-8329-C269-D0A8-8FCF7EC73340}"/>
              </a:ext>
            </a:extLst>
          </p:cNvPr>
          <p:cNvSpPr/>
          <p:nvPr/>
        </p:nvSpPr>
        <p:spPr>
          <a:xfrm>
            <a:off x="2552092" y="3447029"/>
            <a:ext cx="1991653" cy="1874520"/>
          </a:xfrm>
          <a:prstGeom prst="roundRect">
            <a:avLst>
              <a:gd name="adj" fmla="val 3902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165D0317-4D0D-96AF-09A4-8EEEBC3B5DF8}"/>
              </a:ext>
            </a:extLst>
          </p:cNvPr>
          <p:cNvSpPr/>
          <p:nvPr/>
        </p:nvSpPr>
        <p:spPr>
          <a:xfrm>
            <a:off x="2716684" y="3565901"/>
            <a:ext cx="1710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APPLICATION</a:t>
            </a:r>
            <a:endParaRPr lang="en-US" sz="12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7ADD883E-85E2-3AFC-2FB5-1F5459CC9D0A}"/>
              </a:ext>
            </a:extLst>
          </p:cNvPr>
          <p:cNvSpPr/>
          <p:nvPr/>
        </p:nvSpPr>
        <p:spPr>
          <a:xfrm>
            <a:off x="2716684" y="3885941"/>
            <a:ext cx="1710479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MagicCafeService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inicializarDatosBase()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crearFamiliaDeMenu()</a:t>
            </a:r>
            <a:endParaRPr lang="en-US" sz="1200" dirty="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06F502DA-2007-235E-22C3-0482B08C05A0}"/>
              </a:ext>
            </a:extLst>
          </p:cNvPr>
          <p:cNvSpPr/>
          <p:nvPr/>
        </p:nvSpPr>
        <p:spPr>
          <a:xfrm>
            <a:off x="4966806" y="3447029"/>
            <a:ext cx="1765347" cy="1874520"/>
          </a:xfrm>
          <a:prstGeom prst="roundRect">
            <a:avLst>
              <a:gd name="adj" fmla="val 3902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34402BB1-657F-DF15-4EE5-0D0775E993BB}"/>
              </a:ext>
            </a:extLst>
          </p:cNvPr>
          <p:cNvSpPr/>
          <p:nvPr/>
        </p:nvSpPr>
        <p:spPr>
          <a:xfrm>
            <a:off x="5131398" y="3565901"/>
            <a:ext cx="1516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FAC21586-96DA-581B-4D9A-44921D649F19}"/>
              </a:ext>
            </a:extLst>
          </p:cNvPr>
          <p:cNvSpPr/>
          <p:nvPr/>
        </p:nvSpPr>
        <p:spPr>
          <a:xfrm>
            <a:off x="5131398" y="3885941"/>
            <a:ext cx="151612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JPA Repositories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Persistence.xml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EntityManager</a:t>
            </a:r>
            <a:endParaRPr lang="en-US" sz="1200" dirty="0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A4B46DCF-9124-4C1A-848D-5984E115656F}"/>
              </a:ext>
            </a:extLst>
          </p:cNvPr>
          <p:cNvSpPr/>
          <p:nvPr/>
        </p:nvSpPr>
        <p:spPr>
          <a:xfrm>
            <a:off x="7155214" y="3447029"/>
            <a:ext cx="1765347" cy="1874520"/>
          </a:xfrm>
          <a:prstGeom prst="roundRect">
            <a:avLst>
              <a:gd name="adj" fmla="val 3902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B742BBD9-C2D1-E688-FFBF-9D7D724ED003}"/>
              </a:ext>
            </a:extLst>
          </p:cNvPr>
          <p:cNvSpPr/>
          <p:nvPr/>
        </p:nvSpPr>
        <p:spPr>
          <a:xfrm>
            <a:off x="7319806" y="3565901"/>
            <a:ext cx="1516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PRESENTATION</a:t>
            </a:r>
            <a:endParaRPr lang="en-US" sz="1200" dirty="0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9FAD1F6F-CE3E-0AF0-D227-E741F71A511E}"/>
              </a:ext>
            </a:extLst>
          </p:cNvPr>
          <p:cNvSpPr/>
          <p:nvPr/>
        </p:nvSpPr>
        <p:spPr>
          <a:xfrm>
            <a:off x="7319806" y="3885941"/>
            <a:ext cx="151612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Controller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Swing UI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Requests del usuario</a:t>
            </a:r>
            <a:endParaRPr lang="en-US" sz="1200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0C8A0D2F-9585-F88C-6FFC-89592B6300AE}"/>
              </a:ext>
            </a:extLst>
          </p:cNvPr>
          <p:cNvSpPr/>
          <p:nvPr/>
        </p:nvSpPr>
        <p:spPr>
          <a:xfrm>
            <a:off x="2163394" y="4424899"/>
            <a:ext cx="336493" cy="0"/>
          </a:xfrm>
          <a:prstGeom prst="line">
            <a:avLst/>
          </a:prstGeom>
          <a:noFill/>
          <a:ln w="12700">
            <a:solidFill>
              <a:srgbClr val="D6C6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 sz="120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A80ECC75-AD2F-3C5C-C44E-023290B7AEF1}"/>
              </a:ext>
            </a:extLst>
          </p:cNvPr>
          <p:cNvSpPr/>
          <p:nvPr/>
        </p:nvSpPr>
        <p:spPr>
          <a:xfrm>
            <a:off x="4587029" y="4507464"/>
            <a:ext cx="336493" cy="0"/>
          </a:xfrm>
          <a:prstGeom prst="line">
            <a:avLst/>
          </a:prstGeom>
          <a:noFill/>
          <a:ln w="12700">
            <a:solidFill>
              <a:srgbClr val="D6C6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 sz="12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614EC5AA-334C-370D-A8AD-0565B200D0D3}"/>
              </a:ext>
            </a:extLst>
          </p:cNvPr>
          <p:cNvSpPr/>
          <p:nvPr/>
        </p:nvSpPr>
        <p:spPr>
          <a:xfrm>
            <a:off x="6795606" y="4507464"/>
            <a:ext cx="311532" cy="0"/>
          </a:xfrm>
          <a:prstGeom prst="line">
            <a:avLst/>
          </a:prstGeom>
          <a:noFill/>
          <a:ln w="12700">
            <a:solidFill>
              <a:srgbClr val="D6C6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 sz="1200"/>
          </a:p>
        </p:txBody>
      </p:sp>
    </p:spTree>
    <p:extLst>
      <p:ext uri="{BB962C8B-B14F-4D97-AF65-F5344CB8AC3E}">
        <p14:creationId xmlns:p14="http://schemas.microsoft.com/office/powerpoint/2010/main" val="1271935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9EB1C-BFE0-ADC8-961C-CA56D19FE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852642" cy="709865"/>
          </a:xfrm>
        </p:spPr>
        <p:txBody>
          <a:bodyPr/>
          <a:lstStyle/>
          <a:p>
            <a:r>
              <a:rPr lang="es-AR" dirty="0"/>
              <a:t>Paso 1: crear el contrato de la familia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7FE95C-83B1-CCFE-ADAF-262566714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93818" cy="778435"/>
          </a:xfrm>
        </p:spPr>
        <p:txBody>
          <a:bodyPr/>
          <a:lstStyle/>
          <a:p>
            <a:r>
              <a:rPr lang="es-AR" dirty="0"/>
              <a:t>La interfaz representa qué objetos debe saber crear una familia de menú.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D6C7691D-FFBD-D8AC-A058-14033E872C42}"/>
              </a:ext>
            </a:extLst>
          </p:cNvPr>
          <p:cNvSpPr/>
          <p:nvPr/>
        </p:nvSpPr>
        <p:spPr>
          <a:xfrm>
            <a:off x="1045100" y="3324862"/>
            <a:ext cx="2534770" cy="2377440"/>
          </a:xfrm>
          <a:prstGeom prst="roundRect">
            <a:avLst>
              <a:gd name="adj" fmla="val 3077"/>
            </a:avLst>
          </a:prstGeom>
          <a:solidFill>
            <a:srgbClr val="2D2119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5F16A7D3-DCC8-BBA3-995A-4F017912D76D}"/>
              </a:ext>
            </a:extLst>
          </p:cNvPr>
          <p:cNvSpPr/>
          <p:nvPr/>
        </p:nvSpPr>
        <p:spPr>
          <a:xfrm>
            <a:off x="1209692" y="3443734"/>
            <a:ext cx="2235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MenuMagicoFactory</a:t>
            </a:r>
            <a:endParaRPr lang="en-US" sz="120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DC99ACB0-2F80-33DB-A1DF-4A0CBF7CE57A}"/>
              </a:ext>
            </a:extLst>
          </p:cNvPr>
          <p:cNvSpPr/>
          <p:nvPr/>
        </p:nvSpPr>
        <p:spPr>
          <a:xfrm>
            <a:off x="1209692" y="3763774"/>
            <a:ext cx="2235584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crearBebida()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crearAcompanamiento()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crearPostre()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crearCombo(...)</a:t>
            </a:r>
            <a:endParaRPr lang="en-US" sz="14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59023CB0-2139-CB8D-2992-A35D1E0A7BB5}"/>
              </a:ext>
            </a:extLst>
          </p:cNvPr>
          <p:cNvSpPr/>
          <p:nvPr/>
        </p:nvSpPr>
        <p:spPr>
          <a:xfrm>
            <a:off x="3842089" y="3324862"/>
            <a:ext cx="4242547" cy="2377440"/>
          </a:xfrm>
          <a:prstGeom prst="roundRect">
            <a:avLst>
              <a:gd name="adj" fmla="val 1639"/>
            </a:avLst>
          </a:prstGeom>
          <a:solidFill>
            <a:srgbClr val="111111"/>
          </a:solidFill>
          <a:ln w="12700">
            <a:solidFill>
              <a:srgbClr val="4B3A3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AFD1AD22-8E93-6A96-CEFB-5A168A9C7DE4}"/>
              </a:ext>
            </a:extLst>
          </p:cNvPr>
          <p:cNvSpPr/>
          <p:nvPr/>
        </p:nvSpPr>
        <p:spPr>
          <a:xfrm>
            <a:off x="3988393" y="3471166"/>
            <a:ext cx="3894537" cy="21280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MenuMagicoFactory {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Producto crearBebida();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Producto crearAcompanamiento();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Producto crearPostre();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Combo crearCombo(Vendible bebida,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Vendible acompanamiento,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Vendible postre);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12729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FF10C-322D-B1DE-9D3A-CEAD5040E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913154" cy="709865"/>
          </a:xfrm>
        </p:spPr>
        <p:txBody>
          <a:bodyPr/>
          <a:lstStyle/>
          <a:p>
            <a:r>
              <a:rPr lang="es-AR" dirty="0"/>
              <a:t>Paso 2: agregar </a:t>
            </a:r>
            <a:r>
              <a:rPr lang="es-AR" dirty="0" err="1"/>
              <a:t>factories</a:t>
            </a:r>
            <a:r>
              <a:rPr lang="es-AR" dirty="0"/>
              <a:t> concretas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0DD171-8499-6FE5-1F8A-CBD524912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40030" cy="576729"/>
          </a:xfrm>
        </p:spPr>
        <p:txBody>
          <a:bodyPr/>
          <a:lstStyle/>
          <a:p>
            <a:r>
              <a:rPr lang="es-AR" dirty="0"/>
              <a:t>Cada </a:t>
            </a:r>
            <a:r>
              <a:rPr lang="es-AR" dirty="0" err="1"/>
              <a:t>factory</a:t>
            </a:r>
            <a:r>
              <a:rPr lang="es-AR" dirty="0"/>
              <a:t> concreta sabe armar una familia compatible.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7EDB8444-1BA0-CB98-2BAB-20FED3E43871}"/>
              </a:ext>
            </a:extLst>
          </p:cNvPr>
          <p:cNvSpPr/>
          <p:nvPr/>
        </p:nvSpPr>
        <p:spPr>
          <a:xfrm>
            <a:off x="313316" y="3065929"/>
            <a:ext cx="2825227" cy="2240280"/>
          </a:xfrm>
          <a:prstGeom prst="roundRect">
            <a:avLst>
              <a:gd name="adj" fmla="val 3265"/>
            </a:avLst>
          </a:prstGeom>
          <a:solidFill>
            <a:srgbClr val="1D261B"/>
          </a:solidFill>
          <a:ln w="12700">
            <a:solidFill>
              <a:srgbClr val="7BC67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701E27A5-6FBE-460F-0911-91F29CED0A45}"/>
              </a:ext>
            </a:extLst>
          </p:cNvPr>
          <p:cNvSpPr/>
          <p:nvPr/>
        </p:nvSpPr>
        <p:spPr>
          <a:xfrm>
            <a:off x="477908" y="3184801"/>
            <a:ext cx="2550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C67B"/>
                </a:solidFill>
              </a:rPr>
              <a:t>DesayunoMagicoFactory</a:t>
            </a:r>
            <a:endParaRPr lang="en-US" sz="140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2ABB7D7E-C38B-91B7-C60D-85021F6340B5}"/>
              </a:ext>
            </a:extLst>
          </p:cNvPr>
          <p:cNvSpPr/>
          <p:nvPr/>
        </p:nvSpPr>
        <p:spPr>
          <a:xfrm>
            <a:off x="477908" y="3504841"/>
            <a:ext cx="2550341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Bebida: Café Latte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Acompañamiento: Croissant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Postre: Muffin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Combo: Desayuno Mágico</a:t>
            </a:r>
            <a:endParaRPr lang="en-US" sz="14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F16EBD0C-7392-1F9C-9C6B-87A0FECB19AE}"/>
              </a:ext>
            </a:extLst>
          </p:cNvPr>
          <p:cNvSpPr/>
          <p:nvPr/>
        </p:nvSpPr>
        <p:spPr>
          <a:xfrm>
            <a:off x="3210059" y="3065929"/>
            <a:ext cx="2825227" cy="2240280"/>
          </a:xfrm>
          <a:prstGeom prst="roundRect">
            <a:avLst>
              <a:gd name="adj" fmla="val 3265"/>
            </a:avLst>
          </a:prstGeom>
          <a:solidFill>
            <a:srgbClr val="22223A"/>
          </a:solidFill>
          <a:ln w="12700">
            <a:solidFill>
              <a:srgbClr val="90CAF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E344F52D-6C1E-8B2B-EB3C-6D59FDFCC0FF}"/>
              </a:ext>
            </a:extLst>
          </p:cNvPr>
          <p:cNvSpPr/>
          <p:nvPr/>
        </p:nvSpPr>
        <p:spPr>
          <a:xfrm>
            <a:off x="3374651" y="3184801"/>
            <a:ext cx="2550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CAF9"/>
                </a:solidFill>
              </a:rPr>
              <a:t>MeriendaMagicaFactory</a:t>
            </a:r>
            <a:endParaRPr lang="en-US" sz="14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8083B17A-AF40-6C0F-EE08-727D27B7E7CB}"/>
              </a:ext>
            </a:extLst>
          </p:cNvPr>
          <p:cNvSpPr/>
          <p:nvPr/>
        </p:nvSpPr>
        <p:spPr>
          <a:xfrm>
            <a:off x="3374651" y="3504841"/>
            <a:ext cx="2550341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Bebida: Té encantado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Acompañamiento: Cookie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Postre: Torta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Combo: Merienda Mágica</a:t>
            </a:r>
            <a:endParaRPr lang="en-US" sz="1400" dirty="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F30A9256-1900-01C6-599E-86E30B84ED3E}"/>
              </a:ext>
            </a:extLst>
          </p:cNvPr>
          <p:cNvSpPr/>
          <p:nvPr/>
        </p:nvSpPr>
        <p:spPr>
          <a:xfrm>
            <a:off x="6106802" y="3065929"/>
            <a:ext cx="2825227" cy="2240280"/>
          </a:xfrm>
          <a:prstGeom prst="roundRect">
            <a:avLst>
              <a:gd name="adj" fmla="val 3265"/>
            </a:avLst>
          </a:prstGeom>
          <a:solidFill>
            <a:srgbClr val="2B1F2B"/>
          </a:solidFill>
          <a:ln w="12700">
            <a:solidFill>
              <a:srgbClr val="C8A2C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79C4B230-4BB4-EA1F-86F1-324CAAB3BF1C}"/>
              </a:ext>
            </a:extLst>
          </p:cNvPr>
          <p:cNvSpPr/>
          <p:nvPr/>
        </p:nvSpPr>
        <p:spPr>
          <a:xfrm>
            <a:off x="6271394" y="3184801"/>
            <a:ext cx="2550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A2C8"/>
                </a:solidFill>
              </a:rPr>
              <a:t>MenuNocturnoFactory</a:t>
            </a:r>
            <a:endParaRPr lang="en-US" sz="14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1902210E-7C9C-7CAF-1A90-6AF4FCA009D6}"/>
              </a:ext>
            </a:extLst>
          </p:cNvPr>
          <p:cNvSpPr/>
          <p:nvPr/>
        </p:nvSpPr>
        <p:spPr>
          <a:xfrm>
            <a:off x="6271394" y="3504841"/>
            <a:ext cx="2550341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Bebida: Chocolate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Acompañamiento: Bagel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Postre: Flan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Combo: Nocturno Premium</a:t>
            </a:r>
            <a:endParaRPr lang="en-US" sz="1400" dirty="0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1DCAC561-802D-659B-74B2-FCD54D878646}"/>
              </a:ext>
            </a:extLst>
          </p:cNvPr>
          <p:cNvSpPr/>
          <p:nvPr/>
        </p:nvSpPr>
        <p:spPr>
          <a:xfrm>
            <a:off x="864382" y="5473702"/>
            <a:ext cx="6004112" cy="91440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12700">
            <a:solidFill>
              <a:srgbClr val="4B3A3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C06D0663-6CC9-2191-742A-634E2E21A46C}"/>
              </a:ext>
            </a:extLst>
          </p:cNvPr>
          <p:cNvSpPr/>
          <p:nvPr/>
        </p:nvSpPr>
        <p:spPr>
          <a:xfrm>
            <a:off x="1010685" y="5620006"/>
            <a:ext cx="558550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MenuMagicoFactory factory = new DesayunoMagicoFactory();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Vendible bebida = factory.crearBebida();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Combo combo = factory.crearCombo(bebida, acompanamiento, postre);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24233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ECD06-D06A-7A5B-79FC-C984A092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987112" cy="709865"/>
          </a:xfrm>
        </p:spPr>
        <p:txBody>
          <a:bodyPr/>
          <a:lstStyle/>
          <a:p>
            <a:r>
              <a:rPr lang="es-AR" dirty="0"/>
              <a:t>Paso 3: Service usa la abstracción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1E18BD-DECC-670D-7450-08F5F0F88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459347" cy="845671"/>
          </a:xfrm>
        </p:spPr>
        <p:txBody>
          <a:bodyPr/>
          <a:lstStyle/>
          <a:p>
            <a:r>
              <a:rPr lang="es-AR" dirty="0"/>
              <a:t>El caso de uso queda corto, legible y desacoplado de menús concretos.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D6F13B94-4174-00BA-F792-3636FAAABDF6}"/>
              </a:ext>
            </a:extLst>
          </p:cNvPr>
          <p:cNvSpPr/>
          <p:nvPr/>
        </p:nvSpPr>
        <p:spPr>
          <a:xfrm>
            <a:off x="225910" y="3523130"/>
            <a:ext cx="5368066" cy="2511692"/>
          </a:xfrm>
          <a:prstGeom prst="roundRect">
            <a:avLst>
              <a:gd name="adj" fmla="val 1176"/>
            </a:avLst>
          </a:prstGeom>
          <a:solidFill>
            <a:srgbClr val="111111"/>
          </a:solidFill>
          <a:ln w="12700">
            <a:solidFill>
              <a:srgbClr val="4B3A3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7321AB2D-C7AF-D64F-A739-F20F4031623B}"/>
              </a:ext>
            </a:extLst>
          </p:cNvPr>
          <p:cNvSpPr/>
          <p:nvPr/>
        </p:nvSpPr>
        <p:spPr>
          <a:xfrm>
            <a:off x="372214" y="3669434"/>
            <a:ext cx="508729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crearFamiliaDeMenu(MenuMagicoFactory factory)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Vendible bebida = vendibleRepository.save(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factory.crearBebida());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Vendible acompanamiento = vendibleRepository.save(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factory.crearAcompanamiento());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Vendible postre = vendibleRepository.save(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factory.crearPostre());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Combo combo = factory.crearCombo(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bebida, acompanamiento, postre);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vendibleRepository.save(combo);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7CDE25D8-165C-F46F-CCA3-02AE39CFD87B}"/>
              </a:ext>
            </a:extLst>
          </p:cNvPr>
          <p:cNvSpPr/>
          <p:nvPr/>
        </p:nvSpPr>
        <p:spPr>
          <a:xfrm>
            <a:off x="5740280" y="3135548"/>
            <a:ext cx="3073326" cy="1051560"/>
          </a:xfrm>
          <a:prstGeom prst="roundRect">
            <a:avLst>
              <a:gd name="adj" fmla="val 6957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20C700C1-17C7-E6EB-A65B-EFCC9944A700}"/>
              </a:ext>
            </a:extLst>
          </p:cNvPr>
          <p:cNvSpPr/>
          <p:nvPr/>
        </p:nvSpPr>
        <p:spPr>
          <a:xfrm>
            <a:off x="5904871" y="3254420"/>
            <a:ext cx="28353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Bajo acoplamiento</a:t>
            </a:r>
            <a:endParaRPr lang="en-US" sz="1200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14065604-840A-C274-3B87-6EE42D562250}"/>
              </a:ext>
            </a:extLst>
          </p:cNvPr>
          <p:cNvSpPr/>
          <p:nvPr/>
        </p:nvSpPr>
        <p:spPr>
          <a:xfrm>
            <a:off x="5904871" y="3574460"/>
            <a:ext cx="2835391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El Service no sabe qué clase concreta representa cada producto.</a:t>
            </a:r>
            <a:endParaRPr lang="en-US" sz="1200" dirty="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40691D7E-07FA-A9D6-286C-8F0EEA5A5F5C}"/>
              </a:ext>
            </a:extLst>
          </p:cNvPr>
          <p:cNvSpPr/>
          <p:nvPr/>
        </p:nvSpPr>
        <p:spPr>
          <a:xfrm>
            <a:off x="5740280" y="4248457"/>
            <a:ext cx="3073326" cy="1051560"/>
          </a:xfrm>
          <a:prstGeom prst="roundRect">
            <a:avLst>
              <a:gd name="adj" fmla="val 6957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97E3A935-2907-C6E4-019E-F6F9AA057EB2}"/>
              </a:ext>
            </a:extLst>
          </p:cNvPr>
          <p:cNvSpPr/>
          <p:nvPr/>
        </p:nvSpPr>
        <p:spPr>
          <a:xfrm>
            <a:off x="5904871" y="4367329"/>
            <a:ext cx="28353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Alta cohesión</a:t>
            </a:r>
            <a:endParaRPr lang="en-US" sz="120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CD3ECBB8-A904-EC0B-D2EF-83FB31EA7534}"/>
              </a:ext>
            </a:extLst>
          </p:cNvPr>
          <p:cNvSpPr/>
          <p:nvPr/>
        </p:nvSpPr>
        <p:spPr>
          <a:xfrm>
            <a:off x="5904871" y="4687369"/>
            <a:ext cx="2835391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Cada factory se encarga solamente de crear su familia.</a:t>
            </a:r>
            <a:endParaRPr lang="en-US" sz="1200" dirty="0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537E0DC3-3F49-D73E-3897-154EBE6FAE17}"/>
              </a:ext>
            </a:extLst>
          </p:cNvPr>
          <p:cNvSpPr/>
          <p:nvPr/>
        </p:nvSpPr>
        <p:spPr>
          <a:xfrm>
            <a:off x="5740280" y="5361366"/>
            <a:ext cx="3073326" cy="1051560"/>
          </a:xfrm>
          <a:prstGeom prst="roundRect">
            <a:avLst>
              <a:gd name="adj" fmla="val 6957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C8E18793-DEA0-DA52-00B9-274AE1276604}"/>
              </a:ext>
            </a:extLst>
          </p:cNvPr>
          <p:cNvSpPr/>
          <p:nvPr/>
        </p:nvSpPr>
        <p:spPr>
          <a:xfrm>
            <a:off x="5904871" y="5480238"/>
            <a:ext cx="28353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Open/Closed</a:t>
            </a:r>
            <a:endParaRPr lang="en-US" sz="1200" dirty="0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CB348377-6DA7-D662-E938-F646D88CFB44}"/>
              </a:ext>
            </a:extLst>
          </p:cNvPr>
          <p:cNvSpPr/>
          <p:nvPr/>
        </p:nvSpPr>
        <p:spPr>
          <a:xfrm>
            <a:off x="5904871" y="5800278"/>
            <a:ext cx="2835391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Nuevo menú = nueva factory, no cambio el flujo principal.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8415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7ECECA-478D-0C02-971E-71CC11C86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Flujo completo: creación de menús base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8E70AF-82AA-85DB-CD15-A81962F0F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526583" cy="1222188"/>
          </a:xfrm>
        </p:spPr>
        <p:txBody>
          <a:bodyPr>
            <a:normAutofit fontScale="92500" lnSpcReduction="10000"/>
          </a:bodyPr>
          <a:lstStyle/>
          <a:p>
            <a:r>
              <a:rPr lang="es-AR" dirty="0"/>
              <a:t>El patrón aparece al inicializar o cargar familias de productos del catálogo.</a:t>
            </a:r>
          </a:p>
          <a:p>
            <a:r>
              <a:rPr lang="es-AR" dirty="0"/>
              <a:t>El catálogo se carga con familias completas sin que </a:t>
            </a:r>
            <a:r>
              <a:rPr lang="es-AR" dirty="0" err="1"/>
              <a:t>Presentation</a:t>
            </a:r>
            <a:r>
              <a:rPr lang="es-AR" dirty="0"/>
              <a:t> ni </a:t>
            </a:r>
            <a:r>
              <a:rPr lang="es-AR" dirty="0" err="1"/>
              <a:t>Infrastructure</a:t>
            </a:r>
            <a:r>
              <a:rPr lang="es-AR" dirty="0"/>
              <a:t> sepan cómo se componen.</a:t>
            </a:r>
          </a:p>
          <a:p>
            <a:endParaRPr lang="es-AR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A387528F-072C-7974-57C5-E94707F02CE9}"/>
              </a:ext>
            </a:extLst>
          </p:cNvPr>
          <p:cNvSpPr/>
          <p:nvPr/>
        </p:nvSpPr>
        <p:spPr>
          <a:xfrm>
            <a:off x="928282" y="3946711"/>
            <a:ext cx="1089212" cy="685800"/>
          </a:xfrm>
          <a:prstGeom prst="roundRect">
            <a:avLst>
              <a:gd name="adj" fmla="val 10667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3F42DCAB-73DF-3CE2-163F-4CC179097990}"/>
              </a:ext>
            </a:extLst>
          </p:cNvPr>
          <p:cNvSpPr/>
          <p:nvPr/>
        </p:nvSpPr>
        <p:spPr>
          <a:xfrm>
            <a:off x="928282" y="3946711"/>
            <a:ext cx="10892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</a:rPr>
              <a:t>Service</a:t>
            </a:r>
            <a:endParaRPr lang="en-US" sz="1200" dirty="0"/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21443967-2266-94B8-DD6F-3837B771C175}"/>
              </a:ext>
            </a:extLst>
          </p:cNvPr>
          <p:cNvSpPr/>
          <p:nvPr/>
        </p:nvSpPr>
        <p:spPr>
          <a:xfrm>
            <a:off x="2548887" y="3946711"/>
            <a:ext cx="1089212" cy="685800"/>
          </a:xfrm>
          <a:prstGeom prst="roundRect">
            <a:avLst>
              <a:gd name="adj" fmla="val 10667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CABF1EA1-0DD0-9259-C997-3A9281CFF085}"/>
              </a:ext>
            </a:extLst>
          </p:cNvPr>
          <p:cNvSpPr/>
          <p:nvPr/>
        </p:nvSpPr>
        <p:spPr>
          <a:xfrm>
            <a:off x="2548887" y="3946711"/>
            <a:ext cx="10892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</a:rPr>
              <a:t>Factory</a:t>
            </a:r>
            <a:endParaRPr lang="en-US" sz="1200" dirty="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76031C77-E1D0-6E0F-4075-0484BFDCD0C5}"/>
              </a:ext>
            </a:extLst>
          </p:cNvPr>
          <p:cNvSpPr/>
          <p:nvPr/>
        </p:nvSpPr>
        <p:spPr>
          <a:xfrm>
            <a:off x="4270537" y="3955697"/>
            <a:ext cx="1089212" cy="685800"/>
          </a:xfrm>
          <a:prstGeom prst="roundRect">
            <a:avLst>
              <a:gd name="adj" fmla="val 10667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BA27B674-3B28-C545-A2AC-ABA2050E8FA1}"/>
              </a:ext>
            </a:extLst>
          </p:cNvPr>
          <p:cNvSpPr/>
          <p:nvPr/>
        </p:nvSpPr>
        <p:spPr>
          <a:xfrm>
            <a:off x="4270537" y="3946706"/>
            <a:ext cx="10892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</a:rPr>
              <a:t>Productos</a:t>
            </a:r>
            <a:endParaRPr lang="en-US" sz="1200" dirty="0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87C6F2C4-2485-9947-0A86-E267FC441C14}"/>
              </a:ext>
            </a:extLst>
          </p:cNvPr>
          <p:cNvSpPr/>
          <p:nvPr/>
        </p:nvSpPr>
        <p:spPr>
          <a:xfrm>
            <a:off x="4270537" y="4720955"/>
            <a:ext cx="1089212" cy="685800"/>
          </a:xfrm>
          <a:prstGeom prst="roundRect">
            <a:avLst>
              <a:gd name="adj" fmla="val 10667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955555E4-89BD-8420-04E4-DCAFE4CFB185}"/>
              </a:ext>
            </a:extLst>
          </p:cNvPr>
          <p:cNvSpPr/>
          <p:nvPr/>
        </p:nvSpPr>
        <p:spPr>
          <a:xfrm>
            <a:off x="4270537" y="4720950"/>
            <a:ext cx="1089212" cy="68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</a:rPr>
              <a:t>Combo</a:t>
            </a:r>
            <a:endParaRPr lang="en-US" sz="1200" dirty="0"/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95344400-0477-5B71-469E-01E1F07DD28B}"/>
              </a:ext>
            </a:extLst>
          </p:cNvPr>
          <p:cNvSpPr/>
          <p:nvPr/>
        </p:nvSpPr>
        <p:spPr>
          <a:xfrm>
            <a:off x="5993196" y="3955697"/>
            <a:ext cx="1089212" cy="685800"/>
          </a:xfrm>
          <a:prstGeom prst="roundRect">
            <a:avLst>
              <a:gd name="adj" fmla="val 10667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pPr algn="ctr"/>
            <a:endParaRPr lang="es-AR" dirty="0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F15F4382-7F30-708B-69E9-D1C41C95F740}"/>
              </a:ext>
            </a:extLst>
          </p:cNvPr>
          <p:cNvSpPr/>
          <p:nvPr/>
        </p:nvSpPr>
        <p:spPr>
          <a:xfrm>
            <a:off x="5993196" y="3955656"/>
            <a:ext cx="10892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</a:rPr>
              <a:t>Repo</a:t>
            </a:r>
            <a:endParaRPr lang="en-US" sz="1200" dirty="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24B77AC2-2910-D166-4795-81F181A5D3DB}"/>
              </a:ext>
            </a:extLst>
          </p:cNvPr>
          <p:cNvSpPr/>
          <p:nvPr/>
        </p:nvSpPr>
        <p:spPr>
          <a:xfrm>
            <a:off x="2061592" y="4294183"/>
            <a:ext cx="443197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AE0FAD40-D136-008D-B2F6-46CDA8212155}"/>
              </a:ext>
            </a:extLst>
          </p:cNvPr>
          <p:cNvSpPr/>
          <p:nvPr/>
        </p:nvSpPr>
        <p:spPr>
          <a:xfrm>
            <a:off x="3713940" y="4303169"/>
            <a:ext cx="480756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22">
            <a:extLst>
              <a:ext uri="{FF2B5EF4-FFF2-40B4-BE49-F238E27FC236}">
                <a16:creationId xmlns:a16="http://schemas.microsoft.com/office/drawing/2014/main" id="{2D4E5805-513F-A869-D905-F9DD5A0FA148}"/>
              </a:ext>
            </a:extLst>
          </p:cNvPr>
          <p:cNvSpPr/>
          <p:nvPr/>
        </p:nvSpPr>
        <p:spPr>
          <a:xfrm>
            <a:off x="3713941" y="4382625"/>
            <a:ext cx="420368" cy="511802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23">
            <a:extLst>
              <a:ext uri="{FF2B5EF4-FFF2-40B4-BE49-F238E27FC236}">
                <a16:creationId xmlns:a16="http://schemas.microsoft.com/office/drawing/2014/main" id="{D2285891-4EFF-3967-0EDA-EBE34B0CED14}"/>
              </a:ext>
            </a:extLst>
          </p:cNvPr>
          <p:cNvSpPr/>
          <p:nvPr/>
        </p:nvSpPr>
        <p:spPr>
          <a:xfrm>
            <a:off x="5435590" y="4294183"/>
            <a:ext cx="455552" cy="8986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4D24DF06-550B-67DC-CAE1-20BF2956A832}"/>
              </a:ext>
            </a:extLst>
          </p:cNvPr>
          <p:cNvSpPr/>
          <p:nvPr/>
        </p:nvSpPr>
        <p:spPr>
          <a:xfrm>
            <a:off x="2179093" y="5486255"/>
            <a:ext cx="1828800" cy="92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/>
              <a:t>crearFamiliaDeMenu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/>
              <a:t>(</a:t>
            </a:r>
            <a:r>
              <a:rPr lang="en-US" sz="1200" b="1" dirty="0"/>
              <a:t>factory</a:t>
            </a:r>
            <a:r>
              <a:rPr lang="en-US" sz="1200" dirty="0"/>
              <a:t>)</a:t>
            </a: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6">
            <a:extLst>
              <a:ext uri="{FF2B5EF4-FFF2-40B4-BE49-F238E27FC236}">
                <a16:creationId xmlns:a16="http://schemas.microsoft.com/office/drawing/2014/main" id="{41D64093-9518-B86C-1BA3-21CED0E943C9}"/>
              </a:ext>
            </a:extLst>
          </p:cNvPr>
          <p:cNvSpPr/>
          <p:nvPr/>
        </p:nvSpPr>
        <p:spPr>
          <a:xfrm>
            <a:off x="4020671" y="5486209"/>
            <a:ext cx="1598520" cy="920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crearBebida()</a:t>
            </a:r>
          </a:p>
          <a:p>
            <a:pPr marL="0" indent="0" algn="ctr">
              <a:buNone/>
            </a:pPr>
            <a:r>
              <a:rPr lang="en-US" sz="1200" dirty="0" err="1"/>
              <a:t>crearPostre</a:t>
            </a:r>
            <a:r>
              <a:rPr lang="en-US" sz="1200" dirty="0"/>
              <a:t>()</a:t>
            </a:r>
          </a:p>
          <a:p>
            <a:pPr algn="ctr"/>
            <a:r>
              <a:rPr lang="en-US" sz="1200" dirty="0" err="1"/>
              <a:t>crearCombo</a:t>
            </a:r>
            <a:r>
              <a:rPr lang="en-US" sz="1200" dirty="0"/>
              <a:t>()</a:t>
            </a:r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1858DD31-B79F-E353-5B43-F3D793367849}"/>
              </a:ext>
            </a:extLst>
          </p:cNvPr>
          <p:cNvSpPr/>
          <p:nvPr/>
        </p:nvSpPr>
        <p:spPr>
          <a:xfrm>
            <a:off x="5993196" y="5486209"/>
            <a:ext cx="1065680" cy="920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save()</a:t>
            </a:r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0154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BB4C7-8A5E-176C-40BD-E5C35EDB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Diagrama de Clases (simplificado)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ABCFAC-A764-F141-89A5-615400C3D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03" y="2411507"/>
            <a:ext cx="8555193" cy="413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08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FBCF8-A52A-D730-9618-BD72642E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765236" cy="709865"/>
          </a:xfrm>
        </p:spPr>
        <p:txBody>
          <a:bodyPr/>
          <a:lstStyle/>
          <a:p>
            <a:r>
              <a:rPr lang="es-AR" dirty="0"/>
              <a:t>Por qué queda mejor diseñado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78D6CB-BE42-45EA-9D5A-7E785B58C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620712" cy="818776"/>
          </a:xfrm>
        </p:spPr>
        <p:txBody>
          <a:bodyPr/>
          <a:lstStyle/>
          <a:p>
            <a:r>
              <a:rPr lang="es-AR" dirty="0"/>
              <a:t>Abstract Factory suma extensibilidad sin mezclar responsabilidades.</a:t>
            </a:r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1D87DE58-45C7-737D-E250-034E44A264B0}"/>
              </a:ext>
            </a:extLst>
          </p:cNvPr>
          <p:cNvSpPr/>
          <p:nvPr/>
        </p:nvSpPr>
        <p:spPr>
          <a:xfrm>
            <a:off x="200361" y="3509684"/>
            <a:ext cx="2252381" cy="1417320"/>
          </a:xfrm>
          <a:prstGeom prst="roundRect">
            <a:avLst>
              <a:gd name="adj" fmla="val 5161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D19FF9FE-CF83-55CB-DE26-430AF55C0DD0}"/>
              </a:ext>
            </a:extLst>
          </p:cNvPr>
          <p:cNvSpPr/>
          <p:nvPr/>
        </p:nvSpPr>
        <p:spPr>
          <a:xfrm>
            <a:off x="364953" y="3628556"/>
            <a:ext cx="1957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Bajo acoplamiento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GRASP</a:t>
            </a:r>
            <a:endParaRPr lang="en-US" sz="12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E9A846FC-1E9F-F840-9FBC-D51433285985}"/>
              </a:ext>
            </a:extLst>
          </p:cNvPr>
          <p:cNvSpPr/>
          <p:nvPr/>
        </p:nvSpPr>
        <p:spPr>
          <a:xfrm>
            <a:off x="364953" y="3948596"/>
            <a:ext cx="195752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El Service depende de MenuMagicoFactory, no de cada producto concreto.</a:t>
            </a:r>
            <a:endParaRPr lang="en-US" sz="1200" dirty="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F606EACE-9A73-E6BE-1F46-E3007BF99478}"/>
              </a:ext>
            </a:extLst>
          </p:cNvPr>
          <p:cNvSpPr/>
          <p:nvPr/>
        </p:nvSpPr>
        <p:spPr>
          <a:xfrm>
            <a:off x="2557631" y="3509684"/>
            <a:ext cx="2252381" cy="1417320"/>
          </a:xfrm>
          <a:prstGeom prst="roundRect">
            <a:avLst>
              <a:gd name="adj" fmla="val 5161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8A6D01C6-7F4C-EFD8-D7EB-1294AE5213E2}"/>
              </a:ext>
            </a:extLst>
          </p:cNvPr>
          <p:cNvSpPr/>
          <p:nvPr/>
        </p:nvSpPr>
        <p:spPr>
          <a:xfrm>
            <a:off x="2722223" y="3628556"/>
            <a:ext cx="1957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Alta cohesión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GRASP</a:t>
            </a:r>
            <a:endParaRPr lang="en-US" sz="12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EE100B18-EC36-7668-ED34-2659C8B00DFC}"/>
              </a:ext>
            </a:extLst>
          </p:cNvPr>
          <p:cNvSpPr/>
          <p:nvPr/>
        </p:nvSpPr>
        <p:spPr>
          <a:xfrm>
            <a:off x="2722223" y="3948596"/>
            <a:ext cx="195752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Cada factory concentra la creación de una familia específica.</a:t>
            </a:r>
            <a:endParaRPr lang="en-US" sz="1200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21D72075-D085-FDDF-337B-E29307634B6D}"/>
              </a:ext>
            </a:extLst>
          </p:cNvPr>
          <p:cNvSpPr/>
          <p:nvPr/>
        </p:nvSpPr>
        <p:spPr>
          <a:xfrm>
            <a:off x="4914902" y="3509684"/>
            <a:ext cx="2064122" cy="1417320"/>
          </a:xfrm>
          <a:prstGeom prst="roundRect">
            <a:avLst>
              <a:gd name="adj" fmla="val 5161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EB649EBD-F11E-7611-5DF6-AF2CAD76E833}"/>
              </a:ext>
            </a:extLst>
          </p:cNvPr>
          <p:cNvSpPr/>
          <p:nvPr/>
        </p:nvSpPr>
        <p:spPr>
          <a:xfrm>
            <a:off x="5079493" y="3628556"/>
            <a:ext cx="1957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Open/Closed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SOLID</a:t>
            </a:r>
            <a:endParaRPr lang="en-US" sz="12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790A809B-3F99-0C67-17A1-7B65338ADBE1}"/>
              </a:ext>
            </a:extLst>
          </p:cNvPr>
          <p:cNvSpPr/>
          <p:nvPr/>
        </p:nvSpPr>
        <p:spPr>
          <a:xfrm>
            <a:off x="5079493" y="3948596"/>
            <a:ext cx="175833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Se agrega un menú creando otra factory.</a:t>
            </a:r>
            <a:endParaRPr lang="en-US" sz="12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2F9FB219-AC9B-9240-EE6C-28D1F6D926DD}"/>
              </a:ext>
            </a:extLst>
          </p:cNvPr>
          <p:cNvSpPr/>
          <p:nvPr/>
        </p:nvSpPr>
        <p:spPr>
          <a:xfrm>
            <a:off x="7037017" y="3509684"/>
            <a:ext cx="1924762" cy="1417320"/>
          </a:xfrm>
          <a:prstGeom prst="roundRect">
            <a:avLst>
              <a:gd name="adj" fmla="val 5161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1D2A29F7-638E-A15B-2A30-F220D79A7B6F}"/>
              </a:ext>
            </a:extLst>
          </p:cNvPr>
          <p:cNvSpPr/>
          <p:nvPr/>
        </p:nvSpPr>
        <p:spPr>
          <a:xfrm>
            <a:off x="7201609" y="3628556"/>
            <a:ext cx="162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DIP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SOLID</a:t>
            </a:r>
            <a:endParaRPr lang="en-US" sz="1200" dirty="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0814AC91-6316-9709-CD87-4466EBB4E3A0}"/>
              </a:ext>
            </a:extLst>
          </p:cNvPr>
          <p:cNvSpPr/>
          <p:nvPr/>
        </p:nvSpPr>
        <p:spPr>
          <a:xfrm>
            <a:off x="7201609" y="3948596"/>
            <a:ext cx="1629905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EFE7"/>
                </a:solidFill>
              </a:rPr>
              <a:t>El caso de uso trabaja con abstracciones.</a:t>
            </a:r>
            <a:endParaRPr lang="en-US" sz="1200" dirty="0"/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480A8975-307D-44AC-9424-C9CB1F830590}"/>
              </a:ext>
            </a:extLst>
          </p:cNvPr>
          <p:cNvSpPr/>
          <p:nvPr/>
        </p:nvSpPr>
        <p:spPr>
          <a:xfrm>
            <a:off x="864382" y="5395334"/>
            <a:ext cx="6316083" cy="748723"/>
          </a:xfrm>
          <a:prstGeom prst="roundRect">
            <a:avLst>
              <a:gd name="adj" fmla="val 4348"/>
            </a:avLst>
          </a:prstGeom>
          <a:solidFill>
            <a:srgbClr val="111111"/>
          </a:solidFill>
          <a:ln w="12700">
            <a:solidFill>
              <a:srgbClr val="4B3A3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CC7091AD-46E1-E762-86CD-90B28DE9D671}"/>
              </a:ext>
            </a:extLst>
          </p:cNvPr>
          <p:cNvSpPr/>
          <p:nvPr/>
        </p:nvSpPr>
        <p:spPr>
          <a:xfrm>
            <a:off x="1010686" y="5457370"/>
            <a:ext cx="5927732" cy="54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Nuevo menú sin tocar MagicCafeService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MenuNavidadFactory implements MenuMagicoFactory { ... 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36891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7F89F1-0697-8B96-3935-DEC09AF3E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A17D51-2E99-5B76-808B-67C783C67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694671" cy="1349935"/>
          </a:xfrm>
        </p:spPr>
        <p:txBody>
          <a:bodyPr/>
          <a:lstStyle/>
          <a:p>
            <a:r>
              <a:rPr lang="es-AR" dirty="0"/>
              <a:t>Cuando el sistema necesita crear una familia completa de productos, el Service usa una Abstract Factory. Así evita conocer clases concretas y garantiza que los objetos creados pertenecen al mismo menú.</a:t>
            </a:r>
          </a:p>
          <a:p>
            <a:endParaRPr lang="es-AR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14C8A717-050E-5899-8701-4A882CCD47F1}"/>
              </a:ext>
            </a:extLst>
          </p:cNvPr>
          <p:cNvSpPr/>
          <p:nvPr/>
        </p:nvSpPr>
        <p:spPr>
          <a:xfrm>
            <a:off x="349624" y="4050254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6094843A-D943-10FF-24C4-A212EF9C2C35}"/>
              </a:ext>
            </a:extLst>
          </p:cNvPr>
          <p:cNvSpPr/>
          <p:nvPr/>
        </p:nvSpPr>
        <p:spPr>
          <a:xfrm>
            <a:off x="514216" y="4169126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C8966948-6937-2A46-42A4-7FB90225FD8C}"/>
              </a:ext>
            </a:extLst>
          </p:cNvPr>
          <p:cNvSpPr/>
          <p:nvPr/>
        </p:nvSpPr>
        <p:spPr>
          <a:xfrm>
            <a:off x="514216" y="4489166"/>
            <a:ext cx="17282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El Service necesita cargar menús.</a:t>
            </a:r>
            <a:endParaRPr lang="en-US" sz="14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EABF11E8-C7E1-D143-29A6-2CF45C5D22DC}"/>
              </a:ext>
            </a:extLst>
          </p:cNvPr>
          <p:cNvSpPr/>
          <p:nvPr/>
        </p:nvSpPr>
        <p:spPr>
          <a:xfrm>
            <a:off x="2474258" y="4050254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A3F449FA-6FB5-EA4C-D5C6-64F0DF18D90B}"/>
              </a:ext>
            </a:extLst>
          </p:cNvPr>
          <p:cNvSpPr/>
          <p:nvPr/>
        </p:nvSpPr>
        <p:spPr>
          <a:xfrm>
            <a:off x="2638850" y="4169126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32CB157D-26A1-3820-FB27-90D6612EC594}"/>
              </a:ext>
            </a:extLst>
          </p:cNvPr>
          <p:cNvSpPr/>
          <p:nvPr/>
        </p:nvSpPr>
        <p:spPr>
          <a:xfrm>
            <a:off x="2638850" y="4489166"/>
            <a:ext cx="17282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Elige una factory concreta.</a:t>
            </a:r>
            <a:endParaRPr lang="en-US" sz="1400" dirty="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53C443BC-6865-9D44-1EDC-46D209DF1EB9}"/>
              </a:ext>
            </a:extLst>
          </p:cNvPr>
          <p:cNvSpPr/>
          <p:nvPr/>
        </p:nvSpPr>
        <p:spPr>
          <a:xfrm>
            <a:off x="4605617" y="4050254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A369603F-D281-2B47-7714-DBCD66F3D317}"/>
              </a:ext>
            </a:extLst>
          </p:cNvPr>
          <p:cNvSpPr/>
          <p:nvPr/>
        </p:nvSpPr>
        <p:spPr>
          <a:xfrm>
            <a:off x="4770209" y="4169126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5A4827C1-6AF8-09E6-E1F8-8CA331AEEB0F}"/>
              </a:ext>
            </a:extLst>
          </p:cNvPr>
          <p:cNvSpPr/>
          <p:nvPr/>
        </p:nvSpPr>
        <p:spPr>
          <a:xfrm>
            <a:off x="4770209" y="4489166"/>
            <a:ext cx="17282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La factory crea la familia.</a:t>
            </a:r>
            <a:endParaRPr lang="en-US" sz="1400" dirty="0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1BED3760-1772-579C-F688-47E0AD9340B6}"/>
              </a:ext>
            </a:extLst>
          </p:cNvPr>
          <p:cNvSpPr/>
          <p:nvPr/>
        </p:nvSpPr>
        <p:spPr>
          <a:xfrm>
            <a:off x="6736976" y="4050254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201712"/>
          </a:solidFill>
          <a:ln w="12700">
            <a:solidFill>
              <a:srgbClr val="8A6A4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77021FEF-5EA6-53D4-65CD-61CCA5D9C801}"/>
              </a:ext>
            </a:extLst>
          </p:cNvPr>
          <p:cNvSpPr/>
          <p:nvPr/>
        </p:nvSpPr>
        <p:spPr>
          <a:xfrm>
            <a:off x="6901568" y="4169126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274093FF-0BCD-A57E-4CF9-A2BD23634AE9}"/>
              </a:ext>
            </a:extLst>
          </p:cNvPr>
          <p:cNvSpPr/>
          <p:nvPr/>
        </p:nvSpPr>
        <p:spPr>
          <a:xfrm>
            <a:off x="6901568" y="4489166"/>
            <a:ext cx="17282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EFE7"/>
                </a:solidFill>
              </a:rPr>
              <a:t>El combo queda consistente.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9831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39BE1-E673-EA54-1F38-9B32AB5E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Facade</a:t>
            </a:r>
            <a:endParaRPr lang="es-AR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A20A3F0-F6DD-7425-5C95-A019E11EE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199"/>
            <a:ext cx="7761907" cy="4160372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AR" dirty="0"/>
              <a:t>Es un patrón de </a:t>
            </a:r>
            <a:r>
              <a:rPr lang="es-AR" b="1" dirty="0"/>
              <a:t>Estructural.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b="1" u="sng" dirty="0"/>
              <a:t>¿Qué hace?</a:t>
            </a:r>
          </a:p>
          <a:p>
            <a:pPr algn="just"/>
            <a:r>
              <a:rPr lang="es-AR" dirty="0"/>
              <a:t>Expone una interfaz simple para la utilización de un componente de algún tercero, generalmente, considerado “complejo”. </a:t>
            </a:r>
          </a:p>
          <a:p>
            <a:pPr algn="just"/>
            <a:r>
              <a:rPr lang="es-AR" dirty="0"/>
              <a:t>Permite que dos o más soluciones/proyectos interactúen, manteniendo el acoplamiento al mínimo posible.</a:t>
            </a:r>
          </a:p>
          <a:p>
            <a:pPr algn="just"/>
            <a:endParaRPr lang="es-AR" dirty="0"/>
          </a:p>
          <a:p>
            <a:pPr marL="0" indent="0" algn="just">
              <a:buNone/>
            </a:pPr>
            <a:r>
              <a:rPr lang="es-AR" dirty="0"/>
              <a:t>Se </a:t>
            </a:r>
            <a:r>
              <a:rPr lang="es-AR" b="1" dirty="0"/>
              <a:t>sugiere</a:t>
            </a:r>
            <a:r>
              <a:rPr lang="es-AR" dirty="0"/>
              <a:t> su utilización </a:t>
            </a:r>
            <a:r>
              <a:rPr lang="es-AR" b="1" dirty="0"/>
              <a:t>cuando</a:t>
            </a:r>
            <a:r>
              <a:rPr lang="es-AR" dirty="0"/>
              <a:t>:</a:t>
            </a:r>
          </a:p>
          <a:p>
            <a:pPr algn="just"/>
            <a:r>
              <a:rPr lang="es-AR" dirty="0"/>
              <a:t>Se necesita exponer una interfaz sencilla para permitirle a un tercero la utilización de algún componente complejo, ocultado, de esta manera, la complejidad real. </a:t>
            </a:r>
          </a:p>
          <a:p>
            <a:pPr algn="just"/>
            <a:r>
              <a:rPr lang="es-AR" dirty="0"/>
              <a:t>Se requiere hacer uso de un componente externo complejo, sin dejar fuertemente acoplada toda la solución con el mismo.</a:t>
            </a:r>
          </a:p>
        </p:txBody>
      </p:sp>
    </p:spTree>
    <p:extLst>
      <p:ext uri="{BB962C8B-B14F-4D97-AF65-F5344CB8AC3E}">
        <p14:creationId xmlns:p14="http://schemas.microsoft.com/office/powerpoint/2010/main" val="1820019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2ECCD-EEC5-21C2-0BA6-3A606BC8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Componentes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CFE1BB-E022-A98C-9ACB-E54DBD562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33306" cy="3530600"/>
          </a:xfrm>
        </p:spPr>
        <p:txBody>
          <a:bodyPr>
            <a:normAutofit/>
          </a:bodyPr>
          <a:lstStyle/>
          <a:p>
            <a:pPr algn="just"/>
            <a:r>
              <a:rPr lang="es-AR" b="1" dirty="0"/>
              <a:t>Clase </a:t>
            </a:r>
            <a:r>
              <a:rPr lang="es-AR" b="1" dirty="0" err="1"/>
              <a:t>Facade</a:t>
            </a:r>
            <a:r>
              <a:rPr lang="es-AR" dirty="0"/>
              <a:t>: Clase que reúne todos los componentes complejos/de terceros, y expone métodos “sencillos”. Es la única clase que debería estar acoplada a los componentes complejos/de terceros y que debería brindar todas las funcionalidades necesarias. </a:t>
            </a:r>
          </a:p>
          <a:p>
            <a:pPr algn="just"/>
            <a:r>
              <a:rPr lang="es-AR" b="1" dirty="0"/>
              <a:t>Clases “Complejas” y/o “Externas”</a:t>
            </a:r>
            <a:r>
              <a:rPr lang="es-AR" dirty="0"/>
              <a:t>: Clases que necesitan ser encapsuladas por “la fachada” ya que no interesa “quienes son”, sino que interesa “lo que hacen”. </a:t>
            </a:r>
          </a:p>
          <a:p>
            <a:pPr algn="just"/>
            <a:r>
              <a:rPr lang="es-AR" b="1" dirty="0"/>
              <a:t>Cliente</a:t>
            </a:r>
            <a:r>
              <a:rPr lang="es-AR" dirty="0"/>
              <a:t>: Clase que hace uso de las funcionalidades provistas por los componentes de terceros a través de “la fachada”.</a:t>
            </a:r>
          </a:p>
        </p:txBody>
      </p:sp>
    </p:spTree>
    <p:extLst>
      <p:ext uri="{BB962C8B-B14F-4D97-AF65-F5344CB8AC3E}">
        <p14:creationId xmlns:p14="http://schemas.microsoft.com/office/powerpoint/2010/main" val="2155014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7699B-62ED-CA35-5C62-51E524C5E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A84E0E-57EA-0DCE-5734-CFAD6A326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675" y="2489200"/>
            <a:ext cx="3430612" cy="2183653"/>
          </a:xfrm>
        </p:spPr>
        <p:txBody>
          <a:bodyPr/>
          <a:lstStyle/>
          <a:p>
            <a:r>
              <a:rPr lang="es-AR" dirty="0"/>
              <a:t>El cliente no necesita conocer todas las clases internas.</a:t>
            </a:r>
          </a:p>
          <a:p>
            <a:r>
              <a:rPr lang="es-AR" dirty="0"/>
              <a:t>Proporciona una </a:t>
            </a:r>
            <a:r>
              <a:rPr lang="es-AR" b="1" dirty="0"/>
              <a:t>interfaz simplificada</a:t>
            </a:r>
            <a:r>
              <a:rPr lang="es-AR" dirty="0"/>
              <a:t> para acceder a un subsistema complejo.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7EDEA3ED-AE74-839F-08D9-FB101D1DD56A}"/>
              </a:ext>
            </a:extLst>
          </p:cNvPr>
          <p:cNvSpPr/>
          <p:nvPr/>
        </p:nvSpPr>
        <p:spPr>
          <a:xfrm>
            <a:off x="517713" y="2433917"/>
            <a:ext cx="4531658" cy="3099547"/>
          </a:xfrm>
          <a:prstGeom prst="roundRect">
            <a:avLst>
              <a:gd name="adj" fmla="val 1176"/>
            </a:avLst>
          </a:prstGeom>
          <a:solidFill>
            <a:srgbClr val="111111"/>
          </a:solidFill>
          <a:ln w="12700">
            <a:solidFill>
              <a:srgbClr val="4B3A3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E53E8AA6-A8AA-6498-744D-FC2DA4C27F0A}"/>
              </a:ext>
            </a:extLst>
          </p:cNvPr>
          <p:cNvSpPr/>
          <p:nvPr/>
        </p:nvSpPr>
        <p:spPr>
          <a:xfrm>
            <a:off x="664017" y="2580221"/>
            <a:ext cx="4294632" cy="286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HomeTheaterFacade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</a:p>
          <a:p>
            <a:endParaRPr lang="en-US" sz="1100" dirty="0">
              <a:solidFill>
                <a:srgbClr val="F2F2F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DVDPlayer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dvd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Amplifier amp;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Projector projector;</a:t>
            </a:r>
          </a:p>
          <a:p>
            <a:endParaRPr lang="en-US" sz="1100" dirty="0">
              <a:solidFill>
                <a:srgbClr val="F2F2F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watchMovie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movie) {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projector.on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amp.on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dvd.on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dvd.play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(movie);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87858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1F6C6-6696-B23D-081D-A8A087BE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Controller</a:t>
            </a:r>
            <a:r>
              <a:rPr lang="es-AR" dirty="0"/>
              <a:t>: es un </a:t>
            </a:r>
            <a:r>
              <a:rPr lang="es-AR" dirty="0" err="1"/>
              <a:t>Facade</a:t>
            </a:r>
            <a:r>
              <a:rPr lang="es-AR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D8203A-6AB7-EA77-B1E6-97C65C75D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7929" y="2433918"/>
            <a:ext cx="3753342" cy="4047564"/>
          </a:xfrm>
        </p:spPr>
        <p:txBody>
          <a:bodyPr>
            <a:normAutofit fontScale="85000" lnSpcReduction="10000"/>
          </a:bodyPr>
          <a:lstStyle/>
          <a:p>
            <a:r>
              <a:rPr lang="es-AR" dirty="0"/>
              <a:t>Un </a:t>
            </a:r>
            <a:r>
              <a:rPr lang="es-AR" b="1" dirty="0" err="1"/>
              <a:t>Controller</a:t>
            </a:r>
            <a:r>
              <a:rPr lang="es-AR" dirty="0"/>
              <a:t> suele recibir una petición y coordinar varios objetos internos.</a:t>
            </a:r>
          </a:p>
          <a:p>
            <a:r>
              <a:rPr lang="es-AR" dirty="0"/>
              <a:t>Desde la perspectiva del cliente HTTP:</a:t>
            </a:r>
          </a:p>
          <a:p>
            <a:pPr lvl="1"/>
            <a:r>
              <a:rPr lang="es-AR" b="1" dirty="0"/>
              <a:t>POST</a:t>
            </a:r>
            <a:r>
              <a:rPr lang="es-AR" dirty="0"/>
              <a:t> /pedidos</a:t>
            </a:r>
          </a:p>
          <a:p>
            <a:r>
              <a:rPr lang="es-AR" dirty="0"/>
              <a:t>El consumidor no conoce:</a:t>
            </a:r>
          </a:p>
          <a:p>
            <a:pPr lvl="1"/>
            <a:r>
              <a:rPr lang="es-AR" dirty="0" err="1"/>
              <a:t>PedidoService</a:t>
            </a:r>
            <a:endParaRPr lang="es-AR" dirty="0"/>
          </a:p>
          <a:p>
            <a:pPr lvl="1"/>
            <a:r>
              <a:rPr lang="es-AR" dirty="0"/>
              <a:t>Repositorios</a:t>
            </a:r>
          </a:p>
          <a:p>
            <a:pPr lvl="1"/>
            <a:r>
              <a:rPr lang="es-AR" dirty="0"/>
              <a:t>Notificadores</a:t>
            </a:r>
          </a:p>
          <a:p>
            <a:pPr lvl="1"/>
            <a:r>
              <a:rPr lang="es-AR" dirty="0"/>
              <a:t>Transacciones</a:t>
            </a:r>
          </a:p>
          <a:p>
            <a:r>
              <a:rPr lang="es-AR" dirty="0"/>
              <a:t>Por eso muchos autores dicen que el </a:t>
            </a:r>
            <a:r>
              <a:rPr lang="es-AR" dirty="0" err="1"/>
              <a:t>Controller</a:t>
            </a:r>
            <a:r>
              <a:rPr lang="es-AR" dirty="0"/>
              <a:t> está cumpliendo un rol similar a una </a:t>
            </a:r>
            <a:r>
              <a:rPr lang="es-AR" dirty="0" err="1"/>
              <a:t>Facade</a:t>
            </a:r>
            <a:r>
              <a:rPr lang="es-AR" dirty="0"/>
              <a:t>.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82407228-3BE5-33DB-EFB6-3FF794116CB8}"/>
              </a:ext>
            </a:extLst>
          </p:cNvPr>
          <p:cNvSpPr/>
          <p:nvPr/>
        </p:nvSpPr>
        <p:spPr>
          <a:xfrm>
            <a:off x="255495" y="2433918"/>
            <a:ext cx="4666129" cy="2501154"/>
          </a:xfrm>
          <a:prstGeom prst="roundRect">
            <a:avLst>
              <a:gd name="adj" fmla="val 1176"/>
            </a:avLst>
          </a:prstGeom>
          <a:solidFill>
            <a:srgbClr val="111111"/>
          </a:solidFill>
          <a:ln w="12700">
            <a:solidFill>
              <a:srgbClr val="4B3A3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DE0D2588-6058-B5F2-0B93-3D621C12382B}"/>
              </a:ext>
            </a:extLst>
          </p:cNvPr>
          <p:cNvSpPr/>
          <p:nvPr/>
        </p:nvSpPr>
        <p:spPr>
          <a:xfrm>
            <a:off x="401799" y="2580222"/>
            <a:ext cx="4422069" cy="231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RestController</a:t>
            </a:r>
            <a:endParaRPr lang="en-US" sz="1100" dirty="0">
              <a:solidFill>
                <a:srgbClr val="F2F2F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PedidoController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</a:p>
          <a:p>
            <a:endParaRPr lang="en-US" sz="1100" dirty="0">
              <a:solidFill>
                <a:srgbClr val="F2F2F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PedidoService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pedidoService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NotificacionService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notificacionService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endParaRPr lang="en-US" sz="1100" dirty="0">
              <a:solidFill>
                <a:srgbClr val="F2F2F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PostMapping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crearPedido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pedidoService.crear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 err="1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notificacionService.notificar</a:t>
            </a: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</a:p>
          <a:p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742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D5D0F-0D86-9B09-B26B-795E5F38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Diferencias y Similitudes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19A85B-8ACD-9AE9-9137-5839FF873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459347" cy="206262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AR" b="1" dirty="0"/>
              <a:t>¿Por qué se parecen?</a:t>
            </a:r>
          </a:p>
          <a:p>
            <a:r>
              <a:rPr lang="es-AR" dirty="0"/>
              <a:t>Ambos:</a:t>
            </a:r>
          </a:p>
          <a:p>
            <a:pPr lvl="1"/>
            <a:r>
              <a:rPr lang="es-AR" dirty="0"/>
              <a:t>Ocultan complejidad</a:t>
            </a:r>
          </a:p>
          <a:p>
            <a:pPr lvl="1"/>
            <a:r>
              <a:rPr lang="es-AR" dirty="0"/>
              <a:t>Exponen una interfaz más simple</a:t>
            </a:r>
          </a:p>
          <a:p>
            <a:pPr lvl="1"/>
            <a:r>
              <a:rPr lang="es-AR" dirty="0"/>
              <a:t>Reducen acoplamiento</a:t>
            </a:r>
          </a:p>
          <a:p>
            <a:pPr lvl="1"/>
            <a:r>
              <a:rPr lang="es-AR" dirty="0"/>
              <a:t>Actúan como punto de entrada</a:t>
            </a:r>
          </a:p>
          <a:p>
            <a:pPr marL="0" indent="0">
              <a:buNone/>
            </a:pPr>
            <a:r>
              <a:rPr lang="es-AR" b="1" dirty="0"/>
              <a:t>¿Por qué NO son exactamente lo mismo?</a:t>
            </a:r>
          </a:p>
          <a:p>
            <a:r>
              <a:rPr lang="es-AR" dirty="0"/>
              <a:t>Porque tienen responsabilidades distintas.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CB244E5-4966-71C4-9748-F099BE5B7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396701"/>
              </p:ext>
            </p:extLst>
          </p:nvPr>
        </p:nvGraphicFramePr>
        <p:xfrm>
          <a:off x="989806" y="4662386"/>
          <a:ext cx="7333922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66961">
                  <a:extLst>
                    <a:ext uri="{9D8B030D-6E8A-4147-A177-3AD203B41FA5}">
                      <a16:colId xmlns:a16="http://schemas.microsoft.com/office/drawing/2014/main" val="1751765680"/>
                    </a:ext>
                  </a:extLst>
                </a:gridCol>
                <a:gridCol w="3666961">
                  <a:extLst>
                    <a:ext uri="{9D8B030D-6E8A-4147-A177-3AD203B41FA5}">
                      <a16:colId xmlns:a16="http://schemas.microsoft.com/office/drawing/2014/main" val="2137883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sz="1200" dirty="0" err="1"/>
                        <a:t>Facade</a:t>
                      </a:r>
                      <a:endParaRPr lang="es-A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200" dirty="0" err="1"/>
                        <a:t>Controller</a:t>
                      </a:r>
                      <a:endParaRPr lang="es-A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355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dirty="0"/>
                        <a:t>Patrón de diseño estructural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dirty="0"/>
                        <a:t>Recibe eventos externos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192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dirty="0"/>
                        <a:t>Simplifica un subsistema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dirty="0"/>
                        <a:t>Traduce solicitudes.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295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dirty="0"/>
                        <a:t>No está asociada a UI ni 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dirty="0"/>
                        <a:t>Coordina casos de 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283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355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8CADC-5FA9-19B3-1F46-83F76A20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Gracias!</a:t>
            </a:r>
          </a:p>
        </p:txBody>
      </p:sp>
      <p:pic>
        <p:nvPicPr>
          <p:cNvPr id="1030" name="Picture 6" descr="Para qué sirven las Preguntas? - INSM Blog ¿Para qué sirven las Preguntas?">
            <a:extLst>
              <a:ext uri="{FF2B5EF4-FFF2-40B4-BE49-F238E27FC236}">
                <a16:creationId xmlns:a16="http://schemas.microsoft.com/office/drawing/2014/main" id="{AEFA8919-1401-F664-2C40-645A64028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100" y="4685465"/>
            <a:ext cx="2454023" cy="178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224076-C980-5F13-DE86-6AFDCD413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6213218" cy="3530600"/>
          </a:xfrm>
        </p:spPr>
        <p:txBody>
          <a:bodyPr>
            <a:normAutofit/>
          </a:bodyPr>
          <a:lstStyle/>
          <a:p>
            <a:r>
              <a:rPr lang="es-419" sz="2400" dirty="0"/>
              <a:t>Preguntas?</a:t>
            </a:r>
          </a:p>
          <a:p>
            <a:r>
              <a:rPr lang="es-419" sz="2400" dirty="0"/>
              <a:t>mailto: </a:t>
            </a:r>
            <a:r>
              <a:rPr lang="es-419" sz="2400" dirty="0">
                <a:solidFill>
                  <a:srgbClr val="0070C0"/>
                </a:solidFill>
              </a:rPr>
              <a:t>mstricagnoli@uade.edu.ar</a:t>
            </a:r>
            <a:endParaRPr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485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358434839BD0E4EAAAF06F450293D30" ma:contentTypeVersion="3" ma:contentTypeDescription="Crear nuevo documento." ma:contentTypeScope="" ma:versionID="6c3ac9d209a2af0f43285baa666677c9">
  <xsd:schema xmlns:xsd="http://www.w3.org/2001/XMLSchema" xmlns:xs="http://www.w3.org/2001/XMLSchema" xmlns:p="http://schemas.microsoft.com/office/2006/metadata/properties" xmlns:ns2="0bae8a1c-04f4-4e38-bae2-21c1b7d9b3aa" targetNamespace="http://schemas.microsoft.com/office/2006/metadata/properties" ma:root="true" ma:fieldsID="c5f32b7e70e3171cc1864de2dea8615c" ns2:_="">
    <xsd:import namespace="0bae8a1c-04f4-4e38-bae2-21c1b7d9b3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e8a1c-04f4-4e38-bae2-21c1b7d9b3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E651FA-526D-41B2-85BE-47F1E6AA97FD}"/>
</file>

<file path=customXml/itemProps2.xml><?xml version="1.0" encoding="utf-8"?>
<ds:datastoreItem xmlns:ds="http://schemas.openxmlformats.org/officeDocument/2006/customXml" ds:itemID="{A7805C6C-8BB7-4E1E-B5E6-AAF74D5D81EC}"/>
</file>

<file path=customXml/itemProps3.xml><?xml version="1.0" encoding="utf-8"?>
<ds:datastoreItem xmlns:ds="http://schemas.openxmlformats.org/officeDocument/2006/customXml" ds:itemID="{55765F86-AF6F-4601-AA3F-6661D455F76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3083</TotalTime>
  <Words>1610</Words>
  <Application>Microsoft Macintosh PowerPoint</Application>
  <PresentationFormat>Presentación en pantalla (4:3)</PresentationFormat>
  <Paragraphs>319</Paragraphs>
  <Slides>25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Aptos</vt:lpstr>
      <vt:lpstr>Arial</vt:lpstr>
      <vt:lpstr>Century Gothic</vt:lpstr>
      <vt:lpstr>Courier New</vt:lpstr>
      <vt:lpstr>Wingdings 3</vt:lpstr>
      <vt:lpstr>Sala de reuniones Ion</vt:lpstr>
      <vt:lpstr>Procesos de Desarrollo de Software</vt:lpstr>
      <vt:lpstr>Agenda de la clase</vt:lpstr>
      <vt:lpstr>Factory</vt:lpstr>
      <vt:lpstr>Tipos de Fábricas</vt:lpstr>
      <vt:lpstr>Beneficios</vt:lpstr>
      <vt:lpstr>Práctica</vt:lpstr>
      <vt:lpstr>Magic Café ☕✨</vt:lpstr>
      <vt:lpstr>Punto de partida</vt:lpstr>
      <vt:lpstr>Problema: creación dispersa</vt:lpstr>
      <vt:lpstr>Qué problema resuelve Abstract Factory</vt:lpstr>
      <vt:lpstr>Antes y después del Abstract Factory</vt:lpstr>
      <vt:lpstr>Piezas en Clean Architecture</vt:lpstr>
      <vt:lpstr>Paso 1: crear el contrato de la familia</vt:lpstr>
      <vt:lpstr>Paso 2: agregar factories concretas</vt:lpstr>
      <vt:lpstr>Paso 3: Service usa la abstracción</vt:lpstr>
      <vt:lpstr>Flujo completo: creación de menús base</vt:lpstr>
      <vt:lpstr>Diagrama de Clases (simplificado)</vt:lpstr>
      <vt:lpstr>Por qué queda mejor diseñado</vt:lpstr>
      <vt:lpstr>Conclusión</vt:lpstr>
      <vt:lpstr>Facade</vt:lpstr>
      <vt:lpstr>Componentes</vt:lpstr>
      <vt:lpstr>Ejemplo</vt:lpstr>
      <vt:lpstr>Controller: es un Facade?</vt:lpstr>
      <vt:lpstr>Diferencias y Similitudes</vt:lpstr>
      <vt:lpstr>Gracias!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Stricagnoli Matias Damian</cp:lastModifiedBy>
  <cp:revision>712</cp:revision>
  <dcterms:created xsi:type="dcterms:W3CDTF">2013-01-27T09:14:16Z</dcterms:created>
  <dcterms:modified xsi:type="dcterms:W3CDTF">2026-06-19T19:53:30Z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0x010100F358434839BD0E4EAAAF06F450293D30</vt:lpwstr>
  </property>
</Properties>
</file>