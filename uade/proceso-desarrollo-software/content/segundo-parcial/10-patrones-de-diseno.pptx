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5.xml" ContentType="application/vnd.openxmlformats-officedocument.presentationml.slideLayout+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7.xml" ContentType="application/vnd.openxmlformats-officedocument.presentationml.slideLayout+xml"/>
  <Override PartName="/ppt/slideMasters/slideMaster1.xml" ContentType="application/vnd.openxmlformats-officedocument.presentationml.slideMaster+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79" r:id="rId1"/>
  </p:sldMasterIdLst>
  <p:notesMasterIdLst>
    <p:notesMasterId r:id="rId49"/>
  </p:notesMasterIdLst>
  <p:sldIdLst>
    <p:sldId id="256" r:id="rId2"/>
    <p:sldId id="258" r:id="rId3"/>
    <p:sldId id="432" r:id="rId4"/>
    <p:sldId id="433" r:id="rId5"/>
    <p:sldId id="434" r:id="rId6"/>
    <p:sldId id="435" r:id="rId7"/>
    <p:sldId id="436" r:id="rId8"/>
    <p:sldId id="437" r:id="rId9"/>
    <p:sldId id="438" r:id="rId10"/>
    <p:sldId id="431" r:id="rId11"/>
    <p:sldId id="439" r:id="rId12"/>
    <p:sldId id="440" r:id="rId13"/>
    <p:sldId id="441" r:id="rId14"/>
    <p:sldId id="442" r:id="rId15"/>
    <p:sldId id="443" r:id="rId16"/>
    <p:sldId id="444" r:id="rId17"/>
    <p:sldId id="445" r:id="rId18"/>
    <p:sldId id="446" r:id="rId19"/>
    <p:sldId id="447" r:id="rId20"/>
    <p:sldId id="448" r:id="rId21"/>
    <p:sldId id="449" r:id="rId22"/>
    <p:sldId id="450" r:id="rId23"/>
    <p:sldId id="451" r:id="rId24"/>
    <p:sldId id="452" r:id="rId25"/>
    <p:sldId id="453" r:id="rId26"/>
    <p:sldId id="454" r:id="rId27"/>
    <p:sldId id="455" r:id="rId28"/>
    <p:sldId id="456" r:id="rId29"/>
    <p:sldId id="457" r:id="rId30"/>
    <p:sldId id="458" r:id="rId31"/>
    <p:sldId id="459" r:id="rId32"/>
    <p:sldId id="460" r:id="rId33"/>
    <p:sldId id="473" r:id="rId34"/>
    <p:sldId id="461" r:id="rId35"/>
    <p:sldId id="462" r:id="rId36"/>
    <p:sldId id="463" r:id="rId37"/>
    <p:sldId id="464" r:id="rId38"/>
    <p:sldId id="465" r:id="rId39"/>
    <p:sldId id="466" r:id="rId40"/>
    <p:sldId id="467" r:id="rId41"/>
    <p:sldId id="468" r:id="rId42"/>
    <p:sldId id="469" r:id="rId43"/>
    <p:sldId id="470" r:id="rId44"/>
    <p:sldId id="474" r:id="rId45"/>
    <p:sldId id="471" r:id="rId46"/>
    <p:sldId id="472" r:id="rId47"/>
    <p:sldId id="303" r:id="rId4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32E66"/>
    <a:srgbClr val="B31366"/>
    <a:srgbClr val="5D4E70"/>
    <a:srgbClr val="36234D"/>
    <a:srgbClr val="5F2D60"/>
    <a:srgbClr val="4C295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Estilo medio 3 - Énfasis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Estilo medio 3 - Énfasis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Estilo medio 3 - Énfasis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Estilo medio 3 - Énfasis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Estilo medio 3 - Énfasis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A488322-F2BA-4B5B-9748-0D474271808F}" styleName="Estilo medio 3 - Énfasis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673"/>
    <p:restoredTop sz="90146"/>
  </p:normalViewPr>
  <p:slideViewPr>
    <p:cSldViewPr snapToGrid="0" snapToObjects="1">
      <p:cViewPr varScale="1">
        <p:scale>
          <a:sx n="129" d="100"/>
          <a:sy n="129" d="100"/>
        </p:scale>
        <p:origin x="3312"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ustomXml" Target="../customXml/item3.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4C3094-54F3-9B4F-9FFC-2D3DC4BBE891}" type="datetimeFigureOut">
              <a:rPr lang="es-AR" smtClean="0"/>
              <a:t>25/5/26</a:t>
            </a:fld>
            <a:endParaRPr lang="es-AR"/>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008CE7-C04C-1242-8D65-EF1635ED0988}" type="slidenum">
              <a:rPr lang="es-AR" smtClean="0"/>
              <a:t>‹Nº›</a:t>
            </a:fld>
            <a:endParaRPr lang="es-AR"/>
          </a:p>
        </p:txBody>
      </p:sp>
    </p:spTree>
    <p:extLst>
      <p:ext uri="{BB962C8B-B14F-4D97-AF65-F5344CB8AC3E}">
        <p14:creationId xmlns:p14="http://schemas.microsoft.com/office/powerpoint/2010/main" val="680370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00008CE7-C04C-1242-8D65-EF1635ED0988}" type="slidenum">
              <a:rPr lang="es-AR" smtClean="0"/>
              <a:t>3</a:t>
            </a:fld>
            <a:endParaRPr lang="es-AR"/>
          </a:p>
        </p:txBody>
      </p:sp>
    </p:spTree>
    <p:extLst>
      <p:ext uri="{BB962C8B-B14F-4D97-AF65-F5344CB8AC3E}">
        <p14:creationId xmlns:p14="http://schemas.microsoft.com/office/powerpoint/2010/main" val="1094720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00008CE7-C04C-1242-8D65-EF1635ED0988}" type="slidenum">
              <a:rPr lang="es-AR" smtClean="0"/>
              <a:t>8</a:t>
            </a:fld>
            <a:endParaRPr lang="es-AR"/>
          </a:p>
        </p:txBody>
      </p:sp>
    </p:spTree>
    <p:extLst>
      <p:ext uri="{BB962C8B-B14F-4D97-AF65-F5344CB8AC3E}">
        <p14:creationId xmlns:p14="http://schemas.microsoft.com/office/powerpoint/2010/main" val="29584723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00008CE7-C04C-1242-8D65-EF1635ED0988}" type="slidenum">
              <a:rPr lang="es-AR" smtClean="0"/>
              <a:t>27</a:t>
            </a:fld>
            <a:endParaRPr lang="es-AR"/>
          </a:p>
        </p:txBody>
      </p:sp>
    </p:spTree>
    <p:extLst>
      <p:ext uri="{BB962C8B-B14F-4D97-AF65-F5344CB8AC3E}">
        <p14:creationId xmlns:p14="http://schemas.microsoft.com/office/powerpoint/2010/main" val="38951783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es-MX"/>
              <a:t>Haz clic para modificar el estilo de título del patrón</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fld id="{5BCAD085-E8A6-8845-BD4E-CB4CCA059FC4}" type="datetimeFigureOut">
              <a:rPr lang="en-US" smtClean="0"/>
              <a:t>5/25/26</a:t>
            </a:fld>
            <a:endParaRPr lang="en-US"/>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endParaRPr lang="en-US"/>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169001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es-MX"/>
              <a:t>Haz clic para modificar el estilo de título del patrón</a:t>
            </a:r>
            <a:endParaRPr lang="en-US" dirty="0"/>
          </a:p>
        </p:txBody>
      </p:sp>
      <p:sp>
        <p:nvSpPr>
          <p:cNvPr id="3" name="Content Placeholder 2"/>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3494167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5/25/26</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33502268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s-MX"/>
              <a:t>Haz clic para modificar el estilo de título del patrón</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345222726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199337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065856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fld id="{5BCAD085-E8A6-8845-BD4E-CB4CCA059FC4}" type="datetimeFigureOut">
              <a:rPr lang="en-US" smtClean="0"/>
              <a:t>5/25/26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38044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s-MX"/>
              <a:t>Haz clic para modificar el estilo de título del patrón</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5/25/26</a:t>
            </a:fld>
            <a:endParaRPr lang="en-US"/>
          </a:p>
        </p:txBody>
      </p:sp>
      <p:sp>
        <p:nvSpPr>
          <p:cNvPr id="6" name="Footer Placeholder 5"/>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64260900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5/25/26</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708435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Imagen panorámica con descripció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5/25/26</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475459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ítulo y descripció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es-MX"/>
              <a:t>Haz clic para modificar el estilo de título del patrón</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5/25/26</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4097671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 con descripció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es-MX"/>
              <a:t>Haz clic para modificar el estilo de título del patrón</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5/25/26</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32876142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arjeta de nombre">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5/25/26</a:t>
            </a:fld>
            <a:endParaRPr lang="en-US"/>
          </a:p>
        </p:txBody>
      </p:sp>
      <p:sp>
        <p:nvSpPr>
          <p:cNvPr id="5" name="Footer Placeholder 4"/>
          <p:cNvSpPr>
            <a:spLocks noGrp="1"/>
          </p:cNvSpPr>
          <p:nvPr>
            <p:ph type="ftr" sz="quarter" idx="11"/>
          </p:nvPr>
        </p:nvSpPr>
        <p:spPr/>
        <p:txBody>
          <a:bodyPr/>
          <a:lstStyle/>
          <a:p>
            <a:endParaRPr lang="en-US"/>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2006067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5/25/26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32463033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5/25/26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32830725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30964133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5/25/26</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2297631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s-AR"/>
            </a:p>
          </p:txBody>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txBody>
            <a:bodyPr/>
            <a:lstStyle/>
            <a:p>
              <a:endParaRPr lang="es-AR"/>
            </a:p>
          </p:txBody>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s-AR"/>
            </a:p>
          </p:txBody>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fld id="{5BCAD085-E8A6-8845-BD4E-CB4CCA059FC4}" type="datetimeFigureOut">
              <a:rPr lang="en-US" smtClean="0"/>
              <a:t>5/25/26</a:t>
            </a:fld>
            <a:endParaRPr lang="en-US"/>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US"/>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AR"/>
          </a:p>
        </p:txBody>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246204472"/>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 id="2147483886" r:id="rId7"/>
    <p:sldLayoutId id="2147483887" r:id="rId8"/>
    <p:sldLayoutId id="2147483888" r:id="rId9"/>
    <p:sldLayoutId id="2147483889" r:id="rId10"/>
    <p:sldLayoutId id="2147483890" r:id="rId11"/>
    <p:sldLayoutId id="2147483891" r:id="rId12"/>
    <p:sldLayoutId id="2147483892" r:id="rId13"/>
    <p:sldLayoutId id="2147483893" r:id="rId14"/>
    <p:sldLayoutId id="2147483894" r:id="rId15"/>
    <p:sldLayoutId id="2147483895" r:id="rId16"/>
    <p:sldLayoutId id="2147483896" r:id="rId17"/>
  </p:sldLayoutIdLst>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s-419" dirty="0"/>
              <a:t>Procesos de Desarrollo de Software</a:t>
            </a:r>
            <a:endParaRPr dirty="0"/>
          </a:p>
        </p:txBody>
      </p:sp>
      <p:sp>
        <p:nvSpPr>
          <p:cNvPr id="3" name="Subtitle 2"/>
          <p:cNvSpPr>
            <a:spLocks noGrp="1"/>
          </p:cNvSpPr>
          <p:nvPr>
            <p:ph type="subTitle" idx="1"/>
          </p:nvPr>
        </p:nvSpPr>
        <p:spPr>
          <a:xfrm>
            <a:off x="866440" y="4777380"/>
            <a:ext cx="6626560" cy="861420"/>
          </a:xfrm>
        </p:spPr>
        <p:txBody>
          <a:bodyPr/>
          <a:lstStyle/>
          <a:p>
            <a:r>
              <a:rPr dirty="0">
                <a:solidFill>
                  <a:schemeClr val="bg1"/>
                </a:solidFill>
              </a:rPr>
              <a:t>Clase </a:t>
            </a:r>
            <a:r>
              <a:rPr lang="es-419" dirty="0">
                <a:solidFill>
                  <a:schemeClr val="bg1"/>
                </a:solidFill>
              </a:rPr>
              <a:t>10</a:t>
            </a:r>
            <a:r>
              <a:rPr dirty="0">
                <a:solidFill>
                  <a:schemeClr val="bg1"/>
                </a:solidFill>
              </a:rPr>
              <a:t> –</a:t>
            </a:r>
            <a:r>
              <a:rPr lang="es-419" dirty="0">
                <a:solidFill>
                  <a:schemeClr val="bg1"/>
                </a:solidFill>
              </a:rPr>
              <a:t> Patrones de diseño</a:t>
            </a:r>
            <a:endParaRPr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Agenda de la </a:t>
            </a:r>
            <a:r>
              <a:rPr dirty="0" err="1"/>
              <a:t>clase</a:t>
            </a:r>
            <a:endParaRPr dirty="0"/>
          </a:p>
        </p:txBody>
      </p:sp>
      <p:sp>
        <p:nvSpPr>
          <p:cNvPr id="3" name="Content Placeholder 2"/>
          <p:cNvSpPr>
            <a:spLocks noGrp="1"/>
          </p:cNvSpPr>
          <p:nvPr>
            <p:ph idx="1"/>
          </p:nvPr>
        </p:nvSpPr>
        <p:spPr/>
        <p:txBody>
          <a:bodyPr/>
          <a:lstStyle/>
          <a:p>
            <a:r>
              <a:rPr lang="es-419" dirty="0"/>
              <a:t>Composite</a:t>
            </a:r>
          </a:p>
          <a:p>
            <a:r>
              <a:rPr lang="es-419" dirty="0"/>
              <a:t>Decorator</a:t>
            </a:r>
          </a:p>
          <a:p>
            <a:endParaRPr lang="es-419"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52AC8A-4EDC-CD59-8C06-030C08DD0995}"/>
              </a:ext>
            </a:extLst>
          </p:cNvPr>
          <p:cNvSpPr>
            <a:spLocks noGrp="1"/>
          </p:cNvSpPr>
          <p:nvPr>
            <p:ph type="title"/>
          </p:nvPr>
        </p:nvSpPr>
        <p:spPr/>
        <p:txBody>
          <a:bodyPr/>
          <a:lstStyle/>
          <a:p>
            <a:r>
              <a:rPr lang="es-AR" dirty="0"/>
              <a:t>Composite 🌳</a:t>
            </a:r>
          </a:p>
        </p:txBody>
      </p:sp>
      <p:sp>
        <p:nvSpPr>
          <p:cNvPr id="3" name="Marcador de contenido 2">
            <a:extLst>
              <a:ext uri="{FF2B5EF4-FFF2-40B4-BE49-F238E27FC236}">
                <a16:creationId xmlns:a16="http://schemas.microsoft.com/office/drawing/2014/main" id="{ECED74D0-CC3E-BC80-E395-3370F3879752}"/>
              </a:ext>
            </a:extLst>
          </p:cNvPr>
          <p:cNvSpPr>
            <a:spLocks noGrp="1"/>
          </p:cNvSpPr>
          <p:nvPr>
            <p:ph idx="1"/>
          </p:nvPr>
        </p:nvSpPr>
        <p:spPr>
          <a:xfrm>
            <a:off x="864381" y="2489200"/>
            <a:ext cx="7535339" cy="3530600"/>
          </a:xfrm>
        </p:spPr>
        <p:txBody>
          <a:bodyPr>
            <a:normAutofit fontScale="85000" lnSpcReduction="20000"/>
          </a:bodyPr>
          <a:lstStyle/>
          <a:p>
            <a:pPr marL="0" indent="0" algn="just">
              <a:buNone/>
            </a:pPr>
            <a:r>
              <a:rPr lang="es-AR" dirty="0"/>
              <a:t>Es un patrón </a:t>
            </a:r>
            <a:r>
              <a:rPr lang="es-AR" b="1" dirty="0"/>
              <a:t>Estructural.</a:t>
            </a:r>
          </a:p>
          <a:p>
            <a:pPr marL="0" indent="0" algn="just">
              <a:buNone/>
            </a:pPr>
            <a:endParaRPr lang="es-AR" dirty="0"/>
          </a:p>
          <a:p>
            <a:pPr marL="0" indent="0" algn="just">
              <a:buNone/>
            </a:pPr>
            <a:r>
              <a:rPr lang="es-AR" b="1" u="sng" dirty="0"/>
              <a:t>¿Qué hace?</a:t>
            </a:r>
          </a:p>
          <a:p>
            <a:pPr algn="just"/>
            <a:r>
              <a:rPr lang="es-AR" dirty="0"/>
              <a:t>Compone objetos en estructura de árbol.</a:t>
            </a:r>
          </a:p>
          <a:p>
            <a:pPr algn="just"/>
            <a:r>
              <a:rPr lang="es-AR" dirty="0"/>
              <a:t>Permite que un cliente trate de forma polimórfica a un objeto particular y a un conjunto combinado de ellos. </a:t>
            </a:r>
          </a:p>
          <a:p>
            <a:pPr algn="just"/>
            <a:endParaRPr lang="es-AR" dirty="0"/>
          </a:p>
          <a:p>
            <a:pPr marL="0" indent="0" algn="just">
              <a:buNone/>
            </a:pPr>
            <a:r>
              <a:rPr lang="es-AR" dirty="0"/>
              <a:t>Se </a:t>
            </a:r>
            <a:r>
              <a:rPr lang="es-AR" b="1" dirty="0"/>
              <a:t>sugiere</a:t>
            </a:r>
            <a:r>
              <a:rPr lang="es-AR" dirty="0"/>
              <a:t> su utilización </a:t>
            </a:r>
            <a:r>
              <a:rPr lang="es-AR" b="1" dirty="0"/>
              <a:t>cuando</a:t>
            </a:r>
            <a:r>
              <a:rPr lang="es-AR" dirty="0"/>
              <a:t>: </a:t>
            </a:r>
          </a:p>
          <a:p>
            <a:pPr algn="just"/>
            <a:r>
              <a:rPr lang="es-AR" dirty="0"/>
              <a:t>Se requiere que un tercero utilice de forma indistinta (polimórfica) a un objeto particular o a un conjunto compuesto de ellos.</a:t>
            </a:r>
          </a:p>
          <a:p>
            <a:pPr algn="just"/>
            <a:r>
              <a:rPr lang="es-AR" dirty="0"/>
              <a:t>Se debe permitir que un objeto esté compuesto por varios objetos simples o por otros objetos compuestos. </a:t>
            </a:r>
          </a:p>
        </p:txBody>
      </p:sp>
    </p:spTree>
    <p:extLst>
      <p:ext uri="{BB962C8B-B14F-4D97-AF65-F5344CB8AC3E}">
        <p14:creationId xmlns:p14="http://schemas.microsoft.com/office/powerpoint/2010/main" val="1560004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21F284-A988-6DDC-0385-1E5B625B3FBC}"/>
              </a:ext>
            </a:extLst>
          </p:cNvPr>
          <p:cNvSpPr>
            <a:spLocks noGrp="1"/>
          </p:cNvSpPr>
          <p:nvPr>
            <p:ph type="title"/>
          </p:nvPr>
        </p:nvSpPr>
        <p:spPr/>
        <p:txBody>
          <a:bodyPr/>
          <a:lstStyle/>
          <a:p>
            <a:r>
              <a:rPr lang="es-AR" dirty="0"/>
              <a:t>Ejemplo</a:t>
            </a:r>
          </a:p>
        </p:txBody>
      </p:sp>
      <p:sp>
        <p:nvSpPr>
          <p:cNvPr id="5" name="Marcador de contenido 4">
            <a:extLst>
              <a:ext uri="{FF2B5EF4-FFF2-40B4-BE49-F238E27FC236}">
                <a16:creationId xmlns:a16="http://schemas.microsoft.com/office/drawing/2014/main" id="{98A6B338-2A14-13FC-DC5B-8B661F5F3495}"/>
              </a:ext>
            </a:extLst>
          </p:cNvPr>
          <p:cNvSpPr>
            <a:spLocks noGrp="1"/>
          </p:cNvSpPr>
          <p:nvPr>
            <p:ph idx="1"/>
          </p:nvPr>
        </p:nvSpPr>
        <p:spPr>
          <a:xfrm>
            <a:off x="864382" y="2489200"/>
            <a:ext cx="3856474" cy="1551172"/>
          </a:xfrm>
        </p:spPr>
        <p:txBody>
          <a:bodyPr/>
          <a:lstStyle/>
          <a:p>
            <a:r>
              <a:rPr lang="es-AR" dirty="0"/>
              <a:t>Dentro del pedido hay:</a:t>
            </a:r>
          </a:p>
          <a:p>
            <a:pPr lvl="1"/>
            <a:r>
              <a:rPr lang="es-AR" dirty="0"/>
              <a:t>productos individuales</a:t>
            </a:r>
          </a:p>
          <a:p>
            <a:pPr lvl="1"/>
            <a:r>
              <a:rPr lang="es-AR" dirty="0"/>
              <a:t>otros grupos de productos</a:t>
            </a:r>
          </a:p>
        </p:txBody>
      </p:sp>
      <p:pic>
        <p:nvPicPr>
          <p:cNvPr id="1026" name="Picture 2" descr="Composite">
            <a:extLst>
              <a:ext uri="{FF2B5EF4-FFF2-40B4-BE49-F238E27FC236}">
                <a16:creationId xmlns:a16="http://schemas.microsoft.com/office/drawing/2014/main" id="{EB75ADF2-DE97-00D1-5974-4526231B19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8378" y="2393507"/>
            <a:ext cx="4114800"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8148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FB903E-5E0E-5E95-D042-93743C53E150}"/>
              </a:ext>
            </a:extLst>
          </p:cNvPr>
          <p:cNvSpPr>
            <a:spLocks noGrp="1"/>
          </p:cNvSpPr>
          <p:nvPr>
            <p:ph type="title"/>
          </p:nvPr>
        </p:nvSpPr>
        <p:spPr/>
        <p:txBody>
          <a:bodyPr/>
          <a:lstStyle/>
          <a:p>
            <a:r>
              <a:rPr lang="es-AR" dirty="0"/>
              <a:t>Componentes</a:t>
            </a:r>
          </a:p>
        </p:txBody>
      </p:sp>
      <p:sp>
        <p:nvSpPr>
          <p:cNvPr id="3" name="Marcador de contenido 2">
            <a:extLst>
              <a:ext uri="{FF2B5EF4-FFF2-40B4-BE49-F238E27FC236}">
                <a16:creationId xmlns:a16="http://schemas.microsoft.com/office/drawing/2014/main" id="{C9C588BD-52A2-2576-FEA6-9DA2A3DEC15D}"/>
              </a:ext>
            </a:extLst>
          </p:cNvPr>
          <p:cNvSpPr>
            <a:spLocks noGrp="1"/>
          </p:cNvSpPr>
          <p:nvPr>
            <p:ph idx="1"/>
          </p:nvPr>
        </p:nvSpPr>
        <p:spPr>
          <a:xfrm>
            <a:off x="864382" y="2489200"/>
            <a:ext cx="7737358" cy="3530600"/>
          </a:xfrm>
        </p:spPr>
        <p:txBody>
          <a:bodyPr>
            <a:normAutofit fontScale="85000" lnSpcReduction="10000"/>
          </a:bodyPr>
          <a:lstStyle/>
          <a:p>
            <a:pPr marL="0" indent="0" algn="just">
              <a:buNone/>
            </a:pPr>
            <a:r>
              <a:rPr lang="es-AR" dirty="0"/>
              <a:t>Componentes:</a:t>
            </a:r>
          </a:p>
          <a:p>
            <a:pPr algn="just"/>
            <a:r>
              <a:rPr lang="es-AR" b="1" dirty="0"/>
              <a:t>Interface/Clase abstracta Componente</a:t>
            </a:r>
            <a:r>
              <a:rPr lang="es-AR" dirty="0"/>
              <a:t>: Define las firmas de los métodos que son comunes entre los elementos simples y los elementos complejos/compuestos. Su propósito es que un tercero conozca su interfaz para que utilice polimórficamente los elementos simples y los compuestos.</a:t>
            </a:r>
          </a:p>
          <a:p>
            <a:pPr algn="just"/>
            <a:r>
              <a:rPr lang="es-AR" b="1" dirty="0"/>
              <a:t>Hoja</a:t>
            </a:r>
            <a:r>
              <a:rPr lang="es-AR" dirty="0"/>
              <a:t>: Objetos simples que cumplen con la interfaz del Componente. Contienen la implementación más “gruesa” ya que, en general, no delegan el trabajo en nadie más.</a:t>
            </a:r>
          </a:p>
          <a:p>
            <a:pPr algn="just"/>
            <a:r>
              <a:rPr lang="es-AR" b="1" dirty="0"/>
              <a:t>Compuesto</a:t>
            </a:r>
            <a:r>
              <a:rPr lang="es-AR" dirty="0"/>
              <a:t>: Clase que, también, cumple con la interfaz del Componente. Contiene una colección de Componentes, motivo por el cual puede contener tanto objetos simples (hojas) como otros objetos compuestos. Al recibir un mensaje, delega el trabajo en los componentes que tiene; luego junta las respuestas, las procesa y, por último, otorga una respuesta final simplificada.</a:t>
            </a:r>
          </a:p>
          <a:p>
            <a:endParaRPr lang="es-AR" dirty="0"/>
          </a:p>
        </p:txBody>
      </p:sp>
    </p:spTree>
    <p:extLst>
      <p:ext uri="{BB962C8B-B14F-4D97-AF65-F5344CB8AC3E}">
        <p14:creationId xmlns:p14="http://schemas.microsoft.com/office/powerpoint/2010/main" val="887776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2C866C-9166-2E98-2E47-1E8DDFB7C395}"/>
              </a:ext>
            </a:extLst>
          </p:cNvPr>
          <p:cNvSpPr>
            <a:spLocks noGrp="1"/>
          </p:cNvSpPr>
          <p:nvPr>
            <p:ph type="title"/>
          </p:nvPr>
        </p:nvSpPr>
        <p:spPr/>
        <p:txBody>
          <a:bodyPr/>
          <a:lstStyle/>
          <a:p>
            <a:r>
              <a:rPr lang="es-AR" dirty="0"/>
              <a:t>Diagrama UML</a:t>
            </a:r>
          </a:p>
        </p:txBody>
      </p:sp>
      <p:pic>
        <p:nvPicPr>
          <p:cNvPr id="4" name="Imagen 3">
            <a:extLst>
              <a:ext uri="{FF2B5EF4-FFF2-40B4-BE49-F238E27FC236}">
                <a16:creationId xmlns:a16="http://schemas.microsoft.com/office/drawing/2014/main" id="{5F95F04F-CF5A-1E90-995B-D200CA9E4B72}"/>
              </a:ext>
            </a:extLst>
          </p:cNvPr>
          <p:cNvPicPr>
            <a:picLocks noChangeAspect="1"/>
          </p:cNvPicPr>
          <p:nvPr/>
        </p:nvPicPr>
        <p:blipFill>
          <a:blip r:embed="rId2"/>
          <a:stretch>
            <a:fillRect/>
          </a:stretch>
        </p:blipFill>
        <p:spPr>
          <a:xfrm>
            <a:off x="3340923" y="3308262"/>
            <a:ext cx="5218286" cy="3168694"/>
          </a:xfrm>
          <a:prstGeom prst="rect">
            <a:avLst/>
          </a:prstGeom>
        </p:spPr>
      </p:pic>
      <p:sp>
        <p:nvSpPr>
          <p:cNvPr id="7" name="Marcador de contenido 4">
            <a:extLst>
              <a:ext uri="{FF2B5EF4-FFF2-40B4-BE49-F238E27FC236}">
                <a16:creationId xmlns:a16="http://schemas.microsoft.com/office/drawing/2014/main" id="{DAA477FE-5F81-C559-03A8-68BCE9FE5B2A}"/>
              </a:ext>
            </a:extLst>
          </p:cNvPr>
          <p:cNvSpPr>
            <a:spLocks noGrp="1"/>
          </p:cNvSpPr>
          <p:nvPr>
            <p:ph idx="1"/>
          </p:nvPr>
        </p:nvSpPr>
        <p:spPr>
          <a:xfrm>
            <a:off x="584790" y="2489200"/>
            <a:ext cx="4401879" cy="1551172"/>
          </a:xfrm>
        </p:spPr>
        <p:txBody>
          <a:bodyPr>
            <a:normAutofit/>
          </a:bodyPr>
          <a:lstStyle/>
          <a:p>
            <a:r>
              <a:rPr lang="es-AR" dirty="0"/>
              <a:t>“Un objeto contiene otros objetos del mismo tipo lógico”</a:t>
            </a:r>
          </a:p>
        </p:txBody>
      </p:sp>
    </p:spTree>
    <p:extLst>
      <p:ext uri="{BB962C8B-B14F-4D97-AF65-F5344CB8AC3E}">
        <p14:creationId xmlns:p14="http://schemas.microsoft.com/office/powerpoint/2010/main" val="1375395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B2EB44-F9C2-B4FC-5354-9BDFCC01614A}"/>
              </a:ext>
            </a:extLst>
          </p:cNvPr>
          <p:cNvSpPr>
            <a:spLocks noGrp="1"/>
          </p:cNvSpPr>
          <p:nvPr>
            <p:ph type="title"/>
          </p:nvPr>
        </p:nvSpPr>
        <p:spPr/>
        <p:txBody>
          <a:bodyPr/>
          <a:lstStyle/>
          <a:p>
            <a:r>
              <a:rPr lang="es-AR" dirty="0"/>
              <a:t>Ejemplo</a:t>
            </a:r>
          </a:p>
        </p:txBody>
      </p:sp>
      <p:sp>
        <p:nvSpPr>
          <p:cNvPr id="3" name="Marcador de contenido 2">
            <a:extLst>
              <a:ext uri="{FF2B5EF4-FFF2-40B4-BE49-F238E27FC236}">
                <a16:creationId xmlns:a16="http://schemas.microsoft.com/office/drawing/2014/main" id="{291C0E83-9720-CBAD-57C7-F8F19C39A9B9}"/>
              </a:ext>
            </a:extLst>
          </p:cNvPr>
          <p:cNvSpPr>
            <a:spLocks noGrp="1"/>
          </p:cNvSpPr>
          <p:nvPr>
            <p:ph idx="1"/>
          </p:nvPr>
        </p:nvSpPr>
        <p:spPr/>
        <p:txBody>
          <a:bodyPr/>
          <a:lstStyle/>
          <a:p>
            <a:r>
              <a:rPr lang="es-AR" dirty="0"/>
              <a:t>Un pedido puede tener dentro varias ‘cajas’ con distintos ítems.</a:t>
            </a:r>
          </a:p>
          <a:p>
            <a:endParaRPr lang="es-AR" dirty="0"/>
          </a:p>
        </p:txBody>
      </p:sp>
      <p:pic>
        <p:nvPicPr>
          <p:cNvPr id="5" name="Imagen 4">
            <a:extLst>
              <a:ext uri="{FF2B5EF4-FFF2-40B4-BE49-F238E27FC236}">
                <a16:creationId xmlns:a16="http://schemas.microsoft.com/office/drawing/2014/main" id="{2B1925E1-8661-3DFB-1FD1-918DC1A3906E}"/>
              </a:ext>
            </a:extLst>
          </p:cNvPr>
          <p:cNvPicPr>
            <a:picLocks noChangeAspect="1"/>
          </p:cNvPicPr>
          <p:nvPr/>
        </p:nvPicPr>
        <p:blipFill>
          <a:blip r:embed="rId2"/>
          <a:stretch>
            <a:fillRect/>
          </a:stretch>
        </p:blipFill>
        <p:spPr>
          <a:xfrm>
            <a:off x="1974185" y="3317061"/>
            <a:ext cx="5195629" cy="3042389"/>
          </a:xfrm>
          <a:prstGeom prst="rect">
            <a:avLst/>
          </a:prstGeom>
        </p:spPr>
      </p:pic>
    </p:spTree>
    <p:extLst>
      <p:ext uri="{BB962C8B-B14F-4D97-AF65-F5344CB8AC3E}">
        <p14:creationId xmlns:p14="http://schemas.microsoft.com/office/powerpoint/2010/main" val="3529316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296413-17EE-7FBF-32CA-709C20A48AE3}"/>
              </a:ext>
            </a:extLst>
          </p:cNvPr>
          <p:cNvSpPr>
            <a:spLocks noGrp="1"/>
          </p:cNvSpPr>
          <p:nvPr>
            <p:ph type="title"/>
          </p:nvPr>
        </p:nvSpPr>
        <p:spPr/>
        <p:txBody>
          <a:bodyPr/>
          <a:lstStyle/>
          <a:p>
            <a:r>
              <a:rPr lang="es-AR" dirty="0"/>
              <a:t>Ejemplo</a:t>
            </a:r>
          </a:p>
        </p:txBody>
      </p:sp>
      <p:pic>
        <p:nvPicPr>
          <p:cNvPr id="4" name="Imagen 3">
            <a:extLst>
              <a:ext uri="{FF2B5EF4-FFF2-40B4-BE49-F238E27FC236}">
                <a16:creationId xmlns:a16="http://schemas.microsoft.com/office/drawing/2014/main" id="{1A2A58CB-DE74-BEB1-10FF-B09DFE72AADF}"/>
              </a:ext>
            </a:extLst>
          </p:cNvPr>
          <p:cNvPicPr>
            <a:picLocks noChangeAspect="1"/>
          </p:cNvPicPr>
          <p:nvPr/>
        </p:nvPicPr>
        <p:blipFill>
          <a:blip r:embed="rId3"/>
          <a:stretch>
            <a:fillRect/>
          </a:stretch>
        </p:blipFill>
        <p:spPr>
          <a:xfrm>
            <a:off x="549814" y="2199524"/>
            <a:ext cx="3865290" cy="1964070"/>
          </a:xfrm>
          <a:prstGeom prst="rect">
            <a:avLst/>
          </a:prstGeom>
        </p:spPr>
      </p:pic>
      <p:pic>
        <p:nvPicPr>
          <p:cNvPr id="5" name="Imagen 4">
            <a:extLst>
              <a:ext uri="{FF2B5EF4-FFF2-40B4-BE49-F238E27FC236}">
                <a16:creationId xmlns:a16="http://schemas.microsoft.com/office/drawing/2014/main" id="{B3E2130C-EA1E-CB31-87AA-AC91A4CD6C80}"/>
              </a:ext>
            </a:extLst>
          </p:cNvPr>
          <p:cNvPicPr>
            <a:picLocks noChangeAspect="1"/>
          </p:cNvPicPr>
          <p:nvPr/>
        </p:nvPicPr>
        <p:blipFill>
          <a:blip r:embed="rId4"/>
          <a:stretch>
            <a:fillRect/>
          </a:stretch>
        </p:blipFill>
        <p:spPr>
          <a:xfrm>
            <a:off x="761934" y="4320719"/>
            <a:ext cx="3653170" cy="2294034"/>
          </a:xfrm>
          <a:prstGeom prst="rect">
            <a:avLst/>
          </a:prstGeom>
        </p:spPr>
      </p:pic>
      <p:pic>
        <p:nvPicPr>
          <p:cNvPr id="7" name="Imagen 6">
            <a:extLst>
              <a:ext uri="{FF2B5EF4-FFF2-40B4-BE49-F238E27FC236}">
                <a16:creationId xmlns:a16="http://schemas.microsoft.com/office/drawing/2014/main" id="{D327AD7E-9B0C-CDEB-7AA0-B1944D41AF2C}"/>
              </a:ext>
            </a:extLst>
          </p:cNvPr>
          <p:cNvPicPr>
            <a:picLocks noChangeAspect="1"/>
          </p:cNvPicPr>
          <p:nvPr/>
        </p:nvPicPr>
        <p:blipFill>
          <a:blip r:embed="rId5"/>
          <a:stretch>
            <a:fillRect/>
          </a:stretch>
        </p:blipFill>
        <p:spPr>
          <a:xfrm>
            <a:off x="4977602" y="2199524"/>
            <a:ext cx="3616584" cy="4242391"/>
          </a:xfrm>
          <a:prstGeom prst="rect">
            <a:avLst/>
          </a:prstGeom>
        </p:spPr>
      </p:pic>
    </p:spTree>
    <p:extLst>
      <p:ext uri="{BB962C8B-B14F-4D97-AF65-F5344CB8AC3E}">
        <p14:creationId xmlns:p14="http://schemas.microsoft.com/office/powerpoint/2010/main" val="226980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BC38C6-7BF8-F36F-FD81-E27C4E651C09}"/>
              </a:ext>
            </a:extLst>
          </p:cNvPr>
          <p:cNvSpPr>
            <a:spLocks noGrp="1"/>
          </p:cNvSpPr>
          <p:nvPr>
            <p:ph type="title"/>
          </p:nvPr>
        </p:nvSpPr>
        <p:spPr/>
        <p:txBody>
          <a:bodyPr/>
          <a:lstStyle/>
          <a:p>
            <a:r>
              <a:rPr lang="es-AR" dirty="0"/>
              <a:t>Práctica</a:t>
            </a:r>
          </a:p>
        </p:txBody>
      </p:sp>
      <p:sp>
        <p:nvSpPr>
          <p:cNvPr id="3" name="Marcador de contenido 2">
            <a:extLst>
              <a:ext uri="{FF2B5EF4-FFF2-40B4-BE49-F238E27FC236}">
                <a16:creationId xmlns:a16="http://schemas.microsoft.com/office/drawing/2014/main" id="{432B2498-C83F-1023-8285-EA922B7E844A}"/>
              </a:ext>
            </a:extLst>
          </p:cNvPr>
          <p:cNvSpPr>
            <a:spLocks noGrp="1"/>
          </p:cNvSpPr>
          <p:nvPr>
            <p:ph idx="1"/>
          </p:nvPr>
        </p:nvSpPr>
        <p:spPr>
          <a:xfrm>
            <a:off x="864381" y="2489200"/>
            <a:ext cx="7503441" cy="3530600"/>
          </a:xfrm>
        </p:spPr>
        <p:txBody>
          <a:bodyPr/>
          <a:lstStyle/>
          <a:p>
            <a:r>
              <a:rPr lang="es-AR" dirty="0"/>
              <a:t>Ejercicio de aplicación de patrones “</a:t>
            </a:r>
            <a:r>
              <a:rPr lang="es-AR" b="1" dirty="0"/>
              <a:t>Módulo de Stock y Precios</a:t>
            </a:r>
            <a:r>
              <a:rPr lang="es-AR" dirty="0"/>
              <a:t>”</a:t>
            </a:r>
          </a:p>
          <a:p>
            <a:r>
              <a:rPr lang="es-AR" dirty="0"/>
              <a:t>Ejercicio de aplicación de patrones “</a:t>
            </a:r>
            <a:r>
              <a:rPr lang="es-AR" b="1" dirty="0"/>
              <a:t>Módulo de Restaurante</a:t>
            </a:r>
            <a:r>
              <a:rPr lang="es-AR" dirty="0"/>
              <a:t>”</a:t>
            </a:r>
          </a:p>
        </p:txBody>
      </p:sp>
    </p:spTree>
    <p:extLst>
      <p:ext uri="{BB962C8B-B14F-4D97-AF65-F5344CB8AC3E}">
        <p14:creationId xmlns:p14="http://schemas.microsoft.com/office/powerpoint/2010/main" val="2760377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364475-C8E7-60F2-BD78-A9D69D2345F3}"/>
              </a:ext>
            </a:extLst>
          </p:cNvPr>
          <p:cNvSpPr>
            <a:spLocks noGrp="1"/>
          </p:cNvSpPr>
          <p:nvPr>
            <p:ph type="title"/>
          </p:nvPr>
        </p:nvSpPr>
        <p:spPr/>
        <p:txBody>
          <a:bodyPr/>
          <a:lstStyle/>
          <a:p>
            <a:r>
              <a:rPr lang="es-AR" dirty="0"/>
              <a:t>Magic Café ☕✨</a:t>
            </a:r>
          </a:p>
        </p:txBody>
      </p:sp>
      <p:sp>
        <p:nvSpPr>
          <p:cNvPr id="3" name="Marcador de contenido 2">
            <a:extLst>
              <a:ext uri="{FF2B5EF4-FFF2-40B4-BE49-F238E27FC236}">
                <a16:creationId xmlns:a16="http://schemas.microsoft.com/office/drawing/2014/main" id="{5BC0801E-957E-554B-23A6-F3109B84AA7E}"/>
              </a:ext>
            </a:extLst>
          </p:cNvPr>
          <p:cNvSpPr>
            <a:spLocks noGrp="1"/>
          </p:cNvSpPr>
          <p:nvPr>
            <p:ph idx="1"/>
          </p:nvPr>
        </p:nvSpPr>
        <p:spPr>
          <a:xfrm>
            <a:off x="864382" y="2489200"/>
            <a:ext cx="7294098" cy="2865120"/>
          </a:xfrm>
        </p:spPr>
        <p:txBody>
          <a:bodyPr>
            <a:normAutofit/>
          </a:bodyPr>
          <a:lstStyle/>
          <a:p>
            <a:r>
              <a:rPr lang="es-AR" dirty="0"/>
              <a:t>Antes el pedido solamente podía vender sólo Producto</a:t>
            </a:r>
          </a:p>
          <a:p>
            <a:r>
              <a:rPr lang="es-AR" b="1" dirty="0"/>
              <a:t>Problema</a:t>
            </a:r>
            <a:r>
              <a:rPr lang="es-AR" dirty="0"/>
              <a:t>: No podíamos vender combos reutilizables.</a:t>
            </a:r>
          </a:p>
          <a:p>
            <a:endParaRPr lang="es-AR" dirty="0"/>
          </a:p>
          <a:p>
            <a:r>
              <a:rPr lang="es-AR" dirty="0"/>
              <a:t>Queremos permitir:</a:t>
            </a:r>
          </a:p>
          <a:p>
            <a:pPr lvl="1"/>
            <a:r>
              <a:rPr lang="es-AR" dirty="0"/>
              <a:t>Productos simples</a:t>
            </a:r>
          </a:p>
          <a:p>
            <a:pPr lvl="1"/>
            <a:r>
              <a:rPr lang="es-AR" dirty="0"/>
              <a:t>Combos</a:t>
            </a:r>
          </a:p>
          <a:p>
            <a:pPr lvl="1"/>
            <a:r>
              <a:rPr lang="es-AR" dirty="0"/>
              <a:t>Combos dentro de combos</a:t>
            </a:r>
          </a:p>
        </p:txBody>
      </p:sp>
    </p:spTree>
    <p:extLst>
      <p:ext uri="{BB962C8B-B14F-4D97-AF65-F5344CB8AC3E}">
        <p14:creationId xmlns:p14="http://schemas.microsoft.com/office/powerpoint/2010/main" val="1143542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2CC9D5-7226-C693-29E0-DBDA6C035BB8}"/>
              </a:ext>
            </a:extLst>
          </p:cNvPr>
          <p:cNvSpPr>
            <a:spLocks noGrp="1"/>
          </p:cNvSpPr>
          <p:nvPr>
            <p:ph type="title"/>
          </p:nvPr>
        </p:nvSpPr>
        <p:spPr/>
        <p:txBody>
          <a:bodyPr/>
          <a:lstStyle/>
          <a:p>
            <a:r>
              <a:rPr lang="es-AR" dirty="0"/>
              <a:t>Magic Café ☕✨</a:t>
            </a:r>
          </a:p>
        </p:txBody>
      </p:sp>
      <p:sp>
        <p:nvSpPr>
          <p:cNvPr id="3" name="Marcador de contenido 2">
            <a:extLst>
              <a:ext uri="{FF2B5EF4-FFF2-40B4-BE49-F238E27FC236}">
                <a16:creationId xmlns:a16="http://schemas.microsoft.com/office/drawing/2014/main" id="{4640EF8D-5C18-9B78-25D7-4AB888CBBA80}"/>
              </a:ext>
            </a:extLst>
          </p:cNvPr>
          <p:cNvSpPr>
            <a:spLocks noGrp="1"/>
          </p:cNvSpPr>
          <p:nvPr>
            <p:ph idx="1"/>
          </p:nvPr>
        </p:nvSpPr>
        <p:spPr>
          <a:xfrm>
            <a:off x="864381" y="2489200"/>
            <a:ext cx="3707619" cy="2732091"/>
          </a:xfrm>
        </p:spPr>
        <p:txBody>
          <a:bodyPr>
            <a:normAutofit/>
          </a:bodyPr>
          <a:lstStyle/>
          <a:p>
            <a:r>
              <a:rPr lang="es-AR" dirty="0"/>
              <a:t>De vender solo productos simples a vender productos, combos y estructuras reutilizables.</a:t>
            </a:r>
          </a:p>
          <a:p>
            <a:r>
              <a:rPr lang="es-AR" dirty="0"/>
              <a:t>La UI Swing y </a:t>
            </a:r>
            <a:r>
              <a:rPr lang="es-AR" dirty="0" err="1"/>
              <a:t>Clean</a:t>
            </a:r>
            <a:r>
              <a:rPr lang="es-AR" dirty="0"/>
              <a:t> </a:t>
            </a:r>
            <a:r>
              <a:rPr lang="es-AR" dirty="0" err="1"/>
              <a:t>Architecture</a:t>
            </a:r>
            <a:r>
              <a:rPr lang="es-AR" dirty="0"/>
              <a:t> se mantienen</a:t>
            </a:r>
          </a:p>
          <a:p>
            <a:endParaRPr lang="es-AR" dirty="0"/>
          </a:p>
        </p:txBody>
      </p:sp>
      <p:sp>
        <p:nvSpPr>
          <p:cNvPr id="4" name="Rounded Rectangle 9">
            <a:extLst>
              <a:ext uri="{FF2B5EF4-FFF2-40B4-BE49-F238E27FC236}">
                <a16:creationId xmlns:a16="http://schemas.microsoft.com/office/drawing/2014/main" id="{A916E5B3-68B8-1549-0859-1AD294843340}"/>
              </a:ext>
            </a:extLst>
          </p:cNvPr>
          <p:cNvSpPr/>
          <p:nvPr/>
        </p:nvSpPr>
        <p:spPr>
          <a:xfrm>
            <a:off x="4735741" y="2348732"/>
            <a:ext cx="3749039" cy="3275891"/>
          </a:xfrm>
          <a:prstGeom prst="roundRect">
            <a:avLst/>
          </a:prstGeom>
          <a:solidFill>
            <a:srgbClr val="241A3B"/>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10">
            <a:extLst>
              <a:ext uri="{FF2B5EF4-FFF2-40B4-BE49-F238E27FC236}">
                <a16:creationId xmlns:a16="http://schemas.microsoft.com/office/drawing/2014/main" id="{6F13A1E2-B2A2-37ED-53EB-778ECC9CA860}"/>
              </a:ext>
            </a:extLst>
          </p:cNvPr>
          <p:cNvSpPr txBox="1"/>
          <p:nvPr/>
        </p:nvSpPr>
        <p:spPr>
          <a:xfrm>
            <a:off x="4936909" y="2710971"/>
            <a:ext cx="3182112" cy="338554"/>
          </a:xfrm>
          <a:prstGeom prst="rect">
            <a:avLst/>
          </a:prstGeom>
          <a:noFill/>
        </p:spPr>
        <p:txBody>
          <a:bodyPr wrap="square">
            <a:spAutoFit/>
          </a:bodyPr>
          <a:lstStyle/>
          <a:p>
            <a:pPr>
              <a:defRPr sz="1300" b="1">
                <a:solidFill>
                  <a:srgbClr val="F8F4FF"/>
                </a:solidFill>
              </a:defRPr>
            </a:pPr>
            <a:r>
              <a:rPr sz="1600" dirty="0" err="1"/>
              <a:t>Evolución</a:t>
            </a:r>
            <a:r>
              <a:rPr sz="1600" dirty="0"/>
              <a:t> de la </a:t>
            </a:r>
            <a:r>
              <a:rPr sz="1600" dirty="0" err="1"/>
              <a:t>clase</a:t>
            </a:r>
            <a:endParaRPr sz="1600" dirty="0"/>
          </a:p>
        </p:txBody>
      </p:sp>
      <p:sp>
        <p:nvSpPr>
          <p:cNvPr id="6" name="TextBox 11">
            <a:extLst>
              <a:ext uri="{FF2B5EF4-FFF2-40B4-BE49-F238E27FC236}">
                <a16:creationId xmlns:a16="http://schemas.microsoft.com/office/drawing/2014/main" id="{E00CB72B-8AD3-08BF-1A3B-4C2B95FA9F7D}"/>
              </a:ext>
            </a:extLst>
          </p:cNvPr>
          <p:cNvSpPr txBox="1"/>
          <p:nvPr/>
        </p:nvSpPr>
        <p:spPr>
          <a:xfrm>
            <a:off x="5101501" y="3405409"/>
            <a:ext cx="3017520" cy="1815882"/>
          </a:xfrm>
          <a:prstGeom prst="rect">
            <a:avLst/>
          </a:prstGeom>
          <a:noFill/>
        </p:spPr>
        <p:txBody>
          <a:bodyPr wrap="square" lIns="18288" rIns="18288">
            <a:spAutoFit/>
          </a:bodyPr>
          <a:lstStyle/>
          <a:p>
            <a:pPr algn="ctr">
              <a:defRPr sz="2000" b="0">
                <a:solidFill>
                  <a:srgbClr val="F8F4FF"/>
                </a:solidFill>
              </a:defRPr>
            </a:pPr>
            <a:r>
              <a:rPr sz="1600" dirty="0"/>
              <a:t>JPA/Hibernate</a:t>
            </a:r>
          </a:p>
          <a:p>
            <a:pPr algn="ctr">
              <a:defRPr sz="2000" b="0">
                <a:solidFill>
                  <a:srgbClr val="F8F4FF"/>
                </a:solidFill>
              </a:defRPr>
            </a:pPr>
            <a:r>
              <a:rPr sz="1600" dirty="0"/>
              <a:t>↓</a:t>
            </a:r>
          </a:p>
          <a:p>
            <a:pPr algn="ctr">
              <a:defRPr sz="2000" b="0">
                <a:solidFill>
                  <a:srgbClr val="F8F4FF"/>
                </a:solidFill>
              </a:defRPr>
            </a:pPr>
            <a:r>
              <a:rPr sz="1600" dirty="0" err="1"/>
              <a:t>JpaRepository</a:t>
            </a:r>
            <a:endParaRPr sz="1600" dirty="0"/>
          </a:p>
          <a:p>
            <a:pPr algn="ctr">
              <a:defRPr sz="2000" b="0">
                <a:solidFill>
                  <a:srgbClr val="F8F4FF"/>
                </a:solidFill>
              </a:defRPr>
            </a:pPr>
            <a:r>
              <a:rPr sz="1600" dirty="0"/>
              <a:t>↓</a:t>
            </a:r>
          </a:p>
          <a:p>
            <a:pPr algn="ctr">
              <a:defRPr sz="2000" b="0">
                <a:solidFill>
                  <a:srgbClr val="F8F4FF"/>
                </a:solidFill>
              </a:defRPr>
            </a:pPr>
            <a:r>
              <a:rPr sz="1600" dirty="0"/>
              <a:t>Strategy </a:t>
            </a:r>
            <a:r>
              <a:rPr sz="1600" dirty="0" err="1"/>
              <a:t>persistida</a:t>
            </a:r>
            <a:endParaRPr sz="1600" dirty="0"/>
          </a:p>
          <a:p>
            <a:pPr algn="ctr">
              <a:defRPr sz="2000" b="0">
                <a:solidFill>
                  <a:srgbClr val="F8F4FF"/>
                </a:solidFill>
              </a:defRPr>
            </a:pPr>
            <a:r>
              <a:rPr sz="1600" dirty="0"/>
              <a:t>↓</a:t>
            </a:r>
          </a:p>
          <a:p>
            <a:pPr algn="ctr">
              <a:defRPr sz="2000" b="0">
                <a:solidFill>
                  <a:srgbClr val="F8F4FF"/>
                </a:solidFill>
              </a:defRPr>
            </a:pPr>
            <a:r>
              <a:rPr sz="1600" dirty="0"/>
              <a:t>Composite para combos</a:t>
            </a:r>
          </a:p>
        </p:txBody>
      </p:sp>
    </p:spTree>
    <p:extLst>
      <p:ext uri="{BB962C8B-B14F-4D97-AF65-F5344CB8AC3E}">
        <p14:creationId xmlns:p14="http://schemas.microsoft.com/office/powerpoint/2010/main" val="774696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968E5E-BF1F-CAE4-84FF-2061CC232A1A}"/>
              </a:ext>
            </a:extLst>
          </p:cNvPr>
          <p:cNvSpPr>
            <a:spLocks noGrp="1"/>
          </p:cNvSpPr>
          <p:nvPr>
            <p:ph type="title"/>
          </p:nvPr>
        </p:nvSpPr>
        <p:spPr/>
        <p:txBody>
          <a:bodyPr/>
          <a:lstStyle/>
          <a:p>
            <a:r>
              <a:rPr lang="es-AR" dirty="0"/>
              <a:t>Objetivo</a:t>
            </a:r>
          </a:p>
        </p:txBody>
      </p:sp>
      <p:sp>
        <p:nvSpPr>
          <p:cNvPr id="3" name="Marcador de contenido 2">
            <a:extLst>
              <a:ext uri="{FF2B5EF4-FFF2-40B4-BE49-F238E27FC236}">
                <a16:creationId xmlns:a16="http://schemas.microsoft.com/office/drawing/2014/main" id="{42DA190D-EAD4-B9D3-9CB0-31B77A94DF4F}"/>
              </a:ext>
            </a:extLst>
          </p:cNvPr>
          <p:cNvSpPr>
            <a:spLocks noGrp="1"/>
          </p:cNvSpPr>
          <p:nvPr>
            <p:ph idx="1"/>
          </p:nvPr>
        </p:nvSpPr>
        <p:spPr>
          <a:xfrm>
            <a:off x="864382" y="2489200"/>
            <a:ext cx="7556604" cy="2880242"/>
          </a:xfrm>
        </p:spPr>
        <p:txBody>
          <a:bodyPr>
            <a:normAutofit/>
          </a:bodyPr>
          <a:lstStyle/>
          <a:p>
            <a:r>
              <a:rPr lang="es-AR" dirty="0"/>
              <a:t>Entender qué problema resuelve Composite.</a:t>
            </a:r>
          </a:p>
          <a:p>
            <a:r>
              <a:rPr lang="es-AR" dirty="0"/>
              <a:t>Identificar </a:t>
            </a:r>
            <a:r>
              <a:rPr lang="es-AR" dirty="0" err="1"/>
              <a:t>Component</a:t>
            </a:r>
            <a:r>
              <a:rPr lang="es-AR" dirty="0"/>
              <a:t>, </a:t>
            </a:r>
            <a:r>
              <a:rPr lang="es-AR" dirty="0" err="1"/>
              <a:t>Leaf</a:t>
            </a:r>
            <a:r>
              <a:rPr lang="es-AR" dirty="0"/>
              <a:t> y Composite en </a:t>
            </a:r>
            <a:r>
              <a:rPr lang="es-AR" dirty="0" err="1"/>
              <a:t>MagicCafe</a:t>
            </a:r>
            <a:r>
              <a:rPr lang="es-AR" dirty="0"/>
              <a:t>.</a:t>
            </a:r>
          </a:p>
          <a:p>
            <a:r>
              <a:rPr lang="es-AR" dirty="0"/>
              <a:t>Modificar el dominio para trabajar contra una abstracción común.</a:t>
            </a:r>
          </a:p>
          <a:p>
            <a:r>
              <a:rPr lang="es-AR" dirty="0"/>
              <a:t>Persistir Producto y Combo con </a:t>
            </a:r>
            <a:r>
              <a:rPr lang="es-AR" dirty="0" err="1"/>
              <a:t>Hibernate</a:t>
            </a:r>
            <a:r>
              <a:rPr lang="es-AR" dirty="0"/>
              <a:t> usando herencia JPA.</a:t>
            </a:r>
          </a:p>
          <a:p>
            <a:r>
              <a:rPr lang="es-AR" dirty="0"/>
              <a:t>Ver cómo Pedido puede vender cualquier Vendible sin </a:t>
            </a:r>
            <a:r>
              <a:rPr lang="es-AR" dirty="0" err="1"/>
              <a:t>if</a:t>
            </a:r>
            <a:r>
              <a:rPr lang="es-AR" dirty="0"/>
              <a:t>/</a:t>
            </a:r>
            <a:r>
              <a:rPr lang="es-AR" dirty="0" err="1"/>
              <a:t>else</a:t>
            </a:r>
            <a:r>
              <a:rPr lang="es-AR" dirty="0"/>
              <a:t>.</a:t>
            </a:r>
          </a:p>
        </p:txBody>
      </p:sp>
    </p:spTree>
    <p:extLst>
      <p:ext uri="{BB962C8B-B14F-4D97-AF65-F5344CB8AC3E}">
        <p14:creationId xmlns:p14="http://schemas.microsoft.com/office/powerpoint/2010/main" val="2011675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8354E6-DA06-DA8F-1B88-BB86DFDF7AA1}"/>
              </a:ext>
            </a:extLst>
          </p:cNvPr>
          <p:cNvSpPr>
            <a:spLocks noGrp="1"/>
          </p:cNvSpPr>
          <p:nvPr>
            <p:ph type="title"/>
          </p:nvPr>
        </p:nvSpPr>
        <p:spPr/>
        <p:txBody>
          <a:bodyPr/>
          <a:lstStyle/>
          <a:p>
            <a:r>
              <a:rPr lang="es-AR" dirty="0"/>
              <a:t>Punto de partida</a:t>
            </a:r>
          </a:p>
        </p:txBody>
      </p:sp>
      <p:sp>
        <p:nvSpPr>
          <p:cNvPr id="3" name="Marcador de contenido 2">
            <a:extLst>
              <a:ext uri="{FF2B5EF4-FFF2-40B4-BE49-F238E27FC236}">
                <a16:creationId xmlns:a16="http://schemas.microsoft.com/office/drawing/2014/main" id="{79F616D3-568A-61AA-92B8-D9EBFC4676C6}"/>
              </a:ext>
            </a:extLst>
          </p:cNvPr>
          <p:cNvSpPr>
            <a:spLocks noGrp="1"/>
          </p:cNvSpPr>
          <p:nvPr>
            <p:ph idx="1"/>
          </p:nvPr>
        </p:nvSpPr>
        <p:spPr>
          <a:xfrm>
            <a:off x="864381" y="2489200"/>
            <a:ext cx="7577869" cy="1072707"/>
          </a:xfrm>
        </p:spPr>
        <p:txBody>
          <a:bodyPr/>
          <a:lstStyle/>
          <a:p>
            <a:r>
              <a:rPr lang="es-AR" dirty="0"/>
              <a:t>La aplicación ya tiene UI, </a:t>
            </a:r>
            <a:r>
              <a:rPr lang="es-AR" dirty="0" err="1"/>
              <a:t>Controller</a:t>
            </a:r>
            <a:r>
              <a:rPr lang="es-AR" dirty="0"/>
              <a:t>, Service, </a:t>
            </a:r>
            <a:r>
              <a:rPr lang="es-AR" dirty="0" err="1"/>
              <a:t>Repository</a:t>
            </a:r>
            <a:r>
              <a:rPr lang="es-AR" dirty="0"/>
              <a:t> y </a:t>
            </a:r>
            <a:r>
              <a:rPr lang="es-AR" dirty="0" err="1"/>
              <a:t>Hibernate</a:t>
            </a:r>
            <a:r>
              <a:rPr lang="es-AR" dirty="0"/>
              <a:t>.</a:t>
            </a:r>
          </a:p>
        </p:txBody>
      </p:sp>
      <p:sp>
        <p:nvSpPr>
          <p:cNvPr id="4" name="Rounded Rectangle 8">
            <a:extLst>
              <a:ext uri="{FF2B5EF4-FFF2-40B4-BE49-F238E27FC236}">
                <a16:creationId xmlns:a16="http://schemas.microsoft.com/office/drawing/2014/main" id="{EA74FAD6-317F-6DCA-7649-46B1B8691D0C}"/>
              </a:ext>
            </a:extLst>
          </p:cNvPr>
          <p:cNvSpPr/>
          <p:nvPr/>
        </p:nvSpPr>
        <p:spPr>
          <a:xfrm>
            <a:off x="334926" y="3561907"/>
            <a:ext cx="1234440" cy="640080"/>
          </a:xfrm>
          <a:prstGeom prst="roundRect">
            <a:avLst/>
          </a:prstGeom>
          <a:solidFill>
            <a:srgbClr val="2E234A"/>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9">
            <a:extLst>
              <a:ext uri="{FF2B5EF4-FFF2-40B4-BE49-F238E27FC236}">
                <a16:creationId xmlns:a16="http://schemas.microsoft.com/office/drawing/2014/main" id="{1DC8DEA1-EA27-17B8-431B-361FDA2F525D}"/>
              </a:ext>
            </a:extLst>
          </p:cNvPr>
          <p:cNvSpPr txBox="1"/>
          <p:nvPr/>
        </p:nvSpPr>
        <p:spPr>
          <a:xfrm>
            <a:off x="408078" y="3653347"/>
            <a:ext cx="1088136" cy="502919"/>
          </a:xfrm>
          <a:prstGeom prst="rect">
            <a:avLst/>
          </a:prstGeom>
          <a:noFill/>
        </p:spPr>
        <p:txBody>
          <a:bodyPr wrap="none" anchor="ctr">
            <a:spAutoFit/>
          </a:bodyPr>
          <a:lstStyle/>
          <a:p>
            <a:pPr algn="ctr">
              <a:defRPr sz="1300" b="1">
                <a:solidFill>
                  <a:srgbClr val="F8F4FF"/>
                </a:solidFill>
              </a:defRPr>
            </a:pPr>
            <a:r>
              <a:t>Swing UI</a:t>
            </a:r>
          </a:p>
        </p:txBody>
      </p:sp>
      <p:cxnSp>
        <p:nvCxnSpPr>
          <p:cNvPr id="6" name="Connector 10">
            <a:extLst>
              <a:ext uri="{FF2B5EF4-FFF2-40B4-BE49-F238E27FC236}">
                <a16:creationId xmlns:a16="http://schemas.microsoft.com/office/drawing/2014/main" id="{CB3DBB9C-8172-2B6E-A3D7-153B84E07110}"/>
              </a:ext>
            </a:extLst>
          </p:cNvPr>
          <p:cNvCxnSpPr/>
          <p:nvPr/>
        </p:nvCxnSpPr>
        <p:spPr>
          <a:xfrm>
            <a:off x="1578510" y="3881947"/>
            <a:ext cx="402336" cy="0"/>
          </a:xfrm>
          <a:prstGeom prst="line">
            <a:avLst/>
          </a:prstGeom>
          <a:ln w="20320">
            <a:solidFill>
              <a:srgbClr val="58C7F3"/>
            </a:solidFill>
          </a:ln>
        </p:spPr>
        <p:style>
          <a:lnRef idx="2">
            <a:schemeClr val="accent1"/>
          </a:lnRef>
          <a:fillRef idx="0">
            <a:schemeClr val="accent1"/>
          </a:fillRef>
          <a:effectRef idx="1">
            <a:schemeClr val="accent1"/>
          </a:effectRef>
          <a:fontRef idx="minor">
            <a:schemeClr val="tx1"/>
          </a:fontRef>
        </p:style>
      </p:cxnSp>
      <p:sp>
        <p:nvSpPr>
          <p:cNvPr id="7" name="Rounded Rectangle 11">
            <a:extLst>
              <a:ext uri="{FF2B5EF4-FFF2-40B4-BE49-F238E27FC236}">
                <a16:creationId xmlns:a16="http://schemas.microsoft.com/office/drawing/2014/main" id="{AA69EF63-745A-8349-648F-2B20A999E4DF}"/>
              </a:ext>
            </a:extLst>
          </p:cNvPr>
          <p:cNvSpPr/>
          <p:nvPr/>
        </p:nvSpPr>
        <p:spPr>
          <a:xfrm>
            <a:off x="1779678" y="3561907"/>
            <a:ext cx="1234440" cy="640080"/>
          </a:xfrm>
          <a:prstGeom prst="roundRect">
            <a:avLst/>
          </a:prstGeom>
          <a:solidFill>
            <a:srgbClr val="2E234A"/>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12">
            <a:extLst>
              <a:ext uri="{FF2B5EF4-FFF2-40B4-BE49-F238E27FC236}">
                <a16:creationId xmlns:a16="http://schemas.microsoft.com/office/drawing/2014/main" id="{990B2930-67AD-23F9-385E-7FBF1A88645A}"/>
              </a:ext>
            </a:extLst>
          </p:cNvPr>
          <p:cNvSpPr txBox="1"/>
          <p:nvPr/>
        </p:nvSpPr>
        <p:spPr>
          <a:xfrm>
            <a:off x="1852830" y="3653347"/>
            <a:ext cx="1088136" cy="502919"/>
          </a:xfrm>
          <a:prstGeom prst="rect">
            <a:avLst/>
          </a:prstGeom>
          <a:noFill/>
        </p:spPr>
        <p:txBody>
          <a:bodyPr wrap="none" anchor="ctr">
            <a:spAutoFit/>
          </a:bodyPr>
          <a:lstStyle/>
          <a:p>
            <a:pPr algn="ctr">
              <a:defRPr sz="1300" b="1">
                <a:solidFill>
                  <a:srgbClr val="F8F4FF"/>
                </a:solidFill>
              </a:defRPr>
            </a:pPr>
            <a:r>
              <a:t>Controller</a:t>
            </a:r>
          </a:p>
        </p:txBody>
      </p:sp>
      <p:cxnSp>
        <p:nvCxnSpPr>
          <p:cNvPr id="9" name="Connector 13">
            <a:extLst>
              <a:ext uri="{FF2B5EF4-FFF2-40B4-BE49-F238E27FC236}">
                <a16:creationId xmlns:a16="http://schemas.microsoft.com/office/drawing/2014/main" id="{34EDB9B9-4175-6C47-B33A-0F6732EE7F92}"/>
              </a:ext>
            </a:extLst>
          </p:cNvPr>
          <p:cNvCxnSpPr/>
          <p:nvPr/>
        </p:nvCxnSpPr>
        <p:spPr>
          <a:xfrm>
            <a:off x="3023262" y="3881947"/>
            <a:ext cx="402336" cy="0"/>
          </a:xfrm>
          <a:prstGeom prst="line">
            <a:avLst/>
          </a:prstGeom>
          <a:ln w="20320">
            <a:solidFill>
              <a:srgbClr val="58C7F3"/>
            </a:solidFill>
          </a:ln>
        </p:spPr>
        <p:style>
          <a:lnRef idx="2">
            <a:schemeClr val="accent1"/>
          </a:lnRef>
          <a:fillRef idx="0">
            <a:schemeClr val="accent1"/>
          </a:fillRef>
          <a:effectRef idx="1">
            <a:schemeClr val="accent1"/>
          </a:effectRef>
          <a:fontRef idx="minor">
            <a:schemeClr val="tx1"/>
          </a:fontRef>
        </p:style>
      </p:cxnSp>
      <p:sp>
        <p:nvSpPr>
          <p:cNvPr id="10" name="Rounded Rectangle 14">
            <a:extLst>
              <a:ext uri="{FF2B5EF4-FFF2-40B4-BE49-F238E27FC236}">
                <a16:creationId xmlns:a16="http://schemas.microsoft.com/office/drawing/2014/main" id="{1E5B1BDB-0327-668C-CE20-5C5B9A104AB6}"/>
              </a:ext>
            </a:extLst>
          </p:cNvPr>
          <p:cNvSpPr/>
          <p:nvPr/>
        </p:nvSpPr>
        <p:spPr>
          <a:xfrm>
            <a:off x="3224430" y="3561907"/>
            <a:ext cx="1234440" cy="640080"/>
          </a:xfrm>
          <a:prstGeom prst="roundRect">
            <a:avLst/>
          </a:prstGeom>
          <a:solidFill>
            <a:srgbClr val="2E234A"/>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5">
            <a:extLst>
              <a:ext uri="{FF2B5EF4-FFF2-40B4-BE49-F238E27FC236}">
                <a16:creationId xmlns:a16="http://schemas.microsoft.com/office/drawing/2014/main" id="{72ECFB01-6A46-592B-EC82-FC87DE655CB4}"/>
              </a:ext>
            </a:extLst>
          </p:cNvPr>
          <p:cNvSpPr txBox="1"/>
          <p:nvPr/>
        </p:nvSpPr>
        <p:spPr>
          <a:xfrm>
            <a:off x="3297582" y="3653347"/>
            <a:ext cx="1088136" cy="502919"/>
          </a:xfrm>
          <a:prstGeom prst="rect">
            <a:avLst/>
          </a:prstGeom>
          <a:noFill/>
        </p:spPr>
        <p:txBody>
          <a:bodyPr wrap="none" anchor="ctr">
            <a:spAutoFit/>
          </a:bodyPr>
          <a:lstStyle/>
          <a:p>
            <a:pPr algn="ctr">
              <a:defRPr sz="1300" b="1">
                <a:solidFill>
                  <a:srgbClr val="F8F4FF"/>
                </a:solidFill>
              </a:defRPr>
            </a:pPr>
            <a:r>
              <a:t>Service</a:t>
            </a:r>
          </a:p>
        </p:txBody>
      </p:sp>
      <p:cxnSp>
        <p:nvCxnSpPr>
          <p:cNvPr id="12" name="Connector 16">
            <a:extLst>
              <a:ext uri="{FF2B5EF4-FFF2-40B4-BE49-F238E27FC236}">
                <a16:creationId xmlns:a16="http://schemas.microsoft.com/office/drawing/2014/main" id="{DD43E764-DDA5-34E2-C93B-58876F814E34}"/>
              </a:ext>
            </a:extLst>
          </p:cNvPr>
          <p:cNvCxnSpPr/>
          <p:nvPr/>
        </p:nvCxnSpPr>
        <p:spPr>
          <a:xfrm>
            <a:off x="4468014" y="3881947"/>
            <a:ext cx="402336" cy="0"/>
          </a:xfrm>
          <a:prstGeom prst="line">
            <a:avLst/>
          </a:prstGeom>
          <a:ln w="20320">
            <a:solidFill>
              <a:srgbClr val="58C7F3"/>
            </a:solidFill>
          </a:ln>
        </p:spPr>
        <p:style>
          <a:lnRef idx="2">
            <a:schemeClr val="accent1"/>
          </a:lnRef>
          <a:fillRef idx="0">
            <a:schemeClr val="accent1"/>
          </a:fillRef>
          <a:effectRef idx="1">
            <a:schemeClr val="accent1"/>
          </a:effectRef>
          <a:fontRef idx="minor">
            <a:schemeClr val="tx1"/>
          </a:fontRef>
        </p:style>
      </p:cxnSp>
      <p:sp>
        <p:nvSpPr>
          <p:cNvPr id="13" name="Rounded Rectangle 17">
            <a:extLst>
              <a:ext uri="{FF2B5EF4-FFF2-40B4-BE49-F238E27FC236}">
                <a16:creationId xmlns:a16="http://schemas.microsoft.com/office/drawing/2014/main" id="{B966CDB1-BF55-5B9A-44F6-4ED93362BAC0}"/>
              </a:ext>
            </a:extLst>
          </p:cNvPr>
          <p:cNvSpPr/>
          <p:nvPr/>
        </p:nvSpPr>
        <p:spPr>
          <a:xfrm>
            <a:off x="4669182" y="3561907"/>
            <a:ext cx="1234440" cy="640080"/>
          </a:xfrm>
          <a:prstGeom prst="roundRect">
            <a:avLst/>
          </a:prstGeom>
          <a:solidFill>
            <a:srgbClr val="2E234A"/>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8">
            <a:extLst>
              <a:ext uri="{FF2B5EF4-FFF2-40B4-BE49-F238E27FC236}">
                <a16:creationId xmlns:a16="http://schemas.microsoft.com/office/drawing/2014/main" id="{FA406778-C5C3-E714-13C1-D304F99C16C1}"/>
              </a:ext>
            </a:extLst>
          </p:cNvPr>
          <p:cNvSpPr txBox="1"/>
          <p:nvPr/>
        </p:nvSpPr>
        <p:spPr>
          <a:xfrm>
            <a:off x="4742334" y="3653347"/>
            <a:ext cx="1088136" cy="502919"/>
          </a:xfrm>
          <a:prstGeom prst="rect">
            <a:avLst/>
          </a:prstGeom>
          <a:noFill/>
        </p:spPr>
        <p:txBody>
          <a:bodyPr wrap="none" anchor="ctr">
            <a:spAutoFit/>
          </a:bodyPr>
          <a:lstStyle/>
          <a:p>
            <a:pPr algn="ctr">
              <a:defRPr sz="1300" b="1">
                <a:solidFill>
                  <a:srgbClr val="F8F4FF"/>
                </a:solidFill>
              </a:defRPr>
            </a:pPr>
            <a:r>
              <a:t>Repository</a:t>
            </a:r>
          </a:p>
        </p:txBody>
      </p:sp>
      <p:cxnSp>
        <p:nvCxnSpPr>
          <p:cNvPr id="15" name="Connector 19">
            <a:extLst>
              <a:ext uri="{FF2B5EF4-FFF2-40B4-BE49-F238E27FC236}">
                <a16:creationId xmlns:a16="http://schemas.microsoft.com/office/drawing/2014/main" id="{CF31104E-4F3C-8405-E3D5-FABF3B69EEF2}"/>
              </a:ext>
            </a:extLst>
          </p:cNvPr>
          <p:cNvCxnSpPr/>
          <p:nvPr/>
        </p:nvCxnSpPr>
        <p:spPr>
          <a:xfrm>
            <a:off x="5912766" y="3881947"/>
            <a:ext cx="402336" cy="0"/>
          </a:xfrm>
          <a:prstGeom prst="line">
            <a:avLst/>
          </a:prstGeom>
          <a:ln w="20320">
            <a:solidFill>
              <a:srgbClr val="58C7F3"/>
            </a:solidFill>
          </a:ln>
        </p:spPr>
        <p:style>
          <a:lnRef idx="2">
            <a:schemeClr val="accent1"/>
          </a:lnRef>
          <a:fillRef idx="0">
            <a:schemeClr val="accent1"/>
          </a:fillRef>
          <a:effectRef idx="1">
            <a:schemeClr val="accent1"/>
          </a:effectRef>
          <a:fontRef idx="minor">
            <a:schemeClr val="tx1"/>
          </a:fontRef>
        </p:style>
      </p:cxnSp>
      <p:sp>
        <p:nvSpPr>
          <p:cNvPr id="16" name="Rounded Rectangle 20">
            <a:extLst>
              <a:ext uri="{FF2B5EF4-FFF2-40B4-BE49-F238E27FC236}">
                <a16:creationId xmlns:a16="http://schemas.microsoft.com/office/drawing/2014/main" id="{AD867A26-5E27-F664-6A29-87379E0F6DAD}"/>
              </a:ext>
            </a:extLst>
          </p:cNvPr>
          <p:cNvSpPr/>
          <p:nvPr/>
        </p:nvSpPr>
        <p:spPr>
          <a:xfrm>
            <a:off x="6113934" y="3561907"/>
            <a:ext cx="1234440" cy="640080"/>
          </a:xfrm>
          <a:prstGeom prst="roundRect">
            <a:avLst/>
          </a:prstGeom>
          <a:solidFill>
            <a:srgbClr val="2E234A"/>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21">
            <a:extLst>
              <a:ext uri="{FF2B5EF4-FFF2-40B4-BE49-F238E27FC236}">
                <a16:creationId xmlns:a16="http://schemas.microsoft.com/office/drawing/2014/main" id="{D5BD3958-C8D3-A3A5-29D8-4CAFCCC411B2}"/>
              </a:ext>
            </a:extLst>
          </p:cNvPr>
          <p:cNvSpPr txBox="1"/>
          <p:nvPr/>
        </p:nvSpPr>
        <p:spPr>
          <a:xfrm>
            <a:off x="6187086" y="3653347"/>
            <a:ext cx="1088136" cy="502919"/>
          </a:xfrm>
          <a:prstGeom prst="rect">
            <a:avLst/>
          </a:prstGeom>
          <a:noFill/>
        </p:spPr>
        <p:txBody>
          <a:bodyPr wrap="none" anchor="ctr">
            <a:spAutoFit/>
          </a:bodyPr>
          <a:lstStyle/>
          <a:p>
            <a:pPr algn="ctr">
              <a:defRPr sz="1300" b="1">
                <a:solidFill>
                  <a:srgbClr val="F8F4FF"/>
                </a:solidFill>
              </a:defRPr>
            </a:pPr>
            <a:r>
              <a:t>Hibernate</a:t>
            </a:r>
          </a:p>
        </p:txBody>
      </p:sp>
      <p:cxnSp>
        <p:nvCxnSpPr>
          <p:cNvPr id="18" name="Connector 22">
            <a:extLst>
              <a:ext uri="{FF2B5EF4-FFF2-40B4-BE49-F238E27FC236}">
                <a16:creationId xmlns:a16="http://schemas.microsoft.com/office/drawing/2014/main" id="{FF80AA3C-DD26-06F2-1A1C-9731D3FA17EE}"/>
              </a:ext>
            </a:extLst>
          </p:cNvPr>
          <p:cNvCxnSpPr/>
          <p:nvPr/>
        </p:nvCxnSpPr>
        <p:spPr>
          <a:xfrm>
            <a:off x="7357518" y="3881947"/>
            <a:ext cx="402336" cy="0"/>
          </a:xfrm>
          <a:prstGeom prst="line">
            <a:avLst/>
          </a:prstGeom>
          <a:ln w="20320">
            <a:solidFill>
              <a:srgbClr val="58C7F3"/>
            </a:solidFill>
          </a:ln>
        </p:spPr>
        <p:style>
          <a:lnRef idx="2">
            <a:schemeClr val="accent1"/>
          </a:lnRef>
          <a:fillRef idx="0">
            <a:schemeClr val="accent1"/>
          </a:fillRef>
          <a:effectRef idx="1">
            <a:schemeClr val="accent1"/>
          </a:effectRef>
          <a:fontRef idx="minor">
            <a:schemeClr val="tx1"/>
          </a:fontRef>
        </p:style>
      </p:cxnSp>
      <p:sp>
        <p:nvSpPr>
          <p:cNvPr id="19" name="Rounded Rectangle 23">
            <a:extLst>
              <a:ext uri="{FF2B5EF4-FFF2-40B4-BE49-F238E27FC236}">
                <a16:creationId xmlns:a16="http://schemas.microsoft.com/office/drawing/2014/main" id="{1D0559D8-B975-0876-3762-39C266389DD7}"/>
              </a:ext>
            </a:extLst>
          </p:cNvPr>
          <p:cNvSpPr/>
          <p:nvPr/>
        </p:nvSpPr>
        <p:spPr>
          <a:xfrm>
            <a:off x="7549542" y="3561907"/>
            <a:ext cx="1234440" cy="640080"/>
          </a:xfrm>
          <a:prstGeom prst="roundRect">
            <a:avLst/>
          </a:prstGeom>
          <a:solidFill>
            <a:srgbClr val="2E234A"/>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24">
            <a:extLst>
              <a:ext uri="{FF2B5EF4-FFF2-40B4-BE49-F238E27FC236}">
                <a16:creationId xmlns:a16="http://schemas.microsoft.com/office/drawing/2014/main" id="{FF6C3689-BF51-74A7-30C3-A7CA77CC45EC}"/>
              </a:ext>
            </a:extLst>
          </p:cNvPr>
          <p:cNvSpPr txBox="1"/>
          <p:nvPr/>
        </p:nvSpPr>
        <p:spPr>
          <a:xfrm>
            <a:off x="7622694" y="3653347"/>
            <a:ext cx="1088136" cy="502919"/>
          </a:xfrm>
          <a:prstGeom prst="rect">
            <a:avLst/>
          </a:prstGeom>
          <a:noFill/>
        </p:spPr>
        <p:txBody>
          <a:bodyPr wrap="none" anchor="ctr">
            <a:spAutoFit/>
          </a:bodyPr>
          <a:lstStyle/>
          <a:p>
            <a:pPr algn="ctr">
              <a:defRPr sz="1300" b="1">
                <a:solidFill>
                  <a:srgbClr val="F8F4FF"/>
                </a:solidFill>
              </a:defRPr>
            </a:pPr>
            <a:r>
              <a:t>MySQL</a:t>
            </a:r>
          </a:p>
        </p:txBody>
      </p:sp>
      <p:sp>
        <p:nvSpPr>
          <p:cNvPr id="21" name="Rounded Rectangle 25">
            <a:extLst>
              <a:ext uri="{FF2B5EF4-FFF2-40B4-BE49-F238E27FC236}">
                <a16:creationId xmlns:a16="http://schemas.microsoft.com/office/drawing/2014/main" id="{D7CF9A88-34D7-16F4-3A6E-8F85C770DA6D}"/>
              </a:ext>
            </a:extLst>
          </p:cNvPr>
          <p:cNvSpPr/>
          <p:nvPr/>
        </p:nvSpPr>
        <p:spPr>
          <a:xfrm>
            <a:off x="285804" y="4989741"/>
            <a:ext cx="8580474" cy="1427951"/>
          </a:xfrm>
          <a:prstGeom prst="roundRect">
            <a:avLst/>
          </a:prstGeom>
          <a:solidFill>
            <a:srgbClr val="241A3B"/>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6">
            <a:extLst>
              <a:ext uri="{FF2B5EF4-FFF2-40B4-BE49-F238E27FC236}">
                <a16:creationId xmlns:a16="http://schemas.microsoft.com/office/drawing/2014/main" id="{10782461-8487-742D-192F-C30E78927595}"/>
              </a:ext>
            </a:extLst>
          </p:cNvPr>
          <p:cNvSpPr txBox="1"/>
          <p:nvPr/>
        </p:nvSpPr>
        <p:spPr>
          <a:xfrm>
            <a:off x="486972" y="5117758"/>
            <a:ext cx="8210336" cy="338554"/>
          </a:xfrm>
          <a:prstGeom prst="rect">
            <a:avLst/>
          </a:prstGeom>
          <a:noFill/>
        </p:spPr>
        <p:txBody>
          <a:bodyPr wrap="square">
            <a:spAutoFit/>
          </a:bodyPr>
          <a:lstStyle/>
          <a:p>
            <a:pPr>
              <a:defRPr sz="1300" b="1">
                <a:solidFill>
                  <a:srgbClr val="F8F4FF"/>
                </a:solidFill>
              </a:defRPr>
            </a:pPr>
            <a:r>
              <a:rPr sz="1600" dirty="0" err="1"/>
              <a:t>Limitación</a:t>
            </a:r>
            <a:endParaRPr dirty="0"/>
          </a:p>
        </p:txBody>
      </p:sp>
      <p:sp>
        <p:nvSpPr>
          <p:cNvPr id="23" name="TextBox 27">
            <a:extLst>
              <a:ext uri="{FF2B5EF4-FFF2-40B4-BE49-F238E27FC236}">
                <a16:creationId xmlns:a16="http://schemas.microsoft.com/office/drawing/2014/main" id="{B83D82E5-8B71-0381-9D1C-A36BC5EF2991}"/>
              </a:ext>
            </a:extLst>
          </p:cNvPr>
          <p:cNvSpPr txBox="1"/>
          <p:nvPr/>
        </p:nvSpPr>
        <p:spPr>
          <a:xfrm>
            <a:off x="605844" y="5486851"/>
            <a:ext cx="8141562" cy="584775"/>
          </a:xfrm>
          <a:prstGeom prst="rect">
            <a:avLst/>
          </a:prstGeom>
          <a:noFill/>
        </p:spPr>
        <p:txBody>
          <a:bodyPr wrap="square" lIns="18288" rIns="18288">
            <a:spAutoFit/>
          </a:bodyPr>
          <a:lstStyle/>
          <a:p>
            <a:pPr algn="l">
              <a:defRPr sz="1800" b="0">
                <a:solidFill>
                  <a:srgbClr val="F8F4FF"/>
                </a:solidFill>
              </a:defRPr>
            </a:pPr>
            <a:r>
              <a:rPr sz="1600" dirty="0"/>
              <a:t>El </a:t>
            </a:r>
            <a:r>
              <a:rPr sz="1600" dirty="0" err="1"/>
              <a:t>modelo</a:t>
            </a:r>
            <a:r>
              <a:rPr sz="1600" dirty="0"/>
              <a:t> solo </a:t>
            </a:r>
            <a:r>
              <a:rPr sz="1600" dirty="0" err="1"/>
              <a:t>pensaba</a:t>
            </a:r>
            <a:r>
              <a:rPr sz="1600" dirty="0"/>
              <a:t> </a:t>
            </a:r>
            <a:r>
              <a:rPr sz="1600" dirty="0" err="1"/>
              <a:t>en</a:t>
            </a:r>
            <a:r>
              <a:rPr sz="1600" dirty="0"/>
              <a:t> </a:t>
            </a:r>
            <a:r>
              <a:rPr sz="1600" dirty="0" err="1"/>
              <a:t>Producto</a:t>
            </a:r>
            <a:r>
              <a:rPr sz="1600" dirty="0"/>
              <a:t>. Si </a:t>
            </a:r>
            <a:r>
              <a:rPr sz="1600" dirty="0" err="1"/>
              <a:t>queríamos</a:t>
            </a:r>
            <a:r>
              <a:rPr sz="1600" dirty="0"/>
              <a:t> vender un combo,</a:t>
            </a:r>
            <a:r>
              <a:rPr lang="es-419" sz="1600" dirty="0"/>
              <a:t> </a:t>
            </a:r>
            <a:r>
              <a:rPr sz="1600" dirty="0" err="1"/>
              <a:t>debíamos</a:t>
            </a:r>
            <a:r>
              <a:rPr sz="1600" dirty="0"/>
              <a:t> </a:t>
            </a:r>
            <a:r>
              <a:rPr sz="1600" dirty="0" err="1"/>
              <a:t>inventar</a:t>
            </a:r>
            <a:r>
              <a:rPr sz="1600" dirty="0"/>
              <a:t> </a:t>
            </a:r>
            <a:r>
              <a:rPr sz="1600" dirty="0" err="1"/>
              <a:t>lógica</a:t>
            </a:r>
            <a:r>
              <a:rPr sz="1600" dirty="0"/>
              <a:t> especial o </a:t>
            </a:r>
            <a:r>
              <a:rPr sz="1600" dirty="0" err="1"/>
              <a:t>crear</a:t>
            </a:r>
            <a:r>
              <a:rPr sz="1600" dirty="0"/>
              <a:t> </a:t>
            </a:r>
            <a:r>
              <a:rPr sz="1600" dirty="0" err="1"/>
              <a:t>una</a:t>
            </a:r>
            <a:r>
              <a:rPr sz="1600" dirty="0"/>
              <a:t> </a:t>
            </a:r>
            <a:r>
              <a:rPr sz="1600" dirty="0" err="1"/>
              <a:t>clase</a:t>
            </a:r>
            <a:r>
              <a:rPr sz="1600" dirty="0"/>
              <a:t> </a:t>
            </a:r>
            <a:r>
              <a:rPr sz="1600" dirty="0" err="1"/>
              <a:t>separada</a:t>
            </a:r>
            <a:r>
              <a:rPr sz="1600" dirty="0"/>
              <a:t> </a:t>
            </a:r>
            <a:r>
              <a:rPr sz="1600" dirty="0" err="1"/>
              <a:t>difícil</a:t>
            </a:r>
            <a:r>
              <a:rPr sz="1600" dirty="0"/>
              <a:t> de </a:t>
            </a:r>
            <a:r>
              <a:rPr sz="1600" dirty="0" err="1"/>
              <a:t>integrar</a:t>
            </a:r>
            <a:r>
              <a:rPr sz="1600" dirty="0"/>
              <a:t>.</a:t>
            </a:r>
          </a:p>
        </p:txBody>
      </p:sp>
    </p:spTree>
    <p:extLst>
      <p:ext uri="{BB962C8B-B14F-4D97-AF65-F5344CB8AC3E}">
        <p14:creationId xmlns:p14="http://schemas.microsoft.com/office/powerpoint/2010/main" val="29384367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A8534A-22AF-3291-7366-AAE521A62C39}"/>
              </a:ext>
            </a:extLst>
          </p:cNvPr>
          <p:cNvSpPr>
            <a:spLocks noGrp="1"/>
          </p:cNvSpPr>
          <p:nvPr>
            <p:ph type="title"/>
          </p:nvPr>
        </p:nvSpPr>
        <p:spPr/>
        <p:txBody>
          <a:bodyPr/>
          <a:lstStyle/>
          <a:p>
            <a:r>
              <a:rPr lang="es-AR" dirty="0"/>
              <a:t>Problema de diseño</a:t>
            </a:r>
          </a:p>
        </p:txBody>
      </p:sp>
      <p:sp>
        <p:nvSpPr>
          <p:cNvPr id="4" name="Rounded Rectangle 7">
            <a:extLst>
              <a:ext uri="{FF2B5EF4-FFF2-40B4-BE49-F238E27FC236}">
                <a16:creationId xmlns:a16="http://schemas.microsoft.com/office/drawing/2014/main" id="{21A04455-18AE-9544-E226-785A1F054E8A}"/>
              </a:ext>
            </a:extLst>
          </p:cNvPr>
          <p:cNvSpPr/>
          <p:nvPr/>
        </p:nvSpPr>
        <p:spPr>
          <a:xfrm>
            <a:off x="221158" y="2391263"/>
            <a:ext cx="4320087" cy="3658664"/>
          </a:xfrm>
          <a:prstGeom prst="roundRect">
            <a:avLst/>
          </a:prstGeom>
          <a:solidFill>
            <a:srgbClr val="241A3B"/>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8">
            <a:extLst>
              <a:ext uri="{FF2B5EF4-FFF2-40B4-BE49-F238E27FC236}">
                <a16:creationId xmlns:a16="http://schemas.microsoft.com/office/drawing/2014/main" id="{CE267FC1-8554-E3AF-8210-10FDB837EBC4}"/>
              </a:ext>
            </a:extLst>
          </p:cNvPr>
          <p:cNvSpPr txBox="1"/>
          <p:nvPr/>
        </p:nvSpPr>
        <p:spPr>
          <a:xfrm>
            <a:off x="660070" y="2519279"/>
            <a:ext cx="1998070" cy="307777"/>
          </a:xfrm>
          <a:prstGeom prst="rect">
            <a:avLst/>
          </a:prstGeom>
          <a:noFill/>
        </p:spPr>
        <p:txBody>
          <a:bodyPr wrap="square">
            <a:spAutoFit/>
          </a:bodyPr>
          <a:lstStyle/>
          <a:p>
            <a:pPr>
              <a:defRPr sz="1300" b="1">
                <a:solidFill>
                  <a:srgbClr val="F8F4FF"/>
                </a:solidFill>
              </a:defRPr>
            </a:pPr>
            <a:r>
              <a:rPr sz="1400" dirty="0"/>
              <a:t>Ante</a:t>
            </a:r>
            <a:r>
              <a:rPr lang="es-419" sz="1400" dirty="0"/>
              <a:t>s</a:t>
            </a:r>
            <a:endParaRPr dirty="0"/>
          </a:p>
        </p:txBody>
      </p:sp>
      <p:sp>
        <p:nvSpPr>
          <p:cNvPr id="6" name="Rounded Rectangle 9">
            <a:extLst>
              <a:ext uri="{FF2B5EF4-FFF2-40B4-BE49-F238E27FC236}">
                <a16:creationId xmlns:a16="http://schemas.microsoft.com/office/drawing/2014/main" id="{F8E21329-DB55-0633-CAAF-DD5B6B7B6D1B}"/>
              </a:ext>
            </a:extLst>
          </p:cNvPr>
          <p:cNvSpPr/>
          <p:nvPr/>
        </p:nvSpPr>
        <p:spPr>
          <a:xfrm>
            <a:off x="495478" y="2894182"/>
            <a:ext cx="3629955" cy="2071223"/>
          </a:xfrm>
          <a:prstGeom prst="roundRect">
            <a:avLst/>
          </a:prstGeom>
          <a:solidFill>
            <a:srgbClr val="100C1A"/>
          </a:solidFill>
          <a:ln w="1270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10">
            <a:extLst>
              <a:ext uri="{FF2B5EF4-FFF2-40B4-BE49-F238E27FC236}">
                <a16:creationId xmlns:a16="http://schemas.microsoft.com/office/drawing/2014/main" id="{E7D0A616-7B5C-222C-F2DC-7FE584F3B576}"/>
              </a:ext>
            </a:extLst>
          </p:cNvPr>
          <p:cNvSpPr txBox="1"/>
          <p:nvPr/>
        </p:nvSpPr>
        <p:spPr>
          <a:xfrm>
            <a:off x="660070" y="3022198"/>
            <a:ext cx="3212635" cy="1815882"/>
          </a:xfrm>
          <a:prstGeom prst="rect">
            <a:avLst/>
          </a:prstGeom>
          <a:noFill/>
        </p:spPr>
        <p:txBody>
          <a:bodyPr wrap="square" lIns="18288" rIns="18288">
            <a:spAutoFit/>
          </a:bodyPr>
          <a:lstStyle/>
          <a:p>
            <a:pPr>
              <a:defRPr sz="1300">
                <a:solidFill>
                  <a:srgbClr val="EFE6FF"/>
                </a:solidFill>
                <a:latin typeface="Consolas"/>
              </a:defRPr>
            </a:pPr>
            <a:r>
              <a:rPr sz="1400" dirty="0"/>
              <a:t>public class </a:t>
            </a:r>
            <a:r>
              <a:rPr sz="1400" dirty="0" err="1"/>
              <a:t>Pedido</a:t>
            </a:r>
            <a:r>
              <a:rPr sz="1400" dirty="0"/>
              <a:t> {</a:t>
            </a:r>
            <a:br>
              <a:rPr sz="1400" dirty="0"/>
            </a:br>
            <a:br>
              <a:rPr sz="1400" dirty="0"/>
            </a:br>
            <a:r>
              <a:rPr sz="1400" dirty="0"/>
              <a:t>    public void </a:t>
            </a:r>
            <a:r>
              <a:rPr sz="1400" dirty="0" err="1"/>
              <a:t>agregarProducto</a:t>
            </a:r>
            <a:r>
              <a:rPr sz="1400" dirty="0"/>
              <a:t>(</a:t>
            </a:r>
            <a:br>
              <a:rPr sz="1400" dirty="0"/>
            </a:br>
            <a:r>
              <a:rPr sz="1400" dirty="0"/>
              <a:t>            </a:t>
            </a:r>
            <a:r>
              <a:rPr sz="1400" dirty="0" err="1"/>
              <a:t>Producto</a:t>
            </a:r>
            <a:r>
              <a:rPr sz="1400" dirty="0"/>
              <a:t> </a:t>
            </a:r>
            <a:r>
              <a:rPr sz="1400" dirty="0" err="1"/>
              <a:t>producto</a:t>
            </a:r>
            <a:r>
              <a:rPr sz="1400" dirty="0"/>
              <a:t>,</a:t>
            </a:r>
            <a:br>
              <a:rPr sz="1400" dirty="0"/>
            </a:br>
            <a:r>
              <a:rPr sz="1400" dirty="0"/>
              <a:t>            int </a:t>
            </a:r>
            <a:r>
              <a:rPr sz="1400" dirty="0" err="1"/>
              <a:t>cantidad</a:t>
            </a:r>
            <a:r>
              <a:rPr sz="1400" dirty="0"/>
              <a:t>) {</a:t>
            </a:r>
            <a:br>
              <a:rPr sz="1400" dirty="0"/>
            </a:br>
            <a:r>
              <a:rPr sz="1400" dirty="0"/>
              <a:t>        ...</a:t>
            </a:r>
            <a:br>
              <a:rPr sz="1400" dirty="0"/>
            </a:br>
            <a:r>
              <a:rPr sz="1400" dirty="0"/>
              <a:t>    }</a:t>
            </a:r>
            <a:br>
              <a:rPr sz="1400" dirty="0"/>
            </a:br>
            <a:r>
              <a:rPr sz="1400" dirty="0"/>
              <a:t>}</a:t>
            </a:r>
          </a:p>
        </p:txBody>
      </p:sp>
      <p:sp>
        <p:nvSpPr>
          <p:cNvPr id="8" name="TextBox 11">
            <a:extLst>
              <a:ext uri="{FF2B5EF4-FFF2-40B4-BE49-F238E27FC236}">
                <a16:creationId xmlns:a16="http://schemas.microsoft.com/office/drawing/2014/main" id="{791B467D-6248-14A7-13FF-F752AFE045C9}"/>
              </a:ext>
            </a:extLst>
          </p:cNvPr>
          <p:cNvSpPr txBox="1"/>
          <p:nvPr/>
        </p:nvSpPr>
        <p:spPr>
          <a:xfrm>
            <a:off x="221158" y="5115841"/>
            <a:ext cx="4320094" cy="369332"/>
          </a:xfrm>
          <a:prstGeom prst="rect">
            <a:avLst/>
          </a:prstGeom>
          <a:noFill/>
        </p:spPr>
        <p:txBody>
          <a:bodyPr wrap="square" lIns="18288" rIns="18288">
            <a:spAutoFit/>
          </a:bodyPr>
          <a:lstStyle/>
          <a:p>
            <a:pPr algn="ctr">
              <a:defRPr sz="1800" b="1">
                <a:solidFill>
                  <a:srgbClr val="F2C94C"/>
                </a:solidFill>
              </a:defRPr>
            </a:pPr>
            <a:r>
              <a:rPr dirty="0" err="1"/>
              <a:t>Pedido</a:t>
            </a:r>
            <a:r>
              <a:rPr dirty="0"/>
              <a:t> </a:t>
            </a:r>
            <a:r>
              <a:rPr dirty="0" err="1"/>
              <a:t>queda</a:t>
            </a:r>
            <a:r>
              <a:rPr dirty="0"/>
              <a:t> </a:t>
            </a:r>
            <a:r>
              <a:rPr dirty="0" err="1"/>
              <a:t>atado</a:t>
            </a:r>
            <a:r>
              <a:rPr dirty="0"/>
              <a:t> a </a:t>
            </a:r>
            <a:r>
              <a:rPr dirty="0" err="1"/>
              <a:t>Producto</a:t>
            </a:r>
            <a:r>
              <a:rPr dirty="0"/>
              <a:t>.</a:t>
            </a:r>
          </a:p>
        </p:txBody>
      </p:sp>
      <p:sp>
        <p:nvSpPr>
          <p:cNvPr id="9" name="Rounded Rectangle 12">
            <a:extLst>
              <a:ext uri="{FF2B5EF4-FFF2-40B4-BE49-F238E27FC236}">
                <a16:creationId xmlns:a16="http://schemas.microsoft.com/office/drawing/2014/main" id="{2EA22350-C950-C678-CBBF-32A9B997B76A}"/>
              </a:ext>
            </a:extLst>
          </p:cNvPr>
          <p:cNvSpPr/>
          <p:nvPr/>
        </p:nvSpPr>
        <p:spPr>
          <a:xfrm>
            <a:off x="4602755" y="2391263"/>
            <a:ext cx="4320087" cy="3658664"/>
          </a:xfrm>
          <a:prstGeom prst="roundRect">
            <a:avLst/>
          </a:prstGeom>
          <a:solidFill>
            <a:srgbClr val="241A3B"/>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13">
            <a:extLst>
              <a:ext uri="{FF2B5EF4-FFF2-40B4-BE49-F238E27FC236}">
                <a16:creationId xmlns:a16="http://schemas.microsoft.com/office/drawing/2014/main" id="{B1BC19FF-B0B4-AA7F-5213-E2C6354FF8FD}"/>
              </a:ext>
            </a:extLst>
          </p:cNvPr>
          <p:cNvSpPr txBox="1"/>
          <p:nvPr/>
        </p:nvSpPr>
        <p:spPr>
          <a:xfrm>
            <a:off x="4922795" y="2519278"/>
            <a:ext cx="3888282" cy="307777"/>
          </a:xfrm>
          <a:prstGeom prst="rect">
            <a:avLst/>
          </a:prstGeom>
          <a:noFill/>
        </p:spPr>
        <p:txBody>
          <a:bodyPr wrap="square">
            <a:spAutoFit/>
          </a:bodyPr>
          <a:lstStyle/>
          <a:p>
            <a:pPr>
              <a:defRPr sz="1300" b="1">
                <a:solidFill>
                  <a:srgbClr val="F8F4FF"/>
                </a:solidFill>
              </a:defRPr>
            </a:pPr>
            <a:r>
              <a:rPr sz="1400" dirty="0"/>
              <a:t>Nueva </a:t>
            </a:r>
            <a:r>
              <a:rPr sz="1400" dirty="0" err="1"/>
              <a:t>necesidad</a:t>
            </a:r>
            <a:endParaRPr sz="1400" dirty="0"/>
          </a:p>
        </p:txBody>
      </p:sp>
      <p:sp>
        <p:nvSpPr>
          <p:cNvPr id="11" name="TextBox 14">
            <a:extLst>
              <a:ext uri="{FF2B5EF4-FFF2-40B4-BE49-F238E27FC236}">
                <a16:creationId xmlns:a16="http://schemas.microsoft.com/office/drawing/2014/main" id="{637D0A66-622A-731C-7028-C0FB00D608D1}"/>
              </a:ext>
            </a:extLst>
          </p:cNvPr>
          <p:cNvSpPr txBox="1"/>
          <p:nvPr/>
        </p:nvSpPr>
        <p:spPr>
          <a:xfrm>
            <a:off x="4922795" y="2939902"/>
            <a:ext cx="3888282" cy="1477328"/>
          </a:xfrm>
          <a:prstGeom prst="rect">
            <a:avLst/>
          </a:prstGeom>
          <a:noFill/>
        </p:spPr>
        <p:txBody>
          <a:bodyPr wrap="square" lIns="54864">
            <a:spAutoFit/>
          </a:bodyPr>
          <a:lstStyle/>
          <a:p>
            <a:pPr>
              <a:spcAft>
                <a:spcPts val="800"/>
              </a:spcAft>
              <a:defRPr sz="1700">
                <a:solidFill>
                  <a:srgbClr val="F8F4FF"/>
                </a:solidFill>
              </a:defRPr>
            </a:pPr>
            <a:r>
              <a:rPr sz="1400" dirty="0"/>
              <a:t>Vender café individual.</a:t>
            </a:r>
          </a:p>
          <a:p>
            <a:pPr>
              <a:spcAft>
                <a:spcPts val="800"/>
              </a:spcAft>
              <a:defRPr sz="1700">
                <a:solidFill>
                  <a:srgbClr val="F8F4FF"/>
                </a:solidFill>
              </a:defRPr>
            </a:pPr>
            <a:r>
              <a:rPr sz="1400" dirty="0"/>
              <a:t>Vender combo </a:t>
            </a:r>
            <a:r>
              <a:rPr sz="1400" dirty="0" err="1"/>
              <a:t>desayuno</a:t>
            </a:r>
            <a:r>
              <a:rPr sz="1400" dirty="0"/>
              <a:t>.</a:t>
            </a:r>
          </a:p>
          <a:p>
            <a:pPr>
              <a:spcAft>
                <a:spcPts val="800"/>
              </a:spcAft>
              <a:defRPr sz="1700">
                <a:solidFill>
                  <a:srgbClr val="F8F4FF"/>
                </a:solidFill>
              </a:defRPr>
            </a:pPr>
            <a:r>
              <a:rPr sz="1400" dirty="0"/>
              <a:t>Vender combo </a:t>
            </a:r>
            <a:r>
              <a:rPr sz="1400" dirty="0" err="1"/>
              <a:t>merienda</a:t>
            </a:r>
            <a:r>
              <a:rPr sz="1400" dirty="0"/>
              <a:t>.</a:t>
            </a:r>
          </a:p>
          <a:p>
            <a:pPr>
              <a:spcAft>
                <a:spcPts val="800"/>
              </a:spcAft>
              <a:defRPr sz="1700">
                <a:solidFill>
                  <a:srgbClr val="F8F4FF"/>
                </a:solidFill>
              </a:defRPr>
            </a:pPr>
            <a:r>
              <a:rPr sz="1400" dirty="0" err="1"/>
              <a:t>Permitir</a:t>
            </a:r>
            <a:r>
              <a:rPr sz="1400" dirty="0"/>
              <a:t> combos </a:t>
            </a:r>
            <a:r>
              <a:rPr sz="1400" dirty="0" err="1"/>
              <a:t>formados</a:t>
            </a:r>
            <a:r>
              <a:rPr sz="1400" dirty="0"/>
              <a:t> </a:t>
            </a:r>
            <a:r>
              <a:rPr sz="1400" dirty="0" err="1"/>
              <a:t>por</a:t>
            </a:r>
            <a:r>
              <a:rPr sz="1400" dirty="0"/>
              <a:t> </a:t>
            </a:r>
            <a:r>
              <a:rPr sz="1400" dirty="0" err="1"/>
              <a:t>otros</a:t>
            </a:r>
            <a:r>
              <a:rPr sz="1400" dirty="0"/>
              <a:t> </a:t>
            </a:r>
            <a:r>
              <a:rPr sz="1400" dirty="0" err="1"/>
              <a:t>vendibles</a:t>
            </a:r>
            <a:r>
              <a:rPr sz="1400" dirty="0"/>
              <a:t>.</a:t>
            </a:r>
          </a:p>
        </p:txBody>
      </p:sp>
      <p:sp>
        <p:nvSpPr>
          <p:cNvPr id="12" name="TextBox 15">
            <a:extLst>
              <a:ext uri="{FF2B5EF4-FFF2-40B4-BE49-F238E27FC236}">
                <a16:creationId xmlns:a16="http://schemas.microsoft.com/office/drawing/2014/main" id="{03B41812-5F9C-04D7-3C58-0D93ABBF439D}"/>
              </a:ext>
            </a:extLst>
          </p:cNvPr>
          <p:cNvSpPr txBox="1"/>
          <p:nvPr/>
        </p:nvSpPr>
        <p:spPr>
          <a:xfrm>
            <a:off x="4922795" y="5115841"/>
            <a:ext cx="3568242" cy="646331"/>
          </a:xfrm>
          <a:prstGeom prst="rect">
            <a:avLst/>
          </a:prstGeom>
          <a:noFill/>
        </p:spPr>
        <p:txBody>
          <a:bodyPr wrap="square" lIns="18288" rIns="18288">
            <a:spAutoFit/>
          </a:bodyPr>
          <a:lstStyle/>
          <a:p>
            <a:pPr algn="ctr">
              <a:defRPr sz="1800" b="1">
                <a:solidFill>
                  <a:srgbClr val="FF6B6B"/>
                </a:solidFill>
              </a:defRPr>
            </a:pPr>
            <a:r>
              <a:rPr dirty="0"/>
              <a:t>No </a:t>
            </a:r>
            <a:r>
              <a:rPr dirty="0" err="1"/>
              <a:t>queremos</a:t>
            </a:r>
            <a:r>
              <a:rPr dirty="0"/>
              <a:t> </a:t>
            </a:r>
            <a:r>
              <a:rPr dirty="0" err="1"/>
              <a:t>llenar</a:t>
            </a:r>
            <a:r>
              <a:rPr dirty="0"/>
              <a:t> </a:t>
            </a:r>
            <a:r>
              <a:rPr dirty="0" err="1"/>
              <a:t>Pedido</a:t>
            </a:r>
            <a:r>
              <a:rPr dirty="0"/>
              <a:t> de if/else.</a:t>
            </a:r>
          </a:p>
        </p:txBody>
      </p:sp>
    </p:spTree>
    <p:extLst>
      <p:ext uri="{BB962C8B-B14F-4D97-AF65-F5344CB8AC3E}">
        <p14:creationId xmlns:p14="http://schemas.microsoft.com/office/powerpoint/2010/main" val="37534378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B2EEEA-F2B1-820F-9829-59B827B5A4F4}"/>
              </a:ext>
            </a:extLst>
          </p:cNvPr>
          <p:cNvSpPr>
            <a:spLocks noGrp="1"/>
          </p:cNvSpPr>
          <p:nvPr>
            <p:ph type="title"/>
          </p:nvPr>
        </p:nvSpPr>
        <p:spPr/>
        <p:txBody>
          <a:bodyPr/>
          <a:lstStyle/>
          <a:p>
            <a:r>
              <a:rPr lang="es-AR" dirty="0"/>
              <a:t>Solución</a:t>
            </a:r>
          </a:p>
        </p:txBody>
      </p:sp>
      <p:sp>
        <p:nvSpPr>
          <p:cNvPr id="3" name="Marcador de contenido 2">
            <a:extLst>
              <a:ext uri="{FF2B5EF4-FFF2-40B4-BE49-F238E27FC236}">
                <a16:creationId xmlns:a16="http://schemas.microsoft.com/office/drawing/2014/main" id="{C54460BF-BA46-48DD-4878-B33CB1D5B29C}"/>
              </a:ext>
            </a:extLst>
          </p:cNvPr>
          <p:cNvSpPr>
            <a:spLocks noGrp="1"/>
          </p:cNvSpPr>
          <p:nvPr>
            <p:ph idx="1"/>
          </p:nvPr>
        </p:nvSpPr>
        <p:spPr>
          <a:xfrm>
            <a:off x="864381" y="2489200"/>
            <a:ext cx="7716093" cy="3530600"/>
          </a:xfrm>
        </p:spPr>
        <p:txBody>
          <a:bodyPr/>
          <a:lstStyle/>
          <a:p>
            <a:r>
              <a:rPr lang="es-AR" dirty="0"/>
              <a:t>La pregunta clave deja de ser “¿es un producto?” y pasa a ser “¿se puede vender?”</a:t>
            </a:r>
          </a:p>
          <a:p>
            <a:r>
              <a:rPr lang="es-AR" dirty="0"/>
              <a:t>Producto y Combo comparten el mismo contrato: </a:t>
            </a:r>
            <a:r>
              <a:rPr lang="es-AR" dirty="0" err="1"/>
              <a:t>calcularPrecio</a:t>
            </a:r>
            <a:r>
              <a:rPr lang="es-AR" dirty="0"/>
              <a:t>()</a:t>
            </a:r>
          </a:p>
        </p:txBody>
      </p:sp>
      <p:sp>
        <p:nvSpPr>
          <p:cNvPr id="4" name="Rounded Rectangle 8">
            <a:extLst>
              <a:ext uri="{FF2B5EF4-FFF2-40B4-BE49-F238E27FC236}">
                <a16:creationId xmlns:a16="http://schemas.microsoft.com/office/drawing/2014/main" id="{0BA35916-10AA-82A0-D783-EF12C62BE108}"/>
              </a:ext>
            </a:extLst>
          </p:cNvPr>
          <p:cNvSpPr/>
          <p:nvPr/>
        </p:nvSpPr>
        <p:spPr>
          <a:xfrm>
            <a:off x="3566160" y="3950703"/>
            <a:ext cx="2011680" cy="731520"/>
          </a:xfrm>
          <a:prstGeom prst="roundRect">
            <a:avLst/>
          </a:prstGeom>
          <a:solidFill>
            <a:srgbClr val="2E234A"/>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9">
            <a:extLst>
              <a:ext uri="{FF2B5EF4-FFF2-40B4-BE49-F238E27FC236}">
                <a16:creationId xmlns:a16="http://schemas.microsoft.com/office/drawing/2014/main" id="{CE78868C-D400-3FA3-F06F-8C7F8F7E41D3}"/>
              </a:ext>
            </a:extLst>
          </p:cNvPr>
          <p:cNvSpPr txBox="1"/>
          <p:nvPr/>
        </p:nvSpPr>
        <p:spPr>
          <a:xfrm>
            <a:off x="3639312" y="4042144"/>
            <a:ext cx="1865376" cy="594360"/>
          </a:xfrm>
          <a:prstGeom prst="rect">
            <a:avLst/>
          </a:prstGeom>
          <a:noFill/>
        </p:spPr>
        <p:txBody>
          <a:bodyPr wrap="none" anchor="ctr">
            <a:spAutoFit/>
          </a:bodyPr>
          <a:lstStyle/>
          <a:p>
            <a:pPr algn="ctr">
              <a:defRPr sz="1800" b="1">
                <a:solidFill>
                  <a:srgbClr val="F8F4FF"/>
                </a:solidFill>
              </a:defRPr>
            </a:pPr>
            <a:r>
              <a:rPr dirty="0"/>
              <a:t>Vendible</a:t>
            </a:r>
            <a:br>
              <a:rPr dirty="0"/>
            </a:br>
            <a:r>
              <a:rPr dirty="0"/>
              <a:t>(Component)</a:t>
            </a:r>
          </a:p>
        </p:txBody>
      </p:sp>
      <p:cxnSp>
        <p:nvCxnSpPr>
          <p:cNvPr id="6" name="Connector 10">
            <a:extLst>
              <a:ext uri="{FF2B5EF4-FFF2-40B4-BE49-F238E27FC236}">
                <a16:creationId xmlns:a16="http://schemas.microsoft.com/office/drawing/2014/main" id="{A78DD957-FDFE-54BC-011C-CE087DAC5522}"/>
              </a:ext>
            </a:extLst>
          </p:cNvPr>
          <p:cNvCxnSpPr/>
          <p:nvPr/>
        </p:nvCxnSpPr>
        <p:spPr>
          <a:xfrm flipH="1">
            <a:off x="2144541" y="4773664"/>
            <a:ext cx="1965960" cy="822960"/>
          </a:xfrm>
          <a:prstGeom prst="line">
            <a:avLst/>
          </a:prstGeom>
          <a:ln w="20320">
            <a:solidFill>
              <a:srgbClr val="58C7F3"/>
            </a:solidFill>
          </a:ln>
        </p:spPr>
        <p:style>
          <a:lnRef idx="2">
            <a:schemeClr val="accent1"/>
          </a:lnRef>
          <a:fillRef idx="0">
            <a:schemeClr val="accent1"/>
          </a:fillRef>
          <a:effectRef idx="1">
            <a:schemeClr val="accent1"/>
          </a:effectRef>
          <a:fontRef idx="minor">
            <a:schemeClr val="tx1"/>
          </a:fontRef>
        </p:style>
      </p:cxnSp>
      <p:cxnSp>
        <p:nvCxnSpPr>
          <p:cNvPr id="7" name="Connector 11">
            <a:extLst>
              <a:ext uri="{FF2B5EF4-FFF2-40B4-BE49-F238E27FC236}">
                <a16:creationId xmlns:a16="http://schemas.microsoft.com/office/drawing/2014/main" id="{3107ECA2-D42D-1307-9120-C03AD7847221}"/>
              </a:ext>
            </a:extLst>
          </p:cNvPr>
          <p:cNvCxnSpPr/>
          <p:nvPr/>
        </p:nvCxnSpPr>
        <p:spPr>
          <a:xfrm>
            <a:off x="5207781" y="4773664"/>
            <a:ext cx="1691640" cy="822960"/>
          </a:xfrm>
          <a:prstGeom prst="line">
            <a:avLst/>
          </a:prstGeom>
          <a:ln w="20320">
            <a:solidFill>
              <a:srgbClr val="58C7F3"/>
            </a:solidFill>
          </a:ln>
        </p:spPr>
        <p:style>
          <a:lnRef idx="2">
            <a:schemeClr val="accent1"/>
          </a:lnRef>
          <a:fillRef idx="0">
            <a:schemeClr val="accent1"/>
          </a:fillRef>
          <a:effectRef idx="1">
            <a:schemeClr val="accent1"/>
          </a:effectRef>
          <a:fontRef idx="minor">
            <a:schemeClr val="tx1"/>
          </a:fontRef>
        </p:style>
      </p:cxnSp>
      <p:sp>
        <p:nvSpPr>
          <p:cNvPr id="8" name="Rounded Rectangle 12">
            <a:extLst>
              <a:ext uri="{FF2B5EF4-FFF2-40B4-BE49-F238E27FC236}">
                <a16:creationId xmlns:a16="http://schemas.microsoft.com/office/drawing/2014/main" id="{5AE18C92-236C-A693-76AE-04A0FFD0F979}"/>
              </a:ext>
            </a:extLst>
          </p:cNvPr>
          <p:cNvSpPr/>
          <p:nvPr/>
        </p:nvSpPr>
        <p:spPr>
          <a:xfrm>
            <a:off x="1275861" y="5596624"/>
            <a:ext cx="2011680" cy="731520"/>
          </a:xfrm>
          <a:prstGeom prst="roundRect">
            <a:avLst/>
          </a:prstGeom>
          <a:solidFill>
            <a:srgbClr val="2E234A"/>
          </a:solidFill>
          <a:ln w="15240">
            <a:solidFill>
              <a:srgbClr val="58D6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13">
            <a:extLst>
              <a:ext uri="{FF2B5EF4-FFF2-40B4-BE49-F238E27FC236}">
                <a16:creationId xmlns:a16="http://schemas.microsoft.com/office/drawing/2014/main" id="{7980DF46-1A1D-D9DC-3883-C1F84D276C07}"/>
              </a:ext>
            </a:extLst>
          </p:cNvPr>
          <p:cNvSpPr txBox="1"/>
          <p:nvPr/>
        </p:nvSpPr>
        <p:spPr>
          <a:xfrm>
            <a:off x="1349013" y="5688064"/>
            <a:ext cx="1865376" cy="594360"/>
          </a:xfrm>
          <a:prstGeom prst="rect">
            <a:avLst/>
          </a:prstGeom>
          <a:noFill/>
        </p:spPr>
        <p:txBody>
          <a:bodyPr wrap="none" anchor="ctr">
            <a:spAutoFit/>
          </a:bodyPr>
          <a:lstStyle/>
          <a:p>
            <a:pPr algn="ctr">
              <a:defRPr sz="1800" b="1">
                <a:solidFill>
                  <a:srgbClr val="F8F4FF"/>
                </a:solidFill>
              </a:defRPr>
            </a:pPr>
            <a:r>
              <a:t>Producto</a:t>
            </a:r>
            <a:br/>
            <a:r>
              <a:t>(Leaf)</a:t>
            </a:r>
          </a:p>
        </p:txBody>
      </p:sp>
      <p:sp>
        <p:nvSpPr>
          <p:cNvPr id="10" name="Rounded Rectangle 14">
            <a:extLst>
              <a:ext uri="{FF2B5EF4-FFF2-40B4-BE49-F238E27FC236}">
                <a16:creationId xmlns:a16="http://schemas.microsoft.com/office/drawing/2014/main" id="{A5CE87EB-E71E-E3BD-F151-C07C7A05C54C}"/>
              </a:ext>
            </a:extLst>
          </p:cNvPr>
          <p:cNvSpPr/>
          <p:nvPr/>
        </p:nvSpPr>
        <p:spPr>
          <a:xfrm>
            <a:off x="5847861" y="5596624"/>
            <a:ext cx="2011680" cy="731520"/>
          </a:xfrm>
          <a:prstGeom prst="roundRect">
            <a:avLst/>
          </a:prstGeom>
          <a:solidFill>
            <a:srgbClr val="2E234A"/>
          </a:solidFill>
          <a:ln w="15240">
            <a:solidFill>
              <a:srgbClr val="F2C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5">
            <a:extLst>
              <a:ext uri="{FF2B5EF4-FFF2-40B4-BE49-F238E27FC236}">
                <a16:creationId xmlns:a16="http://schemas.microsoft.com/office/drawing/2014/main" id="{ADD1A883-90AE-F180-87C9-584C4E96E906}"/>
              </a:ext>
            </a:extLst>
          </p:cNvPr>
          <p:cNvSpPr txBox="1"/>
          <p:nvPr/>
        </p:nvSpPr>
        <p:spPr>
          <a:xfrm>
            <a:off x="5921013" y="5688064"/>
            <a:ext cx="1865376" cy="594360"/>
          </a:xfrm>
          <a:prstGeom prst="rect">
            <a:avLst/>
          </a:prstGeom>
          <a:noFill/>
        </p:spPr>
        <p:txBody>
          <a:bodyPr wrap="none" anchor="ctr">
            <a:spAutoFit/>
          </a:bodyPr>
          <a:lstStyle/>
          <a:p>
            <a:pPr algn="ctr">
              <a:defRPr sz="1800" b="1">
                <a:solidFill>
                  <a:srgbClr val="F8F4FF"/>
                </a:solidFill>
              </a:defRPr>
            </a:pPr>
            <a:r>
              <a:t>Combo</a:t>
            </a:r>
            <a:br/>
            <a:r>
              <a:t>(Composite)</a:t>
            </a:r>
          </a:p>
        </p:txBody>
      </p:sp>
    </p:spTree>
    <p:extLst>
      <p:ext uri="{BB962C8B-B14F-4D97-AF65-F5344CB8AC3E}">
        <p14:creationId xmlns:p14="http://schemas.microsoft.com/office/powerpoint/2010/main" val="19479215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19D1A1-83F8-2018-10E0-68683EE98265}"/>
              </a:ext>
            </a:extLst>
          </p:cNvPr>
          <p:cNvSpPr>
            <a:spLocks noGrp="1"/>
          </p:cNvSpPr>
          <p:nvPr>
            <p:ph type="title"/>
          </p:nvPr>
        </p:nvSpPr>
        <p:spPr/>
        <p:txBody>
          <a:bodyPr/>
          <a:lstStyle/>
          <a:p>
            <a:r>
              <a:rPr lang="es-AR" dirty="0"/>
              <a:t>Paso1: crear el componente -Vendible</a:t>
            </a:r>
          </a:p>
        </p:txBody>
      </p:sp>
      <p:sp>
        <p:nvSpPr>
          <p:cNvPr id="3" name="Marcador de contenido 2">
            <a:extLst>
              <a:ext uri="{FF2B5EF4-FFF2-40B4-BE49-F238E27FC236}">
                <a16:creationId xmlns:a16="http://schemas.microsoft.com/office/drawing/2014/main" id="{022E5384-D224-E470-2E5D-28B891D82C3C}"/>
              </a:ext>
            </a:extLst>
          </p:cNvPr>
          <p:cNvSpPr>
            <a:spLocks noGrp="1"/>
          </p:cNvSpPr>
          <p:nvPr>
            <p:ph idx="1"/>
          </p:nvPr>
        </p:nvSpPr>
        <p:spPr>
          <a:xfrm>
            <a:off x="864381" y="2489200"/>
            <a:ext cx="7843683" cy="3530600"/>
          </a:xfrm>
        </p:spPr>
        <p:txBody>
          <a:bodyPr/>
          <a:lstStyle/>
          <a:p>
            <a:r>
              <a:rPr lang="es-AR" dirty="0"/>
              <a:t>Vendible representa cualquier cosa que </a:t>
            </a:r>
            <a:r>
              <a:rPr lang="es-AR" dirty="0" err="1"/>
              <a:t>MagicCafe</a:t>
            </a:r>
            <a:r>
              <a:rPr lang="es-AR" dirty="0"/>
              <a:t> puede vender.</a:t>
            </a:r>
          </a:p>
        </p:txBody>
      </p:sp>
      <p:sp>
        <p:nvSpPr>
          <p:cNvPr id="4" name="Rounded Rectangle 8">
            <a:extLst>
              <a:ext uri="{FF2B5EF4-FFF2-40B4-BE49-F238E27FC236}">
                <a16:creationId xmlns:a16="http://schemas.microsoft.com/office/drawing/2014/main" id="{5DF0A87E-2C2E-26C2-24F4-EF2B428BCD81}"/>
              </a:ext>
            </a:extLst>
          </p:cNvPr>
          <p:cNvSpPr/>
          <p:nvPr/>
        </p:nvSpPr>
        <p:spPr>
          <a:xfrm>
            <a:off x="290341" y="3246120"/>
            <a:ext cx="5223120" cy="3187702"/>
          </a:xfrm>
          <a:prstGeom prst="roundRect">
            <a:avLst>
              <a:gd name="adj" fmla="val 9329"/>
            </a:avLst>
          </a:prstGeom>
          <a:solidFill>
            <a:srgbClr val="100C1A"/>
          </a:solidFill>
          <a:ln w="1270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9">
            <a:extLst>
              <a:ext uri="{FF2B5EF4-FFF2-40B4-BE49-F238E27FC236}">
                <a16:creationId xmlns:a16="http://schemas.microsoft.com/office/drawing/2014/main" id="{8AC1704B-382E-1CAC-F2E8-8CCD35964F14}"/>
              </a:ext>
            </a:extLst>
          </p:cNvPr>
          <p:cNvSpPr txBox="1"/>
          <p:nvPr/>
        </p:nvSpPr>
        <p:spPr>
          <a:xfrm>
            <a:off x="454933" y="3374136"/>
            <a:ext cx="4924656" cy="2677656"/>
          </a:xfrm>
          <a:prstGeom prst="rect">
            <a:avLst/>
          </a:prstGeom>
          <a:noFill/>
        </p:spPr>
        <p:txBody>
          <a:bodyPr wrap="square" lIns="18288" rIns="18288">
            <a:spAutoFit/>
          </a:bodyPr>
          <a:lstStyle/>
          <a:p>
            <a:pPr>
              <a:defRPr sz="1200">
                <a:solidFill>
                  <a:srgbClr val="EFE6FF"/>
                </a:solidFill>
                <a:latin typeface="Consolas"/>
              </a:defRPr>
            </a:pPr>
            <a:r>
              <a:t>@Entity</a:t>
            </a:r>
            <a:br/>
            <a:r>
              <a:t>@Table(name = "vendibles")</a:t>
            </a:r>
            <a:br/>
            <a:r>
              <a:t>@Inheritance(strategy = InheritanceType.SINGLE_TABLE)</a:t>
            </a:r>
            <a:br/>
            <a:r>
              <a:t>@DiscriminatorColumn(name = "tipo_vendible")</a:t>
            </a:r>
            <a:br/>
            <a:r>
              <a:t>public abstract class Vendible {</a:t>
            </a:r>
            <a:br/>
            <a:br/>
            <a:r>
              <a:t>    @Id</a:t>
            </a:r>
            <a:br/>
            <a:r>
              <a:t>    @GeneratedValue(strategy = GenerationType.IDENTITY)</a:t>
            </a:r>
            <a:br/>
            <a:r>
              <a:t>    private Long id;</a:t>
            </a:r>
            <a:br/>
            <a:br/>
            <a:r>
              <a:t>    protected String nombre;</a:t>
            </a:r>
            <a:br/>
            <a:br/>
            <a:r>
              <a:t>    public abstract double calcularPrecio();</a:t>
            </a:r>
            <a:br/>
            <a:r>
              <a:t>}</a:t>
            </a:r>
          </a:p>
        </p:txBody>
      </p:sp>
      <p:sp>
        <p:nvSpPr>
          <p:cNvPr id="6" name="Rounded Rectangle 10">
            <a:extLst>
              <a:ext uri="{FF2B5EF4-FFF2-40B4-BE49-F238E27FC236}">
                <a16:creationId xmlns:a16="http://schemas.microsoft.com/office/drawing/2014/main" id="{50C2F5FD-E79A-A977-0049-404A50E9207A}"/>
              </a:ext>
            </a:extLst>
          </p:cNvPr>
          <p:cNvSpPr/>
          <p:nvPr/>
        </p:nvSpPr>
        <p:spPr>
          <a:xfrm>
            <a:off x="5592962" y="3246120"/>
            <a:ext cx="3233360" cy="3187702"/>
          </a:xfrm>
          <a:prstGeom prst="roundRect">
            <a:avLst>
              <a:gd name="adj" fmla="val 9996"/>
            </a:avLst>
          </a:prstGeom>
          <a:solidFill>
            <a:srgbClr val="241A3B"/>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11">
            <a:extLst>
              <a:ext uri="{FF2B5EF4-FFF2-40B4-BE49-F238E27FC236}">
                <a16:creationId xmlns:a16="http://schemas.microsoft.com/office/drawing/2014/main" id="{1768DF95-2B76-3970-7676-C5B8EA97ECA7}"/>
              </a:ext>
            </a:extLst>
          </p:cNvPr>
          <p:cNvSpPr txBox="1"/>
          <p:nvPr/>
        </p:nvSpPr>
        <p:spPr>
          <a:xfrm>
            <a:off x="5794130" y="3374136"/>
            <a:ext cx="2868571" cy="307777"/>
          </a:xfrm>
          <a:prstGeom prst="rect">
            <a:avLst/>
          </a:prstGeom>
          <a:noFill/>
        </p:spPr>
        <p:txBody>
          <a:bodyPr wrap="square">
            <a:spAutoFit/>
          </a:bodyPr>
          <a:lstStyle/>
          <a:p>
            <a:pPr>
              <a:defRPr sz="1300" b="1">
                <a:solidFill>
                  <a:srgbClr val="F8F4FF"/>
                </a:solidFill>
              </a:defRPr>
            </a:pPr>
            <a:r>
              <a:rPr sz="1400" dirty="0" err="1"/>
              <a:t>Qué</a:t>
            </a:r>
            <a:r>
              <a:rPr sz="1400" dirty="0"/>
              <a:t> </a:t>
            </a:r>
            <a:r>
              <a:rPr sz="1400" dirty="0" err="1"/>
              <a:t>aporta</a:t>
            </a:r>
            <a:endParaRPr sz="1400" dirty="0"/>
          </a:p>
        </p:txBody>
      </p:sp>
      <p:sp>
        <p:nvSpPr>
          <p:cNvPr id="8" name="TextBox 12">
            <a:extLst>
              <a:ext uri="{FF2B5EF4-FFF2-40B4-BE49-F238E27FC236}">
                <a16:creationId xmlns:a16="http://schemas.microsoft.com/office/drawing/2014/main" id="{6C6EB0EE-1B1B-B55F-A2AF-6DCC09E0A30B}"/>
              </a:ext>
            </a:extLst>
          </p:cNvPr>
          <p:cNvSpPr txBox="1"/>
          <p:nvPr/>
        </p:nvSpPr>
        <p:spPr>
          <a:xfrm>
            <a:off x="5789037" y="3749040"/>
            <a:ext cx="2900029" cy="1261884"/>
          </a:xfrm>
          <a:prstGeom prst="rect">
            <a:avLst/>
          </a:prstGeom>
          <a:noFill/>
        </p:spPr>
        <p:txBody>
          <a:bodyPr wrap="square" lIns="54864">
            <a:spAutoFit/>
          </a:bodyPr>
          <a:lstStyle/>
          <a:p>
            <a:pPr>
              <a:spcAft>
                <a:spcPts val="800"/>
              </a:spcAft>
              <a:defRPr sz="1700">
                <a:solidFill>
                  <a:srgbClr val="F8F4FF"/>
                </a:solidFill>
              </a:defRPr>
            </a:pPr>
            <a:r>
              <a:rPr sz="1400" dirty="0" err="1"/>
              <a:t>Contrato</a:t>
            </a:r>
            <a:r>
              <a:rPr sz="1400" dirty="0"/>
              <a:t> </a:t>
            </a:r>
            <a:r>
              <a:rPr sz="1400" dirty="0" err="1"/>
              <a:t>común</a:t>
            </a:r>
            <a:r>
              <a:rPr sz="1400" dirty="0"/>
              <a:t>.</a:t>
            </a:r>
          </a:p>
          <a:p>
            <a:pPr>
              <a:spcAft>
                <a:spcPts val="800"/>
              </a:spcAft>
              <a:defRPr sz="1700">
                <a:solidFill>
                  <a:srgbClr val="F8F4FF"/>
                </a:solidFill>
              </a:defRPr>
            </a:pPr>
            <a:r>
              <a:rPr sz="1400" dirty="0" err="1"/>
              <a:t>Permite</a:t>
            </a:r>
            <a:r>
              <a:rPr sz="1400" dirty="0"/>
              <a:t> </a:t>
            </a:r>
            <a:r>
              <a:rPr sz="1400" dirty="0" err="1"/>
              <a:t>polimorfismo</a:t>
            </a:r>
            <a:r>
              <a:rPr sz="1400" dirty="0"/>
              <a:t>.</a:t>
            </a:r>
          </a:p>
          <a:p>
            <a:pPr>
              <a:spcAft>
                <a:spcPts val="800"/>
              </a:spcAft>
              <a:defRPr sz="1700">
                <a:solidFill>
                  <a:srgbClr val="F8F4FF"/>
                </a:solidFill>
              </a:defRPr>
            </a:pPr>
            <a:r>
              <a:rPr sz="1400" dirty="0"/>
              <a:t>Evita </a:t>
            </a:r>
            <a:r>
              <a:rPr sz="1400" dirty="0" err="1"/>
              <a:t>depender</a:t>
            </a:r>
            <a:r>
              <a:rPr sz="1400" dirty="0"/>
              <a:t> de </a:t>
            </a:r>
            <a:r>
              <a:rPr sz="1400" dirty="0" err="1"/>
              <a:t>Producto</a:t>
            </a:r>
            <a:r>
              <a:rPr sz="1400" dirty="0"/>
              <a:t>.</a:t>
            </a:r>
          </a:p>
          <a:p>
            <a:pPr>
              <a:spcAft>
                <a:spcPts val="800"/>
              </a:spcAft>
              <a:defRPr sz="1700">
                <a:solidFill>
                  <a:srgbClr val="F8F4FF"/>
                </a:solidFill>
              </a:defRPr>
            </a:pPr>
            <a:r>
              <a:rPr sz="1400" dirty="0"/>
              <a:t>Es </a:t>
            </a:r>
            <a:r>
              <a:rPr sz="1400" dirty="0" err="1"/>
              <a:t>persistible</a:t>
            </a:r>
            <a:r>
              <a:rPr sz="1400" dirty="0"/>
              <a:t> con Hibernate.</a:t>
            </a:r>
          </a:p>
        </p:txBody>
      </p:sp>
    </p:spTree>
    <p:extLst>
      <p:ext uri="{BB962C8B-B14F-4D97-AF65-F5344CB8AC3E}">
        <p14:creationId xmlns:p14="http://schemas.microsoft.com/office/powerpoint/2010/main" val="208662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EFCA53-9738-D1D3-5A1F-743724F5EB31}"/>
              </a:ext>
            </a:extLst>
          </p:cNvPr>
          <p:cNvSpPr>
            <a:spLocks noGrp="1"/>
          </p:cNvSpPr>
          <p:nvPr>
            <p:ph type="title"/>
          </p:nvPr>
        </p:nvSpPr>
        <p:spPr/>
        <p:txBody>
          <a:bodyPr/>
          <a:lstStyle/>
          <a:p>
            <a:r>
              <a:rPr lang="es-AR" dirty="0"/>
              <a:t>Paso 2: Producto como </a:t>
            </a:r>
            <a:r>
              <a:rPr lang="es-AR" dirty="0" err="1"/>
              <a:t>Leaf</a:t>
            </a:r>
            <a:endParaRPr lang="es-AR" dirty="0"/>
          </a:p>
        </p:txBody>
      </p:sp>
      <p:sp>
        <p:nvSpPr>
          <p:cNvPr id="3" name="Marcador de contenido 2">
            <a:extLst>
              <a:ext uri="{FF2B5EF4-FFF2-40B4-BE49-F238E27FC236}">
                <a16:creationId xmlns:a16="http://schemas.microsoft.com/office/drawing/2014/main" id="{A627B9A1-5303-C8E2-21D3-DEB293AE30F6}"/>
              </a:ext>
            </a:extLst>
          </p:cNvPr>
          <p:cNvSpPr>
            <a:spLocks noGrp="1"/>
          </p:cNvSpPr>
          <p:nvPr>
            <p:ph idx="1"/>
          </p:nvPr>
        </p:nvSpPr>
        <p:spPr>
          <a:xfrm>
            <a:off x="864382" y="2489200"/>
            <a:ext cx="6345260" cy="529800"/>
          </a:xfrm>
        </p:spPr>
        <p:txBody>
          <a:bodyPr/>
          <a:lstStyle/>
          <a:p>
            <a:r>
              <a:rPr lang="es-AR" dirty="0"/>
              <a:t>Producto es una hoja: no contiene otros elementos.</a:t>
            </a:r>
          </a:p>
        </p:txBody>
      </p:sp>
      <p:sp>
        <p:nvSpPr>
          <p:cNvPr id="4" name="Rounded Rectangle 8">
            <a:extLst>
              <a:ext uri="{FF2B5EF4-FFF2-40B4-BE49-F238E27FC236}">
                <a16:creationId xmlns:a16="http://schemas.microsoft.com/office/drawing/2014/main" id="{F4D6A1D8-4DF1-127D-2296-CDD999EB85A1}"/>
              </a:ext>
            </a:extLst>
          </p:cNvPr>
          <p:cNvSpPr/>
          <p:nvPr/>
        </p:nvSpPr>
        <p:spPr>
          <a:xfrm>
            <a:off x="330717" y="3101517"/>
            <a:ext cx="4980241" cy="3453967"/>
          </a:xfrm>
          <a:prstGeom prst="roundRect">
            <a:avLst>
              <a:gd name="adj" fmla="val 8971"/>
            </a:avLst>
          </a:prstGeom>
          <a:solidFill>
            <a:srgbClr val="100C1A"/>
          </a:solidFill>
          <a:ln w="1270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9">
            <a:extLst>
              <a:ext uri="{FF2B5EF4-FFF2-40B4-BE49-F238E27FC236}">
                <a16:creationId xmlns:a16="http://schemas.microsoft.com/office/drawing/2014/main" id="{AD617B49-370D-13DA-01DA-203D72167304}"/>
              </a:ext>
            </a:extLst>
          </p:cNvPr>
          <p:cNvSpPr txBox="1"/>
          <p:nvPr/>
        </p:nvSpPr>
        <p:spPr>
          <a:xfrm>
            <a:off x="495309" y="3229532"/>
            <a:ext cx="4693379" cy="3046988"/>
          </a:xfrm>
          <a:prstGeom prst="rect">
            <a:avLst/>
          </a:prstGeom>
          <a:noFill/>
        </p:spPr>
        <p:txBody>
          <a:bodyPr wrap="square" lIns="18288" rIns="18288">
            <a:spAutoFit/>
          </a:bodyPr>
          <a:lstStyle/>
          <a:p>
            <a:pPr>
              <a:defRPr sz="1200">
                <a:solidFill>
                  <a:srgbClr val="EFE6FF"/>
                </a:solidFill>
                <a:latin typeface="Consolas"/>
              </a:defRPr>
            </a:pPr>
            <a:r>
              <a:t>@Entity</a:t>
            </a:r>
            <a:br/>
            <a:r>
              <a:t>@DiscriminatorValue("PRODUCTO")</a:t>
            </a:r>
            <a:br/>
            <a:r>
              <a:t>public class Producto extends Vendible {</a:t>
            </a:r>
            <a:br/>
            <a:br/>
            <a:r>
              <a:t>    private double precio;</a:t>
            </a:r>
            <a:br/>
            <a:br/>
            <a:r>
              <a:t>    public Producto(String nombre, double precio) {</a:t>
            </a:r>
            <a:br/>
            <a:r>
              <a:t>        super(nombre);</a:t>
            </a:r>
            <a:br/>
            <a:r>
              <a:t>        this.precio = precio;</a:t>
            </a:r>
            <a:br/>
            <a:r>
              <a:t>    }</a:t>
            </a:r>
            <a:br/>
            <a:br/>
            <a:r>
              <a:t>    @Override</a:t>
            </a:r>
            <a:br/>
            <a:r>
              <a:t>    public double calcularPrecio() {</a:t>
            </a:r>
            <a:br/>
            <a:r>
              <a:t>        return precio;</a:t>
            </a:r>
            <a:br/>
            <a:r>
              <a:t>    }</a:t>
            </a:r>
            <a:br/>
            <a:r>
              <a:t>}</a:t>
            </a:r>
          </a:p>
        </p:txBody>
      </p:sp>
      <p:sp>
        <p:nvSpPr>
          <p:cNvPr id="6" name="Rounded Rectangle 10">
            <a:extLst>
              <a:ext uri="{FF2B5EF4-FFF2-40B4-BE49-F238E27FC236}">
                <a16:creationId xmlns:a16="http://schemas.microsoft.com/office/drawing/2014/main" id="{4CB618FA-1207-2403-0C46-740A5E169036}"/>
              </a:ext>
            </a:extLst>
          </p:cNvPr>
          <p:cNvSpPr/>
          <p:nvPr/>
        </p:nvSpPr>
        <p:spPr>
          <a:xfrm>
            <a:off x="5461337" y="3101517"/>
            <a:ext cx="3187354" cy="2719080"/>
          </a:xfrm>
          <a:prstGeom prst="roundRect">
            <a:avLst>
              <a:gd name="adj" fmla="val 9237"/>
            </a:avLst>
          </a:prstGeom>
          <a:solidFill>
            <a:srgbClr val="241A3B"/>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11">
            <a:extLst>
              <a:ext uri="{FF2B5EF4-FFF2-40B4-BE49-F238E27FC236}">
                <a16:creationId xmlns:a16="http://schemas.microsoft.com/office/drawing/2014/main" id="{5A00960E-7AEC-CCAA-54CE-3F9A52465DF6}"/>
              </a:ext>
            </a:extLst>
          </p:cNvPr>
          <p:cNvSpPr txBox="1"/>
          <p:nvPr/>
        </p:nvSpPr>
        <p:spPr>
          <a:xfrm>
            <a:off x="5662505" y="3229532"/>
            <a:ext cx="2836745" cy="307777"/>
          </a:xfrm>
          <a:prstGeom prst="rect">
            <a:avLst/>
          </a:prstGeom>
          <a:noFill/>
        </p:spPr>
        <p:txBody>
          <a:bodyPr wrap="square">
            <a:spAutoFit/>
          </a:bodyPr>
          <a:lstStyle/>
          <a:p>
            <a:pPr>
              <a:defRPr sz="1300" b="1">
                <a:solidFill>
                  <a:srgbClr val="F8F4FF"/>
                </a:solidFill>
              </a:defRPr>
            </a:pPr>
            <a:r>
              <a:rPr dirty="0"/>
              <a:t>Rol </a:t>
            </a:r>
            <a:r>
              <a:rPr dirty="0" err="1"/>
              <a:t>en</a:t>
            </a:r>
            <a:r>
              <a:rPr dirty="0"/>
              <a:t> </a:t>
            </a:r>
            <a:r>
              <a:rPr sz="1400" dirty="0"/>
              <a:t>Composite</a:t>
            </a:r>
            <a:endParaRPr dirty="0"/>
          </a:p>
        </p:txBody>
      </p:sp>
      <p:sp>
        <p:nvSpPr>
          <p:cNvPr id="8" name="TextBox 12">
            <a:extLst>
              <a:ext uri="{FF2B5EF4-FFF2-40B4-BE49-F238E27FC236}">
                <a16:creationId xmlns:a16="http://schemas.microsoft.com/office/drawing/2014/main" id="{8FE4D33D-B833-BC34-07C1-35670546E6F4}"/>
              </a:ext>
            </a:extLst>
          </p:cNvPr>
          <p:cNvSpPr txBox="1"/>
          <p:nvPr/>
        </p:nvSpPr>
        <p:spPr>
          <a:xfrm>
            <a:off x="5781377" y="3604437"/>
            <a:ext cx="2629567" cy="1169551"/>
          </a:xfrm>
          <a:prstGeom prst="rect">
            <a:avLst/>
          </a:prstGeom>
          <a:noFill/>
        </p:spPr>
        <p:txBody>
          <a:bodyPr wrap="square" lIns="18288" rIns="18288">
            <a:spAutoFit/>
          </a:bodyPr>
          <a:lstStyle/>
          <a:p>
            <a:pPr algn="ctr">
              <a:defRPr sz="1900" b="0">
                <a:solidFill>
                  <a:srgbClr val="F8F4FF"/>
                </a:solidFill>
              </a:defRPr>
            </a:pPr>
            <a:r>
              <a:rPr sz="1400" dirty="0" err="1"/>
              <a:t>Producto</a:t>
            </a:r>
            <a:r>
              <a:rPr sz="1400" dirty="0"/>
              <a:t> = Leaf</a:t>
            </a:r>
          </a:p>
          <a:p>
            <a:pPr algn="ctr">
              <a:defRPr sz="1900" b="0">
                <a:solidFill>
                  <a:srgbClr val="F8F4FF"/>
                </a:solidFill>
              </a:defRPr>
            </a:pPr>
            <a:endParaRPr sz="1400" dirty="0"/>
          </a:p>
          <a:p>
            <a:pPr algn="ctr">
              <a:defRPr sz="1900" b="0">
                <a:solidFill>
                  <a:srgbClr val="F8F4FF"/>
                </a:solidFill>
              </a:defRPr>
            </a:pPr>
            <a:r>
              <a:rPr sz="1400" dirty="0"/>
              <a:t>Es </a:t>
            </a:r>
            <a:r>
              <a:rPr sz="1400" dirty="0" err="1"/>
              <a:t>el</a:t>
            </a:r>
            <a:r>
              <a:rPr sz="1400" dirty="0"/>
              <a:t> </a:t>
            </a:r>
            <a:r>
              <a:rPr sz="1400" dirty="0" err="1"/>
              <a:t>caso</a:t>
            </a:r>
            <a:r>
              <a:rPr sz="1400" dirty="0"/>
              <a:t> </a:t>
            </a:r>
            <a:r>
              <a:rPr sz="1400" dirty="0" err="1"/>
              <a:t>más</a:t>
            </a:r>
            <a:r>
              <a:rPr sz="1400" dirty="0"/>
              <a:t> simple:</a:t>
            </a:r>
          </a:p>
          <a:p>
            <a:pPr algn="ctr">
              <a:defRPr sz="1900" b="0">
                <a:solidFill>
                  <a:srgbClr val="F8F4FF"/>
                </a:solidFill>
              </a:defRPr>
            </a:pPr>
            <a:r>
              <a:rPr sz="1400" dirty="0"/>
              <a:t>sabe </a:t>
            </a:r>
            <a:r>
              <a:rPr sz="1400" dirty="0" err="1"/>
              <a:t>calcular</a:t>
            </a:r>
            <a:r>
              <a:rPr sz="1400" dirty="0"/>
              <a:t> </a:t>
            </a:r>
            <a:r>
              <a:rPr sz="1400" dirty="0" err="1"/>
              <a:t>su</a:t>
            </a:r>
            <a:r>
              <a:rPr sz="1400" dirty="0"/>
              <a:t> </a:t>
            </a:r>
            <a:r>
              <a:rPr sz="1400" dirty="0" err="1"/>
              <a:t>propio</a:t>
            </a:r>
            <a:r>
              <a:rPr sz="1400" dirty="0"/>
              <a:t> </a:t>
            </a:r>
            <a:r>
              <a:rPr sz="1400" dirty="0" err="1"/>
              <a:t>precio</a:t>
            </a:r>
            <a:r>
              <a:rPr sz="1400" dirty="0"/>
              <a:t> y no </a:t>
            </a:r>
            <a:r>
              <a:rPr sz="1400" dirty="0" err="1"/>
              <a:t>tiene</a:t>
            </a:r>
            <a:r>
              <a:rPr sz="1400" dirty="0"/>
              <a:t> </a:t>
            </a:r>
            <a:r>
              <a:rPr sz="1400" dirty="0" err="1"/>
              <a:t>hijos</a:t>
            </a:r>
            <a:r>
              <a:rPr sz="1400" dirty="0"/>
              <a:t>.</a:t>
            </a:r>
          </a:p>
        </p:txBody>
      </p:sp>
    </p:spTree>
    <p:extLst>
      <p:ext uri="{BB962C8B-B14F-4D97-AF65-F5344CB8AC3E}">
        <p14:creationId xmlns:p14="http://schemas.microsoft.com/office/powerpoint/2010/main" val="2598677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77202D-243D-46BE-6B68-45F35B9B8C07}"/>
              </a:ext>
            </a:extLst>
          </p:cNvPr>
          <p:cNvSpPr>
            <a:spLocks noGrp="1"/>
          </p:cNvSpPr>
          <p:nvPr>
            <p:ph type="title"/>
          </p:nvPr>
        </p:nvSpPr>
        <p:spPr>
          <a:xfrm>
            <a:off x="865969" y="927098"/>
            <a:ext cx="6807039" cy="709865"/>
          </a:xfrm>
        </p:spPr>
        <p:txBody>
          <a:bodyPr/>
          <a:lstStyle/>
          <a:p>
            <a:r>
              <a:rPr lang="es-AR" dirty="0"/>
              <a:t>Paso 3: Combo como Composite</a:t>
            </a:r>
          </a:p>
        </p:txBody>
      </p:sp>
      <p:sp>
        <p:nvSpPr>
          <p:cNvPr id="3" name="Marcador de contenido 2">
            <a:extLst>
              <a:ext uri="{FF2B5EF4-FFF2-40B4-BE49-F238E27FC236}">
                <a16:creationId xmlns:a16="http://schemas.microsoft.com/office/drawing/2014/main" id="{547EEFF4-EA0E-4675-CBD3-CBE78476926D}"/>
              </a:ext>
            </a:extLst>
          </p:cNvPr>
          <p:cNvSpPr>
            <a:spLocks noGrp="1"/>
          </p:cNvSpPr>
          <p:nvPr>
            <p:ph idx="1"/>
          </p:nvPr>
        </p:nvSpPr>
        <p:spPr>
          <a:xfrm>
            <a:off x="864381" y="2489200"/>
            <a:ext cx="7404975" cy="840409"/>
          </a:xfrm>
        </p:spPr>
        <p:txBody>
          <a:bodyPr/>
          <a:lstStyle/>
          <a:p>
            <a:r>
              <a:rPr lang="es-AR" dirty="0"/>
              <a:t>Combo también es Vendible, pero está compuesto por otros Vendible.</a:t>
            </a:r>
          </a:p>
        </p:txBody>
      </p:sp>
      <p:sp>
        <p:nvSpPr>
          <p:cNvPr id="4" name="Rounded Rectangle 8">
            <a:extLst>
              <a:ext uri="{FF2B5EF4-FFF2-40B4-BE49-F238E27FC236}">
                <a16:creationId xmlns:a16="http://schemas.microsoft.com/office/drawing/2014/main" id="{46CFC0E3-FC42-AE1A-7A39-AAC28F3F7E9E}"/>
              </a:ext>
            </a:extLst>
          </p:cNvPr>
          <p:cNvSpPr/>
          <p:nvPr/>
        </p:nvSpPr>
        <p:spPr>
          <a:xfrm>
            <a:off x="490264" y="3201594"/>
            <a:ext cx="4880113" cy="3444903"/>
          </a:xfrm>
          <a:prstGeom prst="roundRect">
            <a:avLst>
              <a:gd name="adj" fmla="val 7723"/>
            </a:avLst>
          </a:prstGeom>
          <a:solidFill>
            <a:srgbClr val="100C1A"/>
          </a:solidFill>
          <a:ln w="1270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9">
            <a:extLst>
              <a:ext uri="{FF2B5EF4-FFF2-40B4-BE49-F238E27FC236}">
                <a16:creationId xmlns:a16="http://schemas.microsoft.com/office/drawing/2014/main" id="{FA190908-F2BC-EDCC-EC6F-B797AC02F874}"/>
              </a:ext>
            </a:extLst>
          </p:cNvPr>
          <p:cNvSpPr txBox="1"/>
          <p:nvPr/>
        </p:nvSpPr>
        <p:spPr>
          <a:xfrm>
            <a:off x="654856" y="3329609"/>
            <a:ext cx="4611893" cy="3022366"/>
          </a:xfrm>
          <a:prstGeom prst="rect">
            <a:avLst/>
          </a:prstGeom>
          <a:noFill/>
        </p:spPr>
        <p:txBody>
          <a:bodyPr wrap="square" lIns="18288" rIns="18288">
            <a:spAutoFit/>
          </a:bodyPr>
          <a:lstStyle/>
          <a:p>
            <a:pPr>
              <a:defRPr sz="1120">
                <a:solidFill>
                  <a:srgbClr val="EFE6FF"/>
                </a:solidFill>
                <a:latin typeface="Consolas"/>
              </a:defRPr>
            </a:pPr>
            <a:r>
              <a:t>@Entity</a:t>
            </a:r>
            <a:br/>
            <a:r>
              <a:t>@DiscriminatorValue("COMBO")</a:t>
            </a:r>
            <a:br/>
            <a:r>
              <a:t>public class Combo extends Vendible {</a:t>
            </a:r>
            <a:br/>
            <a:br/>
            <a:r>
              <a:t>    @OneToMany(mappedBy = "combo",</a:t>
            </a:r>
            <a:br/>
            <a:r>
              <a:t>               cascade = CascadeType.ALL,</a:t>
            </a:r>
            <a:br/>
            <a:r>
              <a:t>               orphanRemoval = true,</a:t>
            </a:r>
            <a:br/>
            <a:r>
              <a:t>               fetch = FetchType.EAGER)</a:t>
            </a:r>
            <a:br/>
            <a:r>
              <a:t>    private List&lt;ComboItem&gt; items = new ArrayList&lt;&gt;();</a:t>
            </a:r>
            <a:br/>
            <a:br/>
            <a:r>
              <a:t>    @Override</a:t>
            </a:r>
            <a:br/>
            <a:r>
              <a:t>    public double calcularPrecio() {</a:t>
            </a:r>
            <a:br/>
            <a:r>
              <a:t>        return items.stream()</a:t>
            </a:r>
            <a:br/>
            <a:r>
              <a:t>            .mapToDouble(ComboItem::calcularSubtotal)</a:t>
            </a:r>
            <a:br/>
            <a:r>
              <a:t>            .sum();</a:t>
            </a:r>
            <a:br/>
            <a:r>
              <a:t>    }</a:t>
            </a:r>
            <a:br/>
            <a:r>
              <a:t>}</a:t>
            </a:r>
          </a:p>
        </p:txBody>
      </p:sp>
      <p:sp>
        <p:nvSpPr>
          <p:cNvPr id="6" name="Rounded Rectangle 10">
            <a:extLst>
              <a:ext uri="{FF2B5EF4-FFF2-40B4-BE49-F238E27FC236}">
                <a16:creationId xmlns:a16="http://schemas.microsoft.com/office/drawing/2014/main" id="{ED766002-C04F-DCFE-763A-D98FACBCADA1}"/>
              </a:ext>
            </a:extLst>
          </p:cNvPr>
          <p:cNvSpPr/>
          <p:nvPr/>
        </p:nvSpPr>
        <p:spPr>
          <a:xfrm>
            <a:off x="5571876" y="3338754"/>
            <a:ext cx="2905716" cy="3160787"/>
          </a:xfrm>
          <a:prstGeom prst="roundRect">
            <a:avLst>
              <a:gd name="adj" fmla="val 8458"/>
            </a:avLst>
          </a:prstGeom>
          <a:solidFill>
            <a:srgbClr val="241A3B"/>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11">
            <a:extLst>
              <a:ext uri="{FF2B5EF4-FFF2-40B4-BE49-F238E27FC236}">
                <a16:creationId xmlns:a16="http://schemas.microsoft.com/office/drawing/2014/main" id="{A107D67A-0567-9EB3-6120-020FAB93D6D8}"/>
              </a:ext>
            </a:extLst>
          </p:cNvPr>
          <p:cNvSpPr txBox="1"/>
          <p:nvPr/>
        </p:nvSpPr>
        <p:spPr>
          <a:xfrm>
            <a:off x="5773044" y="3466770"/>
            <a:ext cx="2577892" cy="307777"/>
          </a:xfrm>
          <a:prstGeom prst="rect">
            <a:avLst/>
          </a:prstGeom>
          <a:noFill/>
        </p:spPr>
        <p:txBody>
          <a:bodyPr wrap="square">
            <a:spAutoFit/>
          </a:bodyPr>
          <a:lstStyle/>
          <a:p>
            <a:pPr>
              <a:defRPr sz="1300" b="1">
                <a:solidFill>
                  <a:srgbClr val="F8F4FF"/>
                </a:solidFill>
              </a:defRPr>
            </a:pPr>
            <a:r>
              <a:rPr dirty="0"/>
              <a:t>Rol </a:t>
            </a:r>
            <a:r>
              <a:rPr dirty="0" err="1"/>
              <a:t>en</a:t>
            </a:r>
            <a:r>
              <a:rPr dirty="0"/>
              <a:t> </a:t>
            </a:r>
            <a:r>
              <a:rPr sz="1400" dirty="0"/>
              <a:t>Composite</a:t>
            </a:r>
            <a:endParaRPr dirty="0"/>
          </a:p>
        </p:txBody>
      </p:sp>
      <p:sp>
        <p:nvSpPr>
          <p:cNvPr id="8" name="TextBox 12">
            <a:extLst>
              <a:ext uri="{FF2B5EF4-FFF2-40B4-BE49-F238E27FC236}">
                <a16:creationId xmlns:a16="http://schemas.microsoft.com/office/drawing/2014/main" id="{31D70E75-48B6-1826-43E3-2862C79BB36C}"/>
              </a:ext>
            </a:extLst>
          </p:cNvPr>
          <p:cNvSpPr txBox="1"/>
          <p:nvPr/>
        </p:nvSpPr>
        <p:spPr>
          <a:xfrm>
            <a:off x="5891916" y="3795954"/>
            <a:ext cx="2384177" cy="1692771"/>
          </a:xfrm>
          <a:prstGeom prst="rect">
            <a:avLst/>
          </a:prstGeom>
          <a:noFill/>
        </p:spPr>
        <p:txBody>
          <a:bodyPr wrap="square" lIns="54864">
            <a:spAutoFit/>
          </a:bodyPr>
          <a:lstStyle/>
          <a:p>
            <a:pPr>
              <a:spcAft>
                <a:spcPts val="800"/>
              </a:spcAft>
              <a:defRPr sz="1700">
                <a:solidFill>
                  <a:srgbClr val="F8F4FF"/>
                </a:solidFill>
              </a:defRPr>
            </a:pPr>
            <a:r>
              <a:rPr sz="1400" dirty="0" err="1"/>
              <a:t>Contiene</a:t>
            </a:r>
            <a:r>
              <a:rPr sz="1400" dirty="0"/>
              <a:t> </a:t>
            </a:r>
            <a:r>
              <a:rPr sz="1400" dirty="0" err="1"/>
              <a:t>hijos</a:t>
            </a:r>
            <a:r>
              <a:rPr sz="1400" dirty="0"/>
              <a:t>.</a:t>
            </a:r>
          </a:p>
          <a:p>
            <a:pPr>
              <a:spcAft>
                <a:spcPts val="800"/>
              </a:spcAft>
              <a:defRPr sz="1700">
                <a:solidFill>
                  <a:srgbClr val="F8F4FF"/>
                </a:solidFill>
              </a:defRPr>
            </a:pPr>
            <a:r>
              <a:rPr sz="1400" dirty="0" err="1"/>
              <a:t>Reutiliza</a:t>
            </a:r>
            <a:r>
              <a:rPr sz="1400" dirty="0"/>
              <a:t> Vendible.</a:t>
            </a:r>
          </a:p>
          <a:p>
            <a:pPr>
              <a:spcAft>
                <a:spcPts val="800"/>
              </a:spcAft>
              <a:defRPr sz="1700">
                <a:solidFill>
                  <a:srgbClr val="F8F4FF"/>
                </a:solidFill>
              </a:defRPr>
            </a:pPr>
            <a:r>
              <a:rPr sz="1400" dirty="0" err="1"/>
              <a:t>Calcula</a:t>
            </a:r>
            <a:r>
              <a:rPr sz="1400" dirty="0"/>
              <a:t> </a:t>
            </a:r>
            <a:r>
              <a:rPr sz="1400" dirty="0" err="1"/>
              <a:t>precio</a:t>
            </a:r>
            <a:r>
              <a:rPr sz="1400" dirty="0"/>
              <a:t> </a:t>
            </a:r>
            <a:r>
              <a:rPr sz="1400" dirty="0" err="1"/>
              <a:t>recorriendo</a:t>
            </a:r>
            <a:r>
              <a:rPr sz="1400" dirty="0"/>
              <a:t> items.</a:t>
            </a:r>
          </a:p>
          <a:p>
            <a:pPr>
              <a:spcAft>
                <a:spcPts val="800"/>
              </a:spcAft>
              <a:defRPr sz="1700">
                <a:solidFill>
                  <a:srgbClr val="F8F4FF"/>
                </a:solidFill>
              </a:defRPr>
            </a:pPr>
            <a:r>
              <a:rPr sz="1400" dirty="0" err="1"/>
              <a:t>Puede</a:t>
            </a:r>
            <a:r>
              <a:rPr sz="1400" dirty="0"/>
              <a:t> </a:t>
            </a:r>
            <a:r>
              <a:rPr sz="1400" dirty="0" err="1"/>
              <a:t>contener</a:t>
            </a:r>
            <a:r>
              <a:rPr sz="1400" dirty="0"/>
              <a:t> </a:t>
            </a:r>
            <a:r>
              <a:rPr sz="1400" dirty="0" err="1"/>
              <a:t>productos</a:t>
            </a:r>
            <a:r>
              <a:rPr sz="1400" dirty="0"/>
              <a:t> o combos.</a:t>
            </a:r>
          </a:p>
        </p:txBody>
      </p:sp>
    </p:spTree>
    <p:extLst>
      <p:ext uri="{BB962C8B-B14F-4D97-AF65-F5344CB8AC3E}">
        <p14:creationId xmlns:p14="http://schemas.microsoft.com/office/powerpoint/2010/main" val="9225123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707B0E-CCA5-A00D-2F0E-EF6DF04FBD25}"/>
              </a:ext>
            </a:extLst>
          </p:cNvPr>
          <p:cNvSpPr>
            <a:spLocks noGrp="1"/>
          </p:cNvSpPr>
          <p:nvPr>
            <p:ph type="title"/>
          </p:nvPr>
        </p:nvSpPr>
        <p:spPr>
          <a:xfrm>
            <a:off x="865969" y="927098"/>
            <a:ext cx="6777221" cy="709865"/>
          </a:xfrm>
        </p:spPr>
        <p:txBody>
          <a:bodyPr/>
          <a:lstStyle/>
          <a:p>
            <a:r>
              <a:rPr lang="es-AR" dirty="0"/>
              <a:t>Paso 4: </a:t>
            </a:r>
            <a:r>
              <a:rPr lang="es-AR" dirty="0" err="1"/>
              <a:t>ComboItem</a:t>
            </a:r>
            <a:r>
              <a:rPr lang="es-AR" dirty="0"/>
              <a:t> une Combo con Vendible</a:t>
            </a:r>
          </a:p>
        </p:txBody>
      </p:sp>
      <p:sp>
        <p:nvSpPr>
          <p:cNvPr id="3" name="Marcador de contenido 2">
            <a:extLst>
              <a:ext uri="{FF2B5EF4-FFF2-40B4-BE49-F238E27FC236}">
                <a16:creationId xmlns:a16="http://schemas.microsoft.com/office/drawing/2014/main" id="{0CC9CDFA-DC22-472F-373F-38AEFF0D6FD0}"/>
              </a:ext>
            </a:extLst>
          </p:cNvPr>
          <p:cNvSpPr>
            <a:spLocks noGrp="1"/>
          </p:cNvSpPr>
          <p:nvPr>
            <p:ph idx="1"/>
          </p:nvPr>
        </p:nvSpPr>
        <p:spPr>
          <a:xfrm>
            <a:off x="864381" y="2489200"/>
            <a:ext cx="7554061" cy="3530600"/>
          </a:xfrm>
        </p:spPr>
        <p:txBody>
          <a:bodyPr/>
          <a:lstStyle/>
          <a:p>
            <a:r>
              <a:rPr lang="es-AR" dirty="0" err="1"/>
              <a:t>ComboItem</a:t>
            </a:r>
            <a:r>
              <a:rPr lang="es-AR" dirty="0"/>
              <a:t> representa una línea interna dentro de un combo.</a:t>
            </a:r>
          </a:p>
        </p:txBody>
      </p:sp>
      <p:sp>
        <p:nvSpPr>
          <p:cNvPr id="4" name="Rounded Rectangle 8">
            <a:extLst>
              <a:ext uri="{FF2B5EF4-FFF2-40B4-BE49-F238E27FC236}">
                <a16:creationId xmlns:a16="http://schemas.microsoft.com/office/drawing/2014/main" id="{7B4ED955-1C57-B31B-6E11-5FF055F74B58}"/>
              </a:ext>
            </a:extLst>
          </p:cNvPr>
          <p:cNvSpPr/>
          <p:nvPr/>
        </p:nvSpPr>
        <p:spPr>
          <a:xfrm>
            <a:off x="522798" y="3035411"/>
            <a:ext cx="4854271" cy="3530600"/>
          </a:xfrm>
          <a:prstGeom prst="roundRect">
            <a:avLst>
              <a:gd name="adj" fmla="val 7940"/>
            </a:avLst>
          </a:prstGeom>
          <a:solidFill>
            <a:srgbClr val="100C1A"/>
          </a:solidFill>
          <a:ln w="1270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9">
            <a:extLst>
              <a:ext uri="{FF2B5EF4-FFF2-40B4-BE49-F238E27FC236}">
                <a16:creationId xmlns:a16="http://schemas.microsoft.com/office/drawing/2014/main" id="{C540C3EE-FCFC-1BDF-DCD5-771509E9BC0B}"/>
              </a:ext>
            </a:extLst>
          </p:cNvPr>
          <p:cNvSpPr txBox="1"/>
          <p:nvPr/>
        </p:nvSpPr>
        <p:spPr>
          <a:xfrm>
            <a:off x="687390" y="3163426"/>
            <a:ext cx="4587471" cy="3194721"/>
          </a:xfrm>
          <a:prstGeom prst="rect">
            <a:avLst/>
          </a:prstGeom>
          <a:noFill/>
        </p:spPr>
        <p:txBody>
          <a:bodyPr wrap="square" lIns="18288" rIns="18288">
            <a:spAutoFit/>
          </a:bodyPr>
          <a:lstStyle/>
          <a:p>
            <a:pPr>
              <a:defRPr sz="1120">
                <a:solidFill>
                  <a:srgbClr val="EFE6FF"/>
                </a:solidFill>
                <a:latin typeface="Consolas"/>
              </a:defRPr>
            </a:pPr>
            <a:r>
              <a:rPr dirty="0"/>
              <a:t>@Entity</a:t>
            </a:r>
            <a:br>
              <a:rPr dirty="0"/>
            </a:br>
            <a:r>
              <a:rPr dirty="0"/>
              <a:t>@Table(name = "</a:t>
            </a:r>
            <a:r>
              <a:rPr dirty="0" err="1"/>
              <a:t>combo_items</a:t>
            </a:r>
            <a:r>
              <a:rPr dirty="0"/>
              <a:t>")</a:t>
            </a:r>
            <a:br>
              <a:rPr dirty="0"/>
            </a:br>
            <a:r>
              <a:rPr dirty="0"/>
              <a:t>public class </a:t>
            </a:r>
            <a:r>
              <a:rPr dirty="0" err="1"/>
              <a:t>ComboItem</a:t>
            </a:r>
            <a:r>
              <a:rPr dirty="0"/>
              <a:t> {</a:t>
            </a:r>
            <a:br>
              <a:rPr dirty="0"/>
            </a:br>
            <a:br>
              <a:rPr dirty="0"/>
            </a:br>
            <a:r>
              <a:rPr dirty="0"/>
              <a:t>    @</a:t>
            </a:r>
            <a:r>
              <a:rPr dirty="0" err="1"/>
              <a:t>ManyToOne</a:t>
            </a:r>
            <a:r>
              <a:rPr dirty="0"/>
              <a:t>(fetch = </a:t>
            </a:r>
            <a:r>
              <a:rPr dirty="0" err="1"/>
              <a:t>FetchType.LAZY</a:t>
            </a:r>
            <a:r>
              <a:rPr dirty="0"/>
              <a:t>)</a:t>
            </a:r>
            <a:br>
              <a:rPr dirty="0"/>
            </a:br>
            <a:r>
              <a:rPr dirty="0"/>
              <a:t>    @</a:t>
            </a:r>
            <a:r>
              <a:rPr dirty="0" err="1"/>
              <a:t>JoinColumn</a:t>
            </a:r>
            <a:r>
              <a:rPr dirty="0"/>
              <a:t>(name = "</a:t>
            </a:r>
            <a:r>
              <a:rPr dirty="0" err="1"/>
              <a:t>combo_id</a:t>
            </a:r>
            <a:r>
              <a:rPr dirty="0"/>
              <a:t>", nullable = false)</a:t>
            </a:r>
            <a:br>
              <a:rPr dirty="0"/>
            </a:br>
            <a:r>
              <a:rPr dirty="0"/>
              <a:t>    private Combo combo;</a:t>
            </a:r>
            <a:br>
              <a:rPr dirty="0"/>
            </a:br>
            <a:br>
              <a:rPr dirty="0"/>
            </a:br>
            <a:r>
              <a:rPr dirty="0"/>
              <a:t>    @</a:t>
            </a:r>
            <a:r>
              <a:rPr dirty="0" err="1"/>
              <a:t>ManyToOne</a:t>
            </a:r>
            <a:r>
              <a:rPr dirty="0"/>
              <a:t>(fetch = </a:t>
            </a:r>
            <a:r>
              <a:rPr dirty="0" err="1"/>
              <a:t>FetchType.EAGER</a:t>
            </a:r>
            <a:r>
              <a:rPr dirty="0"/>
              <a:t>)</a:t>
            </a:r>
            <a:br>
              <a:rPr dirty="0"/>
            </a:br>
            <a:r>
              <a:rPr dirty="0"/>
              <a:t>    @</a:t>
            </a:r>
            <a:r>
              <a:rPr dirty="0" err="1"/>
              <a:t>JoinColumn</a:t>
            </a:r>
            <a:r>
              <a:rPr dirty="0"/>
              <a:t>(name = "</a:t>
            </a:r>
            <a:r>
              <a:rPr dirty="0" err="1"/>
              <a:t>vendible_id</a:t>
            </a:r>
            <a:r>
              <a:rPr dirty="0"/>
              <a:t>", nullable = false)</a:t>
            </a:r>
            <a:br>
              <a:rPr dirty="0"/>
            </a:br>
            <a:r>
              <a:rPr dirty="0"/>
              <a:t>    private Vendible vendible;</a:t>
            </a:r>
            <a:br>
              <a:rPr dirty="0"/>
            </a:br>
            <a:br>
              <a:rPr dirty="0"/>
            </a:br>
            <a:r>
              <a:rPr dirty="0"/>
              <a:t>    private int </a:t>
            </a:r>
            <a:r>
              <a:rPr dirty="0" err="1"/>
              <a:t>cantidad</a:t>
            </a:r>
            <a:r>
              <a:rPr dirty="0"/>
              <a:t>;</a:t>
            </a:r>
            <a:br>
              <a:rPr dirty="0"/>
            </a:br>
            <a:br>
              <a:rPr dirty="0"/>
            </a:br>
            <a:r>
              <a:rPr dirty="0"/>
              <a:t>    public double </a:t>
            </a:r>
            <a:r>
              <a:rPr dirty="0" err="1"/>
              <a:t>calcularSubtotal</a:t>
            </a:r>
            <a:r>
              <a:rPr dirty="0"/>
              <a:t>() {</a:t>
            </a:r>
            <a:br>
              <a:rPr dirty="0"/>
            </a:br>
            <a:r>
              <a:rPr dirty="0"/>
              <a:t>        return </a:t>
            </a:r>
            <a:r>
              <a:rPr dirty="0" err="1"/>
              <a:t>vendible.calcularPrecio</a:t>
            </a:r>
            <a:r>
              <a:rPr dirty="0"/>
              <a:t>() * </a:t>
            </a:r>
            <a:r>
              <a:rPr dirty="0" err="1"/>
              <a:t>cantidad</a:t>
            </a:r>
            <a:r>
              <a:rPr dirty="0"/>
              <a:t>;</a:t>
            </a:r>
            <a:br>
              <a:rPr dirty="0"/>
            </a:br>
            <a:r>
              <a:rPr dirty="0"/>
              <a:t>    }</a:t>
            </a:r>
            <a:br>
              <a:rPr dirty="0"/>
            </a:br>
            <a:r>
              <a:rPr dirty="0"/>
              <a:t>}</a:t>
            </a:r>
          </a:p>
        </p:txBody>
      </p:sp>
      <p:sp>
        <p:nvSpPr>
          <p:cNvPr id="6" name="Rounded Rectangle 10">
            <a:extLst>
              <a:ext uri="{FF2B5EF4-FFF2-40B4-BE49-F238E27FC236}">
                <a16:creationId xmlns:a16="http://schemas.microsoft.com/office/drawing/2014/main" id="{E714AFCB-0BE8-9820-02AA-33AE17F6BD35}"/>
              </a:ext>
            </a:extLst>
          </p:cNvPr>
          <p:cNvSpPr/>
          <p:nvPr/>
        </p:nvSpPr>
        <p:spPr>
          <a:xfrm>
            <a:off x="5616444" y="3218291"/>
            <a:ext cx="2890329" cy="3130223"/>
          </a:xfrm>
          <a:prstGeom prst="roundRect">
            <a:avLst>
              <a:gd name="adj" fmla="val 9790"/>
            </a:avLst>
          </a:prstGeom>
          <a:solidFill>
            <a:srgbClr val="241A3B"/>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11">
            <a:extLst>
              <a:ext uri="{FF2B5EF4-FFF2-40B4-BE49-F238E27FC236}">
                <a16:creationId xmlns:a16="http://schemas.microsoft.com/office/drawing/2014/main" id="{349703B5-A106-4A7F-4795-0ACB2CE24864}"/>
              </a:ext>
            </a:extLst>
          </p:cNvPr>
          <p:cNvSpPr txBox="1"/>
          <p:nvPr/>
        </p:nvSpPr>
        <p:spPr>
          <a:xfrm>
            <a:off x="5817612" y="3346307"/>
            <a:ext cx="2564241" cy="307777"/>
          </a:xfrm>
          <a:prstGeom prst="rect">
            <a:avLst/>
          </a:prstGeom>
          <a:noFill/>
        </p:spPr>
        <p:txBody>
          <a:bodyPr wrap="square">
            <a:spAutoFit/>
          </a:bodyPr>
          <a:lstStyle/>
          <a:p>
            <a:pPr>
              <a:defRPr sz="1300" b="1">
                <a:solidFill>
                  <a:srgbClr val="F8F4FF"/>
                </a:solidFill>
              </a:defRPr>
            </a:pPr>
            <a:r>
              <a:rPr sz="1400"/>
              <a:t>Ejemplo</a:t>
            </a:r>
          </a:p>
        </p:txBody>
      </p:sp>
      <p:sp>
        <p:nvSpPr>
          <p:cNvPr id="8" name="TextBox 12">
            <a:extLst>
              <a:ext uri="{FF2B5EF4-FFF2-40B4-BE49-F238E27FC236}">
                <a16:creationId xmlns:a16="http://schemas.microsoft.com/office/drawing/2014/main" id="{49A2F862-B7A4-DE0A-ED43-697B547E3D0A}"/>
              </a:ext>
            </a:extLst>
          </p:cNvPr>
          <p:cNvSpPr txBox="1"/>
          <p:nvPr/>
        </p:nvSpPr>
        <p:spPr>
          <a:xfrm>
            <a:off x="5936484" y="3782100"/>
            <a:ext cx="2371552" cy="1600438"/>
          </a:xfrm>
          <a:prstGeom prst="rect">
            <a:avLst/>
          </a:prstGeom>
          <a:noFill/>
        </p:spPr>
        <p:txBody>
          <a:bodyPr wrap="square" lIns="18288" rIns="18288">
            <a:spAutoFit/>
          </a:bodyPr>
          <a:lstStyle/>
          <a:p>
            <a:pPr algn="ctr">
              <a:defRPr sz="1900" b="0">
                <a:solidFill>
                  <a:srgbClr val="F8F4FF"/>
                </a:solidFill>
              </a:defRPr>
            </a:pPr>
            <a:r>
              <a:rPr sz="1400" dirty="0"/>
              <a:t>Combo </a:t>
            </a:r>
            <a:r>
              <a:rPr sz="1400" dirty="0" err="1"/>
              <a:t>Desayuno</a:t>
            </a:r>
            <a:endParaRPr sz="1400" dirty="0"/>
          </a:p>
          <a:p>
            <a:pPr algn="ctr">
              <a:defRPr sz="1900" b="0">
                <a:solidFill>
                  <a:srgbClr val="F8F4FF"/>
                </a:solidFill>
              </a:defRPr>
            </a:pPr>
            <a:endParaRPr sz="1400" dirty="0"/>
          </a:p>
          <a:p>
            <a:pPr algn="ctr">
              <a:defRPr sz="1900" b="0">
                <a:solidFill>
                  <a:srgbClr val="F8F4FF"/>
                </a:solidFill>
              </a:defRPr>
            </a:pPr>
            <a:r>
              <a:rPr sz="1400" dirty="0"/>
              <a:t>1 × Café Latte</a:t>
            </a:r>
          </a:p>
          <a:p>
            <a:pPr algn="ctr">
              <a:defRPr sz="1900" b="0">
                <a:solidFill>
                  <a:srgbClr val="F8F4FF"/>
                </a:solidFill>
              </a:defRPr>
            </a:pPr>
            <a:r>
              <a:rPr sz="1400" dirty="0"/>
              <a:t>2 × Croissant</a:t>
            </a:r>
          </a:p>
          <a:p>
            <a:pPr algn="ctr">
              <a:defRPr sz="1900" b="0">
                <a:solidFill>
                  <a:srgbClr val="F8F4FF"/>
                </a:solidFill>
              </a:defRPr>
            </a:pPr>
            <a:endParaRPr sz="1400" dirty="0"/>
          </a:p>
          <a:p>
            <a:pPr algn="ctr">
              <a:defRPr sz="1900" b="0">
                <a:solidFill>
                  <a:srgbClr val="F8F4FF"/>
                </a:solidFill>
              </a:defRPr>
            </a:pPr>
            <a:r>
              <a:rPr sz="1400" dirty="0"/>
              <a:t>Cada </a:t>
            </a:r>
            <a:r>
              <a:rPr sz="1400" dirty="0" err="1"/>
              <a:t>línea</a:t>
            </a:r>
            <a:r>
              <a:rPr sz="1400" dirty="0"/>
              <a:t> es un </a:t>
            </a:r>
            <a:r>
              <a:rPr sz="1400" dirty="0" err="1"/>
              <a:t>ComboItem</a:t>
            </a:r>
            <a:r>
              <a:rPr sz="1400" dirty="0"/>
              <a:t>.</a:t>
            </a:r>
          </a:p>
        </p:txBody>
      </p:sp>
    </p:spTree>
    <p:extLst>
      <p:ext uri="{BB962C8B-B14F-4D97-AF65-F5344CB8AC3E}">
        <p14:creationId xmlns:p14="http://schemas.microsoft.com/office/powerpoint/2010/main" val="38082533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Connector 18">
            <a:extLst>
              <a:ext uri="{FF2B5EF4-FFF2-40B4-BE49-F238E27FC236}">
                <a16:creationId xmlns:a16="http://schemas.microsoft.com/office/drawing/2014/main" id="{207314C5-E46F-C731-E929-118AEEC882C8}"/>
              </a:ext>
            </a:extLst>
          </p:cNvPr>
          <p:cNvCxnSpPr/>
          <p:nvPr/>
        </p:nvCxnSpPr>
        <p:spPr>
          <a:xfrm flipH="1" flipV="1">
            <a:off x="2510302" y="5108713"/>
            <a:ext cx="3794760" cy="1051560"/>
          </a:xfrm>
          <a:prstGeom prst="line">
            <a:avLst/>
          </a:prstGeom>
          <a:ln w="20320">
            <a:solidFill>
              <a:srgbClr val="58C7F3"/>
            </a:solidFill>
          </a:ln>
        </p:spPr>
        <p:style>
          <a:lnRef idx="2">
            <a:schemeClr val="accent1"/>
          </a:lnRef>
          <a:fillRef idx="0">
            <a:schemeClr val="accent1"/>
          </a:fillRef>
          <a:effectRef idx="1">
            <a:schemeClr val="accent1"/>
          </a:effectRef>
          <a:fontRef idx="minor">
            <a:schemeClr val="tx1"/>
          </a:fontRef>
        </p:style>
      </p:cxnSp>
      <p:sp>
        <p:nvSpPr>
          <p:cNvPr id="2" name="Título 1">
            <a:extLst>
              <a:ext uri="{FF2B5EF4-FFF2-40B4-BE49-F238E27FC236}">
                <a16:creationId xmlns:a16="http://schemas.microsoft.com/office/drawing/2014/main" id="{887C6A08-0D95-D642-0127-F60ECA81A83E}"/>
              </a:ext>
            </a:extLst>
          </p:cNvPr>
          <p:cNvSpPr>
            <a:spLocks noGrp="1"/>
          </p:cNvSpPr>
          <p:nvPr>
            <p:ph type="title"/>
          </p:nvPr>
        </p:nvSpPr>
        <p:spPr/>
        <p:txBody>
          <a:bodyPr/>
          <a:lstStyle/>
          <a:p>
            <a:r>
              <a:rPr lang="es-AR" dirty="0"/>
              <a:t>Estructura completa del Composite</a:t>
            </a:r>
          </a:p>
        </p:txBody>
      </p:sp>
      <p:sp>
        <p:nvSpPr>
          <p:cNvPr id="3" name="Marcador de contenido 2">
            <a:extLst>
              <a:ext uri="{FF2B5EF4-FFF2-40B4-BE49-F238E27FC236}">
                <a16:creationId xmlns:a16="http://schemas.microsoft.com/office/drawing/2014/main" id="{9F0C7DF4-FFCF-CBE9-9281-89F889904175}"/>
              </a:ext>
            </a:extLst>
          </p:cNvPr>
          <p:cNvSpPr>
            <a:spLocks noGrp="1"/>
          </p:cNvSpPr>
          <p:nvPr>
            <p:ph idx="1"/>
          </p:nvPr>
        </p:nvSpPr>
        <p:spPr>
          <a:xfrm>
            <a:off x="864382" y="2489200"/>
            <a:ext cx="7434792" cy="3530600"/>
          </a:xfrm>
        </p:spPr>
        <p:txBody>
          <a:bodyPr/>
          <a:lstStyle/>
          <a:p>
            <a:r>
              <a:rPr lang="es-AR" dirty="0"/>
              <a:t>El combo puede apuntar a productos o a otros combos porque ambos son Vendible.</a:t>
            </a:r>
          </a:p>
        </p:txBody>
      </p:sp>
      <p:sp>
        <p:nvSpPr>
          <p:cNvPr id="4" name="Rounded Rectangle 7">
            <a:extLst>
              <a:ext uri="{FF2B5EF4-FFF2-40B4-BE49-F238E27FC236}">
                <a16:creationId xmlns:a16="http://schemas.microsoft.com/office/drawing/2014/main" id="{BF2536D6-A76E-4129-A1FC-E4038D8E2FAF}"/>
              </a:ext>
            </a:extLst>
          </p:cNvPr>
          <p:cNvSpPr/>
          <p:nvPr/>
        </p:nvSpPr>
        <p:spPr>
          <a:xfrm>
            <a:off x="3424702" y="3257053"/>
            <a:ext cx="2194560" cy="685800"/>
          </a:xfrm>
          <a:prstGeom prst="roundRect">
            <a:avLst/>
          </a:prstGeom>
          <a:solidFill>
            <a:srgbClr val="2E234A"/>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8">
            <a:extLst>
              <a:ext uri="{FF2B5EF4-FFF2-40B4-BE49-F238E27FC236}">
                <a16:creationId xmlns:a16="http://schemas.microsoft.com/office/drawing/2014/main" id="{35B906BC-D598-B646-5EEA-37D3ACABD880}"/>
              </a:ext>
            </a:extLst>
          </p:cNvPr>
          <p:cNvSpPr txBox="1"/>
          <p:nvPr/>
        </p:nvSpPr>
        <p:spPr>
          <a:xfrm>
            <a:off x="3497854" y="3348493"/>
            <a:ext cx="2048255" cy="548640"/>
          </a:xfrm>
          <a:prstGeom prst="rect">
            <a:avLst/>
          </a:prstGeom>
          <a:noFill/>
        </p:spPr>
        <p:txBody>
          <a:bodyPr wrap="none" anchor="ctr">
            <a:spAutoFit/>
          </a:bodyPr>
          <a:lstStyle/>
          <a:p>
            <a:pPr algn="ctr">
              <a:defRPr sz="1600" b="1">
                <a:solidFill>
                  <a:srgbClr val="F8F4FF"/>
                </a:solidFill>
              </a:defRPr>
            </a:pPr>
            <a:r>
              <a:t>Vendible</a:t>
            </a:r>
            <a:br/>
            <a:r>
              <a:t>Component</a:t>
            </a:r>
          </a:p>
        </p:txBody>
      </p:sp>
      <p:cxnSp>
        <p:nvCxnSpPr>
          <p:cNvPr id="6" name="Connector 9">
            <a:extLst>
              <a:ext uri="{FF2B5EF4-FFF2-40B4-BE49-F238E27FC236}">
                <a16:creationId xmlns:a16="http://schemas.microsoft.com/office/drawing/2014/main" id="{1FFA231F-9F4E-0891-CE07-4C8268AC4965}"/>
              </a:ext>
            </a:extLst>
          </p:cNvPr>
          <p:cNvCxnSpPr/>
          <p:nvPr/>
        </p:nvCxnSpPr>
        <p:spPr>
          <a:xfrm flipH="1">
            <a:off x="1778782" y="3988572"/>
            <a:ext cx="2103120" cy="868681"/>
          </a:xfrm>
          <a:prstGeom prst="line">
            <a:avLst/>
          </a:prstGeom>
          <a:ln w="20320">
            <a:solidFill>
              <a:srgbClr val="58C7F3"/>
            </a:solidFill>
          </a:ln>
        </p:spPr>
        <p:style>
          <a:lnRef idx="2">
            <a:schemeClr val="accent1"/>
          </a:lnRef>
          <a:fillRef idx="0">
            <a:schemeClr val="accent1"/>
          </a:fillRef>
          <a:effectRef idx="1">
            <a:schemeClr val="accent1"/>
          </a:effectRef>
          <a:fontRef idx="minor">
            <a:schemeClr val="tx1"/>
          </a:fontRef>
        </p:style>
      </p:cxnSp>
      <p:cxnSp>
        <p:nvCxnSpPr>
          <p:cNvPr id="7" name="Connector 10">
            <a:extLst>
              <a:ext uri="{FF2B5EF4-FFF2-40B4-BE49-F238E27FC236}">
                <a16:creationId xmlns:a16="http://schemas.microsoft.com/office/drawing/2014/main" id="{DC87A145-C5A8-2C1F-FC72-457638CB4F7C}"/>
              </a:ext>
            </a:extLst>
          </p:cNvPr>
          <p:cNvCxnSpPr/>
          <p:nvPr/>
        </p:nvCxnSpPr>
        <p:spPr>
          <a:xfrm>
            <a:off x="5162062" y="3988572"/>
            <a:ext cx="1920240" cy="868681"/>
          </a:xfrm>
          <a:prstGeom prst="line">
            <a:avLst/>
          </a:prstGeom>
          <a:ln w="20320">
            <a:solidFill>
              <a:srgbClr val="58C7F3"/>
            </a:solidFill>
          </a:ln>
        </p:spPr>
        <p:style>
          <a:lnRef idx="2">
            <a:schemeClr val="accent1"/>
          </a:lnRef>
          <a:fillRef idx="0">
            <a:schemeClr val="accent1"/>
          </a:fillRef>
          <a:effectRef idx="1">
            <a:schemeClr val="accent1"/>
          </a:effectRef>
          <a:fontRef idx="minor">
            <a:schemeClr val="tx1"/>
          </a:fontRef>
        </p:style>
      </p:cxnSp>
      <p:sp>
        <p:nvSpPr>
          <p:cNvPr id="8" name="Rounded Rectangle 11">
            <a:extLst>
              <a:ext uri="{FF2B5EF4-FFF2-40B4-BE49-F238E27FC236}">
                <a16:creationId xmlns:a16="http://schemas.microsoft.com/office/drawing/2014/main" id="{011AA40E-439A-1B99-F27A-3D1396B021DD}"/>
              </a:ext>
            </a:extLst>
          </p:cNvPr>
          <p:cNvSpPr/>
          <p:nvPr/>
        </p:nvSpPr>
        <p:spPr>
          <a:xfrm>
            <a:off x="864382" y="4422913"/>
            <a:ext cx="2011680" cy="685800"/>
          </a:xfrm>
          <a:prstGeom prst="roundRect">
            <a:avLst/>
          </a:prstGeom>
          <a:solidFill>
            <a:srgbClr val="2E234A"/>
          </a:solidFill>
          <a:ln w="15240">
            <a:solidFill>
              <a:srgbClr val="58D6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12">
            <a:extLst>
              <a:ext uri="{FF2B5EF4-FFF2-40B4-BE49-F238E27FC236}">
                <a16:creationId xmlns:a16="http://schemas.microsoft.com/office/drawing/2014/main" id="{45EEC18B-DA29-11AE-47D5-101CFBA1E54E}"/>
              </a:ext>
            </a:extLst>
          </p:cNvPr>
          <p:cNvSpPr txBox="1"/>
          <p:nvPr/>
        </p:nvSpPr>
        <p:spPr>
          <a:xfrm>
            <a:off x="937534" y="4514353"/>
            <a:ext cx="1865376" cy="548640"/>
          </a:xfrm>
          <a:prstGeom prst="rect">
            <a:avLst/>
          </a:prstGeom>
          <a:noFill/>
        </p:spPr>
        <p:txBody>
          <a:bodyPr wrap="none" anchor="ctr">
            <a:spAutoFit/>
          </a:bodyPr>
          <a:lstStyle/>
          <a:p>
            <a:pPr algn="ctr">
              <a:defRPr sz="1600" b="1">
                <a:solidFill>
                  <a:srgbClr val="F8F4FF"/>
                </a:solidFill>
              </a:defRPr>
            </a:pPr>
            <a:r>
              <a:t>Producto</a:t>
            </a:r>
            <a:br/>
            <a:r>
              <a:t>Leaf</a:t>
            </a:r>
          </a:p>
        </p:txBody>
      </p:sp>
      <p:sp>
        <p:nvSpPr>
          <p:cNvPr id="10" name="Rounded Rectangle 13">
            <a:extLst>
              <a:ext uri="{FF2B5EF4-FFF2-40B4-BE49-F238E27FC236}">
                <a16:creationId xmlns:a16="http://schemas.microsoft.com/office/drawing/2014/main" id="{74A92FA8-E825-C242-303B-155761BCF795}"/>
              </a:ext>
            </a:extLst>
          </p:cNvPr>
          <p:cNvSpPr/>
          <p:nvPr/>
        </p:nvSpPr>
        <p:spPr>
          <a:xfrm>
            <a:off x="6259342" y="4422913"/>
            <a:ext cx="2011680" cy="685800"/>
          </a:xfrm>
          <a:prstGeom prst="roundRect">
            <a:avLst/>
          </a:prstGeom>
          <a:solidFill>
            <a:srgbClr val="2E234A"/>
          </a:solidFill>
          <a:ln w="15240">
            <a:solidFill>
              <a:srgbClr val="F2C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4">
            <a:extLst>
              <a:ext uri="{FF2B5EF4-FFF2-40B4-BE49-F238E27FC236}">
                <a16:creationId xmlns:a16="http://schemas.microsoft.com/office/drawing/2014/main" id="{76EBA9CF-CC64-6046-6E4F-3CFD71874576}"/>
              </a:ext>
            </a:extLst>
          </p:cNvPr>
          <p:cNvSpPr txBox="1"/>
          <p:nvPr/>
        </p:nvSpPr>
        <p:spPr>
          <a:xfrm>
            <a:off x="6332494" y="4514353"/>
            <a:ext cx="1865376" cy="548640"/>
          </a:xfrm>
          <a:prstGeom prst="rect">
            <a:avLst/>
          </a:prstGeom>
          <a:noFill/>
        </p:spPr>
        <p:txBody>
          <a:bodyPr wrap="none" anchor="ctr">
            <a:spAutoFit/>
          </a:bodyPr>
          <a:lstStyle/>
          <a:p>
            <a:pPr algn="ctr">
              <a:defRPr sz="1600" b="1">
                <a:solidFill>
                  <a:srgbClr val="F8F4FF"/>
                </a:solidFill>
              </a:defRPr>
            </a:pPr>
            <a:r>
              <a:t>Combo</a:t>
            </a:r>
            <a:br/>
            <a:r>
              <a:t>Composite</a:t>
            </a:r>
          </a:p>
        </p:txBody>
      </p:sp>
      <p:cxnSp>
        <p:nvCxnSpPr>
          <p:cNvPr id="12" name="Connector 15">
            <a:extLst>
              <a:ext uri="{FF2B5EF4-FFF2-40B4-BE49-F238E27FC236}">
                <a16:creationId xmlns:a16="http://schemas.microsoft.com/office/drawing/2014/main" id="{DF93F97D-37EC-2D70-CD9D-829B7BDF257D}"/>
              </a:ext>
            </a:extLst>
          </p:cNvPr>
          <p:cNvCxnSpPr/>
          <p:nvPr/>
        </p:nvCxnSpPr>
        <p:spPr>
          <a:xfrm>
            <a:off x="7265182" y="5200153"/>
            <a:ext cx="0" cy="640080"/>
          </a:xfrm>
          <a:prstGeom prst="line">
            <a:avLst/>
          </a:prstGeom>
          <a:ln w="20320">
            <a:solidFill>
              <a:srgbClr val="58C7F3"/>
            </a:solidFill>
          </a:ln>
        </p:spPr>
        <p:style>
          <a:lnRef idx="2">
            <a:schemeClr val="accent1"/>
          </a:lnRef>
          <a:fillRef idx="0">
            <a:schemeClr val="accent1"/>
          </a:fillRef>
          <a:effectRef idx="1">
            <a:schemeClr val="accent1"/>
          </a:effectRef>
          <a:fontRef idx="minor">
            <a:schemeClr val="tx1"/>
          </a:fontRef>
        </p:style>
      </p:cxnSp>
      <p:sp>
        <p:nvSpPr>
          <p:cNvPr id="13" name="Rounded Rectangle 16">
            <a:extLst>
              <a:ext uri="{FF2B5EF4-FFF2-40B4-BE49-F238E27FC236}">
                <a16:creationId xmlns:a16="http://schemas.microsoft.com/office/drawing/2014/main" id="{1BDBF0A6-2A64-B9E7-2268-8BC640A59445}"/>
              </a:ext>
            </a:extLst>
          </p:cNvPr>
          <p:cNvSpPr/>
          <p:nvPr/>
        </p:nvSpPr>
        <p:spPr>
          <a:xfrm>
            <a:off x="6030742" y="5840233"/>
            <a:ext cx="2468880" cy="685800"/>
          </a:xfrm>
          <a:prstGeom prst="roundRect">
            <a:avLst/>
          </a:prstGeom>
          <a:solidFill>
            <a:srgbClr val="2E234A"/>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7">
            <a:extLst>
              <a:ext uri="{FF2B5EF4-FFF2-40B4-BE49-F238E27FC236}">
                <a16:creationId xmlns:a16="http://schemas.microsoft.com/office/drawing/2014/main" id="{0C93FB83-63F0-B4E4-649E-3FB0E027404B}"/>
              </a:ext>
            </a:extLst>
          </p:cNvPr>
          <p:cNvSpPr txBox="1"/>
          <p:nvPr/>
        </p:nvSpPr>
        <p:spPr>
          <a:xfrm>
            <a:off x="6103894" y="5931672"/>
            <a:ext cx="2322576" cy="548640"/>
          </a:xfrm>
          <a:prstGeom prst="rect">
            <a:avLst/>
          </a:prstGeom>
          <a:noFill/>
        </p:spPr>
        <p:txBody>
          <a:bodyPr wrap="none" anchor="ctr">
            <a:spAutoFit/>
          </a:bodyPr>
          <a:lstStyle/>
          <a:p>
            <a:pPr algn="ctr">
              <a:defRPr sz="1400" b="1">
                <a:solidFill>
                  <a:srgbClr val="F8F4FF"/>
                </a:solidFill>
              </a:defRPr>
            </a:pPr>
            <a:r>
              <a:t>ComboItem</a:t>
            </a:r>
            <a:br/>
            <a:r>
              <a:t>contiene Vendible</a:t>
            </a:r>
          </a:p>
        </p:txBody>
      </p:sp>
    </p:spTree>
    <p:extLst>
      <p:ext uri="{BB962C8B-B14F-4D97-AF65-F5344CB8AC3E}">
        <p14:creationId xmlns:p14="http://schemas.microsoft.com/office/powerpoint/2010/main" val="18705935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D2D91C-1B37-7FE4-EBA9-9CB08A603D65}"/>
              </a:ext>
            </a:extLst>
          </p:cNvPr>
          <p:cNvSpPr>
            <a:spLocks noGrp="1"/>
          </p:cNvSpPr>
          <p:nvPr>
            <p:ph type="title"/>
          </p:nvPr>
        </p:nvSpPr>
        <p:spPr>
          <a:xfrm>
            <a:off x="865969" y="927098"/>
            <a:ext cx="6578439" cy="709865"/>
          </a:xfrm>
        </p:spPr>
        <p:txBody>
          <a:bodyPr/>
          <a:lstStyle/>
          <a:p>
            <a:r>
              <a:rPr lang="es-AR" dirty="0"/>
              <a:t>Pedido ahora debe usar Vendible</a:t>
            </a:r>
          </a:p>
        </p:txBody>
      </p:sp>
      <p:sp>
        <p:nvSpPr>
          <p:cNvPr id="4" name="Rounded Rectangle 7">
            <a:extLst>
              <a:ext uri="{FF2B5EF4-FFF2-40B4-BE49-F238E27FC236}">
                <a16:creationId xmlns:a16="http://schemas.microsoft.com/office/drawing/2014/main" id="{B27B79E2-6702-AB45-0AD3-90DCF87780E7}"/>
              </a:ext>
            </a:extLst>
          </p:cNvPr>
          <p:cNvSpPr/>
          <p:nvPr/>
        </p:nvSpPr>
        <p:spPr>
          <a:xfrm>
            <a:off x="164990" y="2224377"/>
            <a:ext cx="4297679" cy="4086971"/>
          </a:xfrm>
          <a:prstGeom prst="roundRect">
            <a:avLst>
              <a:gd name="adj" fmla="val 7319"/>
            </a:avLst>
          </a:prstGeom>
          <a:solidFill>
            <a:srgbClr val="241A3B"/>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5" name="TextBox 8">
            <a:extLst>
              <a:ext uri="{FF2B5EF4-FFF2-40B4-BE49-F238E27FC236}">
                <a16:creationId xmlns:a16="http://schemas.microsoft.com/office/drawing/2014/main" id="{7798B131-CAC9-12E9-B46B-2C4F1C0673B4}"/>
              </a:ext>
            </a:extLst>
          </p:cNvPr>
          <p:cNvSpPr txBox="1"/>
          <p:nvPr/>
        </p:nvSpPr>
        <p:spPr>
          <a:xfrm>
            <a:off x="366157" y="2352393"/>
            <a:ext cx="1790633" cy="307777"/>
          </a:xfrm>
          <a:prstGeom prst="rect">
            <a:avLst/>
          </a:prstGeom>
          <a:noFill/>
        </p:spPr>
        <p:txBody>
          <a:bodyPr wrap="square">
            <a:spAutoFit/>
          </a:bodyPr>
          <a:lstStyle/>
          <a:p>
            <a:pPr>
              <a:defRPr sz="1300" b="1">
                <a:solidFill>
                  <a:srgbClr val="F8F4FF"/>
                </a:solidFill>
              </a:defRPr>
            </a:pPr>
            <a:r>
              <a:rPr sz="1400" dirty="0"/>
              <a:t>Antes</a:t>
            </a:r>
          </a:p>
        </p:txBody>
      </p:sp>
      <p:sp>
        <p:nvSpPr>
          <p:cNvPr id="6" name="Rounded Rectangle 9">
            <a:extLst>
              <a:ext uri="{FF2B5EF4-FFF2-40B4-BE49-F238E27FC236}">
                <a16:creationId xmlns:a16="http://schemas.microsoft.com/office/drawing/2014/main" id="{2F51DF6A-558B-6B00-DFE6-03F9D03F8444}"/>
              </a:ext>
            </a:extLst>
          </p:cNvPr>
          <p:cNvSpPr/>
          <p:nvPr/>
        </p:nvSpPr>
        <p:spPr>
          <a:xfrm>
            <a:off x="393590" y="2773018"/>
            <a:ext cx="3876338" cy="2293708"/>
          </a:xfrm>
          <a:prstGeom prst="roundRect">
            <a:avLst/>
          </a:prstGeom>
          <a:solidFill>
            <a:srgbClr val="100C1A"/>
          </a:solidFill>
          <a:ln w="1270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7" name="TextBox 10">
            <a:extLst>
              <a:ext uri="{FF2B5EF4-FFF2-40B4-BE49-F238E27FC236}">
                <a16:creationId xmlns:a16="http://schemas.microsoft.com/office/drawing/2014/main" id="{1BBC04AD-A154-4491-C72A-D816F537EF57}"/>
              </a:ext>
            </a:extLst>
          </p:cNvPr>
          <p:cNvSpPr txBox="1"/>
          <p:nvPr/>
        </p:nvSpPr>
        <p:spPr>
          <a:xfrm>
            <a:off x="558182" y="2901033"/>
            <a:ext cx="3572971" cy="1938992"/>
          </a:xfrm>
          <a:prstGeom prst="rect">
            <a:avLst/>
          </a:prstGeom>
          <a:noFill/>
        </p:spPr>
        <p:txBody>
          <a:bodyPr wrap="square" lIns="18288" rIns="18288">
            <a:spAutoFit/>
          </a:bodyPr>
          <a:lstStyle/>
          <a:p>
            <a:pPr>
              <a:defRPr sz="1250">
                <a:solidFill>
                  <a:srgbClr val="EFE6FF"/>
                </a:solidFill>
                <a:latin typeface="Consolas"/>
              </a:defRPr>
            </a:pPr>
            <a:r>
              <a:rPr sz="1200"/>
              <a:t>public class Pedido {</a:t>
            </a:r>
            <a:br>
              <a:rPr sz="1200"/>
            </a:br>
            <a:br>
              <a:rPr sz="1200"/>
            </a:br>
            <a:r>
              <a:rPr sz="1200"/>
              <a:t>    public void agregarProducto(</a:t>
            </a:r>
            <a:br>
              <a:rPr sz="1200"/>
            </a:br>
            <a:r>
              <a:rPr sz="1200"/>
              <a:t>            Producto producto,</a:t>
            </a:r>
            <a:br>
              <a:rPr sz="1200"/>
            </a:br>
            <a:r>
              <a:rPr sz="1200"/>
              <a:t>            int cantidad) {</a:t>
            </a:r>
            <a:br>
              <a:rPr sz="1200"/>
            </a:br>
            <a:r>
              <a:rPr sz="1200"/>
              <a:t>        ItemPedido item =</a:t>
            </a:r>
            <a:br>
              <a:rPr sz="1200"/>
            </a:br>
            <a:r>
              <a:rPr sz="1200"/>
              <a:t>            new ItemPedido(this, producto, cantidad);</a:t>
            </a:r>
            <a:br>
              <a:rPr sz="1200"/>
            </a:br>
            <a:r>
              <a:rPr sz="1200"/>
              <a:t>    }</a:t>
            </a:r>
            <a:br>
              <a:rPr sz="1200"/>
            </a:br>
            <a:r>
              <a:rPr sz="1200"/>
              <a:t>}</a:t>
            </a:r>
          </a:p>
        </p:txBody>
      </p:sp>
      <p:sp>
        <p:nvSpPr>
          <p:cNvPr id="8" name="TextBox 11">
            <a:extLst>
              <a:ext uri="{FF2B5EF4-FFF2-40B4-BE49-F238E27FC236}">
                <a16:creationId xmlns:a16="http://schemas.microsoft.com/office/drawing/2014/main" id="{71DF685C-FE86-0A34-F61E-3CD3A60D14D6}"/>
              </a:ext>
            </a:extLst>
          </p:cNvPr>
          <p:cNvSpPr txBox="1"/>
          <p:nvPr/>
        </p:nvSpPr>
        <p:spPr>
          <a:xfrm>
            <a:off x="530751" y="5607657"/>
            <a:ext cx="3454996" cy="307777"/>
          </a:xfrm>
          <a:prstGeom prst="rect">
            <a:avLst/>
          </a:prstGeom>
          <a:noFill/>
        </p:spPr>
        <p:txBody>
          <a:bodyPr wrap="square" lIns="18288" rIns="18288">
            <a:spAutoFit/>
          </a:bodyPr>
          <a:lstStyle/>
          <a:p>
            <a:pPr algn="ctr">
              <a:defRPr sz="1700" b="1">
                <a:solidFill>
                  <a:srgbClr val="F2C94C"/>
                </a:solidFill>
              </a:defRPr>
            </a:pPr>
            <a:r>
              <a:rPr sz="1400" dirty="0" err="1"/>
              <a:t>Pedido</a:t>
            </a:r>
            <a:r>
              <a:rPr sz="1400" dirty="0"/>
              <a:t> </a:t>
            </a:r>
            <a:r>
              <a:rPr sz="1400" dirty="0" err="1"/>
              <a:t>depende</a:t>
            </a:r>
            <a:r>
              <a:rPr sz="1400" dirty="0"/>
              <a:t> de </a:t>
            </a:r>
            <a:r>
              <a:rPr sz="1400" dirty="0" err="1"/>
              <a:t>Producto</a:t>
            </a:r>
            <a:r>
              <a:rPr sz="1400" dirty="0"/>
              <a:t>.</a:t>
            </a:r>
          </a:p>
        </p:txBody>
      </p:sp>
      <p:sp>
        <p:nvSpPr>
          <p:cNvPr id="9" name="Rounded Rectangle 12">
            <a:extLst>
              <a:ext uri="{FF2B5EF4-FFF2-40B4-BE49-F238E27FC236}">
                <a16:creationId xmlns:a16="http://schemas.microsoft.com/office/drawing/2014/main" id="{B55D580F-FE29-0CB8-AA25-DB39E9665BF6}"/>
              </a:ext>
            </a:extLst>
          </p:cNvPr>
          <p:cNvSpPr/>
          <p:nvPr/>
        </p:nvSpPr>
        <p:spPr>
          <a:xfrm>
            <a:off x="4627261" y="2224377"/>
            <a:ext cx="4297679" cy="4086971"/>
          </a:xfrm>
          <a:prstGeom prst="roundRect">
            <a:avLst>
              <a:gd name="adj" fmla="val 7559"/>
            </a:avLst>
          </a:prstGeom>
          <a:solidFill>
            <a:srgbClr val="241A3B"/>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0" name="TextBox 13">
            <a:extLst>
              <a:ext uri="{FF2B5EF4-FFF2-40B4-BE49-F238E27FC236}">
                <a16:creationId xmlns:a16="http://schemas.microsoft.com/office/drawing/2014/main" id="{9AC0790D-CCAB-6E1A-75DE-0FB0F3CD91CE}"/>
              </a:ext>
            </a:extLst>
          </p:cNvPr>
          <p:cNvSpPr txBox="1"/>
          <p:nvPr/>
        </p:nvSpPr>
        <p:spPr>
          <a:xfrm>
            <a:off x="4828429" y="2352393"/>
            <a:ext cx="2158380" cy="307777"/>
          </a:xfrm>
          <a:prstGeom prst="rect">
            <a:avLst/>
          </a:prstGeom>
          <a:noFill/>
        </p:spPr>
        <p:txBody>
          <a:bodyPr wrap="square">
            <a:spAutoFit/>
          </a:bodyPr>
          <a:lstStyle/>
          <a:p>
            <a:pPr>
              <a:defRPr sz="1300" b="1">
                <a:solidFill>
                  <a:srgbClr val="F8F4FF"/>
                </a:solidFill>
              </a:defRPr>
            </a:pPr>
            <a:r>
              <a:rPr sz="1400" dirty="0" err="1"/>
              <a:t>Ahora</a:t>
            </a:r>
            <a:endParaRPr sz="1400" dirty="0"/>
          </a:p>
        </p:txBody>
      </p:sp>
      <p:sp>
        <p:nvSpPr>
          <p:cNvPr id="11" name="Rounded Rectangle 14">
            <a:extLst>
              <a:ext uri="{FF2B5EF4-FFF2-40B4-BE49-F238E27FC236}">
                <a16:creationId xmlns:a16="http://schemas.microsoft.com/office/drawing/2014/main" id="{6BD7BD52-675C-6239-C120-90440F96EF62}"/>
              </a:ext>
            </a:extLst>
          </p:cNvPr>
          <p:cNvSpPr/>
          <p:nvPr/>
        </p:nvSpPr>
        <p:spPr>
          <a:xfrm>
            <a:off x="4855861" y="2773018"/>
            <a:ext cx="3876338" cy="2293708"/>
          </a:xfrm>
          <a:prstGeom prst="roundRect">
            <a:avLst/>
          </a:prstGeom>
          <a:solidFill>
            <a:srgbClr val="100C1A"/>
          </a:solidFill>
          <a:ln w="1270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2" name="TextBox 15">
            <a:extLst>
              <a:ext uri="{FF2B5EF4-FFF2-40B4-BE49-F238E27FC236}">
                <a16:creationId xmlns:a16="http://schemas.microsoft.com/office/drawing/2014/main" id="{EFFC44D7-94A3-BD16-CF61-6508DEBADC6F}"/>
              </a:ext>
            </a:extLst>
          </p:cNvPr>
          <p:cNvSpPr txBox="1"/>
          <p:nvPr/>
        </p:nvSpPr>
        <p:spPr>
          <a:xfrm>
            <a:off x="5020453" y="2901033"/>
            <a:ext cx="3572971" cy="1938992"/>
          </a:xfrm>
          <a:prstGeom prst="rect">
            <a:avLst/>
          </a:prstGeom>
          <a:noFill/>
        </p:spPr>
        <p:txBody>
          <a:bodyPr wrap="square" lIns="18288" rIns="18288">
            <a:spAutoFit/>
          </a:bodyPr>
          <a:lstStyle/>
          <a:p>
            <a:pPr>
              <a:defRPr sz="1250">
                <a:solidFill>
                  <a:srgbClr val="EFE6FF"/>
                </a:solidFill>
                <a:latin typeface="Consolas"/>
              </a:defRPr>
            </a:pPr>
            <a:r>
              <a:rPr sz="1200"/>
              <a:t>public class Pedido {</a:t>
            </a:r>
            <a:br>
              <a:rPr sz="1200"/>
            </a:br>
            <a:br>
              <a:rPr sz="1200"/>
            </a:br>
            <a:r>
              <a:rPr sz="1200"/>
              <a:t>    public void agregarVendible(</a:t>
            </a:r>
            <a:br>
              <a:rPr sz="1200"/>
            </a:br>
            <a:r>
              <a:rPr sz="1200"/>
              <a:t>            Vendible vendible,</a:t>
            </a:r>
            <a:br>
              <a:rPr sz="1200"/>
            </a:br>
            <a:r>
              <a:rPr sz="1200"/>
              <a:t>            int cantidad) {</a:t>
            </a:r>
            <a:br>
              <a:rPr sz="1200"/>
            </a:br>
            <a:r>
              <a:rPr sz="1200"/>
              <a:t>        ItemPedido item =</a:t>
            </a:r>
            <a:br>
              <a:rPr sz="1200"/>
            </a:br>
            <a:r>
              <a:rPr sz="1200"/>
              <a:t>            new ItemPedido(this, vendible, cantidad);</a:t>
            </a:r>
            <a:br>
              <a:rPr sz="1200"/>
            </a:br>
            <a:r>
              <a:rPr sz="1200"/>
              <a:t>    }</a:t>
            </a:r>
            <a:br>
              <a:rPr sz="1200"/>
            </a:br>
            <a:r>
              <a:rPr sz="1200"/>
              <a:t>}</a:t>
            </a:r>
          </a:p>
        </p:txBody>
      </p:sp>
      <p:sp>
        <p:nvSpPr>
          <p:cNvPr id="13" name="TextBox 16">
            <a:extLst>
              <a:ext uri="{FF2B5EF4-FFF2-40B4-BE49-F238E27FC236}">
                <a16:creationId xmlns:a16="http://schemas.microsoft.com/office/drawing/2014/main" id="{25DE94D6-EB59-9CB6-DDD4-7DECA99A135B}"/>
              </a:ext>
            </a:extLst>
          </p:cNvPr>
          <p:cNvSpPr txBox="1"/>
          <p:nvPr/>
        </p:nvSpPr>
        <p:spPr>
          <a:xfrm>
            <a:off x="4993022" y="5607657"/>
            <a:ext cx="3454996" cy="307777"/>
          </a:xfrm>
          <a:prstGeom prst="rect">
            <a:avLst/>
          </a:prstGeom>
          <a:noFill/>
        </p:spPr>
        <p:txBody>
          <a:bodyPr wrap="square" lIns="18288" rIns="18288">
            <a:spAutoFit/>
          </a:bodyPr>
          <a:lstStyle/>
          <a:p>
            <a:pPr algn="ctr">
              <a:defRPr sz="1700" b="1">
                <a:solidFill>
                  <a:srgbClr val="58D68D"/>
                </a:solidFill>
              </a:defRPr>
            </a:pPr>
            <a:r>
              <a:rPr sz="1400" dirty="0" err="1"/>
              <a:t>Pedido</a:t>
            </a:r>
            <a:r>
              <a:rPr sz="1400" dirty="0"/>
              <a:t> </a:t>
            </a:r>
            <a:r>
              <a:rPr sz="1400" dirty="0" err="1"/>
              <a:t>depende</a:t>
            </a:r>
            <a:r>
              <a:rPr sz="1400" dirty="0"/>
              <a:t> de </a:t>
            </a:r>
            <a:r>
              <a:rPr sz="1400" dirty="0" err="1"/>
              <a:t>una</a:t>
            </a:r>
            <a:r>
              <a:rPr sz="1400" dirty="0"/>
              <a:t> </a:t>
            </a:r>
            <a:r>
              <a:rPr sz="1400" dirty="0" err="1"/>
              <a:t>abstracción</a:t>
            </a:r>
            <a:r>
              <a:rPr sz="1400" dirty="0"/>
              <a:t>.</a:t>
            </a:r>
          </a:p>
        </p:txBody>
      </p:sp>
    </p:spTree>
    <p:extLst>
      <p:ext uri="{BB962C8B-B14F-4D97-AF65-F5344CB8AC3E}">
        <p14:creationId xmlns:p14="http://schemas.microsoft.com/office/powerpoint/2010/main" val="19851587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509342-B7A8-0C0F-964E-82006CF3E42E}"/>
              </a:ext>
            </a:extLst>
          </p:cNvPr>
          <p:cNvSpPr>
            <a:spLocks noGrp="1"/>
          </p:cNvSpPr>
          <p:nvPr>
            <p:ph type="title"/>
          </p:nvPr>
        </p:nvSpPr>
        <p:spPr/>
        <p:txBody>
          <a:bodyPr/>
          <a:lstStyle/>
          <a:p>
            <a:r>
              <a:rPr lang="es-AR" dirty="0" err="1"/>
              <a:t>ItemPedido</a:t>
            </a:r>
            <a:r>
              <a:rPr lang="es-AR" dirty="0"/>
              <a:t> también usa Vendible</a:t>
            </a:r>
          </a:p>
        </p:txBody>
      </p:sp>
      <p:sp>
        <p:nvSpPr>
          <p:cNvPr id="3" name="Marcador de contenido 2">
            <a:extLst>
              <a:ext uri="{FF2B5EF4-FFF2-40B4-BE49-F238E27FC236}">
                <a16:creationId xmlns:a16="http://schemas.microsoft.com/office/drawing/2014/main" id="{FFA89F26-84AC-0E3C-AAE5-092EFDF7D9E4}"/>
              </a:ext>
            </a:extLst>
          </p:cNvPr>
          <p:cNvSpPr>
            <a:spLocks noGrp="1"/>
          </p:cNvSpPr>
          <p:nvPr>
            <p:ph idx="1"/>
          </p:nvPr>
        </p:nvSpPr>
        <p:spPr>
          <a:xfrm>
            <a:off x="864382" y="2489200"/>
            <a:ext cx="7663392" cy="709865"/>
          </a:xfrm>
        </p:spPr>
        <p:txBody>
          <a:bodyPr/>
          <a:lstStyle/>
          <a:p>
            <a:r>
              <a:rPr lang="es-AR" dirty="0"/>
              <a:t>La línea del pedido puede ser un producto simple o un combo.</a:t>
            </a:r>
          </a:p>
        </p:txBody>
      </p:sp>
      <p:sp>
        <p:nvSpPr>
          <p:cNvPr id="4" name="Rounded Rectangle 8">
            <a:extLst>
              <a:ext uri="{FF2B5EF4-FFF2-40B4-BE49-F238E27FC236}">
                <a16:creationId xmlns:a16="http://schemas.microsoft.com/office/drawing/2014/main" id="{970E8360-B483-830D-C22E-4B86F6675346}"/>
              </a:ext>
            </a:extLst>
          </p:cNvPr>
          <p:cNvSpPr/>
          <p:nvPr/>
        </p:nvSpPr>
        <p:spPr>
          <a:xfrm>
            <a:off x="242591" y="2876384"/>
            <a:ext cx="4913830" cy="3812651"/>
          </a:xfrm>
          <a:prstGeom prst="roundRect">
            <a:avLst>
              <a:gd name="adj" fmla="val 7680"/>
            </a:avLst>
          </a:prstGeom>
          <a:solidFill>
            <a:srgbClr val="100C1A"/>
          </a:solidFill>
          <a:ln w="1270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9">
            <a:extLst>
              <a:ext uri="{FF2B5EF4-FFF2-40B4-BE49-F238E27FC236}">
                <a16:creationId xmlns:a16="http://schemas.microsoft.com/office/drawing/2014/main" id="{8C0440EB-0A07-0C04-99AF-8C0DAD55904A}"/>
              </a:ext>
            </a:extLst>
          </p:cNvPr>
          <p:cNvSpPr txBox="1"/>
          <p:nvPr/>
        </p:nvSpPr>
        <p:spPr>
          <a:xfrm>
            <a:off x="407182" y="3004398"/>
            <a:ext cx="4642354" cy="3367076"/>
          </a:xfrm>
          <a:prstGeom prst="rect">
            <a:avLst/>
          </a:prstGeom>
          <a:noFill/>
        </p:spPr>
        <p:txBody>
          <a:bodyPr wrap="square" lIns="18288" rIns="18288">
            <a:spAutoFit/>
          </a:bodyPr>
          <a:lstStyle/>
          <a:p>
            <a:pPr>
              <a:defRPr sz="1120">
                <a:solidFill>
                  <a:srgbClr val="EFE6FF"/>
                </a:solidFill>
                <a:latin typeface="Consolas"/>
              </a:defRPr>
            </a:pPr>
            <a:r>
              <a:rPr dirty="0"/>
              <a:t>@Entity</a:t>
            </a:r>
            <a:br>
              <a:rPr dirty="0"/>
            </a:br>
            <a:r>
              <a:rPr dirty="0"/>
              <a:t>@Table(name = "</a:t>
            </a:r>
            <a:r>
              <a:rPr dirty="0" err="1"/>
              <a:t>pedido_items</a:t>
            </a:r>
            <a:r>
              <a:rPr dirty="0"/>
              <a:t>")</a:t>
            </a:r>
            <a:br>
              <a:rPr dirty="0"/>
            </a:br>
            <a:r>
              <a:rPr dirty="0"/>
              <a:t>public class </a:t>
            </a:r>
            <a:r>
              <a:rPr dirty="0" err="1"/>
              <a:t>ItemPedido</a:t>
            </a:r>
            <a:r>
              <a:rPr dirty="0"/>
              <a:t> {</a:t>
            </a:r>
            <a:br>
              <a:rPr dirty="0"/>
            </a:br>
            <a:br>
              <a:rPr dirty="0"/>
            </a:br>
            <a:r>
              <a:rPr dirty="0"/>
              <a:t>    @</a:t>
            </a:r>
            <a:r>
              <a:rPr dirty="0" err="1"/>
              <a:t>ManyToOne</a:t>
            </a:r>
            <a:r>
              <a:rPr dirty="0"/>
              <a:t>(fetch = </a:t>
            </a:r>
            <a:r>
              <a:rPr dirty="0" err="1"/>
              <a:t>FetchType.EAGER</a:t>
            </a:r>
            <a:r>
              <a:rPr dirty="0"/>
              <a:t>)</a:t>
            </a:r>
            <a:br>
              <a:rPr dirty="0"/>
            </a:br>
            <a:r>
              <a:rPr dirty="0"/>
              <a:t>    @</a:t>
            </a:r>
            <a:r>
              <a:rPr dirty="0" err="1"/>
              <a:t>JoinColumn</a:t>
            </a:r>
            <a:r>
              <a:rPr dirty="0"/>
              <a:t>(name = "</a:t>
            </a:r>
            <a:r>
              <a:rPr dirty="0" err="1"/>
              <a:t>vendible_id</a:t>
            </a:r>
            <a:r>
              <a:rPr dirty="0"/>
              <a:t>", nullable = false)</a:t>
            </a:r>
            <a:br>
              <a:rPr dirty="0"/>
            </a:br>
            <a:r>
              <a:rPr dirty="0"/>
              <a:t>    private Vendible vendible;</a:t>
            </a:r>
            <a:br>
              <a:rPr dirty="0"/>
            </a:br>
            <a:br>
              <a:rPr dirty="0"/>
            </a:br>
            <a:r>
              <a:rPr dirty="0"/>
              <a:t>    private int </a:t>
            </a:r>
            <a:r>
              <a:rPr dirty="0" err="1"/>
              <a:t>cantidad</a:t>
            </a:r>
            <a:r>
              <a:rPr dirty="0"/>
              <a:t>;</a:t>
            </a:r>
            <a:br>
              <a:rPr dirty="0"/>
            </a:br>
            <a:r>
              <a:rPr dirty="0"/>
              <a:t>    private double </a:t>
            </a:r>
            <a:r>
              <a:rPr dirty="0" err="1"/>
              <a:t>precioUnitario</a:t>
            </a:r>
            <a:r>
              <a:rPr dirty="0"/>
              <a:t>;</a:t>
            </a:r>
            <a:br>
              <a:rPr dirty="0"/>
            </a:br>
            <a:r>
              <a:rPr dirty="0"/>
              <a:t>    private double subtotal;</a:t>
            </a:r>
            <a:br>
              <a:rPr dirty="0"/>
            </a:br>
            <a:br>
              <a:rPr dirty="0"/>
            </a:br>
            <a:r>
              <a:rPr dirty="0"/>
              <a:t>    public </a:t>
            </a:r>
            <a:r>
              <a:rPr dirty="0" err="1"/>
              <a:t>ItemPedido</a:t>
            </a:r>
            <a:r>
              <a:rPr dirty="0"/>
              <a:t>(</a:t>
            </a:r>
            <a:r>
              <a:rPr dirty="0" err="1"/>
              <a:t>Pedido</a:t>
            </a:r>
            <a:r>
              <a:rPr dirty="0"/>
              <a:t> </a:t>
            </a:r>
            <a:r>
              <a:rPr dirty="0" err="1"/>
              <a:t>pedido</a:t>
            </a:r>
            <a:r>
              <a:rPr dirty="0"/>
              <a:t>,</a:t>
            </a:r>
            <a:br>
              <a:rPr dirty="0"/>
            </a:br>
            <a:r>
              <a:rPr dirty="0"/>
              <a:t>                      Vendible vendible,</a:t>
            </a:r>
            <a:br>
              <a:rPr dirty="0"/>
            </a:br>
            <a:r>
              <a:rPr dirty="0"/>
              <a:t>                      int </a:t>
            </a:r>
            <a:r>
              <a:rPr dirty="0" err="1"/>
              <a:t>cantidad</a:t>
            </a:r>
            <a:r>
              <a:rPr dirty="0"/>
              <a:t>) {</a:t>
            </a:r>
            <a:br>
              <a:rPr dirty="0"/>
            </a:br>
            <a:r>
              <a:rPr dirty="0"/>
              <a:t>        </a:t>
            </a:r>
            <a:r>
              <a:rPr dirty="0" err="1"/>
              <a:t>this.precioUnitario</a:t>
            </a:r>
            <a:r>
              <a:rPr dirty="0"/>
              <a:t> = </a:t>
            </a:r>
            <a:r>
              <a:rPr dirty="0" err="1"/>
              <a:t>vendible.calcularPrecio</a:t>
            </a:r>
            <a:r>
              <a:rPr dirty="0"/>
              <a:t>();</a:t>
            </a:r>
            <a:br>
              <a:rPr dirty="0"/>
            </a:br>
            <a:r>
              <a:rPr dirty="0"/>
              <a:t>        </a:t>
            </a:r>
            <a:r>
              <a:rPr dirty="0" err="1"/>
              <a:t>this.subtotal</a:t>
            </a:r>
            <a:r>
              <a:rPr dirty="0"/>
              <a:t> = </a:t>
            </a:r>
            <a:r>
              <a:rPr dirty="0" err="1"/>
              <a:t>precioUnitario</a:t>
            </a:r>
            <a:r>
              <a:rPr dirty="0"/>
              <a:t> * </a:t>
            </a:r>
            <a:r>
              <a:rPr dirty="0" err="1"/>
              <a:t>cantidad</a:t>
            </a:r>
            <a:r>
              <a:rPr dirty="0"/>
              <a:t>;</a:t>
            </a:r>
            <a:br>
              <a:rPr dirty="0"/>
            </a:br>
            <a:r>
              <a:rPr dirty="0"/>
              <a:t>    }</a:t>
            </a:r>
            <a:br>
              <a:rPr dirty="0"/>
            </a:br>
            <a:r>
              <a:rPr dirty="0"/>
              <a:t>}</a:t>
            </a:r>
          </a:p>
        </p:txBody>
      </p:sp>
      <p:sp>
        <p:nvSpPr>
          <p:cNvPr id="6" name="Rounded Rectangle 10">
            <a:extLst>
              <a:ext uri="{FF2B5EF4-FFF2-40B4-BE49-F238E27FC236}">
                <a16:creationId xmlns:a16="http://schemas.microsoft.com/office/drawing/2014/main" id="{C0D57A05-0DEA-2894-19AE-6B45491EA241}"/>
              </a:ext>
            </a:extLst>
          </p:cNvPr>
          <p:cNvSpPr/>
          <p:nvPr/>
        </p:nvSpPr>
        <p:spPr>
          <a:xfrm>
            <a:off x="5321012" y="3104983"/>
            <a:ext cx="3452854" cy="3464781"/>
          </a:xfrm>
          <a:prstGeom prst="roundRect">
            <a:avLst>
              <a:gd name="adj" fmla="val 8895"/>
            </a:avLst>
          </a:prstGeom>
          <a:solidFill>
            <a:srgbClr val="241A3B"/>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11">
            <a:extLst>
              <a:ext uri="{FF2B5EF4-FFF2-40B4-BE49-F238E27FC236}">
                <a16:creationId xmlns:a16="http://schemas.microsoft.com/office/drawing/2014/main" id="{676569C0-253F-4514-53B8-94628A0B49D9}"/>
              </a:ext>
            </a:extLst>
          </p:cNvPr>
          <p:cNvSpPr txBox="1"/>
          <p:nvPr/>
        </p:nvSpPr>
        <p:spPr>
          <a:xfrm>
            <a:off x="5522180" y="3232998"/>
            <a:ext cx="3063301" cy="307777"/>
          </a:xfrm>
          <a:prstGeom prst="rect">
            <a:avLst/>
          </a:prstGeom>
          <a:noFill/>
        </p:spPr>
        <p:txBody>
          <a:bodyPr wrap="square">
            <a:spAutoFit/>
          </a:bodyPr>
          <a:lstStyle/>
          <a:p>
            <a:pPr>
              <a:defRPr sz="1300" b="1">
                <a:solidFill>
                  <a:srgbClr val="F8F4FF"/>
                </a:solidFill>
              </a:defRPr>
            </a:pPr>
            <a:r>
              <a:rPr sz="1400" dirty="0" err="1"/>
              <a:t>Beneficio</a:t>
            </a:r>
            <a:endParaRPr sz="1400" dirty="0"/>
          </a:p>
        </p:txBody>
      </p:sp>
      <p:sp>
        <p:nvSpPr>
          <p:cNvPr id="8" name="TextBox 12">
            <a:extLst>
              <a:ext uri="{FF2B5EF4-FFF2-40B4-BE49-F238E27FC236}">
                <a16:creationId xmlns:a16="http://schemas.microsoft.com/office/drawing/2014/main" id="{4C9BFE24-21AC-FCFA-21EB-598FD2DCE481}"/>
              </a:ext>
            </a:extLst>
          </p:cNvPr>
          <p:cNvSpPr txBox="1"/>
          <p:nvPr/>
        </p:nvSpPr>
        <p:spPr>
          <a:xfrm>
            <a:off x="5522180" y="3574708"/>
            <a:ext cx="2921646" cy="1600438"/>
          </a:xfrm>
          <a:prstGeom prst="rect">
            <a:avLst/>
          </a:prstGeom>
          <a:noFill/>
        </p:spPr>
        <p:txBody>
          <a:bodyPr wrap="square" lIns="18288" rIns="18288">
            <a:spAutoFit/>
          </a:bodyPr>
          <a:lstStyle/>
          <a:p>
            <a:pPr algn="ctr">
              <a:defRPr sz="1700" b="0">
                <a:solidFill>
                  <a:srgbClr val="F8F4FF"/>
                </a:solidFill>
              </a:defRPr>
            </a:pPr>
            <a:r>
              <a:rPr sz="1400" dirty="0" err="1"/>
              <a:t>ItemPedido</a:t>
            </a:r>
            <a:r>
              <a:rPr sz="1400" dirty="0"/>
              <a:t> </a:t>
            </a:r>
            <a:r>
              <a:rPr sz="1400" dirty="0" err="1"/>
              <a:t>ya</a:t>
            </a:r>
            <a:r>
              <a:rPr sz="1400" dirty="0"/>
              <a:t> no </a:t>
            </a:r>
            <a:r>
              <a:rPr sz="1400" dirty="0" err="1"/>
              <a:t>pregunta</a:t>
            </a:r>
            <a:r>
              <a:rPr sz="1400" dirty="0"/>
              <a:t>:</a:t>
            </a:r>
          </a:p>
          <a:p>
            <a:pPr algn="ctr">
              <a:defRPr sz="1700" b="0">
                <a:solidFill>
                  <a:srgbClr val="F8F4FF"/>
                </a:solidFill>
              </a:defRPr>
            </a:pPr>
            <a:endParaRPr sz="1400" dirty="0"/>
          </a:p>
          <a:p>
            <a:pPr algn="ctr">
              <a:defRPr sz="1700" b="0">
                <a:solidFill>
                  <a:srgbClr val="F8F4FF"/>
                </a:solidFill>
              </a:defRPr>
            </a:pPr>
            <a:r>
              <a:rPr sz="1400" dirty="0"/>
              <a:t>“¿</a:t>
            </a:r>
            <a:r>
              <a:rPr sz="1400" dirty="0" err="1"/>
              <a:t>sos</a:t>
            </a:r>
            <a:r>
              <a:rPr sz="1400" dirty="0"/>
              <a:t> </a:t>
            </a:r>
            <a:r>
              <a:rPr sz="1400" dirty="0" err="1"/>
              <a:t>Producto</a:t>
            </a:r>
            <a:r>
              <a:rPr sz="1400" dirty="0"/>
              <a:t> o Combo?”</a:t>
            </a:r>
          </a:p>
          <a:p>
            <a:pPr algn="ctr">
              <a:defRPr sz="1700" b="0">
                <a:solidFill>
                  <a:srgbClr val="F8F4FF"/>
                </a:solidFill>
              </a:defRPr>
            </a:pPr>
            <a:endParaRPr sz="1400" dirty="0"/>
          </a:p>
          <a:p>
            <a:pPr algn="ctr">
              <a:defRPr sz="1700" b="0">
                <a:solidFill>
                  <a:srgbClr val="F8F4FF"/>
                </a:solidFill>
              </a:defRPr>
            </a:pPr>
            <a:r>
              <a:rPr sz="1400" dirty="0"/>
              <a:t>Solo llama:</a:t>
            </a:r>
          </a:p>
          <a:p>
            <a:pPr algn="ctr">
              <a:defRPr sz="1700" b="0">
                <a:solidFill>
                  <a:srgbClr val="F8F4FF"/>
                </a:solidFill>
              </a:defRPr>
            </a:pPr>
            <a:endParaRPr sz="1400" dirty="0"/>
          </a:p>
          <a:p>
            <a:pPr algn="ctr">
              <a:defRPr sz="1700" b="0">
                <a:solidFill>
                  <a:srgbClr val="F8F4FF"/>
                </a:solidFill>
              </a:defRPr>
            </a:pPr>
            <a:r>
              <a:rPr sz="1400" dirty="0" err="1"/>
              <a:t>vendible.calcularPrecio</a:t>
            </a:r>
            <a:r>
              <a:rPr sz="1400" dirty="0"/>
              <a:t>()</a:t>
            </a:r>
          </a:p>
        </p:txBody>
      </p:sp>
    </p:spTree>
    <p:extLst>
      <p:ext uri="{BB962C8B-B14F-4D97-AF65-F5344CB8AC3E}">
        <p14:creationId xmlns:p14="http://schemas.microsoft.com/office/powerpoint/2010/main" val="9917072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5CAC32-F01F-54B5-4138-3EB0A71C005F}"/>
              </a:ext>
            </a:extLst>
          </p:cNvPr>
          <p:cNvSpPr>
            <a:spLocks noGrp="1"/>
          </p:cNvSpPr>
          <p:nvPr>
            <p:ph type="title"/>
          </p:nvPr>
        </p:nvSpPr>
        <p:spPr>
          <a:xfrm>
            <a:off x="865970" y="927098"/>
            <a:ext cx="6677830" cy="709865"/>
          </a:xfrm>
        </p:spPr>
        <p:txBody>
          <a:bodyPr/>
          <a:lstStyle/>
          <a:p>
            <a:r>
              <a:rPr lang="es-AR" dirty="0"/>
              <a:t>La UI no necesita saber demasiado</a:t>
            </a:r>
          </a:p>
        </p:txBody>
      </p:sp>
      <p:sp>
        <p:nvSpPr>
          <p:cNvPr id="3" name="Marcador de contenido 2">
            <a:extLst>
              <a:ext uri="{FF2B5EF4-FFF2-40B4-BE49-F238E27FC236}">
                <a16:creationId xmlns:a16="http://schemas.microsoft.com/office/drawing/2014/main" id="{69819205-BA90-7963-AB39-507D17564427}"/>
              </a:ext>
            </a:extLst>
          </p:cNvPr>
          <p:cNvSpPr>
            <a:spLocks noGrp="1"/>
          </p:cNvSpPr>
          <p:nvPr>
            <p:ph idx="1"/>
          </p:nvPr>
        </p:nvSpPr>
        <p:spPr>
          <a:xfrm>
            <a:off x="864382" y="2489200"/>
            <a:ext cx="7732966" cy="3530600"/>
          </a:xfrm>
        </p:spPr>
        <p:txBody>
          <a:bodyPr/>
          <a:lstStyle/>
          <a:p>
            <a:r>
              <a:rPr lang="es-AR" dirty="0"/>
              <a:t>El combo de la UI ahora lista </a:t>
            </a:r>
            <a:r>
              <a:rPr lang="es-AR" dirty="0" err="1"/>
              <a:t>VendibleDTO</a:t>
            </a:r>
            <a:r>
              <a:rPr lang="es-AR" dirty="0"/>
              <a:t>: productos y combos mezclados.</a:t>
            </a:r>
          </a:p>
        </p:txBody>
      </p:sp>
      <p:sp>
        <p:nvSpPr>
          <p:cNvPr id="4" name="Rounded Rectangle 8">
            <a:extLst>
              <a:ext uri="{FF2B5EF4-FFF2-40B4-BE49-F238E27FC236}">
                <a16:creationId xmlns:a16="http://schemas.microsoft.com/office/drawing/2014/main" id="{B59C24DB-6CC1-683C-D02E-A38CDA4BCA35}"/>
              </a:ext>
            </a:extLst>
          </p:cNvPr>
          <p:cNvSpPr/>
          <p:nvPr/>
        </p:nvSpPr>
        <p:spPr>
          <a:xfrm>
            <a:off x="405518" y="3216302"/>
            <a:ext cx="4166482" cy="3184497"/>
          </a:xfrm>
          <a:prstGeom prst="roundRect">
            <a:avLst>
              <a:gd name="adj" fmla="val 8864"/>
            </a:avLst>
          </a:prstGeom>
          <a:solidFill>
            <a:srgbClr val="100C1A"/>
          </a:solidFill>
          <a:ln w="1270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9">
            <a:extLst>
              <a:ext uri="{FF2B5EF4-FFF2-40B4-BE49-F238E27FC236}">
                <a16:creationId xmlns:a16="http://schemas.microsoft.com/office/drawing/2014/main" id="{CD3A549E-B46F-F339-1BDA-00BC4F73D207}"/>
              </a:ext>
            </a:extLst>
          </p:cNvPr>
          <p:cNvSpPr txBox="1"/>
          <p:nvPr/>
        </p:nvSpPr>
        <p:spPr>
          <a:xfrm>
            <a:off x="570109" y="3344319"/>
            <a:ext cx="3687418" cy="2593018"/>
          </a:xfrm>
          <a:prstGeom prst="rect">
            <a:avLst/>
          </a:prstGeom>
          <a:noFill/>
        </p:spPr>
        <p:txBody>
          <a:bodyPr wrap="square" lIns="18288" rIns="18288">
            <a:spAutoFit/>
          </a:bodyPr>
          <a:lstStyle/>
          <a:p>
            <a:pPr>
              <a:defRPr sz="1250">
                <a:solidFill>
                  <a:srgbClr val="EFE6FF"/>
                </a:solidFill>
                <a:latin typeface="Consolas"/>
              </a:defRPr>
            </a:pPr>
            <a:r>
              <a:rPr dirty="0"/>
              <a:t>private final </a:t>
            </a:r>
            <a:r>
              <a:rPr dirty="0" err="1"/>
              <a:t>JComboBox</a:t>
            </a:r>
            <a:r>
              <a:rPr dirty="0"/>
              <a:t>&lt;</a:t>
            </a:r>
            <a:r>
              <a:rPr dirty="0" err="1"/>
              <a:t>VendibleDTO</a:t>
            </a:r>
            <a:r>
              <a:rPr dirty="0"/>
              <a:t>&gt; </a:t>
            </a:r>
            <a:r>
              <a:rPr dirty="0" err="1"/>
              <a:t>vendiblesCombo</a:t>
            </a:r>
            <a:br>
              <a:rPr dirty="0"/>
            </a:br>
            <a:r>
              <a:rPr dirty="0"/>
              <a:t>        = new </a:t>
            </a:r>
            <a:r>
              <a:rPr dirty="0" err="1"/>
              <a:t>JComboBox</a:t>
            </a:r>
            <a:r>
              <a:rPr dirty="0"/>
              <a:t>&lt;&gt;();</a:t>
            </a:r>
            <a:br>
              <a:rPr dirty="0"/>
            </a:br>
            <a:br>
              <a:rPr dirty="0"/>
            </a:br>
            <a:r>
              <a:rPr dirty="0"/>
              <a:t>for (</a:t>
            </a:r>
            <a:r>
              <a:rPr dirty="0" err="1"/>
              <a:t>VendibleDTO</a:t>
            </a:r>
            <a:r>
              <a:rPr dirty="0"/>
              <a:t> vendible : </a:t>
            </a:r>
            <a:r>
              <a:rPr dirty="0" err="1"/>
              <a:t>controller.listarVendibles</a:t>
            </a:r>
            <a:r>
              <a:rPr dirty="0"/>
              <a:t>()) {</a:t>
            </a:r>
            <a:br>
              <a:rPr dirty="0"/>
            </a:br>
            <a:r>
              <a:rPr dirty="0"/>
              <a:t>    </a:t>
            </a:r>
            <a:r>
              <a:rPr dirty="0" err="1"/>
              <a:t>vendiblesCombo.addItem</a:t>
            </a:r>
            <a:r>
              <a:rPr dirty="0"/>
              <a:t>(vendible);</a:t>
            </a:r>
            <a:br>
              <a:rPr dirty="0"/>
            </a:br>
            <a:r>
              <a:rPr dirty="0"/>
              <a:t>}</a:t>
            </a:r>
            <a:br>
              <a:rPr dirty="0"/>
            </a:br>
            <a:br>
              <a:rPr dirty="0"/>
            </a:br>
            <a:r>
              <a:rPr dirty="0" err="1"/>
              <a:t>controller.agregarItem</a:t>
            </a:r>
            <a:r>
              <a:rPr dirty="0"/>
              <a:t>(</a:t>
            </a:r>
            <a:br>
              <a:rPr dirty="0"/>
            </a:br>
            <a:r>
              <a:rPr dirty="0"/>
              <a:t>        </a:t>
            </a:r>
            <a:r>
              <a:rPr dirty="0" err="1"/>
              <a:t>vendible.getId</a:t>
            </a:r>
            <a:r>
              <a:rPr dirty="0"/>
              <a:t>(),</a:t>
            </a:r>
            <a:br>
              <a:rPr dirty="0"/>
            </a:br>
            <a:r>
              <a:rPr dirty="0"/>
              <a:t>        </a:t>
            </a:r>
            <a:r>
              <a:rPr dirty="0" err="1"/>
              <a:t>cantidad</a:t>
            </a:r>
            <a:br>
              <a:rPr dirty="0"/>
            </a:br>
            <a:r>
              <a:rPr dirty="0"/>
              <a:t>);</a:t>
            </a:r>
          </a:p>
        </p:txBody>
      </p:sp>
      <p:sp>
        <p:nvSpPr>
          <p:cNvPr id="6" name="Rounded Rectangle 10">
            <a:extLst>
              <a:ext uri="{FF2B5EF4-FFF2-40B4-BE49-F238E27FC236}">
                <a16:creationId xmlns:a16="http://schemas.microsoft.com/office/drawing/2014/main" id="{D186B13D-6859-2E59-C6E9-A32C463FE62A}"/>
              </a:ext>
            </a:extLst>
          </p:cNvPr>
          <p:cNvSpPr/>
          <p:nvPr/>
        </p:nvSpPr>
        <p:spPr>
          <a:xfrm>
            <a:off x="4866273" y="3216302"/>
            <a:ext cx="3878249" cy="3184497"/>
          </a:xfrm>
          <a:prstGeom prst="roundRect">
            <a:avLst>
              <a:gd name="adj" fmla="val 10113"/>
            </a:avLst>
          </a:prstGeom>
          <a:solidFill>
            <a:srgbClr val="241A3B"/>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11">
            <a:extLst>
              <a:ext uri="{FF2B5EF4-FFF2-40B4-BE49-F238E27FC236}">
                <a16:creationId xmlns:a16="http://schemas.microsoft.com/office/drawing/2014/main" id="{FA4CCA18-30CD-DE2D-B87A-908E3326DA4A}"/>
              </a:ext>
            </a:extLst>
          </p:cNvPr>
          <p:cNvSpPr txBox="1"/>
          <p:nvPr/>
        </p:nvSpPr>
        <p:spPr>
          <a:xfrm>
            <a:off x="5067441" y="3344318"/>
            <a:ext cx="3490424" cy="307777"/>
          </a:xfrm>
          <a:prstGeom prst="rect">
            <a:avLst/>
          </a:prstGeom>
          <a:noFill/>
        </p:spPr>
        <p:txBody>
          <a:bodyPr wrap="square">
            <a:spAutoFit/>
          </a:bodyPr>
          <a:lstStyle/>
          <a:p>
            <a:pPr>
              <a:defRPr sz="1300" b="1">
                <a:solidFill>
                  <a:srgbClr val="F8F4FF"/>
                </a:solidFill>
              </a:defRPr>
            </a:pPr>
            <a:r>
              <a:rPr sz="1400" dirty="0" err="1"/>
              <a:t>Resultado</a:t>
            </a:r>
            <a:r>
              <a:rPr sz="1400" dirty="0"/>
              <a:t> </a:t>
            </a:r>
            <a:r>
              <a:rPr sz="1400" dirty="0" err="1"/>
              <a:t>en</a:t>
            </a:r>
            <a:r>
              <a:rPr sz="1400" dirty="0"/>
              <a:t> </a:t>
            </a:r>
            <a:r>
              <a:rPr sz="1400" dirty="0" err="1"/>
              <a:t>pantalla</a:t>
            </a:r>
            <a:endParaRPr sz="1400" dirty="0"/>
          </a:p>
        </p:txBody>
      </p:sp>
      <p:sp>
        <p:nvSpPr>
          <p:cNvPr id="8" name="TextBox 12">
            <a:extLst>
              <a:ext uri="{FF2B5EF4-FFF2-40B4-BE49-F238E27FC236}">
                <a16:creationId xmlns:a16="http://schemas.microsoft.com/office/drawing/2014/main" id="{A881A6D9-9CE7-892F-777F-8FE6EFAA2D6E}"/>
              </a:ext>
            </a:extLst>
          </p:cNvPr>
          <p:cNvSpPr txBox="1"/>
          <p:nvPr/>
        </p:nvSpPr>
        <p:spPr>
          <a:xfrm>
            <a:off x="5186313" y="3688724"/>
            <a:ext cx="3261255" cy="1600438"/>
          </a:xfrm>
          <a:prstGeom prst="rect">
            <a:avLst/>
          </a:prstGeom>
          <a:noFill/>
        </p:spPr>
        <p:txBody>
          <a:bodyPr wrap="square" lIns="18288" rIns="18288">
            <a:spAutoFit/>
          </a:bodyPr>
          <a:lstStyle/>
          <a:p>
            <a:pPr algn="l">
              <a:defRPr sz="1700" b="0">
                <a:solidFill>
                  <a:srgbClr val="F8F4FF"/>
                </a:solidFill>
              </a:defRPr>
            </a:pPr>
            <a:r>
              <a:rPr sz="1400" dirty="0"/>
              <a:t>[</a:t>
            </a:r>
            <a:r>
              <a:rPr sz="1400" dirty="0" err="1"/>
              <a:t>Producto</a:t>
            </a:r>
            <a:r>
              <a:rPr sz="1400" dirty="0"/>
              <a:t>] ☕ Café Latte - $4500</a:t>
            </a:r>
          </a:p>
          <a:p>
            <a:pPr algn="l">
              <a:defRPr sz="1700" b="0">
                <a:solidFill>
                  <a:srgbClr val="F8F4FF"/>
                </a:solidFill>
              </a:defRPr>
            </a:pPr>
            <a:endParaRPr sz="1400" dirty="0"/>
          </a:p>
          <a:p>
            <a:pPr algn="l">
              <a:defRPr sz="1700" b="0">
                <a:solidFill>
                  <a:srgbClr val="F8F4FF"/>
                </a:solidFill>
              </a:defRPr>
            </a:pPr>
            <a:r>
              <a:rPr sz="1400" dirty="0"/>
              <a:t>[Combo] ✨ Combo </a:t>
            </a:r>
            <a:r>
              <a:rPr sz="1400" dirty="0" err="1"/>
              <a:t>Desayuno</a:t>
            </a:r>
            <a:r>
              <a:rPr sz="1400" dirty="0"/>
              <a:t> - $10900</a:t>
            </a:r>
          </a:p>
          <a:p>
            <a:pPr algn="l">
              <a:defRPr sz="1700" b="0">
                <a:solidFill>
                  <a:srgbClr val="F8F4FF"/>
                </a:solidFill>
              </a:defRPr>
            </a:pPr>
            <a:endParaRPr sz="1400" dirty="0"/>
          </a:p>
          <a:p>
            <a:pPr algn="l">
              <a:defRPr sz="1700" b="0">
                <a:solidFill>
                  <a:srgbClr val="F8F4FF"/>
                </a:solidFill>
              </a:defRPr>
            </a:pPr>
            <a:r>
              <a:rPr sz="1400" dirty="0"/>
              <a:t>[Combo] 🍰 Combo </a:t>
            </a:r>
            <a:r>
              <a:rPr sz="1400" dirty="0" err="1"/>
              <a:t>Merienda</a:t>
            </a:r>
            <a:r>
              <a:rPr sz="1400" dirty="0"/>
              <a:t> - $10300</a:t>
            </a:r>
          </a:p>
        </p:txBody>
      </p:sp>
    </p:spTree>
    <p:extLst>
      <p:ext uri="{BB962C8B-B14F-4D97-AF65-F5344CB8AC3E}">
        <p14:creationId xmlns:p14="http://schemas.microsoft.com/office/powerpoint/2010/main" val="27820326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9DFD2E-5496-3352-318D-055A2D465DC3}"/>
              </a:ext>
            </a:extLst>
          </p:cNvPr>
          <p:cNvSpPr>
            <a:spLocks noGrp="1"/>
          </p:cNvSpPr>
          <p:nvPr>
            <p:ph type="title"/>
          </p:nvPr>
        </p:nvSpPr>
        <p:spPr/>
        <p:txBody>
          <a:bodyPr/>
          <a:lstStyle/>
          <a:p>
            <a:r>
              <a:rPr lang="es-AR" dirty="0"/>
              <a:t>Persistencia con </a:t>
            </a:r>
            <a:r>
              <a:rPr lang="es-AR" dirty="0" err="1"/>
              <a:t>Hibernate</a:t>
            </a:r>
            <a:endParaRPr lang="es-AR" dirty="0"/>
          </a:p>
        </p:txBody>
      </p:sp>
      <p:sp>
        <p:nvSpPr>
          <p:cNvPr id="3" name="Marcador de contenido 2">
            <a:extLst>
              <a:ext uri="{FF2B5EF4-FFF2-40B4-BE49-F238E27FC236}">
                <a16:creationId xmlns:a16="http://schemas.microsoft.com/office/drawing/2014/main" id="{EE51844E-290F-CC3C-E714-ADC6FB86BC35}"/>
              </a:ext>
            </a:extLst>
          </p:cNvPr>
          <p:cNvSpPr>
            <a:spLocks noGrp="1"/>
          </p:cNvSpPr>
          <p:nvPr>
            <p:ph idx="1"/>
          </p:nvPr>
        </p:nvSpPr>
        <p:spPr>
          <a:xfrm>
            <a:off x="864381" y="2489200"/>
            <a:ext cx="7603757" cy="840409"/>
          </a:xfrm>
        </p:spPr>
        <p:txBody>
          <a:bodyPr/>
          <a:lstStyle/>
          <a:p>
            <a:r>
              <a:rPr lang="es-AR" dirty="0"/>
              <a:t>Vendible usa herencia JPA para guardar Producto y Combo en una estructura común.</a:t>
            </a:r>
          </a:p>
        </p:txBody>
      </p:sp>
      <p:sp>
        <p:nvSpPr>
          <p:cNvPr id="4" name="Rounded Rectangle 8">
            <a:extLst>
              <a:ext uri="{FF2B5EF4-FFF2-40B4-BE49-F238E27FC236}">
                <a16:creationId xmlns:a16="http://schemas.microsoft.com/office/drawing/2014/main" id="{E21BC63C-17FF-2E7C-4000-3B334EC916A8}"/>
              </a:ext>
            </a:extLst>
          </p:cNvPr>
          <p:cNvSpPr/>
          <p:nvPr/>
        </p:nvSpPr>
        <p:spPr>
          <a:xfrm>
            <a:off x="290882" y="3323821"/>
            <a:ext cx="5082871" cy="3087094"/>
          </a:xfrm>
          <a:prstGeom prst="roundRect">
            <a:avLst>
              <a:gd name="adj" fmla="val 8618"/>
            </a:avLst>
          </a:prstGeom>
          <a:solidFill>
            <a:srgbClr val="100C1A"/>
          </a:solidFill>
          <a:ln w="1270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9">
            <a:extLst>
              <a:ext uri="{FF2B5EF4-FFF2-40B4-BE49-F238E27FC236}">
                <a16:creationId xmlns:a16="http://schemas.microsoft.com/office/drawing/2014/main" id="{5A101E8E-28D8-2ABC-5BF9-A3F82F48A3C0}"/>
              </a:ext>
            </a:extLst>
          </p:cNvPr>
          <p:cNvSpPr txBox="1"/>
          <p:nvPr/>
        </p:nvSpPr>
        <p:spPr>
          <a:xfrm>
            <a:off x="455474" y="3451836"/>
            <a:ext cx="4817678" cy="2492991"/>
          </a:xfrm>
          <a:prstGeom prst="rect">
            <a:avLst/>
          </a:prstGeom>
          <a:noFill/>
        </p:spPr>
        <p:txBody>
          <a:bodyPr wrap="square" lIns="18288" rIns="18288">
            <a:spAutoFit/>
          </a:bodyPr>
          <a:lstStyle/>
          <a:p>
            <a:pPr>
              <a:defRPr sz="1200">
                <a:solidFill>
                  <a:srgbClr val="EFE6FF"/>
                </a:solidFill>
                <a:latin typeface="Consolas"/>
              </a:defRPr>
            </a:pPr>
            <a:r>
              <a:rPr dirty="0"/>
              <a:t>@Entity</a:t>
            </a:r>
            <a:br>
              <a:rPr dirty="0"/>
            </a:br>
            <a:r>
              <a:rPr dirty="0"/>
              <a:t>@Table(name = "</a:t>
            </a:r>
            <a:r>
              <a:rPr dirty="0" err="1"/>
              <a:t>vendibles</a:t>
            </a:r>
            <a:r>
              <a:rPr dirty="0"/>
              <a:t>")</a:t>
            </a:r>
            <a:br>
              <a:rPr dirty="0"/>
            </a:br>
            <a:r>
              <a:rPr dirty="0"/>
              <a:t>@Inheritance(strategy = </a:t>
            </a:r>
            <a:r>
              <a:rPr dirty="0" err="1"/>
              <a:t>InheritanceType.SINGLE_TABLE</a:t>
            </a:r>
            <a:r>
              <a:rPr dirty="0"/>
              <a:t>)</a:t>
            </a:r>
            <a:br>
              <a:rPr dirty="0"/>
            </a:br>
            <a:r>
              <a:rPr dirty="0"/>
              <a:t>@</a:t>
            </a:r>
            <a:r>
              <a:rPr dirty="0" err="1"/>
              <a:t>DiscriminatorColumn</a:t>
            </a:r>
            <a:r>
              <a:rPr dirty="0"/>
              <a:t>(name = "</a:t>
            </a:r>
            <a:r>
              <a:rPr dirty="0" err="1"/>
              <a:t>tipo_vendible</a:t>
            </a:r>
            <a:r>
              <a:rPr dirty="0"/>
              <a:t>")</a:t>
            </a:r>
            <a:br>
              <a:rPr dirty="0"/>
            </a:br>
            <a:r>
              <a:rPr dirty="0"/>
              <a:t>public abstract class Vendible { ... }</a:t>
            </a:r>
            <a:br>
              <a:rPr dirty="0"/>
            </a:br>
            <a:br>
              <a:rPr dirty="0"/>
            </a:br>
            <a:r>
              <a:rPr dirty="0"/>
              <a:t>@Entity</a:t>
            </a:r>
            <a:br>
              <a:rPr dirty="0"/>
            </a:br>
            <a:r>
              <a:rPr dirty="0"/>
              <a:t>@</a:t>
            </a:r>
            <a:r>
              <a:rPr dirty="0" err="1"/>
              <a:t>DiscriminatorValue</a:t>
            </a:r>
            <a:r>
              <a:rPr dirty="0"/>
              <a:t>("PRODUCTO")</a:t>
            </a:r>
            <a:br>
              <a:rPr dirty="0"/>
            </a:br>
            <a:r>
              <a:rPr dirty="0"/>
              <a:t>public class </a:t>
            </a:r>
            <a:r>
              <a:rPr dirty="0" err="1"/>
              <a:t>Producto</a:t>
            </a:r>
            <a:r>
              <a:rPr dirty="0"/>
              <a:t> extends Vendible { ... }</a:t>
            </a:r>
            <a:br>
              <a:rPr dirty="0"/>
            </a:br>
            <a:br>
              <a:rPr dirty="0"/>
            </a:br>
            <a:r>
              <a:rPr dirty="0"/>
              <a:t>@Entity</a:t>
            </a:r>
            <a:br>
              <a:rPr dirty="0"/>
            </a:br>
            <a:r>
              <a:rPr dirty="0"/>
              <a:t>@</a:t>
            </a:r>
            <a:r>
              <a:rPr dirty="0" err="1"/>
              <a:t>DiscriminatorValue</a:t>
            </a:r>
            <a:r>
              <a:rPr dirty="0"/>
              <a:t>("COMBO")</a:t>
            </a:r>
            <a:br>
              <a:rPr dirty="0"/>
            </a:br>
            <a:r>
              <a:rPr dirty="0"/>
              <a:t>public class Combo extends Vendible { ... }</a:t>
            </a:r>
          </a:p>
        </p:txBody>
      </p:sp>
      <p:sp>
        <p:nvSpPr>
          <p:cNvPr id="6" name="Rounded Rectangle 10">
            <a:extLst>
              <a:ext uri="{FF2B5EF4-FFF2-40B4-BE49-F238E27FC236}">
                <a16:creationId xmlns:a16="http://schemas.microsoft.com/office/drawing/2014/main" id="{799FA5CD-5B1B-8FBE-9381-EE6EAEA7B975}"/>
              </a:ext>
            </a:extLst>
          </p:cNvPr>
          <p:cNvSpPr/>
          <p:nvPr/>
        </p:nvSpPr>
        <p:spPr>
          <a:xfrm>
            <a:off x="5662102" y="3502118"/>
            <a:ext cx="2996605" cy="2736288"/>
          </a:xfrm>
          <a:prstGeom prst="roundRect">
            <a:avLst>
              <a:gd name="adj" fmla="val 9039"/>
            </a:avLst>
          </a:prstGeom>
          <a:solidFill>
            <a:srgbClr val="241A3B"/>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11">
            <a:extLst>
              <a:ext uri="{FF2B5EF4-FFF2-40B4-BE49-F238E27FC236}">
                <a16:creationId xmlns:a16="http://schemas.microsoft.com/office/drawing/2014/main" id="{C239DA75-7FCD-F733-AD3D-5E9D396378EA}"/>
              </a:ext>
            </a:extLst>
          </p:cNvPr>
          <p:cNvSpPr txBox="1"/>
          <p:nvPr/>
        </p:nvSpPr>
        <p:spPr>
          <a:xfrm>
            <a:off x="5863270" y="3630134"/>
            <a:ext cx="2597057" cy="307777"/>
          </a:xfrm>
          <a:prstGeom prst="rect">
            <a:avLst/>
          </a:prstGeom>
          <a:noFill/>
        </p:spPr>
        <p:txBody>
          <a:bodyPr wrap="square">
            <a:spAutoFit/>
          </a:bodyPr>
          <a:lstStyle/>
          <a:p>
            <a:pPr>
              <a:defRPr sz="1300" b="1">
                <a:solidFill>
                  <a:srgbClr val="F8F4FF"/>
                </a:solidFill>
              </a:defRPr>
            </a:pPr>
            <a:r>
              <a:rPr sz="1400"/>
              <a:t>Lectura simple</a:t>
            </a:r>
          </a:p>
        </p:txBody>
      </p:sp>
      <p:sp>
        <p:nvSpPr>
          <p:cNvPr id="8" name="TextBox 12">
            <a:extLst>
              <a:ext uri="{FF2B5EF4-FFF2-40B4-BE49-F238E27FC236}">
                <a16:creationId xmlns:a16="http://schemas.microsoft.com/office/drawing/2014/main" id="{ADE70311-0EC9-D014-18AB-159788A68AA8}"/>
              </a:ext>
            </a:extLst>
          </p:cNvPr>
          <p:cNvSpPr txBox="1"/>
          <p:nvPr/>
        </p:nvSpPr>
        <p:spPr>
          <a:xfrm>
            <a:off x="5936422" y="3959318"/>
            <a:ext cx="2451767" cy="1384995"/>
          </a:xfrm>
          <a:prstGeom prst="rect">
            <a:avLst/>
          </a:prstGeom>
          <a:noFill/>
        </p:spPr>
        <p:txBody>
          <a:bodyPr wrap="square" lIns="18288" rIns="18288">
            <a:spAutoFit/>
          </a:bodyPr>
          <a:lstStyle/>
          <a:p>
            <a:pPr algn="l">
              <a:defRPr sz="1700" b="0">
                <a:solidFill>
                  <a:srgbClr val="F8F4FF"/>
                </a:solidFill>
              </a:defRPr>
            </a:pPr>
            <a:r>
              <a:rPr sz="1400"/>
              <a:t>tipo_vendible le dice a Hibernate qué clase reconstruir:</a:t>
            </a:r>
          </a:p>
          <a:p>
            <a:pPr algn="l">
              <a:defRPr sz="1700" b="0">
                <a:solidFill>
                  <a:srgbClr val="F8F4FF"/>
                </a:solidFill>
              </a:defRPr>
            </a:pPr>
            <a:endParaRPr sz="1400"/>
          </a:p>
          <a:p>
            <a:pPr algn="l">
              <a:defRPr sz="1700" b="0">
                <a:solidFill>
                  <a:srgbClr val="F8F4FF"/>
                </a:solidFill>
              </a:defRPr>
            </a:pPr>
            <a:r>
              <a:rPr sz="1400"/>
              <a:t>PRODUCTO → Producto</a:t>
            </a:r>
          </a:p>
          <a:p>
            <a:pPr algn="l">
              <a:defRPr sz="1700" b="0">
                <a:solidFill>
                  <a:srgbClr val="F8F4FF"/>
                </a:solidFill>
              </a:defRPr>
            </a:pPr>
            <a:r>
              <a:rPr sz="1400"/>
              <a:t>COMBO → Combo</a:t>
            </a:r>
          </a:p>
        </p:txBody>
      </p:sp>
    </p:spTree>
    <p:extLst>
      <p:ext uri="{BB962C8B-B14F-4D97-AF65-F5344CB8AC3E}">
        <p14:creationId xmlns:p14="http://schemas.microsoft.com/office/powerpoint/2010/main" val="27854243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9D172D-9D2D-19A9-EB45-D859604DA48B}"/>
              </a:ext>
            </a:extLst>
          </p:cNvPr>
          <p:cNvSpPr>
            <a:spLocks noGrp="1"/>
          </p:cNvSpPr>
          <p:nvPr>
            <p:ph type="title"/>
          </p:nvPr>
        </p:nvSpPr>
        <p:spPr/>
        <p:txBody>
          <a:bodyPr/>
          <a:lstStyle/>
          <a:p>
            <a:r>
              <a:rPr lang="es-AR" dirty="0"/>
              <a:t>Tablas generadas</a:t>
            </a:r>
          </a:p>
        </p:txBody>
      </p:sp>
      <p:sp>
        <p:nvSpPr>
          <p:cNvPr id="3" name="Marcador de contenido 2">
            <a:extLst>
              <a:ext uri="{FF2B5EF4-FFF2-40B4-BE49-F238E27FC236}">
                <a16:creationId xmlns:a16="http://schemas.microsoft.com/office/drawing/2014/main" id="{9E8F884D-DB25-8C78-A6D1-416E4630CDC3}"/>
              </a:ext>
            </a:extLst>
          </p:cNvPr>
          <p:cNvSpPr>
            <a:spLocks noGrp="1"/>
          </p:cNvSpPr>
          <p:nvPr>
            <p:ph idx="1"/>
          </p:nvPr>
        </p:nvSpPr>
        <p:spPr>
          <a:xfrm>
            <a:off x="864381" y="2489200"/>
            <a:ext cx="7554061" cy="826953"/>
          </a:xfrm>
        </p:spPr>
        <p:txBody>
          <a:bodyPr/>
          <a:lstStyle/>
          <a:p>
            <a:r>
              <a:rPr lang="es-AR" dirty="0" err="1"/>
              <a:t>combo_id</a:t>
            </a:r>
            <a:r>
              <a:rPr lang="es-AR" dirty="0"/>
              <a:t> apunta al Combo. </a:t>
            </a:r>
            <a:r>
              <a:rPr lang="es-AR" dirty="0" err="1"/>
              <a:t>vendible_id</a:t>
            </a:r>
            <a:r>
              <a:rPr lang="es-AR" dirty="0"/>
              <a:t> apunta al producto o combo contenido.</a:t>
            </a:r>
          </a:p>
          <a:p>
            <a:endParaRPr lang="es-AR" dirty="0"/>
          </a:p>
        </p:txBody>
      </p:sp>
      <p:sp>
        <p:nvSpPr>
          <p:cNvPr id="4" name="Rounded Rectangle 7">
            <a:extLst>
              <a:ext uri="{FF2B5EF4-FFF2-40B4-BE49-F238E27FC236}">
                <a16:creationId xmlns:a16="http://schemas.microsoft.com/office/drawing/2014/main" id="{C8B4E85F-1FE0-D13E-F12E-04513D4C67EE}"/>
              </a:ext>
            </a:extLst>
          </p:cNvPr>
          <p:cNvSpPr/>
          <p:nvPr/>
        </p:nvSpPr>
        <p:spPr>
          <a:xfrm>
            <a:off x="864380" y="3541848"/>
            <a:ext cx="3542306" cy="1838739"/>
          </a:xfrm>
          <a:prstGeom prst="roundRect">
            <a:avLst>
              <a:gd name="adj" fmla="val 10634"/>
            </a:avLst>
          </a:prstGeom>
          <a:solidFill>
            <a:srgbClr val="241A3B"/>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8">
            <a:extLst>
              <a:ext uri="{FF2B5EF4-FFF2-40B4-BE49-F238E27FC236}">
                <a16:creationId xmlns:a16="http://schemas.microsoft.com/office/drawing/2014/main" id="{6F4B431A-3A4F-FCD7-54A2-CF5CB5AB5B8B}"/>
              </a:ext>
            </a:extLst>
          </p:cNvPr>
          <p:cNvSpPr txBox="1"/>
          <p:nvPr/>
        </p:nvSpPr>
        <p:spPr>
          <a:xfrm>
            <a:off x="1065547" y="3669864"/>
            <a:ext cx="3094445" cy="307777"/>
          </a:xfrm>
          <a:prstGeom prst="rect">
            <a:avLst/>
          </a:prstGeom>
          <a:noFill/>
        </p:spPr>
        <p:txBody>
          <a:bodyPr wrap="square">
            <a:spAutoFit/>
          </a:bodyPr>
          <a:lstStyle/>
          <a:p>
            <a:pPr>
              <a:defRPr sz="1300" b="1">
                <a:solidFill>
                  <a:srgbClr val="F8F4FF"/>
                </a:solidFill>
              </a:defRPr>
            </a:pPr>
            <a:r>
              <a:rPr sz="1400" dirty="0" err="1"/>
              <a:t>vendibles</a:t>
            </a:r>
            <a:endParaRPr sz="1400" dirty="0"/>
          </a:p>
        </p:txBody>
      </p:sp>
      <p:sp>
        <p:nvSpPr>
          <p:cNvPr id="6" name="TextBox 9">
            <a:extLst>
              <a:ext uri="{FF2B5EF4-FFF2-40B4-BE49-F238E27FC236}">
                <a16:creationId xmlns:a16="http://schemas.microsoft.com/office/drawing/2014/main" id="{3BB3198C-BF98-5D8A-5EC1-BC25210B6992}"/>
              </a:ext>
            </a:extLst>
          </p:cNvPr>
          <p:cNvSpPr txBox="1"/>
          <p:nvPr/>
        </p:nvSpPr>
        <p:spPr>
          <a:xfrm>
            <a:off x="864381" y="4090488"/>
            <a:ext cx="3542306" cy="954107"/>
          </a:xfrm>
          <a:prstGeom prst="rect">
            <a:avLst/>
          </a:prstGeom>
          <a:noFill/>
        </p:spPr>
        <p:txBody>
          <a:bodyPr wrap="square" lIns="18288" rIns="18288">
            <a:spAutoFit/>
          </a:bodyPr>
          <a:lstStyle/>
          <a:p>
            <a:pPr algn="ctr">
              <a:defRPr sz="2000" b="0">
                <a:solidFill>
                  <a:srgbClr val="F8F4FF"/>
                </a:solidFill>
              </a:defRPr>
            </a:pPr>
            <a:r>
              <a:rPr sz="1400" dirty="0"/>
              <a:t>id</a:t>
            </a:r>
          </a:p>
          <a:p>
            <a:pPr algn="ctr">
              <a:defRPr sz="2000" b="0">
                <a:solidFill>
                  <a:srgbClr val="F8F4FF"/>
                </a:solidFill>
              </a:defRPr>
            </a:pPr>
            <a:r>
              <a:rPr sz="1400" dirty="0" err="1"/>
              <a:t>tipo_vendible</a:t>
            </a:r>
            <a:endParaRPr sz="1400" dirty="0"/>
          </a:p>
          <a:p>
            <a:pPr algn="ctr">
              <a:defRPr sz="2000" b="0">
                <a:solidFill>
                  <a:srgbClr val="F8F4FF"/>
                </a:solidFill>
              </a:defRPr>
            </a:pPr>
            <a:r>
              <a:rPr sz="1400" dirty="0" err="1"/>
              <a:t>nombre</a:t>
            </a:r>
            <a:endParaRPr sz="1400" dirty="0"/>
          </a:p>
          <a:p>
            <a:pPr algn="ctr">
              <a:defRPr sz="2000" b="0">
                <a:solidFill>
                  <a:srgbClr val="F8F4FF"/>
                </a:solidFill>
              </a:defRPr>
            </a:pPr>
            <a:r>
              <a:rPr sz="1400" dirty="0" err="1"/>
              <a:t>precio_producto</a:t>
            </a:r>
            <a:endParaRPr sz="1400" dirty="0"/>
          </a:p>
        </p:txBody>
      </p:sp>
      <p:sp>
        <p:nvSpPr>
          <p:cNvPr id="7" name="Rounded Rectangle 10">
            <a:extLst>
              <a:ext uri="{FF2B5EF4-FFF2-40B4-BE49-F238E27FC236}">
                <a16:creationId xmlns:a16="http://schemas.microsoft.com/office/drawing/2014/main" id="{78FF77A2-178B-D4D6-A042-BA01855BE964}"/>
              </a:ext>
            </a:extLst>
          </p:cNvPr>
          <p:cNvSpPr/>
          <p:nvPr/>
        </p:nvSpPr>
        <p:spPr>
          <a:xfrm>
            <a:off x="4876135" y="3541848"/>
            <a:ext cx="3542306" cy="1838739"/>
          </a:xfrm>
          <a:prstGeom prst="roundRect">
            <a:avLst>
              <a:gd name="adj" fmla="val 10634"/>
            </a:avLst>
          </a:prstGeom>
          <a:solidFill>
            <a:srgbClr val="241A3B"/>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11">
            <a:extLst>
              <a:ext uri="{FF2B5EF4-FFF2-40B4-BE49-F238E27FC236}">
                <a16:creationId xmlns:a16="http://schemas.microsoft.com/office/drawing/2014/main" id="{AF6E3626-C48B-6D74-33E2-A31FD65284C5}"/>
              </a:ext>
            </a:extLst>
          </p:cNvPr>
          <p:cNvSpPr txBox="1"/>
          <p:nvPr/>
        </p:nvSpPr>
        <p:spPr>
          <a:xfrm>
            <a:off x="5077303" y="3669864"/>
            <a:ext cx="3341138" cy="307777"/>
          </a:xfrm>
          <a:prstGeom prst="rect">
            <a:avLst/>
          </a:prstGeom>
          <a:noFill/>
        </p:spPr>
        <p:txBody>
          <a:bodyPr wrap="square">
            <a:spAutoFit/>
          </a:bodyPr>
          <a:lstStyle/>
          <a:p>
            <a:pPr>
              <a:defRPr sz="1300" b="1">
                <a:solidFill>
                  <a:srgbClr val="F8F4FF"/>
                </a:solidFill>
              </a:defRPr>
            </a:pPr>
            <a:r>
              <a:rPr sz="1400" dirty="0" err="1"/>
              <a:t>combo_items</a:t>
            </a:r>
            <a:endParaRPr sz="1400" dirty="0"/>
          </a:p>
        </p:txBody>
      </p:sp>
      <p:sp>
        <p:nvSpPr>
          <p:cNvPr id="9" name="TextBox 12">
            <a:extLst>
              <a:ext uri="{FF2B5EF4-FFF2-40B4-BE49-F238E27FC236}">
                <a16:creationId xmlns:a16="http://schemas.microsoft.com/office/drawing/2014/main" id="{1E826ADC-7D22-136E-02C4-188E7A486FDF}"/>
              </a:ext>
            </a:extLst>
          </p:cNvPr>
          <p:cNvSpPr txBox="1"/>
          <p:nvPr/>
        </p:nvSpPr>
        <p:spPr>
          <a:xfrm>
            <a:off x="4876136" y="4090488"/>
            <a:ext cx="3542306" cy="954107"/>
          </a:xfrm>
          <a:prstGeom prst="rect">
            <a:avLst/>
          </a:prstGeom>
          <a:noFill/>
        </p:spPr>
        <p:txBody>
          <a:bodyPr wrap="square" lIns="18288" rIns="18288">
            <a:spAutoFit/>
          </a:bodyPr>
          <a:lstStyle/>
          <a:p>
            <a:pPr algn="ctr">
              <a:defRPr sz="2000" b="0">
                <a:solidFill>
                  <a:srgbClr val="F8F4FF"/>
                </a:solidFill>
              </a:defRPr>
            </a:pPr>
            <a:r>
              <a:rPr sz="1400" dirty="0"/>
              <a:t>id</a:t>
            </a:r>
          </a:p>
          <a:p>
            <a:pPr algn="ctr">
              <a:defRPr sz="2000" b="0">
                <a:solidFill>
                  <a:srgbClr val="F8F4FF"/>
                </a:solidFill>
              </a:defRPr>
            </a:pPr>
            <a:r>
              <a:rPr sz="1400" dirty="0" err="1"/>
              <a:t>combo_id</a:t>
            </a:r>
            <a:endParaRPr sz="1400" dirty="0"/>
          </a:p>
          <a:p>
            <a:pPr algn="ctr">
              <a:defRPr sz="2000" b="0">
                <a:solidFill>
                  <a:srgbClr val="F8F4FF"/>
                </a:solidFill>
              </a:defRPr>
            </a:pPr>
            <a:r>
              <a:rPr sz="1400" dirty="0" err="1"/>
              <a:t>vendible_id</a:t>
            </a:r>
            <a:endParaRPr sz="1400" dirty="0"/>
          </a:p>
          <a:p>
            <a:pPr algn="ctr">
              <a:defRPr sz="2000" b="0">
                <a:solidFill>
                  <a:srgbClr val="F8F4FF"/>
                </a:solidFill>
              </a:defRPr>
            </a:pPr>
            <a:r>
              <a:rPr sz="1400" dirty="0" err="1"/>
              <a:t>cantidad</a:t>
            </a:r>
            <a:endParaRPr sz="1400" dirty="0"/>
          </a:p>
        </p:txBody>
      </p:sp>
    </p:spTree>
    <p:extLst>
      <p:ext uri="{BB962C8B-B14F-4D97-AF65-F5344CB8AC3E}">
        <p14:creationId xmlns:p14="http://schemas.microsoft.com/office/powerpoint/2010/main" val="970735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A166B1-6816-D4B3-5949-EDDA10EB9506}"/>
              </a:ext>
            </a:extLst>
          </p:cNvPr>
          <p:cNvSpPr>
            <a:spLocks noGrp="1"/>
          </p:cNvSpPr>
          <p:nvPr>
            <p:ph type="title"/>
          </p:nvPr>
        </p:nvSpPr>
        <p:spPr/>
        <p:txBody>
          <a:bodyPr/>
          <a:lstStyle/>
          <a:p>
            <a:r>
              <a:rPr lang="es-AR" dirty="0"/>
              <a:t>Flujo al confirmar un pedido con Composite</a:t>
            </a:r>
          </a:p>
        </p:txBody>
      </p:sp>
      <p:sp>
        <p:nvSpPr>
          <p:cNvPr id="3" name="Marcador de contenido 2">
            <a:extLst>
              <a:ext uri="{FF2B5EF4-FFF2-40B4-BE49-F238E27FC236}">
                <a16:creationId xmlns:a16="http://schemas.microsoft.com/office/drawing/2014/main" id="{1CBD615E-A735-B66F-EBFB-856671924AF6}"/>
              </a:ext>
            </a:extLst>
          </p:cNvPr>
          <p:cNvSpPr>
            <a:spLocks noGrp="1"/>
          </p:cNvSpPr>
          <p:nvPr>
            <p:ph idx="1"/>
          </p:nvPr>
        </p:nvSpPr>
        <p:spPr>
          <a:xfrm>
            <a:off x="864381" y="2489200"/>
            <a:ext cx="7673331" cy="830470"/>
          </a:xfrm>
        </p:spPr>
        <p:txBody>
          <a:bodyPr/>
          <a:lstStyle/>
          <a:p>
            <a:r>
              <a:rPr lang="es-AR" dirty="0"/>
              <a:t>En ningún paso el pedido necesita saber si el ítem era Producto o Combo. Solo trabaja con Vendible.</a:t>
            </a:r>
          </a:p>
        </p:txBody>
      </p:sp>
      <p:sp>
        <p:nvSpPr>
          <p:cNvPr id="4" name="Rounded Rectangle 7">
            <a:extLst>
              <a:ext uri="{FF2B5EF4-FFF2-40B4-BE49-F238E27FC236}">
                <a16:creationId xmlns:a16="http://schemas.microsoft.com/office/drawing/2014/main" id="{A029E4D4-1FDA-F446-DAD6-AAD643704D78}"/>
              </a:ext>
            </a:extLst>
          </p:cNvPr>
          <p:cNvSpPr/>
          <p:nvPr/>
        </p:nvSpPr>
        <p:spPr>
          <a:xfrm>
            <a:off x="791750" y="3538331"/>
            <a:ext cx="363002" cy="292608"/>
          </a:xfrm>
          <a:prstGeom prst="roundRect">
            <a:avLst/>
          </a:prstGeom>
          <a:solidFill>
            <a:srgbClr val="7E57C2"/>
          </a:solidFill>
          <a:ln>
            <a:solidFill>
              <a:srgbClr val="7E5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8">
            <a:extLst>
              <a:ext uri="{FF2B5EF4-FFF2-40B4-BE49-F238E27FC236}">
                <a16:creationId xmlns:a16="http://schemas.microsoft.com/office/drawing/2014/main" id="{6540178B-3AB8-18A8-59B6-3ABB4649BE4A}"/>
              </a:ext>
            </a:extLst>
          </p:cNvPr>
          <p:cNvSpPr txBox="1"/>
          <p:nvPr/>
        </p:nvSpPr>
        <p:spPr>
          <a:xfrm>
            <a:off x="791750" y="3584051"/>
            <a:ext cx="363002" cy="246221"/>
          </a:xfrm>
          <a:prstGeom prst="rect">
            <a:avLst/>
          </a:prstGeom>
          <a:noFill/>
        </p:spPr>
        <p:txBody>
          <a:bodyPr wrap="square">
            <a:spAutoFit/>
          </a:bodyPr>
          <a:lstStyle/>
          <a:p>
            <a:pPr algn="ctr">
              <a:defRPr sz="1000" b="1">
                <a:solidFill>
                  <a:srgbClr val="F8F4FF"/>
                </a:solidFill>
              </a:defRPr>
            </a:pPr>
            <a:r>
              <a:t>1</a:t>
            </a:r>
          </a:p>
        </p:txBody>
      </p:sp>
      <p:sp>
        <p:nvSpPr>
          <p:cNvPr id="6" name="Rounded Rectangle 9">
            <a:extLst>
              <a:ext uri="{FF2B5EF4-FFF2-40B4-BE49-F238E27FC236}">
                <a16:creationId xmlns:a16="http://schemas.microsoft.com/office/drawing/2014/main" id="{8B0FFE56-91F1-EB00-9912-9C529008EA38}"/>
              </a:ext>
            </a:extLst>
          </p:cNvPr>
          <p:cNvSpPr/>
          <p:nvPr/>
        </p:nvSpPr>
        <p:spPr>
          <a:xfrm>
            <a:off x="284259" y="3995530"/>
            <a:ext cx="1250339" cy="960120"/>
          </a:xfrm>
          <a:prstGeom prst="roundRect">
            <a:avLst/>
          </a:prstGeom>
          <a:solidFill>
            <a:srgbClr val="2E234A"/>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10">
            <a:extLst>
              <a:ext uri="{FF2B5EF4-FFF2-40B4-BE49-F238E27FC236}">
                <a16:creationId xmlns:a16="http://schemas.microsoft.com/office/drawing/2014/main" id="{2A962105-D167-7839-42F7-F4F23C4F3402}"/>
              </a:ext>
            </a:extLst>
          </p:cNvPr>
          <p:cNvSpPr txBox="1"/>
          <p:nvPr/>
        </p:nvSpPr>
        <p:spPr>
          <a:xfrm>
            <a:off x="357411" y="4175285"/>
            <a:ext cx="1121272" cy="646331"/>
          </a:xfrm>
          <a:prstGeom prst="rect">
            <a:avLst/>
          </a:prstGeom>
          <a:noFill/>
        </p:spPr>
        <p:txBody>
          <a:bodyPr wrap="square" anchor="ctr">
            <a:spAutoFit/>
          </a:bodyPr>
          <a:lstStyle/>
          <a:p>
            <a:pPr algn="ctr">
              <a:defRPr sz="1200" b="1">
                <a:solidFill>
                  <a:srgbClr val="F8F4FF"/>
                </a:solidFill>
              </a:defRPr>
            </a:pPr>
            <a:r>
              <a:rPr dirty="0"/>
              <a:t>UI</a:t>
            </a:r>
            <a:br>
              <a:rPr dirty="0"/>
            </a:br>
            <a:r>
              <a:rPr dirty="0" err="1"/>
              <a:t>elige</a:t>
            </a:r>
            <a:r>
              <a:rPr dirty="0"/>
              <a:t> Vendible</a:t>
            </a:r>
          </a:p>
        </p:txBody>
      </p:sp>
      <p:cxnSp>
        <p:nvCxnSpPr>
          <p:cNvPr id="8" name="Connector 11">
            <a:extLst>
              <a:ext uri="{FF2B5EF4-FFF2-40B4-BE49-F238E27FC236}">
                <a16:creationId xmlns:a16="http://schemas.microsoft.com/office/drawing/2014/main" id="{EF8FD0D9-2F7C-C5CD-6272-375E9EAECA9C}"/>
              </a:ext>
            </a:extLst>
          </p:cNvPr>
          <p:cNvCxnSpPr>
            <a:cxnSpLocks/>
          </p:cNvCxnSpPr>
          <p:nvPr/>
        </p:nvCxnSpPr>
        <p:spPr>
          <a:xfrm>
            <a:off x="1522674" y="4452731"/>
            <a:ext cx="258135" cy="0"/>
          </a:xfrm>
          <a:prstGeom prst="line">
            <a:avLst/>
          </a:prstGeom>
          <a:ln w="20320">
            <a:solidFill>
              <a:srgbClr val="58C7F3"/>
            </a:solidFill>
          </a:ln>
        </p:spPr>
        <p:style>
          <a:lnRef idx="2">
            <a:schemeClr val="accent1"/>
          </a:lnRef>
          <a:fillRef idx="0">
            <a:schemeClr val="accent1"/>
          </a:fillRef>
          <a:effectRef idx="1">
            <a:schemeClr val="accent1"/>
          </a:effectRef>
          <a:fontRef idx="minor">
            <a:schemeClr val="tx1"/>
          </a:fontRef>
        </p:style>
      </p:cxnSp>
      <p:sp>
        <p:nvSpPr>
          <p:cNvPr id="9" name="Rounded Rectangle 12">
            <a:extLst>
              <a:ext uri="{FF2B5EF4-FFF2-40B4-BE49-F238E27FC236}">
                <a16:creationId xmlns:a16="http://schemas.microsoft.com/office/drawing/2014/main" id="{4BC105DF-F5D6-F5FA-7019-ED917714CB52}"/>
              </a:ext>
            </a:extLst>
          </p:cNvPr>
          <p:cNvSpPr/>
          <p:nvPr/>
        </p:nvSpPr>
        <p:spPr>
          <a:xfrm>
            <a:off x="2216426" y="3538331"/>
            <a:ext cx="363002" cy="292608"/>
          </a:xfrm>
          <a:prstGeom prst="roundRect">
            <a:avLst/>
          </a:prstGeom>
          <a:solidFill>
            <a:srgbClr val="7E57C2"/>
          </a:solidFill>
          <a:ln>
            <a:solidFill>
              <a:srgbClr val="7E5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13">
            <a:extLst>
              <a:ext uri="{FF2B5EF4-FFF2-40B4-BE49-F238E27FC236}">
                <a16:creationId xmlns:a16="http://schemas.microsoft.com/office/drawing/2014/main" id="{A731846B-2519-D72D-1596-418CC40287AC}"/>
              </a:ext>
            </a:extLst>
          </p:cNvPr>
          <p:cNvSpPr txBox="1"/>
          <p:nvPr/>
        </p:nvSpPr>
        <p:spPr>
          <a:xfrm>
            <a:off x="2216426" y="3584051"/>
            <a:ext cx="363002" cy="246221"/>
          </a:xfrm>
          <a:prstGeom prst="rect">
            <a:avLst/>
          </a:prstGeom>
          <a:noFill/>
        </p:spPr>
        <p:txBody>
          <a:bodyPr wrap="square">
            <a:spAutoFit/>
          </a:bodyPr>
          <a:lstStyle/>
          <a:p>
            <a:pPr algn="ctr">
              <a:defRPr sz="1000" b="1">
                <a:solidFill>
                  <a:srgbClr val="F8F4FF"/>
                </a:solidFill>
              </a:defRPr>
            </a:pPr>
            <a:r>
              <a:t>2</a:t>
            </a:r>
          </a:p>
        </p:txBody>
      </p:sp>
      <p:sp>
        <p:nvSpPr>
          <p:cNvPr id="11" name="Rounded Rectangle 14">
            <a:extLst>
              <a:ext uri="{FF2B5EF4-FFF2-40B4-BE49-F238E27FC236}">
                <a16:creationId xmlns:a16="http://schemas.microsoft.com/office/drawing/2014/main" id="{F772C134-9AB7-90B5-8856-A5D182A5E537}"/>
              </a:ext>
            </a:extLst>
          </p:cNvPr>
          <p:cNvSpPr/>
          <p:nvPr/>
        </p:nvSpPr>
        <p:spPr>
          <a:xfrm>
            <a:off x="1713506" y="3995530"/>
            <a:ext cx="1250339" cy="960120"/>
          </a:xfrm>
          <a:prstGeom prst="roundRect">
            <a:avLst/>
          </a:prstGeom>
          <a:solidFill>
            <a:srgbClr val="2E234A"/>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5">
            <a:extLst>
              <a:ext uri="{FF2B5EF4-FFF2-40B4-BE49-F238E27FC236}">
                <a16:creationId xmlns:a16="http://schemas.microsoft.com/office/drawing/2014/main" id="{07A1829C-571E-B77E-188F-847B8DEA8A40}"/>
              </a:ext>
            </a:extLst>
          </p:cNvPr>
          <p:cNvSpPr txBox="1"/>
          <p:nvPr/>
        </p:nvSpPr>
        <p:spPr>
          <a:xfrm>
            <a:off x="1786658" y="4175285"/>
            <a:ext cx="1121272" cy="646331"/>
          </a:xfrm>
          <a:prstGeom prst="rect">
            <a:avLst/>
          </a:prstGeom>
          <a:noFill/>
        </p:spPr>
        <p:txBody>
          <a:bodyPr wrap="square" anchor="ctr">
            <a:spAutoFit/>
          </a:bodyPr>
          <a:lstStyle/>
          <a:p>
            <a:pPr algn="ctr">
              <a:defRPr sz="1200" b="1">
                <a:solidFill>
                  <a:srgbClr val="F8F4FF"/>
                </a:solidFill>
              </a:defRPr>
            </a:pPr>
            <a:r>
              <a:rPr dirty="0"/>
              <a:t>Controller</a:t>
            </a:r>
            <a:br>
              <a:rPr dirty="0"/>
            </a:br>
            <a:r>
              <a:rPr dirty="0" err="1"/>
              <a:t>recibe</a:t>
            </a:r>
            <a:r>
              <a:rPr dirty="0"/>
              <a:t> id + </a:t>
            </a:r>
            <a:r>
              <a:rPr dirty="0" err="1"/>
              <a:t>cantidad</a:t>
            </a:r>
            <a:endParaRPr dirty="0"/>
          </a:p>
        </p:txBody>
      </p:sp>
      <p:cxnSp>
        <p:nvCxnSpPr>
          <p:cNvPr id="13" name="Connector 16">
            <a:extLst>
              <a:ext uri="{FF2B5EF4-FFF2-40B4-BE49-F238E27FC236}">
                <a16:creationId xmlns:a16="http://schemas.microsoft.com/office/drawing/2014/main" id="{A84CB915-4A53-C98C-B286-61F0CFB9E983}"/>
              </a:ext>
            </a:extLst>
          </p:cNvPr>
          <p:cNvCxnSpPr>
            <a:cxnSpLocks/>
          </p:cNvCxnSpPr>
          <p:nvPr/>
        </p:nvCxnSpPr>
        <p:spPr>
          <a:xfrm>
            <a:off x="2951921" y="4452731"/>
            <a:ext cx="258135" cy="0"/>
          </a:xfrm>
          <a:prstGeom prst="line">
            <a:avLst/>
          </a:prstGeom>
          <a:ln w="20320">
            <a:solidFill>
              <a:srgbClr val="58C7F3"/>
            </a:solidFill>
          </a:ln>
        </p:spPr>
        <p:style>
          <a:lnRef idx="2">
            <a:schemeClr val="accent1"/>
          </a:lnRef>
          <a:fillRef idx="0">
            <a:schemeClr val="accent1"/>
          </a:fillRef>
          <a:effectRef idx="1">
            <a:schemeClr val="accent1"/>
          </a:effectRef>
          <a:fontRef idx="minor">
            <a:schemeClr val="tx1"/>
          </a:fontRef>
        </p:style>
      </p:cxnSp>
      <p:sp>
        <p:nvSpPr>
          <p:cNvPr id="14" name="Rounded Rectangle 17">
            <a:extLst>
              <a:ext uri="{FF2B5EF4-FFF2-40B4-BE49-F238E27FC236}">
                <a16:creationId xmlns:a16="http://schemas.microsoft.com/office/drawing/2014/main" id="{5303F98F-8828-B2DB-0B79-25EA7C1E9BBC}"/>
              </a:ext>
            </a:extLst>
          </p:cNvPr>
          <p:cNvSpPr/>
          <p:nvPr/>
        </p:nvSpPr>
        <p:spPr>
          <a:xfrm>
            <a:off x="3609693" y="3538331"/>
            <a:ext cx="363002" cy="292608"/>
          </a:xfrm>
          <a:prstGeom prst="roundRect">
            <a:avLst/>
          </a:prstGeom>
          <a:solidFill>
            <a:srgbClr val="7E57C2"/>
          </a:solidFill>
          <a:ln>
            <a:solidFill>
              <a:srgbClr val="7E5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8">
            <a:extLst>
              <a:ext uri="{FF2B5EF4-FFF2-40B4-BE49-F238E27FC236}">
                <a16:creationId xmlns:a16="http://schemas.microsoft.com/office/drawing/2014/main" id="{D606BA42-ED4C-704A-5FA3-7921FA2B7104}"/>
              </a:ext>
            </a:extLst>
          </p:cNvPr>
          <p:cNvSpPr txBox="1"/>
          <p:nvPr/>
        </p:nvSpPr>
        <p:spPr>
          <a:xfrm>
            <a:off x="3609693" y="3584051"/>
            <a:ext cx="363002" cy="246221"/>
          </a:xfrm>
          <a:prstGeom prst="rect">
            <a:avLst/>
          </a:prstGeom>
          <a:noFill/>
        </p:spPr>
        <p:txBody>
          <a:bodyPr wrap="square">
            <a:spAutoFit/>
          </a:bodyPr>
          <a:lstStyle/>
          <a:p>
            <a:pPr algn="ctr">
              <a:defRPr sz="1000" b="1">
                <a:solidFill>
                  <a:srgbClr val="F8F4FF"/>
                </a:solidFill>
              </a:defRPr>
            </a:pPr>
            <a:r>
              <a:t>3</a:t>
            </a:r>
          </a:p>
        </p:txBody>
      </p:sp>
      <p:sp>
        <p:nvSpPr>
          <p:cNvPr id="16" name="Rounded Rectangle 19">
            <a:extLst>
              <a:ext uri="{FF2B5EF4-FFF2-40B4-BE49-F238E27FC236}">
                <a16:creationId xmlns:a16="http://schemas.microsoft.com/office/drawing/2014/main" id="{A5CD7B0D-730B-9344-D4D7-EA228DFE6442}"/>
              </a:ext>
            </a:extLst>
          </p:cNvPr>
          <p:cNvSpPr/>
          <p:nvPr/>
        </p:nvSpPr>
        <p:spPr>
          <a:xfrm>
            <a:off x="3142753" y="3995530"/>
            <a:ext cx="1250339" cy="960120"/>
          </a:xfrm>
          <a:prstGeom prst="roundRect">
            <a:avLst/>
          </a:prstGeom>
          <a:solidFill>
            <a:srgbClr val="2E234A"/>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20">
            <a:extLst>
              <a:ext uri="{FF2B5EF4-FFF2-40B4-BE49-F238E27FC236}">
                <a16:creationId xmlns:a16="http://schemas.microsoft.com/office/drawing/2014/main" id="{C96EDB42-9412-BF88-4F91-528D7E270CAD}"/>
              </a:ext>
            </a:extLst>
          </p:cNvPr>
          <p:cNvSpPr txBox="1"/>
          <p:nvPr/>
        </p:nvSpPr>
        <p:spPr>
          <a:xfrm>
            <a:off x="3215905" y="4175285"/>
            <a:ext cx="1121272" cy="646331"/>
          </a:xfrm>
          <a:prstGeom prst="rect">
            <a:avLst/>
          </a:prstGeom>
          <a:noFill/>
        </p:spPr>
        <p:txBody>
          <a:bodyPr wrap="square" anchor="ctr">
            <a:spAutoFit/>
          </a:bodyPr>
          <a:lstStyle/>
          <a:p>
            <a:pPr algn="ctr">
              <a:defRPr sz="1200" b="1">
                <a:solidFill>
                  <a:srgbClr val="F8F4FF"/>
                </a:solidFill>
              </a:defRPr>
            </a:pPr>
            <a:r>
              <a:t>Service</a:t>
            </a:r>
            <a:br/>
            <a:r>
              <a:t>busca Vendible</a:t>
            </a:r>
          </a:p>
        </p:txBody>
      </p:sp>
      <p:cxnSp>
        <p:nvCxnSpPr>
          <p:cNvPr id="18" name="Connector 21">
            <a:extLst>
              <a:ext uri="{FF2B5EF4-FFF2-40B4-BE49-F238E27FC236}">
                <a16:creationId xmlns:a16="http://schemas.microsoft.com/office/drawing/2014/main" id="{F55760DC-31E4-C596-6D0F-0C8E47E2B6E3}"/>
              </a:ext>
            </a:extLst>
          </p:cNvPr>
          <p:cNvCxnSpPr>
            <a:cxnSpLocks/>
          </p:cNvCxnSpPr>
          <p:nvPr/>
        </p:nvCxnSpPr>
        <p:spPr>
          <a:xfrm>
            <a:off x="4381168" y="4452731"/>
            <a:ext cx="258135" cy="0"/>
          </a:xfrm>
          <a:prstGeom prst="line">
            <a:avLst/>
          </a:prstGeom>
          <a:ln w="20320">
            <a:solidFill>
              <a:srgbClr val="58C7F3"/>
            </a:solidFill>
          </a:ln>
        </p:spPr>
        <p:style>
          <a:lnRef idx="2">
            <a:schemeClr val="accent1"/>
          </a:lnRef>
          <a:fillRef idx="0">
            <a:schemeClr val="accent1"/>
          </a:fillRef>
          <a:effectRef idx="1">
            <a:schemeClr val="accent1"/>
          </a:effectRef>
          <a:fontRef idx="minor">
            <a:schemeClr val="tx1"/>
          </a:fontRef>
        </p:style>
      </p:cxnSp>
      <p:sp>
        <p:nvSpPr>
          <p:cNvPr id="19" name="Rounded Rectangle 22">
            <a:extLst>
              <a:ext uri="{FF2B5EF4-FFF2-40B4-BE49-F238E27FC236}">
                <a16:creationId xmlns:a16="http://schemas.microsoft.com/office/drawing/2014/main" id="{92065D97-8848-2E0B-24E1-02E9EC8AC5D7}"/>
              </a:ext>
            </a:extLst>
          </p:cNvPr>
          <p:cNvSpPr/>
          <p:nvPr/>
        </p:nvSpPr>
        <p:spPr>
          <a:xfrm>
            <a:off x="4989806" y="3538331"/>
            <a:ext cx="363002" cy="292608"/>
          </a:xfrm>
          <a:prstGeom prst="roundRect">
            <a:avLst/>
          </a:prstGeom>
          <a:solidFill>
            <a:srgbClr val="7E57C2"/>
          </a:solidFill>
          <a:ln>
            <a:solidFill>
              <a:srgbClr val="7E5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23">
            <a:extLst>
              <a:ext uri="{FF2B5EF4-FFF2-40B4-BE49-F238E27FC236}">
                <a16:creationId xmlns:a16="http://schemas.microsoft.com/office/drawing/2014/main" id="{3D5850FC-EDBD-06E8-FB37-4CDBA2E7BA12}"/>
              </a:ext>
            </a:extLst>
          </p:cNvPr>
          <p:cNvSpPr txBox="1"/>
          <p:nvPr/>
        </p:nvSpPr>
        <p:spPr>
          <a:xfrm>
            <a:off x="4989806" y="3584051"/>
            <a:ext cx="363002" cy="246221"/>
          </a:xfrm>
          <a:prstGeom prst="rect">
            <a:avLst/>
          </a:prstGeom>
          <a:noFill/>
        </p:spPr>
        <p:txBody>
          <a:bodyPr wrap="square">
            <a:spAutoFit/>
          </a:bodyPr>
          <a:lstStyle/>
          <a:p>
            <a:pPr algn="ctr">
              <a:defRPr sz="1000" b="1">
                <a:solidFill>
                  <a:srgbClr val="F8F4FF"/>
                </a:solidFill>
              </a:defRPr>
            </a:pPr>
            <a:r>
              <a:t>4</a:t>
            </a:r>
          </a:p>
        </p:txBody>
      </p:sp>
      <p:sp>
        <p:nvSpPr>
          <p:cNvPr id="21" name="Rounded Rectangle 24">
            <a:extLst>
              <a:ext uri="{FF2B5EF4-FFF2-40B4-BE49-F238E27FC236}">
                <a16:creationId xmlns:a16="http://schemas.microsoft.com/office/drawing/2014/main" id="{24392B45-E079-A4F8-439D-DD2AEFAE258E}"/>
              </a:ext>
            </a:extLst>
          </p:cNvPr>
          <p:cNvSpPr/>
          <p:nvPr/>
        </p:nvSpPr>
        <p:spPr>
          <a:xfrm>
            <a:off x="4572000" y="3995530"/>
            <a:ext cx="1250339" cy="960120"/>
          </a:xfrm>
          <a:prstGeom prst="roundRect">
            <a:avLst/>
          </a:prstGeom>
          <a:solidFill>
            <a:srgbClr val="2E234A"/>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5">
            <a:extLst>
              <a:ext uri="{FF2B5EF4-FFF2-40B4-BE49-F238E27FC236}">
                <a16:creationId xmlns:a16="http://schemas.microsoft.com/office/drawing/2014/main" id="{CD86838C-A5A9-1645-F408-166E4232005E}"/>
              </a:ext>
            </a:extLst>
          </p:cNvPr>
          <p:cNvSpPr txBox="1"/>
          <p:nvPr/>
        </p:nvSpPr>
        <p:spPr>
          <a:xfrm>
            <a:off x="4645152" y="4267618"/>
            <a:ext cx="1121272" cy="461665"/>
          </a:xfrm>
          <a:prstGeom prst="rect">
            <a:avLst/>
          </a:prstGeom>
          <a:noFill/>
        </p:spPr>
        <p:txBody>
          <a:bodyPr wrap="square" anchor="ctr">
            <a:spAutoFit/>
          </a:bodyPr>
          <a:lstStyle/>
          <a:p>
            <a:pPr algn="ctr">
              <a:defRPr sz="1200" b="1">
                <a:solidFill>
                  <a:srgbClr val="F8F4FF"/>
                </a:solidFill>
              </a:defRPr>
            </a:pPr>
            <a:r>
              <a:t>Pedido</a:t>
            </a:r>
            <a:br/>
            <a:r>
              <a:t>agrega item</a:t>
            </a:r>
          </a:p>
        </p:txBody>
      </p:sp>
      <p:cxnSp>
        <p:nvCxnSpPr>
          <p:cNvPr id="23" name="Connector 26">
            <a:extLst>
              <a:ext uri="{FF2B5EF4-FFF2-40B4-BE49-F238E27FC236}">
                <a16:creationId xmlns:a16="http://schemas.microsoft.com/office/drawing/2014/main" id="{9A84C668-BF08-B3E8-65B7-520F8849C84A}"/>
              </a:ext>
            </a:extLst>
          </p:cNvPr>
          <p:cNvCxnSpPr>
            <a:cxnSpLocks/>
          </p:cNvCxnSpPr>
          <p:nvPr/>
        </p:nvCxnSpPr>
        <p:spPr>
          <a:xfrm>
            <a:off x="5810415" y="4452731"/>
            <a:ext cx="258135" cy="0"/>
          </a:xfrm>
          <a:prstGeom prst="line">
            <a:avLst/>
          </a:prstGeom>
          <a:ln w="20320">
            <a:solidFill>
              <a:srgbClr val="58C7F3"/>
            </a:solidFill>
          </a:ln>
        </p:spPr>
        <p:style>
          <a:lnRef idx="2">
            <a:schemeClr val="accent1"/>
          </a:lnRef>
          <a:fillRef idx="0">
            <a:schemeClr val="accent1"/>
          </a:fillRef>
          <a:effectRef idx="1">
            <a:schemeClr val="accent1"/>
          </a:effectRef>
          <a:fontRef idx="minor">
            <a:schemeClr val="tx1"/>
          </a:fontRef>
        </p:style>
      </p:cxnSp>
      <p:sp>
        <p:nvSpPr>
          <p:cNvPr id="24" name="Rounded Rectangle 27">
            <a:extLst>
              <a:ext uri="{FF2B5EF4-FFF2-40B4-BE49-F238E27FC236}">
                <a16:creationId xmlns:a16="http://schemas.microsoft.com/office/drawing/2014/main" id="{8B8A02AB-DF02-0098-EFD0-69065D6F2317}"/>
              </a:ext>
            </a:extLst>
          </p:cNvPr>
          <p:cNvSpPr/>
          <p:nvPr/>
        </p:nvSpPr>
        <p:spPr>
          <a:xfrm>
            <a:off x="6419053" y="3538331"/>
            <a:ext cx="363002" cy="292608"/>
          </a:xfrm>
          <a:prstGeom prst="roundRect">
            <a:avLst/>
          </a:prstGeom>
          <a:solidFill>
            <a:srgbClr val="7E57C2"/>
          </a:solidFill>
          <a:ln>
            <a:solidFill>
              <a:srgbClr val="7E5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8">
            <a:extLst>
              <a:ext uri="{FF2B5EF4-FFF2-40B4-BE49-F238E27FC236}">
                <a16:creationId xmlns:a16="http://schemas.microsoft.com/office/drawing/2014/main" id="{404429AA-890B-1431-4421-457187075AE2}"/>
              </a:ext>
            </a:extLst>
          </p:cNvPr>
          <p:cNvSpPr txBox="1"/>
          <p:nvPr/>
        </p:nvSpPr>
        <p:spPr>
          <a:xfrm>
            <a:off x="6419053" y="3584051"/>
            <a:ext cx="363002" cy="246221"/>
          </a:xfrm>
          <a:prstGeom prst="rect">
            <a:avLst/>
          </a:prstGeom>
          <a:noFill/>
        </p:spPr>
        <p:txBody>
          <a:bodyPr wrap="square">
            <a:spAutoFit/>
          </a:bodyPr>
          <a:lstStyle/>
          <a:p>
            <a:pPr algn="ctr">
              <a:defRPr sz="1000" b="1">
                <a:solidFill>
                  <a:srgbClr val="F8F4FF"/>
                </a:solidFill>
              </a:defRPr>
            </a:pPr>
            <a:r>
              <a:t>5</a:t>
            </a:r>
          </a:p>
        </p:txBody>
      </p:sp>
      <p:sp>
        <p:nvSpPr>
          <p:cNvPr id="26" name="Rounded Rectangle 29">
            <a:extLst>
              <a:ext uri="{FF2B5EF4-FFF2-40B4-BE49-F238E27FC236}">
                <a16:creationId xmlns:a16="http://schemas.microsoft.com/office/drawing/2014/main" id="{F13AC9AF-C1EB-9A76-92EE-F1ACE4F0C3D2}"/>
              </a:ext>
            </a:extLst>
          </p:cNvPr>
          <p:cNvSpPr/>
          <p:nvPr/>
        </p:nvSpPr>
        <p:spPr>
          <a:xfrm>
            <a:off x="6001247" y="3995530"/>
            <a:ext cx="1250339" cy="960120"/>
          </a:xfrm>
          <a:prstGeom prst="roundRect">
            <a:avLst/>
          </a:prstGeom>
          <a:solidFill>
            <a:srgbClr val="2E234A"/>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30">
            <a:extLst>
              <a:ext uri="{FF2B5EF4-FFF2-40B4-BE49-F238E27FC236}">
                <a16:creationId xmlns:a16="http://schemas.microsoft.com/office/drawing/2014/main" id="{D2E0AE2B-4818-B4A0-E11C-519034CECA79}"/>
              </a:ext>
            </a:extLst>
          </p:cNvPr>
          <p:cNvSpPr txBox="1"/>
          <p:nvPr/>
        </p:nvSpPr>
        <p:spPr>
          <a:xfrm>
            <a:off x="6074399" y="4267618"/>
            <a:ext cx="1121272" cy="461665"/>
          </a:xfrm>
          <a:prstGeom prst="rect">
            <a:avLst/>
          </a:prstGeom>
          <a:noFill/>
        </p:spPr>
        <p:txBody>
          <a:bodyPr wrap="square" anchor="ctr">
            <a:spAutoFit/>
          </a:bodyPr>
          <a:lstStyle/>
          <a:p>
            <a:pPr algn="ctr">
              <a:defRPr sz="1200" b="1">
                <a:solidFill>
                  <a:srgbClr val="F8F4FF"/>
                </a:solidFill>
              </a:defRPr>
            </a:pPr>
            <a:r>
              <a:t>Hibernate</a:t>
            </a:r>
            <a:br/>
            <a:r>
              <a:t>guarda filas</a:t>
            </a:r>
          </a:p>
        </p:txBody>
      </p:sp>
      <p:cxnSp>
        <p:nvCxnSpPr>
          <p:cNvPr id="28" name="Connector 31">
            <a:extLst>
              <a:ext uri="{FF2B5EF4-FFF2-40B4-BE49-F238E27FC236}">
                <a16:creationId xmlns:a16="http://schemas.microsoft.com/office/drawing/2014/main" id="{42D1559B-A07B-2270-E2F6-4AC3E9D342D3}"/>
              </a:ext>
            </a:extLst>
          </p:cNvPr>
          <p:cNvCxnSpPr>
            <a:cxnSpLocks/>
          </p:cNvCxnSpPr>
          <p:nvPr/>
        </p:nvCxnSpPr>
        <p:spPr>
          <a:xfrm>
            <a:off x="7239663" y="4452731"/>
            <a:ext cx="258135" cy="0"/>
          </a:xfrm>
          <a:prstGeom prst="line">
            <a:avLst/>
          </a:prstGeom>
          <a:ln w="20320">
            <a:solidFill>
              <a:srgbClr val="58C7F3"/>
            </a:solidFill>
          </a:ln>
        </p:spPr>
        <p:style>
          <a:lnRef idx="2">
            <a:schemeClr val="accent1"/>
          </a:lnRef>
          <a:fillRef idx="0">
            <a:schemeClr val="accent1"/>
          </a:fillRef>
          <a:effectRef idx="1">
            <a:schemeClr val="accent1"/>
          </a:effectRef>
          <a:fontRef idx="minor">
            <a:schemeClr val="tx1"/>
          </a:fontRef>
        </p:style>
      </p:cxnSp>
      <p:sp>
        <p:nvSpPr>
          <p:cNvPr id="29" name="Rounded Rectangle 32">
            <a:extLst>
              <a:ext uri="{FF2B5EF4-FFF2-40B4-BE49-F238E27FC236}">
                <a16:creationId xmlns:a16="http://schemas.microsoft.com/office/drawing/2014/main" id="{78EC2F09-E87E-A21A-27E6-8244A5E66C2F}"/>
              </a:ext>
            </a:extLst>
          </p:cNvPr>
          <p:cNvSpPr/>
          <p:nvPr/>
        </p:nvSpPr>
        <p:spPr>
          <a:xfrm>
            <a:off x="7897995" y="3538331"/>
            <a:ext cx="363002" cy="292608"/>
          </a:xfrm>
          <a:prstGeom prst="roundRect">
            <a:avLst/>
          </a:prstGeom>
          <a:solidFill>
            <a:srgbClr val="7E57C2"/>
          </a:solidFill>
          <a:ln>
            <a:solidFill>
              <a:srgbClr val="7E5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33">
            <a:extLst>
              <a:ext uri="{FF2B5EF4-FFF2-40B4-BE49-F238E27FC236}">
                <a16:creationId xmlns:a16="http://schemas.microsoft.com/office/drawing/2014/main" id="{A214B421-8179-7D8F-77C0-E3C2971AD32F}"/>
              </a:ext>
            </a:extLst>
          </p:cNvPr>
          <p:cNvSpPr txBox="1"/>
          <p:nvPr/>
        </p:nvSpPr>
        <p:spPr>
          <a:xfrm>
            <a:off x="7897995" y="3584051"/>
            <a:ext cx="363002" cy="246221"/>
          </a:xfrm>
          <a:prstGeom prst="rect">
            <a:avLst/>
          </a:prstGeom>
          <a:noFill/>
        </p:spPr>
        <p:txBody>
          <a:bodyPr wrap="square">
            <a:spAutoFit/>
          </a:bodyPr>
          <a:lstStyle/>
          <a:p>
            <a:pPr algn="ctr">
              <a:defRPr sz="1000" b="1">
                <a:solidFill>
                  <a:srgbClr val="F8F4FF"/>
                </a:solidFill>
              </a:defRPr>
            </a:pPr>
            <a:r>
              <a:t>6</a:t>
            </a:r>
          </a:p>
        </p:txBody>
      </p:sp>
      <p:sp>
        <p:nvSpPr>
          <p:cNvPr id="31" name="Rounded Rectangle 34">
            <a:extLst>
              <a:ext uri="{FF2B5EF4-FFF2-40B4-BE49-F238E27FC236}">
                <a16:creationId xmlns:a16="http://schemas.microsoft.com/office/drawing/2014/main" id="{51ED1DFC-B995-C587-8CAE-470B7F2E742D}"/>
              </a:ext>
            </a:extLst>
          </p:cNvPr>
          <p:cNvSpPr/>
          <p:nvPr/>
        </p:nvSpPr>
        <p:spPr>
          <a:xfrm>
            <a:off x="7430494" y="3995530"/>
            <a:ext cx="1250339" cy="960120"/>
          </a:xfrm>
          <a:prstGeom prst="roundRect">
            <a:avLst/>
          </a:prstGeom>
          <a:solidFill>
            <a:srgbClr val="2E234A"/>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5">
            <a:extLst>
              <a:ext uri="{FF2B5EF4-FFF2-40B4-BE49-F238E27FC236}">
                <a16:creationId xmlns:a16="http://schemas.microsoft.com/office/drawing/2014/main" id="{A8922D80-B27A-0071-1C3C-755B3BF4C3C3}"/>
              </a:ext>
            </a:extLst>
          </p:cNvPr>
          <p:cNvSpPr txBox="1"/>
          <p:nvPr/>
        </p:nvSpPr>
        <p:spPr>
          <a:xfrm>
            <a:off x="7503646" y="4267618"/>
            <a:ext cx="1121272" cy="461665"/>
          </a:xfrm>
          <a:prstGeom prst="rect">
            <a:avLst/>
          </a:prstGeom>
          <a:noFill/>
        </p:spPr>
        <p:txBody>
          <a:bodyPr wrap="square" anchor="ctr">
            <a:spAutoFit/>
          </a:bodyPr>
          <a:lstStyle/>
          <a:p>
            <a:pPr algn="ctr">
              <a:defRPr sz="1200" b="1">
                <a:solidFill>
                  <a:srgbClr val="F8F4FF"/>
                </a:solidFill>
              </a:defRPr>
            </a:pPr>
            <a:r>
              <a:t>MySQL</a:t>
            </a:r>
            <a:br/>
            <a:r>
              <a:t>persistencia</a:t>
            </a:r>
          </a:p>
        </p:txBody>
      </p:sp>
    </p:spTree>
    <p:extLst>
      <p:ext uri="{BB962C8B-B14F-4D97-AF65-F5344CB8AC3E}">
        <p14:creationId xmlns:p14="http://schemas.microsoft.com/office/powerpoint/2010/main" val="39162893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027360-CA64-2C65-57E6-6260D7EC2FEB}"/>
              </a:ext>
            </a:extLst>
          </p:cNvPr>
          <p:cNvSpPr>
            <a:spLocks noGrp="1"/>
          </p:cNvSpPr>
          <p:nvPr>
            <p:ph type="title"/>
          </p:nvPr>
        </p:nvSpPr>
        <p:spPr/>
        <p:txBody>
          <a:bodyPr/>
          <a:lstStyle/>
          <a:p>
            <a:r>
              <a:rPr lang="es-AR" dirty="0"/>
              <a:t>Error frecuente: </a:t>
            </a:r>
            <a:r>
              <a:rPr lang="es-AR" dirty="0" err="1"/>
              <a:t>LazyInitializationException</a:t>
            </a:r>
            <a:endParaRPr lang="es-AR" dirty="0"/>
          </a:p>
        </p:txBody>
      </p:sp>
      <p:sp>
        <p:nvSpPr>
          <p:cNvPr id="3" name="Marcador de contenido 2">
            <a:extLst>
              <a:ext uri="{FF2B5EF4-FFF2-40B4-BE49-F238E27FC236}">
                <a16:creationId xmlns:a16="http://schemas.microsoft.com/office/drawing/2014/main" id="{910CCF56-86A7-065B-B991-F11888FC799C}"/>
              </a:ext>
            </a:extLst>
          </p:cNvPr>
          <p:cNvSpPr>
            <a:spLocks noGrp="1"/>
          </p:cNvSpPr>
          <p:nvPr>
            <p:ph idx="1"/>
          </p:nvPr>
        </p:nvSpPr>
        <p:spPr>
          <a:xfrm>
            <a:off x="864381" y="2489200"/>
            <a:ext cx="7742905" cy="939800"/>
          </a:xfrm>
        </p:spPr>
        <p:txBody>
          <a:bodyPr/>
          <a:lstStyle/>
          <a:p>
            <a:r>
              <a:rPr lang="es-AR" dirty="0"/>
              <a:t>Si </a:t>
            </a:r>
            <a:r>
              <a:rPr lang="es-AR" dirty="0" err="1"/>
              <a:t>Combo.items</a:t>
            </a:r>
            <a:r>
              <a:rPr lang="es-AR" dirty="0"/>
              <a:t> está LAZY y el </a:t>
            </a:r>
            <a:r>
              <a:rPr lang="es-AR" dirty="0" err="1"/>
              <a:t>EntityManager</a:t>
            </a:r>
            <a:r>
              <a:rPr lang="es-AR" dirty="0"/>
              <a:t> ya cerró, </a:t>
            </a:r>
            <a:r>
              <a:rPr lang="es-AR" dirty="0" err="1"/>
              <a:t>calcularPrecio</a:t>
            </a:r>
            <a:r>
              <a:rPr lang="es-AR" dirty="0"/>
              <a:t>() puede fallar.</a:t>
            </a:r>
          </a:p>
        </p:txBody>
      </p:sp>
      <p:sp>
        <p:nvSpPr>
          <p:cNvPr id="4" name="Rounded Rectangle 8">
            <a:extLst>
              <a:ext uri="{FF2B5EF4-FFF2-40B4-BE49-F238E27FC236}">
                <a16:creationId xmlns:a16="http://schemas.microsoft.com/office/drawing/2014/main" id="{7DB8A8DC-DD4F-2257-0E2B-8821EAE5310D}"/>
              </a:ext>
            </a:extLst>
          </p:cNvPr>
          <p:cNvSpPr/>
          <p:nvPr/>
        </p:nvSpPr>
        <p:spPr>
          <a:xfrm>
            <a:off x="303944" y="3206365"/>
            <a:ext cx="4218167" cy="3293826"/>
          </a:xfrm>
          <a:prstGeom prst="roundRect">
            <a:avLst>
              <a:gd name="adj" fmla="val 8855"/>
            </a:avLst>
          </a:prstGeom>
          <a:solidFill>
            <a:srgbClr val="241A3B"/>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9">
            <a:extLst>
              <a:ext uri="{FF2B5EF4-FFF2-40B4-BE49-F238E27FC236}">
                <a16:creationId xmlns:a16="http://schemas.microsoft.com/office/drawing/2014/main" id="{472C8856-B494-2392-041B-AC965BC333D5}"/>
              </a:ext>
            </a:extLst>
          </p:cNvPr>
          <p:cNvSpPr txBox="1"/>
          <p:nvPr/>
        </p:nvSpPr>
        <p:spPr>
          <a:xfrm>
            <a:off x="505112" y="3334380"/>
            <a:ext cx="3857780" cy="307777"/>
          </a:xfrm>
          <a:prstGeom prst="rect">
            <a:avLst/>
          </a:prstGeom>
          <a:noFill/>
        </p:spPr>
        <p:txBody>
          <a:bodyPr wrap="square">
            <a:spAutoFit/>
          </a:bodyPr>
          <a:lstStyle/>
          <a:p>
            <a:pPr>
              <a:defRPr sz="1300" b="1">
                <a:solidFill>
                  <a:srgbClr val="F8F4FF"/>
                </a:solidFill>
              </a:defRPr>
            </a:pPr>
            <a:r>
              <a:rPr sz="1400" dirty="0" err="1"/>
              <a:t>Síntoma</a:t>
            </a:r>
            <a:endParaRPr sz="1400" dirty="0"/>
          </a:p>
        </p:txBody>
      </p:sp>
      <p:sp>
        <p:nvSpPr>
          <p:cNvPr id="6" name="Rounded Rectangle 10">
            <a:extLst>
              <a:ext uri="{FF2B5EF4-FFF2-40B4-BE49-F238E27FC236}">
                <a16:creationId xmlns:a16="http://schemas.microsoft.com/office/drawing/2014/main" id="{2577B0DE-98B1-3A56-8160-9B1E57EA3CF4}"/>
              </a:ext>
            </a:extLst>
          </p:cNvPr>
          <p:cNvSpPr/>
          <p:nvPr/>
        </p:nvSpPr>
        <p:spPr>
          <a:xfrm>
            <a:off x="578264" y="3792769"/>
            <a:ext cx="3726730" cy="1455089"/>
          </a:xfrm>
          <a:prstGeom prst="roundRect">
            <a:avLst/>
          </a:prstGeom>
          <a:solidFill>
            <a:srgbClr val="100C1A"/>
          </a:solidFill>
          <a:ln w="1270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11">
            <a:extLst>
              <a:ext uri="{FF2B5EF4-FFF2-40B4-BE49-F238E27FC236}">
                <a16:creationId xmlns:a16="http://schemas.microsoft.com/office/drawing/2014/main" id="{EA33F178-7E2A-74AA-DD4B-C0C6A1B3BEA3}"/>
              </a:ext>
            </a:extLst>
          </p:cNvPr>
          <p:cNvSpPr txBox="1"/>
          <p:nvPr/>
        </p:nvSpPr>
        <p:spPr>
          <a:xfrm>
            <a:off x="742856" y="3920787"/>
            <a:ext cx="3431867" cy="1169551"/>
          </a:xfrm>
          <a:prstGeom prst="rect">
            <a:avLst/>
          </a:prstGeom>
          <a:noFill/>
        </p:spPr>
        <p:txBody>
          <a:bodyPr wrap="square" lIns="18288" rIns="18288">
            <a:spAutoFit/>
          </a:bodyPr>
          <a:lstStyle/>
          <a:p>
            <a:pPr>
              <a:defRPr sz="1300">
                <a:solidFill>
                  <a:srgbClr val="EFE6FF"/>
                </a:solidFill>
                <a:latin typeface="Consolas"/>
              </a:defRPr>
            </a:pPr>
            <a:r>
              <a:rPr sz="1400" dirty="0"/>
              <a:t>failed to lazily initialize a collection</a:t>
            </a:r>
            <a:br>
              <a:rPr sz="1400" dirty="0"/>
            </a:br>
            <a:r>
              <a:rPr sz="1400" dirty="0"/>
              <a:t>of role: </a:t>
            </a:r>
            <a:r>
              <a:rPr sz="1400" dirty="0" err="1"/>
              <a:t>Combo.items</a:t>
            </a:r>
            <a:br>
              <a:rPr sz="1400" dirty="0"/>
            </a:br>
            <a:r>
              <a:rPr sz="1400" dirty="0"/>
              <a:t>could not initialize proxy - no Session</a:t>
            </a:r>
          </a:p>
        </p:txBody>
      </p:sp>
      <p:sp>
        <p:nvSpPr>
          <p:cNvPr id="8" name="TextBox 12">
            <a:extLst>
              <a:ext uri="{FF2B5EF4-FFF2-40B4-BE49-F238E27FC236}">
                <a16:creationId xmlns:a16="http://schemas.microsoft.com/office/drawing/2014/main" id="{A8E710FE-5E83-3350-BFAF-6E7904C450E4}"/>
              </a:ext>
            </a:extLst>
          </p:cNvPr>
          <p:cNvSpPr txBox="1"/>
          <p:nvPr/>
        </p:nvSpPr>
        <p:spPr>
          <a:xfrm>
            <a:off x="623984" y="5538083"/>
            <a:ext cx="3685777" cy="584775"/>
          </a:xfrm>
          <a:prstGeom prst="rect">
            <a:avLst/>
          </a:prstGeom>
          <a:noFill/>
        </p:spPr>
        <p:txBody>
          <a:bodyPr wrap="square" lIns="18288" rIns="18288">
            <a:spAutoFit/>
          </a:bodyPr>
          <a:lstStyle/>
          <a:p>
            <a:pPr algn="l">
              <a:defRPr sz="1600" b="0">
                <a:solidFill>
                  <a:srgbClr val="F2C94C"/>
                </a:solidFill>
              </a:defRPr>
            </a:pPr>
            <a:r>
              <a:t>Ocurre al acceder a una relación LAZY fuera del EntityManager.</a:t>
            </a:r>
          </a:p>
        </p:txBody>
      </p:sp>
      <p:sp>
        <p:nvSpPr>
          <p:cNvPr id="9" name="Rounded Rectangle 13">
            <a:extLst>
              <a:ext uri="{FF2B5EF4-FFF2-40B4-BE49-F238E27FC236}">
                <a16:creationId xmlns:a16="http://schemas.microsoft.com/office/drawing/2014/main" id="{C1266ACF-635F-9776-14DE-C6368DBD329B}"/>
              </a:ext>
            </a:extLst>
          </p:cNvPr>
          <p:cNvSpPr/>
          <p:nvPr/>
        </p:nvSpPr>
        <p:spPr>
          <a:xfrm>
            <a:off x="4681330" y="3206365"/>
            <a:ext cx="4218167" cy="3293826"/>
          </a:xfrm>
          <a:prstGeom prst="roundRect">
            <a:avLst>
              <a:gd name="adj" fmla="val 9971"/>
            </a:avLst>
          </a:prstGeom>
          <a:solidFill>
            <a:srgbClr val="241A3B"/>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14">
            <a:extLst>
              <a:ext uri="{FF2B5EF4-FFF2-40B4-BE49-F238E27FC236}">
                <a16:creationId xmlns:a16="http://schemas.microsoft.com/office/drawing/2014/main" id="{8671E29F-B6BE-15D3-CF42-E62841F687EB}"/>
              </a:ext>
            </a:extLst>
          </p:cNvPr>
          <p:cNvSpPr txBox="1"/>
          <p:nvPr/>
        </p:nvSpPr>
        <p:spPr>
          <a:xfrm>
            <a:off x="4882498" y="3334380"/>
            <a:ext cx="3857780" cy="307777"/>
          </a:xfrm>
          <a:prstGeom prst="rect">
            <a:avLst/>
          </a:prstGeom>
          <a:noFill/>
        </p:spPr>
        <p:txBody>
          <a:bodyPr wrap="square">
            <a:spAutoFit/>
          </a:bodyPr>
          <a:lstStyle/>
          <a:p>
            <a:pPr>
              <a:defRPr sz="1300" b="1">
                <a:solidFill>
                  <a:srgbClr val="F8F4FF"/>
                </a:solidFill>
              </a:defRPr>
            </a:pPr>
            <a:r>
              <a:rPr sz="1400" dirty="0" err="1"/>
              <a:t>Solución</a:t>
            </a:r>
            <a:endParaRPr sz="1400" dirty="0"/>
          </a:p>
        </p:txBody>
      </p:sp>
      <p:sp>
        <p:nvSpPr>
          <p:cNvPr id="11" name="Rounded Rectangle 15">
            <a:extLst>
              <a:ext uri="{FF2B5EF4-FFF2-40B4-BE49-F238E27FC236}">
                <a16:creationId xmlns:a16="http://schemas.microsoft.com/office/drawing/2014/main" id="{5C60B34E-CE91-2A97-016A-E81197D06E7A}"/>
              </a:ext>
            </a:extLst>
          </p:cNvPr>
          <p:cNvSpPr/>
          <p:nvPr/>
        </p:nvSpPr>
        <p:spPr>
          <a:xfrm>
            <a:off x="4955650" y="3792770"/>
            <a:ext cx="3726730" cy="1723446"/>
          </a:xfrm>
          <a:prstGeom prst="roundRect">
            <a:avLst/>
          </a:prstGeom>
          <a:solidFill>
            <a:srgbClr val="100C1A"/>
          </a:solidFill>
          <a:ln w="1270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6">
            <a:extLst>
              <a:ext uri="{FF2B5EF4-FFF2-40B4-BE49-F238E27FC236}">
                <a16:creationId xmlns:a16="http://schemas.microsoft.com/office/drawing/2014/main" id="{E3E8BEC6-F45D-414B-5130-CBFE538DD9EC}"/>
              </a:ext>
            </a:extLst>
          </p:cNvPr>
          <p:cNvSpPr txBox="1"/>
          <p:nvPr/>
        </p:nvSpPr>
        <p:spPr>
          <a:xfrm>
            <a:off x="5120241" y="3920787"/>
            <a:ext cx="3431867" cy="1384995"/>
          </a:xfrm>
          <a:prstGeom prst="rect">
            <a:avLst/>
          </a:prstGeom>
          <a:noFill/>
        </p:spPr>
        <p:txBody>
          <a:bodyPr wrap="square" lIns="18288" rIns="18288">
            <a:spAutoFit/>
          </a:bodyPr>
          <a:lstStyle/>
          <a:p>
            <a:pPr>
              <a:defRPr sz="1200">
                <a:solidFill>
                  <a:srgbClr val="EFE6FF"/>
                </a:solidFill>
                <a:latin typeface="Consolas"/>
              </a:defRPr>
            </a:pPr>
            <a:r>
              <a:rPr sz="1400" dirty="0"/>
              <a:t>@</a:t>
            </a:r>
            <a:r>
              <a:rPr sz="1400" dirty="0" err="1"/>
              <a:t>OneToMany</a:t>
            </a:r>
            <a:r>
              <a:rPr sz="1400" dirty="0"/>
              <a:t>(</a:t>
            </a:r>
            <a:br>
              <a:rPr sz="1400" dirty="0"/>
            </a:br>
            <a:r>
              <a:rPr sz="1400" dirty="0"/>
              <a:t>    </a:t>
            </a:r>
            <a:r>
              <a:rPr sz="1400" dirty="0" err="1"/>
              <a:t>mappedBy</a:t>
            </a:r>
            <a:r>
              <a:rPr sz="1400" dirty="0"/>
              <a:t> = "combo",</a:t>
            </a:r>
            <a:br>
              <a:rPr sz="1400" dirty="0"/>
            </a:br>
            <a:r>
              <a:rPr sz="1400" dirty="0"/>
              <a:t>    cascade = </a:t>
            </a:r>
            <a:r>
              <a:rPr sz="1400" dirty="0" err="1"/>
              <a:t>CascadeType.ALL</a:t>
            </a:r>
            <a:r>
              <a:rPr sz="1400" dirty="0"/>
              <a:t>,</a:t>
            </a:r>
            <a:br>
              <a:rPr sz="1400" dirty="0"/>
            </a:br>
            <a:r>
              <a:rPr sz="1400" dirty="0"/>
              <a:t>    </a:t>
            </a:r>
            <a:r>
              <a:rPr sz="1400" dirty="0" err="1"/>
              <a:t>orphanRemoval</a:t>
            </a:r>
            <a:r>
              <a:rPr sz="1400" dirty="0"/>
              <a:t> = true,</a:t>
            </a:r>
            <a:br>
              <a:rPr sz="1400" dirty="0"/>
            </a:br>
            <a:r>
              <a:rPr sz="1400" dirty="0"/>
              <a:t>    fetch = </a:t>
            </a:r>
            <a:r>
              <a:rPr sz="1400" dirty="0" err="1"/>
              <a:t>FetchType.EAGER</a:t>
            </a:r>
            <a:r>
              <a:rPr sz="1400" dirty="0"/>
              <a:t>)</a:t>
            </a:r>
            <a:br>
              <a:rPr sz="1400" dirty="0"/>
            </a:br>
            <a:r>
              <a:rPr sz="1400" dirty="0"/>
              <a:t>private List&lt;</a:t>
            </a:r>
            <a:r>
              <a:rPr sz="1400" dirty="0" err="1"/>
              <a:t>ComboItem</a:t>
            </a:r>
            <a:r>
              <a:rPr sz="1400" dirty="0"/>
              <a:t>&gt; items;</a:t>
            </a:r>
          </a:p>
        </p:txBody>
      </p:sp>
    </p:spTree>
    <p:extLst>
      <p:ext uri="{BB962C8B-B14F-4D97-AF65-F5344CB8AC3E}">
        <p14:creationId xmlns:p14="http://schemas.microsoft.com/office/powerpoint/2010/main" val="42027168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Connector 15">
            <a:extLst>
              <a:ext uri="{FF2B5EF4-FFF2-40B4-BE49-F238E27FC236}">
                <a16:creationId xmlns:a16="http://schemas.microsoft.com/office/drawing/2014/main" id="{03D4D2EB-EB40-1D2B-96DF-C91FD8E1BF75}"/>
              </a:ext>
            </a:extLst>
          </p:cNvPr>
          <p:cNvCxnSpPr>
            <a:cxnSpLocks/>
          </p:cNvCxnSpPr>
          <p:nvPr/>
        </p:nvCxnSpPr>
        <p:spPr>
          <a:xfrm>
            <a:off x="2297938" y="4116789"/>
            <a:ext cx="296664" cy="0"/>
          </a:xfrm>
          <a:prstGeom prst="line">
            <a:avLst/>
          </a:prstGeom>
          <a:ln w="20320">
            <a:solidFill>
              <a:srgbClr val="58C7F3"/>
            </a:solidFill>
          </a:ln>
        </p:spPr>
        <p:style>
          <a:lnRef idx="2">
            <a:schemeClr val="accent1"/>
          </a:lnRef>
          <a:fillRef idx="0">
            <a:schemeClr val="accent1"/>
          </a:fillRef>
          <a:effectRef idx="1">
            <a:schemeClr val="accent1"/>
          </a:effectRef>
          <a:fontRef idx="minor">
            <a:schemeClr val="tx1"/>
          </a:fontRef>
        </p:style>
      </p:cxnSp>
      <p:cxnSp>
        <p:nvCxnSpPr>
          <p:cNvPr id="13" name="Connector 16">
            <a:extLst>
              <a:ext uri="{FF2B5EF4-FFF2-40B4-BE49-F238E27FC236}">
                <a16:creationId xmlns:a16="http://schemas.microsoft.com/office/drawing/2014/main" id="{7D2EC4A1-A7C8-9D5E-0A87-8FDBEAAD23EF}"/>
              </a:ext>
            </a:extLst>
          </p:cNvPr>
          <p:cNvCxnSpPr>
            <a:cxnSpLocks/>
          </p:cNvCxnSpPr>
          <p:nvPr/>
        </p:nvCxnSpPr>
        <p:spPr>
          <a:xfrm>
            <a:off x="4601543" y="4116789"/>
            <a:ext cx="301003" cy="0"/>
          </a:xfrm>
          <a:prstGeom prst="line">
            <a:avLst/>
          </a:prstGeom>
          <a:ln w="20320">
            <a:solidFill>
              <a:srgbClr val="58C7F3"/>
            </a:solidFill>
          </a:ln>
        </p:spPr>
        <p:style>
          <a:lnRef idx="2">
            <a:schemeClr val="accent1"/>
          </a:lnRef>
          <a:fillRef idx="0">
            <a:schemeClr val="accent1"/>
          </a:fillRef>
          <a:effectRef idx="1">
            <a:schemeClr val="accent1"/>
          </a:effectRef>
          <a:fontRef idx="minor">
            <a:schemeClr val="tx1"/>
          </a:fontRef>
        </p:style>
      </p:cxnSp>
      <p:cxnSp>
        <p:nvCxnSpPr>
          <p:cNvPr id="14" name="Connector 17">
            <a:extLst>
              <a:ext uri="{FF2B5EF4-FFF2-40B4-BE49-F238E27FC236}">
                <a16:creationId xmlns:a16="http://schemas.microsoft.com/office/drawing/2014/main" id="{A118605B-FD36-F450-B438-4842B2A074D1}"/>
              </a:ext>
            </a:extLst>
          </p:cNvPr>
          <p:cNvCxnSpPr>
            <a:cxnSpLocks/>
          </p:cNvCxnSpPr>
          <p:nvPr/>
        </p:nvCxnSpPr>
        <p:spPr>
          <a:xfrm>
            <a:off x="6983030" y="4116789"/>
            <a:ext cx="301003" cy="0"/>
          </a:xfrm>
          <a:prstGeom prst="line">
            <a:avLst/>
          </a:prstGeom>
          <a:ln w="20320">
            <a:solidFill>
              <a:srgbClr val="58C7F3"/>
            </a:solidFill>
          </a:ln>
        </p:spPr>
        <p:style>
          <a:lnRef idx="2">
            <a:schemeClr val="accent1"/>
          </a:lnRef>
          <a:fillRef idx="0">
            <a:schemeClr val="accent1"/>
          </a:fillRef>
          <a:effectRef idx="1">
            <a:schemeClr val="accent1"/>
          </a:effectRef>
          <a:fontRef idx="minor">
            <a:schemeClr val="tx1"/>
          </a:fontRef>
        </p:style>
      </p:cxnSp>
      <p:sp>
        <p:nvSpPr>
          <p:cNvPr id="2" name="Título 1">
            <a:extLst>
              <a:ext uri="{FF2B5EF4-FFF2-40B4-BE49-F238E27FC236}">
                <a16:creationId xmlns:a16="http://schemas.microsoft.com/office/drawing/2014/main" id="{3EECB760-92CB-74BA-C851-E925C5BB296C}"/>
              </a:ext>
            </a:extLst>
          </p:cNvPr>
          <p:cNvSpPr>
            <a:spLocks noGrp="1"/>
          </p:cNvSpPr>
          <p:nvPr>
            <p:ph type="title"/>
          </p:nvPr>
        </p:nvSpPr>
        <p:spPr/>
        <p:txBody>
          <a:bodyPr/>
          <a:lstStyle/>
          <a:p>
            <a:r>
              <a:rPr lang="es-AR" dirty="0" err="1"/>
              <a:t>Clean</a:t>
            </a:r>
            <a:r>
              <a:rPr lang="es-AR" dirty="0"/>
              <a:t> </a:t>
            </a:r>
            <a:r>
              <a:rPr lang="es-AR" dirty="0" err="1"/>
              <a:t>Architecture</a:t>
            </a:r>
            <a:endParaRPr lang="es-AR" dirty="0"/>
          </a:p>
        </p:txBody>
      </p:sp>
      <p:sp>
        <p:nvSpPr>
          <p:cNvPr id="3" name="Marcador de contenido 2">
            <a:extLst>
              <a:ext uri="{FF2B5EF4-FFF2-40B4-BE49-F238E27FC236}">
                <a16:creationId xmlns:a16="http://schemas.microsoft.com/office/drawing/2014/main" id="{96C3A86A-FA58-A4A6-862D-66204DD7F68B}"/>
              </a:ext>
            </a:extLst>
          </p:cNvPr>
          <p:cNvSpPr>
            <a:spLocks noGrp="1"/>
          </p:cNvSpPr>
          <p:nvPr>
            <p:ph idx="1"/>
          </p:nvPr>
        </p:nvSpPr>
        <p:spPr>
          <a:xfrm>
            <a:off x="864382" y="2489200"/>
            <a:ext cx="7732966" cy="800652"/>
          </a:xfrm>
        </p:spPr>
        <p:txBody>
          <a:bodyPr/>
          <a:lstStyle/>
          <a:p>
            <a:r>
              <a:rPr lang="es-AR" dirty="0"/>
              <a:t>Composite es una decisión de dominio. No nace por </a:t>
            </a:r>
            <a:r>
              <a:rPr lang="es-AR" dirty="0" err="1"/>
              <a:t>Hibernate</a:t>
            </a:r>
            <a:r>
              <a:rPr lang="es-AR" dirty="0"/>
              <a:t> ni por Swing. </a:t>
            </a:r>
            <a:r>
              <a:rPr lang="es-AR" dirty="0" err="1"/>
              <a:t>Hibernate</a:t>
            </a:r>
            <a:r>
              <a:rPr lang="es-AR" dirty="0"/>
              <a:t> solo lo persiste.</a:t>
            </a:r>
          </a:p>
          <a:p>
            <a:pPr marL="0" indent="0">
              <a:buNone/>
            </a:pPr>
            <a:endParaRPr lang="es-AR" dirty="0"/>
          </a:p>
        </p:txBody>
      </p:sp>
      <p:sp>
        <p:nvSpPr>
          <p:cNvPr id="4" name="Rounded Rectangle 7">
            <a:extLst>
              <a:ext uri="{FF2B5EF4-FFF2-40B4-BE49-F238E27FC236}">
                <a16:creationId xmlns:a16="http://schemas.microsoft.com/office/drawing/2014/main" id="{218838D3-348F-BFDC-5164-2A75A355725A}"/>
              </a:ext>
            </a:extLst>
          </p:cNvPr>
          <p:cNvSpPr/>
          <p:nvPr/>
        </p:nvSpPr>
        <p:spPr>
          <a:xfrm>
            <a:off x="59646" y="3568149"/>
            <a:ext cx="2236019" cy="1097280"/>
          </a:xfrm>
          <a:prstGeom prst="roundRect">
            <a:avLst/>
          </a:prstGeom>
          <a:solidFill>
            <a:srgbClr val="2E234A"/>
          </a:solidFill>
          <a:ln w="15240">
            <a:solidFill>
              <a:srgbClr val="58D6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8">
            <a:extLst>
              <a:ext uri="{FF2B5EF4-FFF2-40B4-BE49-F238E27FC236}">
                <a16:creationId xmlns:a16="http://schemas.microsoft.com/office/drawing/2014/main" id="{C1F86AC2-6465-8561-D3CC-6A9AF6E94283}"/>
              </a:ext>
            </a:extLst>
          </p:cNvPr>
          <p:cNvSpPr txBox="1"/>
          <p:nvPr/>
        </p:nvSpPr>
        <p:spPr>
          <a:xfrm>
            <a:off x="59647" y="3770317"/>
            <a:ext cx="2236020" cy="738664"/>
          </a:xfrm>
          <a:prstGeom prst="rect">
            <a:avLst/>
          </a:prstGeom>
          <a:noFill/>
        </p:spPr>
        <p:txBody>
          <a:bodyPr wrap="square" anchor="ctr">
            <a:spAutoFit/>
          </a:bodyPr>
          <a:lstStyle/>
          <a:p>
            <a:pPr algn="ctr">
              <a:defRPr sz="1400" b="1">
                <a:solidFill>
                  <a:srgbClr val="F8F4FF"/>
                </a:solidFill>
              </a:defRPr>
            </a:pPr>
            <a:r>
              <a:rPr dirty="0"/>
              <a:t>Domain</a:t>
            </a:r>
            <a:br>
              <a:rPr dirty="0"/>
            </a:br>
            <a:r>
              <a:rPr dirty="0"/>
              <a:t>Vendible, </a:t>
            </a:r>
            <a:r>
              <a:rPr dirty="0" err="1"/>
              <a:t>Producto</a:t>
            </a:r>
            <a:r>
              <a:rPr dirty="0"/>
              <a:t>, Combo, </a:t>
            </a:r>
            <a:r>
              <a:rPr dirty="0" err="1"/>
              <a:t>Pedido</a:t>
            </a:r>
            <a:endParaRPr dirty="0"/>
          </a:p>
        </p:txBody>
      </p:sp>
      <p:sp>
        <p:nvSpPr>
          <p:cNvPr id="6" name="Rounded Rectangle 9">
            <a:extLst>
              <a:ext uri="{FF2B5EF4-FFF2-40B4-BE49-F238E27FC236}">
                <a16:creationId xmlns:a16="http://schemas.microsoft.com/office/drawing/2014/main" id="{1887568D-AAEB-E4B1-DA16-57A1827DB89B}"/>
              </a:ext>
            </a:extLst>
          </p:cNvPr>
          <p:cNvSpPr/>
          <p:nvPr/>
        </p:nvSpPr>
        <p:spPr>
          <a:xfrm>
            <a:off x="2445037" y="3568149"/>
            <a:ext cx="2236019" cy="1097280"/>
          </a:xfrm>
          <a:prstGeom prst="roundRect">
            <a:avLst/>
          </a:prstGeom>
          <a:solidFill>
            <a:srgbClr val="2E234A"/>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10">
            <a:extLst>
              <a:ext uri="{FF2B5EF4-FFF2-40B4-BE49-F238E27FC236}">
                <a16:creationId xmlns:a16="http://schemas.microsoft.com/office/drawing/2014/main" id="{186765C2-39F2-B2AE-9308-57DE6317F2E0}"/>
              </a:ext>
            </a:extLst>
          </p:cNvPr>
          <p:cNvSpPr txBox="1"/>
          <p:nvPr/>
        </p:nvSpPr>
        <p:spPr>
          <a:xfrm>
            <a:off x="2472468" y="3770317"/>
            <a:ext cx="2210219" cy="738664"/>
          </a:xfrm>
          <a:prstGeom prst="rect">
            <a:avLst/>
          </a:prstGeom>
          <a:noFill/>
        </p:spPr>
        <p:txBody>
          <a:bodyPr wrap="square" anchor="ctr">
            <a:spAutoFit/>
          </a:bodyPr>
          <a:lstStyle/>
          <a:p>
            <a:pPr algn="ctr">
              <a:defRPr sz="1400" b="1">
                <a:solidFill>
                  <a:srgbClr val="F8F4FF"/>
                </a:solidFill>
              </a:defRPr>
            </a:pPr>
            <a:r>
              <a:rPr dirty="0"/>
              <a:t>Application</a:t>
            </a:r>
            <a:br>
              <a:rPr dirty="0"/>
            </a:br>
            <a:r>
              <a:rPr dirty="0" err="1"/>
              <a:t>MagicCafeService</a:t>
            </a:r>
            <a:r>
              <a:rPr dirty="0"/>
              <a:t> + DTOs</a:t>
            </a:r>
          </a:p>
        </p:txBody>
      </p:sp>
      <p:sp>
        <p:nvSpPr>
          <p:cNvPr id="8" name="Rounded Rectangle 11">
            <a:extLst>
              <a:ext uri="{FF2B5EF4-FFF2-40B4-BE49-F238E27FC236}">
                <a16:creationId xmlns:a16="http://schemas.microsoft.com/office/drawing/2014/main" id="{F7F76989-8D0F-42BA-108B-A289DA7DA00F}"/>
              </a:ext>
            </a:extLst>
          </p:cNvPr>
          <p:cNvSpPr/>
          <p:nvPr/>
        </p:nvSpPr>
        <p:spPr>
          <a:xfrm>
            <a:off x="4828155" y="3568149"/>
            <a:ext cx="2236019" cy="1097280"/>
          </a:xfrm>
          <a:prstGeom prst="roundRect">
            <a:avLst/>
          </a:prstGeom>
          <a:solidFill>
            <a:srgbClr val="2E234A"/>
          </a:solidFill>
          <a:ln w="15240">
            <a:solidFill>
              <a:srgbClr val="F2C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12">
            <a:extLst>
              <a:ext uri="{FF2B5EF4-FFF2-40B4-BE49-F238E27FC236}">
                <a16:creationId xmlns:a16="http://schemas.microsoft.com/office/drawing/2014/main" id="{F208DB45-FC8A-C0A1-6F7A-85E54E6AF219}"/>
              </a:ext>
            </a:extLst>
          </p:cNvPr>
          <p:cNvSpPr txBox="1"/>
          <p:nvPr/>
        </p:nvSpPr>
        <p:spPr>
          <a:xfrm>
            <a:off x="4828154" y="3770317"/>
            <a:ext cx="2236019" cy="738664"/>
          </a:xfrm>
          <a:prstGeom prst="rect">
            <a:avLst/>
          </a:prstGeom>
          <a:noFill/>
        </p:spPr>
        <p:txBody>
          <a:bodyPr wrap="square" anchor="ctr">
            <a:spAutoFit/>
          </a:bodyPr>
          <a:lstStyle/>
          <a:p>
            <a:pPr algn="ctr">
              <a:defRPr sz="1400" b="1">
                <a:solidFill>
                  <a:srgbClr val="F8F4FF"/>
                </a:solidFill>
              </a:defRPr>
            </a:pPr>
            <a:r>
              <a:t>Infrastructure</a:t>
            </a:r>
            <a:br/>
            <a:r>
              <a:t>JpaRepository + Hibernate</a:t>
            </a:r>
          </a:p>
        </p:txBody>
      </p:sp>
      <p:sp>
        <p:nvSpPr>
          <p:cNvPr id="10" name="Rounded Rectangle 13">
            <a:extLst>
              <a:ext uri="{FF2B5EF4-FFF2-40B4-BE49-F238E27FC236}">
                <a16:creationId xmlns:a16="http://schemas.microsoft.com/office/drawing/2014/main" id="{198DCD34-C50B-8024-1CC2-C0307F37F8BC}"/>
              </a:ext>
            </a:extLst>
          </p:cNvPr>
          <p:cNvSpPr/>
          <p:nvPr/>
        </p:nvSpPr>
        <p:spPr>
          <a:xfrm>
            <a:off x="7209642" y="3568149"/>
            <a:ext cx="1892016" cy="1097280"/>
          </a:xfrm>
          <a:prstGeom prst="roundRect">
            <a:avLst/>
          </a:prstGeom>
          <a:solidFill>
            <a:srgbClr val="2E234A"/>
          </a:solidFill>
          <a:ln w="15240">
            <a:solidFill>
              <a:srgbClr val="7E5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4">
            <a:extLst>
              <a:ext uri="{FF2B5EF4-FFF2-40B4-BE49-F238E27FC236}">
                <a16:creationId xmlns:a16="http://schemas.microsoft.com/office/drawing/2014/main" id="{8C6B9812-92AC-019E-681E-7859ACCAD7D5}"/>
              </a:ext>
            </a:extLst>
          </p:cNvPr>
          <p:cNvSpPr txBox="1"/>
          <p:nvPr/>
        </p:nvSpPr>
        <p:spPr>
          <a:xfrm>
            <a:off x="7209641" y="3770317"/>
            <a:ext cx="1892016" cy="738664"/>
          </a:xfrm>
          <a:prstGeom prst="rect">
            <a:avLst/>
          </a:prstGeom>
          <a:noFill/>
        </p:spPr>
        <p:txBody>
          <a:bodyPr wrap="square" anchor="ctr">
            <a:spAutoFit/>
          </a:bodyPr>
          <a:lstStyle/>
          <a:p>
            <a:pPr algn="ctr">
              <a:defRPr sz="1400" b="1">
                <a:solidFill>
                  <a:srgbClr val="F8F4FF"/>
                </a:solidFill>
              </a:defRPr>
            </a:pPr>
            <a:r>
              <a:rPr dirty="0"/>
              <a:t>Presentation</a:t>
            </a:r>
            <a:br>
              <a:rPr dirty="0"/>
            </a:br>
            <a:r>
              <a:rPr dirty="0"/>
              <a:t>Swing UI + Controller</a:t>
            </a:r>
          </a:p>
        </p:txBody>
      </p:sp>
    </p:spTree>
    <p:extLst>
      <p:ext uri="{BB962C8B-B14F-4D97-AF65-F5344CB8AC3E}">
        <p14:creationId xmlns:p14="http://schemas.microsoft.com/office/powerpoint/2010/main" val="30842476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DE27E7-D305-DB40-720B-A620B67EB3F2}"/>
              </a:ext>
            </a:extLst>
          </p:cNvPr>
          <p:cNvSpPr>
            <a:spLocks noGrp="1"/>
          </p:cNvSpPr>
          <p:nvPr>
            <p:ph type="title"/>
          </p:nvPr>
        </p:nvSpPr>
        <p:spPr/>
        <p:txBody>
          <a:bodyPr/>
          <a:lstStyle/>
          <a:p>
            <a:r>
              <a:rPr lang="es-AR" dirty="0"/>
              <a:t>Cómo mejora el diseño?</a:t>
            </a:r>
          </a:p>
        </p:txBody>
      </p:sp>
      <p:sp>
        <p:nvSpPr>
          <p:cNvPr id="3" name="Marcador de contenido 2">
            <a:extLst>
              <a:ext uri="{FF2B5EF4-FFF2-40B4-BE49-F238E27FC236}">
                <a16:creationId xmlns:a16="http://schemas.microsoft.com/office/drawing/2014/main" id="{87439DEC-DA98-9747-ADB8-B5B2F7C875D8}"/>
              </a:ext>
            </a:extLst>
          </p:cNvPr>
          <p:cNvSpPr>
            <a:spLocks noGrp="1"/>
          </p:cNvSpPr>
          <p:nvPr>
            <p:ph idx="1"/>
          </p:nvPr>
        </p:nvSpPr>
        <p:spPr>
          <a:xfrm>
            <a:off x="864381" y="2489200"/>
            <a:ext cx="7693209" cy="2221948"/>
          </a:xfrm>
        </p:spPr>
        <p:txBody>
          <a:bodyPr>
            <a:normAutofit/>
          </a:bodyPr>
          <a:lstStyle/>
          <a:p>
            <a:r>
              <a:rPr lang="es-AR" dirty="0"/>
              <a:t>Pedido depende de Vendible, no de Producto concreto</a:t>
            </a:r>
          </a:p>
          <a:p>
            <a:r>
              <a:rPr lang="es-AR" dirty="0"/>
              <a:t>Se pueden agregar nuevos tipos vendibles sin tocar Pedido</a:t>
            </a:r>
          </a:p>
          <a:p>
            <a:r>
              <a:rPr lang="es-AR" dirty="0"/>
              <a:t>Combo reutiliza la misma operación </a:t>
            </a:r>
            <a:r>
              <a:rPr lang="es-AR" dirty="0" err="1"/>
              <a:t>calcularPrecio</a:t>
            </a:r>
            <a:r>
              <a:rPr lang="es-AR" dirty="0"/>
              <a:t>()</a:t>
            </a:r>
          </a:p>
          <a:p>
            <a:r>
              <a:rPr lang="es-AR" dirty="0"/>
              <a:t>La UI puede listar productos y combos en el mismo control</a:t>
            </a:r>
          </a:p>
          <a:p>
            <a:r>
              <a:rPr lang="es-AR" dirty="0" err="1"/>
              <a:t>Hibernate</a:t>
            </a:r>
            <a:r>
              <a:rPr lang="es-AR" dirty="0"/>
              <a:t> reconstruye el subtipo real con </a:t>
            </a:r>
            <a:r>
              <a:rPr lang="es-AR" dirty="0" err="1"/>
              <a:t>tipo_vendible</a:t>
            </a:r>
            <a:endParaRPr lang="es-AR" dirty="0"/>
          </a:p>
        </p:txBody>
      </p:sp>
      <p:sp>
        <p:nvSpPr>
          <p:cNvPr id="4" name="Rounded Rectangle 8">
            <a:extLst>
              <a:ext uri="{FF2B5EF4-FFF2-40B4-BE49-F238E27FC236}">
                <a16:creationId xmlns:a16="http://schemas.microsoft.com/office/drawing/2014/main" id="{F507BEBC-1004-6C70-81E1-3E1CF95CC888}"/>
              </a:ext>
            </a:extLst>
          </p:cNvPr>
          <p:cNvSpPr/>
          <p:nvPr/>
        </p:nvSpPr>
        <p:spPr>
          <a:xfrm>
            <a:off x="5194513" y="4711148"/>
            <a:ext cx="3085106" cy="1953493"/>
          </a:xfrm>
          <a:prstGeom prst="roundRect">
            <a:avLst/>
          </a:prstGeom>
          <a:solidFill>
            <a:srgbClr val="241A3B"/>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5" name="TextBox 9">
            <a:extLst>
              <a:ext uri="{FF2B5EF4-FFF2-40B4-BE49-F238E27FC236}">
                <a16:creationId xmlns:a16="http://schemas.microsoft.com/office/drawing/2014/main" id="{E7818BB1-A710-357C-AC61-632E2CFC48CC}"/>
              </a:ext>
            </a:extLst>
          </p:cNvPr>
          <p:cNvSpPr txBox="1"/>
          <p:nvPr/>
        </p:nvSpPr>
        <p:spPr>
          <a:xfrm>
            <a:off x="5395681" y="4839164"/>
            <a:ext cx="2708037" cy="307777"/>
          </a:xfrm>
          <a:prstGeom prst="rect">
            <a:avLst/>
          </a:prstGeom>
          <a:noFill/>
        </p:spPr>
        <p:txBody>
          <a:bodyPr wrap="square">
            <a:spAutoFit/>
          </a:bodyPr>
          <a:lstStyle/>
          <a:p>
            <a:pPr>
              <a:defRPr sz="1300" b="1">
                <a:solidFill>
                  <a:srgbClr val="F8F4FF"/>
                </a:solidFill>
              </a:defRPr>
            </a:pPr>
            <a:r>
              <a:rPr sz="1400" dirty="0"/>
              <a:t>SOLID</a:t>
            </a:r>
          </a:p>
        </p:txBody>
      </p:sp>
      <p:sp>
        <p:nvSpPr>
          <p:cNvPr id="6" name="TextBox 10">
            <a:extLst>
              <a:ext uri="{FF2B5EF4-FFF2-40B4-BE49-F238E27FC236}">
                <a16:creationId xmlns:a16="http://schemas.microsoft.com/office/drawing/2014/main" id="{F8BD53FB-6960-BC23-5E9B-7C7339EBE805}"/>
              </a:ext>
            </a:extLst>
          </p:cNvPr>
          <p:cNvSpPr txBox="1"/>
          <p:nvPr/>
        </p:nvSpPr>
        <p:spPr>
          <a:xfrm>
            <a:off x="5468833" y="5076908"/>
            <a:ext cx="2570922" cy="1384995"/>
          </a:xfrm>
          <a:prstGeom prst="rect">
            <a:avLst/>
          </a:prstGeom>
          <a:noFill/>
        </p:spPr>
        <p:txBody>
          <a:bodyPr wrap="square" lIns="18288" rIns="18288">
            <a:spAutoFit/>
          </a:bodyPr>
          <a:lstStyle/>
          <a:p>
            <a:pPr algn="ctr">
              <a:defRPr sz="1800" b="0">
                <a:solidFill>
                  <a:srgbClr val="F8F4FF"/>
                </a:solidFill>
              </a:defRPr>
            </a:pPr>
            <a:r>
              <a:rPr sz="1200" dirty="0"/>
              <a:t>Open/Closed Principle</a:t>
            </a:r>
          </a:p>
          <a:p>
            <a:pPr algn="ctr">
              <a:defRPr sz="1800" b="0">
                <a:solidFill>
                  <a:srgbClr val="F8F4FF"/>
                </a:solidFill>
              </a:defRPr>
            </a:pPr>
            <a:endParaRPr sz="1200" dirty="0"/>
          </a:p>
          <a:p>
            <a:pPr algn="ctr">
              <a:defRPr sz="1800" b="0">
                <a:solidFill>
                  <a:srgbClr val="F8F4FF"/>
                </a:solidFill>
              </a:defRPr>
            </a:pPr>
            <a:r>
              <a:rPr sz="1200" dirty="0"/>
              <a:t>Abierto para extender:</a:t>
            </a:r>
          </a:p>
          <a:p>
            <a:pPr algn="ctr">
              <a:defRPr sz="1800" b="0">
                <a:solidFill>
                  <a:srgbClr val="F8F4FF"/>
                </a:solidFill>
              </a:defRPr>
            </a:pPr>
            <a:r>
              <a:rPr sz="1200" dirty="0" err="1"/>
              <a:t>NuevoVendible</a:t>
            </a:r>
            <a:endParaRPr sz="1200" dirty="0"/>
          </a:p>
          <a:p>
            <a:pPr algn="ctr">
              <a:defRPr sz="1800" b="0">
                <a:solidFill>
                  <a:srgbClr val="F8F4FF"/>
                </a:solidFill>
              </a:defRPr>
            </a:pPr>
            <a:endParaRPr sz="1200" dirty="0"/>
          </a:p>
          <a:p>
            <a:pPr algn="ctr">
              <a:defRPr sz="1800" b="0">
                <a:solidFill>
                  <a:srgbClr val="F8F4FF"/>
                </a:solidFill>
              </a:defRPr>
            </a:pPr>
            <a:r>
              <a:rPr sz="1200" dirty="0"/>
              <a:t>Cerrado para </a:t>
            </a:r>
            <a:r>
              <a:rPr sz="1200" dirty="0" err="1"/>
              <a:t>modificar</a:t>
            </a:r>
            <a:r>
              <a:rPr sz="1200" dirty="0"/>
              <a:t>:</a:t>
            </a:r>
          </a:p>
          <a:p>
            <a:pPr algn="ctr">
              <a:defRPr sz="1800" b="0">
                <a:solidFill>
                  <a:srgbClr val="F8F4FF"/>
                </a:solidFill>
              </a:defRPr>
            </a:pPr>
            <a:r>
              <a:rPr sz="1200" dirty="0" err="1"/>
              <a:t>Pedido</a:t>
            </a:r>
            <a:endParaRPr sz="1200" dirty="0"/>
          </a:p>
        </p:txBody>
      </p:sp>
    </p:spTree>
    <p:extLst>
      <p:ext uri="{BB962C8B-B14F-4D97-AF65-F5344CB8AC3E}">
        <p14:creationId xmlns:p14="http://schemas.microsoft.com/office/powerpoint/2010/main" val="33856311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CD03DD-4B45-E933-0EED-D32A36135377}"/>
              </a:ext>
            </a:extLst>
          </p:cNvPr>
          <p:cNvSpPr>
            <a:spLocks noGrp="1"/>
          </p:cNvSpPr>
          <p:nvPr>
            <p:ph type="title"/>
          </p:nvPr>
        </p:nvSpPr>
        <p:spPr/>
        <p:txBody>
          <a:bodyPr/>
          <a:lstStyle/>
          <a:p>
            <a:r>
              <a:rPr lang="es-AR" dirty="0"/>
              <a:t>Level Up!</a:t>
            </a:r>
          </a:p>
        </p:txBody>
      </p:sp>
      <p:sp>
        <p:nvSpPr>
          <p:cNvPr id="3" name="Marcador de contenido 2">
            <a:extLst>
              <a:ext uri="{FF2B5EF4-FFF2-40B4-BE49-F238E27FC236}">
                <a16:creationId xmlns:a16="http://schemas.microsoft.com/office/drawing/2014/main" id="{2E0890D6-E6D2-72CC-3F3E-3A111128197C}"/>
              </a:ext>
            </a:extLst>
          </p:cNvPr>
          <p:cNvSpPr>
            <a:spLocks noGrp="1"/>
          </p:cNvSpPr>
          <p:nvPr>
            <p:ph idx="1"/>
          </p:nvPr>
        </p:nvSpPr>
        <p:spPr>
          <a:xfrm>
            <a:off x="864381" y="2489200"/>
            <a:ext cx="7481759" cy="3530600"/>
          </a:xfrm>
        </p:spPr>
        <p:txBody>
          <a:bodyPr/>
          <a:lstStyle/>
          <a:p>
            <a:r>
              <a:rPr lang="es-AR" dirty="0"/>
              <a:t>Crear un </a:t>
            </a:r>
            <a:r>
              <a:rPr lang="es-AR" b="1" dirty="0"/>
              <a:t>Combo</a:t>
            </a:r>
            <a:r>
              <a:rPr lang="es-AR" dirty="0"/>
              <a:t> </a:t>
            </a:r>
            <a:r>
              <a:rPr lang="es-AR" b="1" dirty="0"/>
              <a:t>Premium</a:t>
            </a:r>
            <a:r>
              <a:rPr lang="es-AR" dirty="0"/>
              <a:t> que contenga otro </a:t>
            </a:r>
            <a:r>
              <a:rPr lang="es-AR" b="1" dirty="0"/>
              <a:t>Combo</a:t>
            </a:r>
            <a:r>
              <a:rPr lang="es-AR" dirty="0"/>
              <a:t>.</a:t>
            </a:r>
          </a:p>
          <a:p>
            <a:r>
              <a:rPr lang="es-AR" dirty="0"/>
              <a:t>Agregar un nuevo tipo Vendible: </a:t>
            </a:r>
            <a:r>
              <a:rPr lang="es-AR" b="1" dirty="0" err="1"/>
              <a:t>ProductoEdicionLimitada</a:t>
            </a:r>
            <a:r>
              <a:rPr lang="es-AR" dirty="0"/>
              <a:t>.</a:t>
            </a:r>
          </a:p>
          <a:p>
            <a:r>
              <a:rPr lang="es-AR" dirty="0"/>
              <a:t>Mostrar en la UI si el ítem es Producto o Combo.</a:t>
            </a:r>
          </a:p>
          <a:p>
            <a:r>
              <a:rPr lang="es-AR" dirty="0"/>
              <a:t>Persistir y verificar las tablas vendibles y </a:t>
            </a:r>
            <a:r>
              <a:rPr lang="es-AR" dirty="0" err="1"/>
              <a:t>combo_items</a:t>
            </a:r>
            <a:r>
              <a:rPr lang="es-AR" dirty="0"/>
              <a:t>.</a:t>
            </a:r>
          </a:p>
          <a:p>
            <a:r>
              <a:rPr lang="es-AR" dirty="0"/>
              <a:t>Explicar qué parte del código cambió y cuál no.</a:t>
            </a:r>
          </a:p>
          <a:p>
            <a:r>
              <a:rPr lang="es-AR" dirty="0"/>
              <a:t>¿Qué clases </a:t>
            </a:r>
            <a:r>
              <a:rPr lang="es-AR" b="1" dirty="0"/>
              <a:t>NO</a:t>
            </a:r>
            <a:r>
              <a:rPr lang="es-AR" dirty="0"/>
              <a:t> deberían modificarse al agregar un nuevo tipo de Vendible?</a:t>
            </a:r>
          </a:p>
        </p:txBody>
      </p:sp>
    </p:spTree>
    <p:extLst>
      <p:ext uri="{BB962C8B-B14F-4D97-AF65-F5344CB8AC3E}">
        <p14:creationId xmlns:p14="http://schemas.microsoft.com/office/powerpoint/2010/main" val="21761106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92732D-A1C4-0759-F354-AA65AB8EAA55}"/>
              </a:ext>
            </a:extLst>
          </p:cNvPr>
          <p:cNvSpPr>
            <a:spLocks noGrp="1"/>
          </p:cNvSpPr>
          <p:nvPr>
            <p:ph type="title"/>
          </p:nvPr>
        </p:nvSpPr>
        <p:spPr/>
        <p:txBody>
          <a:bodyPr/>
          <a:lstStyle/>
          <a:p>
            <a:r>
              <a:rPr lang="es-AR" dirty="0" err="1"/>
              <a:t>Decorator</a:t>
            </a:r>
            <a:endParaRPr lang="es-AR" dirty="0"/>
          </a:p>
        </p:txBody>
      </p:sp>
      <p:sp>
        <p:nvSpPr>
          <p:cNvPr id="3" name="Marcador de contenido 2">
            <a:extLst>
              <a:ext uri="{FF2B5EF4-FFF2-40B4-BE49-F238E27FC236}">
                <a16:creationId xmlns:a16="http://schemas.microsoft.com/office/drawing/2014/main" id="{7EA24F87-B906-B9BE-8388-51B9E89EEE9F}"/>
              </a:ext>
            </a:extLst>
          </p:cNvPr>
          <p:cNvSpPr>
            <a:spLocks noGrp="1"/>
          </p:cNvSpPr>
          <p:nvPr>
            <p:ph idx="1"/>
          </p:nvPr>
        </p:nvSpPr>
        <p:spPr>
          <a:xfrm>
            <a:off x="864381" y="2489200"/>
            <a:ext cx="7759665" cy="4010212"/>
          </a:xfrm>
        </p:spPr>
        <p:txBody>
          <a:bodyPr>
            <a:normAutofit lnSpcReduction="10000"/>
          </a:bodyPr>
          <a:lstStyle/>
          <a:p>
            <a:r>
              <a:rPr lang="es-AR" dirty="0"/>
              <a:t>Es un patrón </a:t>
            </a:r>
            <a:r>
              <a:rPr lang="es-AR" b="1" dirty="0"/>
              <a:t>Estructural.</a:t>
            </a:r>
          </a:p>
          <a:p>
            <a:r>
              <a:rPr lang="es-AR" dirty="0"/>
              <a:t>Agrega responsabilidades a un objeto dinámicamente. Es una alternativa flexible a la herencia para añadir funcionalidades.</a:t>
            </a:r>
          </a:p>
          <a:p>
            <a:r>
              <a:rPr lang="es-AR" b="1" dirty="0"/>
              <a:t>Motivación</a:t>
            </a:r>
          </a:p>
          <a:p>
            <a:pPr lvl="1"/>
            <a:r>
              <a:rPr lang="es-AR" dirty="0"/>
              <a:t>Se desea añadir funcionalidad a un objeto concreto, no a una clase entera.</a:t>
            </a:r>
          </a:p>
          <a:p>
            <a:r>
              <a:rPr lang="es-AR" b="1" dirty="0"/>
              <a:t>Aplicabilidad</a:t>
            </a:r>
            <a:endParaRPr lang="es-AR" dirty="0"/>
          </a:p>
          <a:p>
            <a:pPr lvl="1"/>
            <a:r>
              <a:rPr lang="es-AR" dirty="0"/>
              <a:t>Añadir responsabilidades a objetos concretos de manera dinámica y transparente, sin afectar a otros objetos.</a:t>
            </a:r>
          </a:p>
          <a:p>
            <a:pPr lvl="1"/>
            <a:r>
              <a:rPr lang="es-AR" dirty="0"/>
              <a:t>Cuando las responsabilidades se pueden otorgar o derogar.</a:t>
            </a:r>
          </a:p>
          <a:p>
            <a:pPr lvl="1"/>
            <a:r>
              <a:rPr lang="es-AR" dirty="0"/>
              <a:t>Cuando la herencia sea muy compleja porque implique la creación de múltiples subclases para dar soporte a todas las combinaciones posibles.</a:t>
            </a:r>
          </a:p>
        </p:txBody>
      </p:sp>
    </p:spTree>
    <p:extLst>
      <p:ext uri="{BB962C8B-B14F-4D97-AF65-F5344CB8AC3E}">
        <p14:creationId xmlns:p14="http://schemas.microsoft.com/office/powerpoint/2010/main" val="15881767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B2566A-4071-C06B-7C2D-A303F63D92DC}"/>
              </a:ext>
            </a:extLst>
          </p:cNvPr>
          <p:cNvSpPr>
            <a:spLocks noGrp="1"/>
          </p:cNvSpPr>
          <p:nvPr>
            <p:ph type="title"/>
          </p:nvPr>
        </p:nvSpPr>
        <p:spPr/>
        <p:txBody>
          <a:bodyPr/>
          <a:lstStyle/>
          <a:p>
            <a:r>
              <a:rPr lang="es-AR" dirty="0"/>
              <a:t>Consecuencias</a:t>
            </a:r>
          </a:p>
        </p:txBody>
      </p:sp>
      <p:sp>
        <p:nvSpPr>
          <p:cNvPr id="6" name="Marcador de contenido 5">
            <a:extLst>
              <a:ext uri="{FF2B5EF4-FFF2-40B4-BE49-F238E27FC236}">
                <a16:creationId xmlns:a16="http://schemas.microsoft.com/office/drawing/2014/main" id="{72284F48-9FC7-7CE1-0F33-A0CE2DC769EF}"/>
              </a:ext>
            </a:extLst>
          </p:cNvPr>
          <p:cNvSpPr>
            <a:spLocks noGrp="1"/>
          </p:cNvSpPr>
          <p:nvPr>
            <p:ph idx="1"/>
          </p:nvPr>
        </p:nvSpPr>
        <p:spPr>
          <a:xfrm>
            <a:off x="864382" y="2489200"/>
            <a:ext cx="7589336" cy="3530600"/>
          </a:xfrm>
        </p:spPr>
        <p:txBody>
          <a:bodyPr>
            <a:normAutofit/>
          </a:bodyPr>
          <a:lstStyle/>
          <a:p>
            <a:r>
              <a:rPr lang="es-AR" dirty="0"/>
              <a:t>Es la más flexible que la herencia estática. Las responsabilidades se añade y eliminan dinámicamente.</a:t>
            </a:r>
          </a:p>
          <a:p>
            <a:pPr lvl="1"/>
            <a:r>
              <a:rPr lang="es-AR" dirty="0"/>
              <a:t>Facilita definir una propiedad varias veces.</a:t>
            </a:r>
          </a:p>
          <a:p>
            <a:r>
              <a:rPr lang="es-AR" dirty="0"/>
              <a:t>Evita una complejidad en las clases más altas en las jerarquías.</a:t>
            </a:r>
          </a:p>
          <a:p>
            <a:pPr lvl="1"/>
            <a:r>
              <a:rPr lang="es-AR" dirty="0"/>
              <a:t>Se facilita la definición de nuevos decoradores</a:t>
            </a:r>
          </a:p>
          <a:p>
            <a:r>
              <a:rPr lang="es-AR" dirty="0"/>
              <a:t>Un decorador y el componente al que se refieren no son idénticos (tienen identificador distinto)</a:t>
            </a:r>
          </a:p>
          <a:p>
            <a:r>
              <a:rPr lang="es-AR" dirty="0"/>
              <a:t>Provoca la creación de muchos objetos pequeños parecidos y encadenados, dificultando la depuración</a:t>
            </a:r>
          </a:p>
        </p:txBody>
      </p:sp>
    </p:spTree>
    <p:extLst>
      <p:ext uri="{BB962C8B-B14F-4D97-AF65-F5344CB8AC3E}">
        <p14:creationId xmlns:p14="http://schemas.microsoft.com/office/powerpoint/2010/main" val="32807738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E8442B-7424-7E8B-E9E8-16F278E94D9E}"/>
              </a:ext>
            </a:extLst>
          </p:cNvPr>
          <p:cNvSpPr>
            <a:spLocks noGrp="1"/>
          </p:cNvSpPr>
          <p:nvPr>
            <p:ph type="title"/>
          </p:nvPr>
        </p:nvSpPr>
        <p:spPr/>
        <p:txBody>
          <a:bodyPr/>
          <a:lstStyle/>
          <a:p>
            <a:r>
              <a:rPr lang="es-AR" dirty="0"/>
              <a:t>Diagrama UML</a:t>
            </a:r>
          </a:p>
        </p:txBody>
      </p:sp>
      <p:pic>
        <p:nvPicPr>
          <p:cNvPr id="4" name="Imagen 3">
            <a:extLst>
              <a:ext uri="{FF2B5EF4-FFF2-40B4-BE49-F238E27FC236}">
                <a16:creationId xmlns:a16="http://schemas.microsoft.com/office/drawing/2014/main" id="{6257D281-804F-D538-0A3E-3B82DE2E4843}"/>
              </a:ext>
            </a:extLst>
          </p:cNvPr>
          <p:cNvPicPr>
            <a:picLocks noChangeAspect="1"/>
          </p:cNvPicPr>
          <p:nvPr/>
        </p:nvPicPr>
        <p:blipFill>
          <a:blip r:embed="rId2"/>
          <a:stretch>
            <a:fillRect/>
          </a:stretch>
        </p:blipFill>
        <p:spPr>
          <a:xfrm>
            <a:off x="1440069" y="2382972"/>
            <a:ext cx="6263861" cy="3809105"/>
          </a:xfrm>
          <a:prstGeom prst="rect">
            <a:avLst/>
          </a:prstGeom>
        </p:spPr>
      </p:pic>
    </p:spTree>
    <p:extLst>
      <p:ext uri="{BB962C8B-B14F-4D97-AF65-F5344CB8AC3E}">
        <p14:creationId xmlns:p14="http://schemas.microsoft.com/office/powerpoint/2010/main" val="39558385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
            <a:extLst>
              <a:ext uri="{FF2B5EF4-FFF2-40B4-BE49-F238E27FC236}">
                <a16:creationId xmlns:a16="http://schemas.microsoft.com/office/drawing/2014/main" id="{1BE72135-F4F8-391D-3418-CAE498F5CDAB}"/>
              </a:ext>
            </a:extLst>
          </p:cNvPr>
          <p:cNvSpPr/>
          <p:nvPr/>
        </p:nvSpPr>
        <p:spPr>
          <a:xfrm>
            <a:off x="4871839" y="3790523"/>
            <a:ext cx="2955305" cy="2853872"/>
          </a:xfrm>
          <a:prstGeom prst="roundRect">
            <a:avLst>
              <a:gd name="adj" fmla="val 11327"/>
            </a:avLst>
          </a:prstGeom>
          <a:solidFill>
            <a:srgbClr val="0A0523"/>
          </a:solidFill>
          <a:ln w="254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ítulo 1">
            <a:extLst>
              <a:ext uri="{FF2B5EF4-FFF2-40B4-BE49-F238E27FC236}">
                <a16:creationId xmlns:a16="http://schemas.microsoft.com/office/drawing/2014/main" id="{0479742B-437B-D40A-DF79-EF748C6624C2}"/>
              </a:ext>
            </a:extLst>
          </p:cNvPr>
          <p:cNvSpPr>
            <a:spLocks noGrp="1"/>
          </p:cNvSpPr>
          <p:nvPr>
            <p:ph type="title"/>
          </p:nvPr>
        </p:nvSpPr>
        <p:spPr/>
        <p:txBody>
          <a:bodyPr/>
          <a:lstStyle/>
          <a:p>
            <a:r>
              <a:rPr lang="es-AR" dirty="0"/>
              <a:t>Magic Café ☕✨</a:t>
            </a:r>
          </a:p>
        </p:txBody>
      </p:sp>
      <p:sp>
        <p:nvSpPr>
          <p:cNvPr id="3" name="Marcador de contenido 2">
            <a:extLst>
              <a:ext uri="{FF2B5EF4-FFF2-40B4-BE49-F238E27FC236}">
                <a16:creationId xmlns:a16="http://schemas.microsoft.com/office/drawing/2014/main" id="{B50A95D4-260C-1FE9-62BF-20EDC76C906D}"/>
              </a:ext>
            </a:extLst>
          </p:cNvPr>
          <p:cNvSpPr>
            <a:spLocks noGrp="1"/>
          </p:cNvSpPr>
          <p:nvPr>
            <p:ph idx="1"/>
          </p:nvPr>
        </p:nvSpPr>
        <p:spPr>
          <a:xfrm>
            <a:off x="864382" y="2489200"/>
            <a:ext cx="7598300" cy="2728259"/>
          </a:xfrm>
        </p:spPr>
        <p:txBody>
          <a:bodyPr>
            <a:normAutofit/>
          </a:bodyPr>
          <a:lstStyle/>
          <a:p>
            <a:r>
              <a:rPr lang="es-AR" dirty="0"/>
              <a:t>Aplicando </a:t>
            </a:r>
            <a:r>
              <a:rPr lang="es-AR" dirty="0" err="1"/>
              <a:t>Decorator</a:t>
            </a:r>
            <a:r>
              <a:rPr lang="es-AR" dirty="0"/>
              <a:t> a productos y combos</a:t>
            </a:r>
          </a:p>
          <a:p>
            <a:r>
              <a:rPr lang="es-AR" dirty="0"/>
              <a:t>De productos fijos → a productos personalizables dinámicamente</a:t>
            </a:r>
          </a:p>
        </p:txBody>
      </p:sp>
      <p:sp>
        <p:nvSpPr>
          <p:cNvPr id="5" name="TextBox 5">
            <a:extLst>
              <a:ext uri="{FF2B5EF4-FFF2-40B4-BE49-F238E27FC236}">
                <a16:creationId xmlns:a16="http://schemas.microsoft.com/office/drawing/2014/main" id="{5F0D56A8-703E-11FE-9B48-F90ADD369B2F}"/>
              </a:ext>
            </a:extLst>
          </p:cNvPr>
          <p:cNvSpPr txBox="1"/>
          <p:nvPr/>
        </p:nvSpPr>
        <p:spPr>
          <a:xfrm>
            <a:off x="4871839" y="3986352"/>
            <a:ext cx="2955305" cy="2462213"/>
          </a:xfrm>
          <a:prstGeom prst="rect">
            <a:avLst/>
          </a:prstGeom>
          <a:noFill/>
        </p:spPr>
        <p:txBody>
          <a:bodyPr wrap="square">
            <a:spAutoFit/>
          </a:bodyPr>
          <a:lstStyle/>
          <a:p>
            <a:pPr algn="ctr">
              <a:defRPr sz="1800">
                <a:solidFill>
                  <a:srgbClr val="352159"/>
                </a:solidFill>
              </a:defRPr>
            </a:pPr>
            <a:r>
              <a:rPr sz="1400" dirty="0" err="1">
                <a:solidFill>
                  <a:schemeClr val="bg1"/>
                </a:solidFill>
              </a:rPr>
              <a:t>Evolución</a:t>
            </a:r>
            <a:r>
              <a:rPr sz="1400" dirty="0">
                <a:solidFill>
                  <a:schemeClr val="bg1"/>
                </a:solidFill>
              </a:rPr>
              <a:t> de la </a:t>
            </a:r>
            <a:r>
              <a:rPr sz="1400" dirty="0" err="1">
                <a:solidFill>
                  <a:schemeClr val="bg1"/>
                </a:solidFill>
              </a:rPr>
              <a:t>clase</a:t>
            </a:r>
            <a:br>
              <a:rPr sz="1400" dirty="0">
                <a:solidFill>
                  <a:schemeClr val="bg1"/>
                </a:solidFill>
              </a:rPr>
            </a:br>
            <a:br>
              <a:rPr sz="1400" dirty="0">
                <a:solidFill>
                  <a:schemeClr val="bg1"/>
                </a:solidFill>
              </a:rPr>
            </a:br>
            <a:r>
              <a:rPr sz="1400" dirty="0">
                <a:solidFill>
                  <a:schemeClr val="bg1"/>
                </a:solidFill>
              </a:rPr>
              <a:t>JDBC puro</a:t>
            </a:r>
            <a:br>
              <a:rPr sz="1400" dirty="0">
                <a:solidFill>
                  <a:schemeClr val="bg1"/>
                </a:solidFill>
              </a:rPr>
            </a:br>
            <a:r>
              <a:rPr sz="1400" dirty="0">
                <a:solidFill>
                  <a:schemeClr val="bg1"/>
                </a:solidFill>
              </a:rPr>
              <a:t>↓</a:t>
            </a:r>
            <a:br>
              <a:rPr sz="1400" dirty="0">
                <a:solidFill>
                  <a:schemeClr val="bg1"/>
                </a:solidFill>
              </a:rPr>
            </a:br>
            <a:r>
              <a:rPr sz="1400" dirty="0">
                <a:solidFill>
                  <a:schemeClr val="bg1"/>
                </a:solidFill>
              </a:rPr>
              <a:t>DAO + Singleton</a:t>
            </a:r>
            <a:br>
              <a:rPr sz="1400" dirty="0">
                <a:solidFill>
                  <a:schemeClr val="bg1"/>
                </a:solidFill>
              </a:rPr>
            </a:br>
            <a:r>
              <a:rPr sz="1400" dirty="0">
                <a:solidFill>
                  <a:schemeClr val="bg1"/>
                </a:solidFill>
              </a:rPr>
              <a:t>↓</a:t>
            </a:r>
            <a:br>
              <a:rPr sz="1400" dirty="0">
                <a:solidFill>
                  <a:schemeClr val="bg1"/>
                </a:solidFill>
              </a:rPr>
            </a:br>
            <a:r>
              <a:rPr sz="1400" dirty="0">
                <a:solidFill>
                  <a:schemeClr val="bg1"/>
                </a:solidFill>
              </a:rPr>
              <a:t>JPA/Hibernate</a:t>
            </a:r>
            <a:br>
              <a:rPr sz="1400" dirty="0">
                <a:solidFill>
                  <a:schemeClr val="bg1"/>
                </a:solidFill>
              </a:rPr>
            </a:br>
            <a:r>
              <a:rPr sz="1400" dirty="0">
                <a:solidFill>
                  <a:schemeClr val="bg1"/>
                </a:solidFill>
              </a:rPr>
              <a:t>↓</a:t>
            </a:r>
            <a:br>
              <a:rPr sz="1400" dirty="0">
                <a:solidFill>
                  <a:schemeClr val="bg1"/>
                </a:solidFill>
              </a:rPr>
            </a:br>
            <a:r>
              <a:rPr sz="1400" dirty="0">
                <a:solidFill>
                  <a:schemeClr val="bg1"/>
                </a:solidFill>
              </a:rPr>
              <a:t>Composite</a:t>
            </a:r>
            <a:br>
              <a:rPr sz="1400" dirty="0">
                <a:solidFill>
                  <a:schemeClr val="bg1"/>
                </a:solidFill>
              </a:rPr>
            </a:br>
            <a:r>
              <a:rPr sz="1400" dirty="0">
                <a:solidFill>
                  <a:schemeClr val="bg1"/>
                </a:solidFill>
              </a:rPr>
              <a:t>↓</a:t>
            </a:r>
            <a:br>
              <a:rPr sz="1400" dirty="0">
                <a:solidFill>
                  <a:schemeClr val="bg1"/>
                </a:solidFill>
              </a:rPr>
            </a:br>
            <a:r>
              <a:rPr sz="1400" dirty="0">
                <a:solidFill>
                  <a:schemeClr val="bg1"/>
                </a:solidFill>
              </a:rPr>
              <a:t>Decorator</a:t>
            </a:r>
          </a:p>
        </p:txBody>
      </p:sp>
    </p:spTree>
    <p:extLst>
      <p:ext uri="{BB962C8B-B14F-4D97-AF65-F5344CB8AC3E}">
        <p14:creationId xmlns:p14="http://schemas.microsoft.com/office/powerpoint/2010/main" val="36857420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00797B-2E18-F163-6CAD-A82FF8BC1B56}"/>
              </a:ext>
            </a:extLst>
          </p:cNvPr>
          <p:cNvSpPr>
            <a:spLocks noGrp="1"/>
          </p:cNvSpPr>
          <p:nvPr>
            <p:ph type="title"/>
          </p:nvPr>
        </p:nvSpPr>
        <p:spPr/>
        <p:txBody>
          <a:bodyPr/>
          <a:lstStyle/>
          <a:p>
            <a:r>
              <a:rPr lang="es-AR" dirty="0" err="1"/>
              <a:t>Decorator</a:t>
            </a:r>
            <a:endParaRPr lang="es-AR" dirty="0"/>
          </a:p>
        </p:txBody>
      </p:sp>
      <p:sp>
        <p:nvSpPr>
          <p:cNvPr id="3" name="Marcador de contenido 2">
            <a:extLst>
              <a:ext uri="{FF2B5EF4-FFF2-40B4-BE49-F238E27FC236}">
                <a16:creationId xmlns:a16="http://schemas.microsoft.com/office/drawing/2014/main" id="{C56DFB57-3F03-605F-04C7-D9266974B8BB}"/>
              </a:ext>
            </a:extLst>
          </p:cNvPr>
          <p:cNvSpPr>
            <a:spLocks noGrp="1"/>
          </p:cNvSpPr>
          <p:nvPr>
            <p:ph idx="1"/>
          </p:nvPr>
        </p:nvSpPr>
        <p:spPr>
          <a:xfrm>
            <a:off x="864381" y="2489200"/>
            <a:ext cx="7607265" cy="3530600"/>
          </a:xfrm>
        </p:spPr>
        <p:txBody>
          <a:bodyPr/>
          <a:lstStyle/>
          <a:p>
            <a:r>
              <a:rPr lang="es-AR" dirty="0"/>
              <a:t>Agregar extras dinámicamente</a:t>
            </a:r>
          </a:p>
          <a:p>
            <a:r>
              <a:rPr lang="es-AR" dirty="0"/>
              <a:t>Evitar explosión de subclases</a:t>
            </a:r>
          </a:p>
          <a:p>
            <a:r>
              <a:rPr lang="es-AR" dirty="0"/>
              <a:t>Mantener Composite funcionando</a:t>
            </a:r>
          </a:p>
          <a:p>
            <a:r>
              <a:rPr lang="es-AR" dirty="0"/>
              <a:t>Aplicar Open/</a:t>
            </a:r>
            <a:r>
              <a:rPr lang="es-AR" dirty="0" err="1"/>
              <a:t>Closed</a:t>
            </a:r>
            <a:r>
              <a:rPr lang="es-AR" dirty="0"/>
              <a:t> Principle</a:t>
            </a:r>
          </a:p>
          <a:p>
            <a:r>
              <a:rPr lang="es-AR" dirty="0" err="1"/>
              <a:t>Decorator</a:t>
            </a:r>
            <a:r>
              <a:rPr lang="es-AR" dirty="0"/>
              <a:t> agrega funcionalidades sin modificar las clases originales.</a:t>
            </a:r>
          </a:p>
        </p:txBody>
      </p:sp>
    </p:spTree>
    <p:extLst>
      <p:ext uri="{BB962C8B-B14F-4D97-AF65-F5344CB8AC3E}">
        <p14:creationId xmlns:p14="http://schemas.microsoft.com/office/powerpoint/2010/main" val="17516012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CDFE73-FC11-9352-76A7-3E937D78221C}"/>
              </a:ext>
            </a:extLst>
          </p:cNvPr>
          <p:cNvSpPr>
            <a:spLocks noGrp="1"/>
          </p:cNvSpPr>
          <p:nvPr>
            <p:ph type="title"/>
          </p:nvPr>
        </p:nvSpPr>
        <p:spPr/>
        <p:txBody>
          <a:bodyPr/>
          <a:lstStyle/>
          <a:p>
            <a:r>
              <a:rPr lang="es-AR" dirty="0"/>
              <a:t>Punto de partida</a:t>
            </a:r>
          </a:p>
        </p:txBody>
      </p:sp>
      <p:sp>
        <p:nvSpPr>
          <p:cNvPr id="3" name="Marcador de contenido 2">
            <a:extLst>
              <a:ext uri="{FF2B5EF4-FFF2-40B4-BE49-F238E27FC236}">
                <a16:creationId xmlns:a16="http://schemas.microsoft.com/office/drawing/2014/main" id="{F31E81CA-BAB0-B435-391B-CCCEB1B1FECD}"/>
              </a:ext>
            </a:extLst>
          </p:cNvPr>
          <p:cNvSpPr>
            <a:spLocks noGrp="1"/>
          </p:cNvSpPr>
          <p:nvPr>
            <p:ph idx="1"/>
          </p:nvPr>
        </p:nvSpPr>
        <p:spPr>
          <a:xfrm>
            <a:off x="864382" y="2489199"/>
            <a:ext cx="7849312" cy="4108825"/>
          </a:xfrm>
        </p:spPr>
        <p:txBody>
          <a:bodyPr>
            <a:normAutofit/>
          </a:bodyPr>
          <a:lstStyle/>
          <a:p>
            <a:r>
              <a:rPr lang="es-AR" sz="1600" dirty="0"/>
              <a:t>Ya tenemos Composite funcionando (</a:t>
            </a:r>
            <a:r>
              <a:rPr lang="es-AR" sz="1400" dirty="0"/>
              <a:t>Composite, Vendible, Producto, Combo)</a:t>
            </a:r>
          </a:p>
          <a:p>
            <a:r>
              <a:rPr lang="es-AR" sz="1600" dirty="0"/>
              <a:t>Ahora queremos agregar extras dinámicos.</a:t>
            </a:r>
          </a:p>
          <a:p>
            <a:r>
              <a:rPr lang="es-AR" sz="1600" dirty="0"/>
              <a:t>Queremos soportar:</a:t>
            </a:r>
          </a:p>
          <a:p>
            <a:pPr lvl="1"/>
            <a:r>
              <a:rPr lang="es-AR" sz="1400" dirty="0"/>
              <a:t>☕ Café + leche</a:t>
            </a:r>
          </a:p>
          <a:p>
            <a:pPr lvl="1"/>
            <a:r>
              <a:rPr lang="es-AR" sz="1400" dirty="0"/>
              <a:t>☕ Café + crema</a:t>
            </a:r>
          </a:p>
          <a:p>
            <a:pPr lvl="1"/>
            <a:r>
              <a:rPr lang="es-AR" sz="1400" dirty="0"/>
              <a:t>☕ Café + canela</a:t>
            </a:r>
          </a:p>
          <a:p>
            <a:r>
              <a:rPr lang="es-AR" sz="1600" b="1" dirty="0"/>
              <a:t>SIN</a:t>
            </a:r>
            <a:r>
              <a:rPr lang="es-AR" sz="1600" dirty="0"/>
              <a:t> crear:</a:t>
            </a:r>
          </a:p>
          <a:p>
            <a:pPr lvl="1"/>
            <a:r>
              <a:rPr lang="es-AR" sz="1400" dirty="0" err="1"/>
              <a:t>CafeConLeche</a:t>
            </a:r>
            <a:endParaRPr lang="es-AR" sz="1400" dirty="0"/>
          </a:p>
          <a:p>
            <a:pPr lvl="1"/>
            <a:r>
              <a:rPr lang="es-AR" sz="1400" dirty="0" err="1"/>
              <a:t>CafeConCrema</a:t>
            </a:r>
            <a:endParaRPr lang="es-AR" sz="1400" dirty="0"/>
          </a:p>
          <a:p>
            <a:pPr lvl="1"/>
            <a:r>
              <a:rPr lang="es-AR" sz="1400" dirty="0" err="1"/>
              <a:t>CafeConLecheYCrema</a:t>
            </a:r>
            <a:endParaRPr lang="es-AR" sz="1400" dirty="0"/>
          </a:p>
        </p:txBody>
      </p:sp>
    </p:spTree>
    <p:extLst>
      <p:ext uri="{BB962C8B-B14F-4D97-AF65-F5344CB8AC3E}">
        <p14:creationId xmlns:p14="http://schemas.microsoft.com/office/powerpoint/2010/main" val="27645765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117D4A-26D5-0A07-EB26-EE305B031A15}"/>
              </a:ext>
            </a:extLst>
          </p:cNvPr>
          <p:cNvSpPr>
            <a:spLocks noGrp="1"/>
          </p:cNvSpPr>
          <p:nvPr>
            <p:ph type="title"/>
          </p:nvPr>
        </p:nvSpPr>
        <p:spPr/>
        <p:txBody>
          <a:bodyPr/>
          <a:lstStyle/>
          <a:p>
            <a:r>
              <a:rPr lang="es-AR" dirty="0"/>
              <a:t>Solución</a:t>
            </a:r>
          </a:p>
        </p:txBody>
      </p:sp>
      <p:sp>
        <p:nvSpPr>
          <p:cNvPr id="4" name="Rounded Rectangle 1">
            <a:extLst>
              <a:ext uri="{FF2B5EF4-FFF2-40B4-BE49-F238E27FC236}">
                <a16:creationId xmlns:a16="http://schemas.microsoft.com/office/drawing/2014/main" id="{0F7C27D2-193F-82B2-733F-4E86EC9CC01D}"/>
              </a:ext>
            </a:extLst>
          </p:cNvPr>
          <p:cNvSpPr/>
          <p:nvPr/>
        </p:nvSpPr>
        <p:spPr>
          <a:xfrm>
            <a:off x="672352" y="2805953"/>
            <a:ext cx="3254189" cy="2802220"/>
          </a:xfrm>
          <a:prstGeom prst="roundRect">
            <a:avLst>
              <a:gd name="adj" fmla="val 8495"/>
            </a:avLst>
          </a:prstGeom>
          <a:solidFill>
            <a:srgbClr val="0A0523"/>
          </a:solidFill>
          <a:ln w="254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3">
            <a:extLst>
              <a:ext uri="{FF2B5EF4-FFF2-40B4-BE49-F238E27FC236}">
                <a16:creationId xmlns:a16="http://schemas.microsoft.com/office/drawing/2014/main" id="{98FD3BED-BB12-4F68-5FDB-761729ADB570}"/>
              </a:ext>
            </a:extLst>
          </p:cNvPr>
          <p:cNvSpPr txBox="1"/>
          <p:nvPr/>
        </p:nvSpPr>
        <p:spPr>
          <a:xfrm>
            <a:off x="672352" y="3106271"/>
            <a:ext cx="3254189" cy="2246769"/>
          </a:xfrm>
          <a:prstGeom prst="rect">
            <a:avLst/>
          </a:prstGeom>
          <a:noFill/>
        </p:spPr>
        <p:txBody>
          <a:bodyPr wrap="square">
            <a:spAutoFit/>
          </a:bodyPr>
          <a:lstStyle/>
          <a:p>
            <a:pPr algn="ctr">
              <a:defRPr sz="1800">
                <a:solidFill>
                  <a:srgbClr val="FFFFFF"/>
                </a:solidFill>
              </a:defRPr>
            </a:pPr>
            <a:r>
              <a:rPr sz="1400" dirty="0" err="1"/>
              <a:t>ItemVendible</a:t>
            </a:r>
            <a:br>
              <a:rPr sz="1400" dirty="0"/>
            </a:br>
            <a:r>
              <a:rPr sz="1400" dirty="0"/>
              <a:t>      ↑</a:t>
            </a:r>
            <a:br>
              <a:rPr sz="1400" dirty="0"/>
            </a:br>
            <a:r>
              <a:rPr sz="1400" dirty="0" err="1"/>
              <a:t>VendibleDecorator</a:t>
            </a:r>
            <a:br>
              <a:rPr sz="1400" dirty="0"/>
            </a:br>
            <a:r>
              <a:rPr sz="1400" dirty="0"/>
              <a:t>      ↑</a:t>
            </a:r>
            <a:br>
              <a:rPr sz="1400" dirty="0"/>
            </a:br>
            <a:r>
              <a:rPr sz="1400" dirty="0" err="1"/>
              <a:t>ConLeche</a:t>
            </a:r>
            <a:r>
              <a:rPr sz="1400" dirty="0"/>
              <a:t> / </a:t>
            </a:r>
            <a:r>
              <a:rPr sz="1400" dirty="0" err="1"/>
              <a:t>ConCrema</a:t>
            </a:r>
            <a:r>
              <a:rPr sz="1400" dirty="0"/>
              <a:t> / </a:t>
            </a:r>
            <a:r>
              <a:rPr sz="1400" dirty="0" err="1"/>
              <a:t>ConCanela</a:t>
            </a:r>
            <a:br>
              <a:rPr sz="1400" dirty="0"/>
            </a:br>
            <a:br>
              <a:rPr sz="1400" dirty="0"/>
            </a:br>
            <a:endParaRPr lang="es-419" sz="1400" dirty="0"/>
          </a:p>
          <a:p>
            <a:pPr algn="ctr">
              <a:defRPr sz="1800">
                <a:solidFill>
                  <a:srgbClr val="FFFFFF"/>
                </a:solidFill>
              </a:defRPr>
            </a:pPr>
            <a:r>
              <a:rPr sz="1400" dirty="0"/>
              <a:t>Cada decorator </a:t>
            </a:r>
            <a:r>
              <a:rPr sz="1400" dirty="0" err="1"/>
              <a:t>envuelve</a:t>
            </a:r>
            <a:r>
              <a:rPr sz="1400" dirty="0"/>
              <a:t> </a:t>
            </a:r>
            <a:r>
              <a:rPr sz="1400" dirty="0" err="1"/>
              <a:t>otro</a:t>
            </a:r>
            <a:r>
              <a:rPr sz="1400" dirty="0"/>
              <a:t> </a:t>
            </a:r>
            <a:r>
              <a:rPr sz="1400" dirty="0" err="1"/>
              <a:t>ItemVendible</a:t>
            </a:r>
            <a:r>
              <a:rPr sz="1400" dirty="0"/>
              <a:t>.</a:t>
            </a:r>
          </a:p>
        </p:txBody>
      </p:sp>
      <p:sp>
        <p:nvSpPr>
          <p:cNvPr id="6" name="Rounded Rectangle 1">
            <a:extLst>
              <a:ext uri="{FF2B5EF4-FFF2-40B4-BE49-F238E27FC236}">
                <a16:creationId xmlns:a16="http://schemas.microsoft.com/office/drawing/2014/main" id="{9F7B34CC-64A2-1FC3-39AA-84A27E25A687}"/>
              </a:ext>
            </a:extLst>
          </p:cNvPr>
          <p:cNvSpPr/>
          <p:nvPr/>
        </p:nvSpPr>
        <p:spPr>
          <a:xfrm>
            <a:off x="4168588" y="2805952"/>
            <a:ext cx="4243892" cy="2246769"/>
          </a:xfrm>
          <a:prstGeom prst="roundRect">
            <a:avLst>
              <a:gd name="adj" fmla="val 9385"/>
            </a:avLst>
          </a:prstGeom>
          <a:solidFill>
            <a:srgbClr val="0A0523"/>
          </a:solidFill>
          <a:ln w="254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3">
            <a:extLst>
              <a:ext uri="{FF2B5EF4-FFF2-40B4-BE49-F238E27FC236}">
                <a16:creationId xmlns:a16="http://schemas.microsoft.com/office/drawing/2014/main" id="{FC4D4300-8A82-D5EF-A0D9-807DDD613F4A}"/>
              </a:ext>
            </a:extLst>
          </p:cNvPr>
          <p:cNvSpPr txBox="1"/>
          <p:nvPr/>
        </p:nvSpPr>
        <p:spPr>
          <a:xfrm>
            <a:off x="4410634" y="2991429"/>
            <a:ext cx="3988703" cy="1323439"/>
          </a:xfrm>
          <a:prstGeom prst="rect">
            <a:avLst/>
          </a:prstGeom>
          <a:noFill/>
        </p:spPr>
        <p:txBody>
          <a:bodyPr wrap="square">
            <a:spAutoFit/>
          </a:bodyPr>
          <a:lstStyle/>
          <a:p>
            <a:pPr>
              <a:defRPr sz="1800">
                <a:solidFill>
                  <a:srgbClr val="FFFFFF"/>
                </a:solidFill>
              </a:defRPr>
            </a:pPr>
            <a:r>
              <a:rPr sz="1600" dirty="0"/>
              <a:t>public interface </a:t>
            </a:r>
            <a:r>
              <a:rPr sz="1600" dirty="0" err="1"/>
              <a:t>ItemVendible</a:t>
            </a:r>
            <a:r>
              <a:rPr sz="1600" dirty="0"/>
              <a:t> {</a:t>
            </a:r>
            <a:br>
              <a:rPr sz="1600" dirty="0"/>
            </a:br>
            <a:br>
              <a:rPr sz="1600" dirty="0"/>
            </a:br>
            <a:r>
              <a:rPr sz="1600" dirty="0"/>
              <a:t>    String </a:t>
            </a:r>
            <a:r>
              <a:rPr sz="1600" dirty="0" err="1"/>
              <a:t>getNombre</a:t>
            </a:r>
            <a:r>
              <a:rPr sz="1600" dirty="0"/>
              <a:t>();</a:t>
            </a:r>
            <a:br>
              <a:rPr sz="1600" dirty="0"/>
            </a:br>
            <a:r>
              <a:rPr sz="1600" dirty="0"/>
              <a:t>    double </a:t>
            </a:r>
            <a:r>
              <a:rPr sz="1600" dirty="0" err="1"/>
              <a:t>calcularPrecio</a:t>
            </a:r>
            <a:r>
              <a:rPr sz="1600" dirty="0"/>
              <a:t>();</a:t>
            </a:r>
            <a:br>
              <a:rPr sz="1600" dirty="0"/>
            </a:br>
            <a:r>
              <a:rPr sz="1600" dirty="0"/>
              <a:t>}</a:t>
            </a:r>
          </a:p>
        </p:txBody>
      </p:sp>
      <p:sp>
        <p:nvSpPr>
          <p:cNvPr id="10" name="Marcador de contenido 2">
            <a:extLst>
              <a:ext uri="{FF2B5EF4-FFF2-40B4-BE49-F238E27FC236}">
                <a16:creationId xmlns:a16="http://schemas.microsoft.com/office/drawing/2014/main" id="{C132CD1D-6B7A-7497-C872-625392175178}"/>
              </a:ext>
            </a:extLst>
          </p:cNvPr>
          <p:cNvSpPr>
            <a:spLocks noGrp="1"/>
          </p:cNvSpPr>
          <p:nvPr>
            <p:ph idx="1"/>
          </p:nvPr>
        </p:nvSpPr>
        <p:spPr>
          <a:xfrm>
            <a:off x="4168588" y="5238198"/>
            <a:ext cx="4230749" cy="1207426"/>
          </a:xfrm>
        </p:spPr>
        <p:txBody>
          <a:bodyPr/>
          <a:lstStyle/>
          <a:p>
            <a:r>
              <a:rPr lang="es-AR" dirty="0"/>
              <a:t>Todos los elementos compartirán este contrato</a:t>
            </a:r>
          </a:p>
        </p:txBody>
      </p:sp>
    </p:spTree>
    <p:extLst>
      <p:ext uri="{BB962C8B-B14F-4D97-AF65-F5344CB8AC3E}">
        <p14:creationId xmlns:p14="http://schemas.microsoft.com/office/powerpoint/2010/main" val="38540331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841F8A-BCC4-1B79-BF9A-209FA621BDE0}"/>
              </a:ext>
            </a:extLst>
          </p:cNvPr>
          <p:cNvSpPr>
            <a:spLocks noGrp="1"/>
          </p:cNvSpPr>
          <p:nvPr>
            <p:ph type="title"/>
          </p:nvPr>
        </p:nvSpPr>
        <p:spPr/>
        <p:txBody>
          <a:bodyPr/>
          <a:lstStyle/>
          <a:p>
            <a:r>
              <a:rPr lang="es-AR" dirty="0"/>
              <a:t>Vendible implementa </a:t>
            </a:r>
            <a:r>
              <a:rPr lang="es-AR" dirty="0" err="1"/>
              <a:t>ItemVendible</a:t>
            </a:r>
            <a:endParaRPr lang="es-AR" dirty="0"/>
          </a:p>
        </p:txBody>
      </p:sp>
      <p:sp>
        <p:nvSpPr>
          <p:cNvPr id="3" name="Marcador de contenido 2">
            <a:extLst>
              <a:ext uri="{FF2B5EF4-FFF2-40B4-BE49-F238E27FC236}">
                <a16:creationId xmlns:a16="http://schemas.microsoft.com/office/drawing/2014/main" id="{4B3E3EFA-ED9D-8B85-7FE6-6FE7D5E4146C}"/>
              </a:ext>
            </a:extLst>
          </p:cNvPr>
          <p:cNvSpPr>
            <a:spLocks noGrp="1"/>
          </p:cNvSpPr>
          <p:nvPr>
            <p:ph idx="1"/>
          </p:nvPr>
        </p:nvSpPr>
        <p:spPr>
          <a:xfrm>
            <a:off x="864382" y="2489200"/>
            <a:ext cx="6345260" cy="939800"/>
          </a:xfrm>
        </p:spPr>
        <p:txBody>
          <a:bodyPr/>
          <a:lstStyle/>
          <a:p>
            <a:r>
              <a:rPr lang="es-AR" dirty="0"/>
              <a:t>Producto y Combo ahora son </a:t>
            </a:r>
            <a:r>
              <a:rPr lang="es-AR" dirty="0" err="1"/>
              <a:t>ItemVendible</a:t>
            </a:r>
            <a:r>
              <a:rPr lang="es-AR" dirty="0"/>
              <a:t> automáticamente.</a:t>
            </a:r>
          </a:p>
        </p:txBody>
      </p:sp>
      <p:sp>
        <p:nvSpPr>
          <p:cNvPr id="4" name="Rounded Rectangle 1">
            <a:extLst>
              <a:ext uri="{FF2B5EF4-FFF2-40B4-BE49-F238E27FC236}">
                <a16:creationId xmlns:a16="http://schemas.microsoft.com/office/drawing/2014/main" id="{AB2398C0-2766-A947-6A7F-C80733016C13}"/>
              </a:ext>
            </a:extLst>
          </p:cNvPr>
          <p:cNvSpPr/>
          <p:nvPr/>
        </p:nvSpPr>
        <p:spPr>
          <a:xfrm>
            <a:off x="4168588" y="3567952"/>
            <a:ext cx="4243892" cy="2246769"/>
          </a:xfrm>
          <a:prstGeom prst="roundRect">
            <a:avLst>
              <a:gd name="adj" fmla="val 9385"/>
            </a:avLst>
          </a:prstGeom>
          <a:solidFill>
            <a:srgbClr val="0A0523"/>
          </a:solidFill>
          <a:ln w="254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3">
            <a:extLst>
              <a:ext uri="{FF2B5EF4-FFF2-40B4-BE49-F238E27FC236}">
                <a16:creationId xmlns:a16="http://schemas.microsoft.com/office/drawing/2014/main" id="{A61787D5-A36E-5F1B-9555-F8370C556F29}"/>
              </a:ext>
            </a:extLst>
          </p:cNvPr>
          <p:cNvSpPr txBox="1"/>
          <p:nvPr/>
        </p:nvSpPr>
        <p:spPr>
          <a:xfrm>
            <a:off x="4410634" y="3753429"/>
            <a:ext cx="3988703" cy="1323439"/>
          </a:xfrm>
          <a:prstGeom prst="rect">
            <a:avLst/>
          </a:prstGeom>
          <a:noFill/>
        </p:spPr>
        <p:txBody>
          <a:bodyPr wrap="square">
            <a:spAutoFit/>
          </a:bodyPr>
          <a:lstStyle/>
          <a:p>
            <a:pPr>
              <a:defRPr sz="1800">
                <a:solidFill>
                  <a:srgbClr val="FFFFFF"/>
                </a:solidFill>
              </a:defRPr>
            </a:pPr>
            <a:r>
              <a:rPr lang="es-AR" sz="1600" dirty="0" err="1"/>
              <a:t>public</a:t>
            </a:r>
            <a:r>
              <a:rPr lang="es-AR" sz="1600" dirty="0"/>
              <a:t> </a:t>
            </a:r>
            <a:r>
              <a:rPr lang="es-AR" sz="1600" dirty="0" err="1"/>
              <a:t>abstract</a:t>
            </a:r>
            <a:r>
              <a:rPr lang="es-AR" sz="1600" dirty="0"/>
              <a:t> </a:t>
            </a:r>
            <a:r>
              <a:rPr lang="es-AR" sz="1600" dirty="0" err="1"/>
              <a:t>class</a:t>
            </a:r>
            <a:r>
              <a:rPr lang="es-AR" sz="1600" dirty="0"/>
              <a:t> Vendible</a:t>
            </a:r>
            <a:br>
              <a:rPr lang="es-AR" sz="1600" dirty="0"/>
            </a:br>
            <a:r>
              <a:rPr lang="es-AR" sz="1600" dirty="0"/>
              <a:t>        </a:t>
            </a:r>
            <a:r>
              <a:rPr lang="es-AR" sz="1600" dirty="0" err="1"/>
              <a:t>implements</a:t>
            </a:r>
            <a:r>
              <a:rPr lang="es-AR" sz="1600" dirty="0"/>
              <a:t> </a:t>
            </a:r>
            <a:r>
              <a:rPr lang="es-AR" sz="1600" dirty="0" err="1"/>
              <a:t>ItemVendible</a:t>
            </a:r>
            <a:r>
              <a:rPr lang="es-AR" sz="1600" dirty="0"/>
              <a:t> {</a:t>
            </a:r>
            <a:br>
              <a:rPr lang="es-AR" sz="1600" dirty="0"/>
            </a:br>
            <a:br>
              <a:rPr lang="es-AR" sz="1600" dirty="0"/>
            </a:br>
            <a:r>
              <a:rPr lang="es-AR" sz="1600" dirty="0"/>
              <a:t>    </a:t>
            </a:r>
            <a:r>
              <a:rPr lang="es-AR" sz="1600" dirty="0" err="1"/>
              <a:t>protected</a:t>
            </a:r>
            <a:r>
              <a:rPr lang="es-AR" sz="1600" dirty="0"/>
              <a:t> String nombre;</a:t>
            </a:r>
            <a:br>
              <a:rPr lang="es-AR" sz="1600" dirty="0"/>
            </a:br>
            <a:r>
              <a:rPr lang="es-AR" sz="1600" dirty="0"/>
              <a:t>}</a:t>
            </a:r>
            <a:endParaRPr sz="1600" dirty="0"/>
          </a:p>
        </p:txBody>
      </p:sp>
    </p:spTree>
    <p:extLst>
      <p:ext uri="{BB962C8B-B14F-4D97-AF65-F5344CB8AC3E}">
        <p14:creationId xmlns:p14="http://schemas.microsoft.com/office/powerpoint/2010/main" val="5559234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21262A-EFC9-EBB2-371F-7BA21C344D1B}"/>
              </a:ext>
            </a:extLst>
          </p:cNvPr>
          <p:cNvSpPr>
            <a:spLocks noGrp="1"/>
          </p:cNvSpPr>
          <p:nvPr>
            <p:ph type="title"/>
          </p:nvPr>
        </p:nvSpPr>
        <p:spPr/>
        <p:txBody>
          <a:bodyPr/>
          <a:lstStyle/>
          <a:p>
            <a:r>
              <a:rPr lang="es-AR" dirty="0"/>
              <a:t>Decorador Base</a:t>
            </a:r>
          </a:p>
        </p:txBody>
      </p:sp>
      <p:sp>
        <p:nvSpPr>
          <p:cNvPr id="3" name="Marcador de contenido 2">
            <a:extLst>
              <a:ext uri="{FF2B5EF4-FFF2-40B4-BE49-F238E27FC236}">
                <a16:creationId xmlns:a16="http://schemas.microsoft.com/office/drawing/2014/main" id="{211F5CD9-659F-2108-6C99-869F8CC5CD3D}"/>
              </a:ext>
            </a:extLst>
          </p:cNvPr>
          <p:cNvSpPr>
            <a:spLocks noGrp="1"/>
          </p:cNvSpPr>
          <p:nvPr>
            <p:ph idx="1"/>
          </p:nvPr>
        </p:nvSpPr>
        <p:spPr>
          <a:xfrm>
            <a:off x="546847" y="2489200"/>
            <a:ext cx="7960659" cy="4028141"/>
          </a:xfrm>
        </p:spPr>
        <p:txBody>
          <a:bodyPr>
            <a:normAutofit/>
          </a:bodyPr>
          <a:lstStyle/>
          <a:p>
            <a:r>
              <a:rPr lang="es-AR" dirty="0"/>
              <a:t>El </a:t>
            </a:r>
            <a:r>
              <a:rPr lang="es-AR" dirty="0" err="1"/>
              <a:t>decorator</a:t>
            </a:r>
            <a:r>
              <a:rPr lang="es-AR" dirty="0"/>
              <a:t> contiene otro </a:t>
            </a:r>
            <a:r>
              <a:rPr lang="es-AR" dirty="0" err="1"/>
              <a:t>ItemVendible</a:t>
            </a:r>
            <a:r>
              <a:rPr lang="es-AR" dirty="0"/>
              <a:t>.</a:t>
            </a:r>
          </a:p>
          <a:p>
            <a:r>
              <a:rPr lang="es-AR" b="1" dirty="0"/>
              <a:t>NO</a:t>
            </a:r>
            <a:r>
              <a:rPr lang="es-AR" dirty="0"/>
              <a:t> agrega funcionalidad concreta.</a:t>
            </a:r>
          </a:p>
          <a:p>
            <a:pPr lvl="1"/>
            <a:r>
              <a:rPr lang="es-AR" b="1" dirty="0"/>
              <a:t>Define la estructura común de todos los </a:t>
            </a:r>
            <a:r>
              <a:rPr lang="es-AR" b="1" dirty="0" err="1"/>
              <a:t>decorators</a:t>
            </a:r>
            <a:r>
              <a:rPr lang="es-AR" b="1" dirty="0"/>
              <a:t>.</a:t>
            </a:r>
          </a:p>
          <a:p>
            <a:pPr lvl="1"/>
            <a:r>
              <a:rPr lang="es-AR" b="1" dirty="0"/>
              <a:t>Guarda el objeto envuelto.</a:t>
            </a:r>
          </a:p>
          <a:p>
            <a:endParaRPr lang="es-AR" dirty="0"/>
          </a:p>
          <a:p>
            <a:endParaRPr lang="es-AR" dirty="0"/>
          </a:p>
        </p:txBody>
      </p:sp>
      <p:sp>
        <p:nvSpPr>
          <p:cNvPr id="4" name="Rounded Rectangle 1">
            <a:extLst>
              <a:ext uri="{FF2B5EF4-FFF2-40B4-BE49-F238E27FC236}">
                <a16:creationId xmlns:a16="http://schemas.microsoft.com/office/drawing/2014/main" id="{5D6B0E35-7973-D95C-7264-C0F702845C48}"/>
              </a:ext>
            </a:extLst>
          </p:cNvPr>
          <p:cNvSpPr/>
          <p:nvPr/>
        </p:nvSpPr>
        <p:spPr>
          <a:xfrm>
            <a:off x="4258853" y="3716574"/>
            <a:ext cx="4231341" cy="2800767"/>
          </a:xfrm>
          <a:prstGeom prst="roundRect">
            <a:avLst>
              <a:gd name="adj" fmla="val 9385"/>
            </a:avLst>
          </a:prstGeom>
          <a:solidFill>
            <a:srgbClr val="0A0523"/>
          </a:solidFill>
          <a:ln w="254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3">
            <a:extLst>
              <a:ext uri="{FF2B5EF4-FFF2-40B4-BE49-F238E27FC236}">
                <a16:creationId xmlns:a16="http://schemas.microsoft.com/office/drawing/2014/main" id="{17CC10FB-4B11-FF4A-EAC3-DEC0EADE0309}"/>
              </a:ext>
            </a:extLst>
          </p:cNvPr>
          <p:cNvSpPr txBox="1"/>
          <p:nvPr/>
        </p:nvSpPr>
        <p:spPr>
          <a:xfrm>
            <a:off x="4429182" y="3847266"/>
            <a:ext cx="4078324" cy="2462213"/>
          </a:xfrm>
          <a:prstGeom prst="rect">
            <a:avLst/>
          </a:prstGeom>
          <a:noFill/>
        </p:spPr>
        <p:txBody>
          <a:bodyPr wrap="square">
            <a:spAutoFit/>
          </a:bodyPr>
          <a:lstStyle/>
          <a:p>
            <a:pPr>
              <a:defRPr sz="1800">
                <a:solidFill>
                  <a:srgbClr val="FFFFFF"/>
                </a:solidFill>
              </a:defRPr>
            </a:pPr>
            <a:r>
              <a:rPr lang="es-AR" sz="1400" dirty="0" err="1"/>
              <a:t>public</a:t>
            </a:r>
            <a:r>
              <a:rPr lang="es-AR" sz="1400" dirty="0"/>
              <a:t> </a:t>
            </a:r>
            <a:r>
              <a:rPr lang="es-AR" sz="1400" dirty="0" err="1"/>
              <a:t>abstract</a:t>
            </a:r>
            <a:r>
              <a:rPr lang="es-AR" sz="1400" dirty="0"/>
              <a:t> </a:t>
            </a:r>
            <a:r>
              <a:rPr lang="es-AR" sz="1400" dirty="0" err="1"/>
              <a:t>class</a:t>
            </a:r>
            <a:r>
              <a:rPr lang="es-AR" sz="1400" dirty="0"/>
              <a:t> </a:t>
            </a:r>
            <a:r>
              <a:rPr lang="es-AR" sz="1400" dirty="0" err="1"/>
              <a:t>VendibleDecorator</a:t>
            </a:r>
            <a:endParaRPr lang="es-AR" sz="1400" dirty="0"/>
          </a:p>
          <a:p>
            <a:pPr>
              <a:defRPr sz="1800">
                <a:solidFill>
                  <a:srgbClr val="FFFFFF"/>
                </a:solidFill>
              </a:defRPr>
            </a:pPr>
            <a:r>
              <a:rPr lang="es-AR" sz="1400" dirty="0"/>
              <a:t>        </a:t>
            </a:r>
            <a:r>
              <a:rPr lang="es-AR" sz="1400" dirty="0" err="1"/>
              <a:t>implements</a:t>
            </a:r>
            <a:r>
              <a:rPr lang="es-AR" sz="1400" dirty="0"/>
              <a:t> </a:t>
            </a:r>
            <a:r>
              <a:rPr lang="es-AR" sz="1400" dirty="0" err="1"/>
              <a:t>ItemVendible</a:t>
            </a:r>
            <a:r>
              <a:rPr lang="es-AR" sz="1400" dirty="0"/>
              <a:t> {</a:t>
            </a:r>
          </a:p>
          <a:p>
            <a:pPr>
              <a:defRPr sz="1800">
                <a:solidFill>
                  <a:srgbClr val="FFFFFF"/>
                </a:solidFill>
              </a:defRPr>
            </a:pPr>
            <a:endParaRPr lang="es-AR" sz="1400" dirty="0"/>
          </a:p>
          <a:p>
            <a:pPr>
              <a:defRPr sz="1800">
                <a:solidFill>
                  <a:srgbClr val="FFFFFF"/>
                </a:solidFill>
              </a:defRPr>
            </a:pPr>
            <a:r>
              <a:rPr lang="es-AR" sz="1400" dirty="0"/>
              <a:t>    </a:t>
            </a:r>
            <a:r>
              <a:rPr lang="es-AR" sz="1400" dirty="0" err="1"/>
              <a:t>protected</a:t>
            </a:r>
            <a:r>
              <a:rPr lang="es-AR" sz="1400" dirty="0"/>
              <a:t> </a:t>
            </a:r>
            <a:r>
              <a:rPr lang="es-AR" sz="1400" dirty="0" err="1"/>
              <a:t>ItemVendible</a:t>
            </a:r>
            <a:r>
              <a:rPr lang="es-AR" sz="1400" dirty="0"/>
              <a:t> vendible;</a:t>
            </a:r>
          </a:p>
          <a:p>
            <a:pPr>
              <a:defRPr sz="1800">
                <a:solidFill>
                  <a:srgbClr val="FFFFFF"/>
                </a:solidFill>
              </a:defRPr>
            </a:pPr>
            <a:endParaRPr lang="es-AR" sz="1400" dirty="0"/>
          </a:p>
          <a:p>
            <a:pPr>
              <a:defRPr sz="1800">
                <a:solidFill>
                  <a:srgbClr val="FFFFFF"/>
                </a:solidFill>
              </a:defRPr>
            </a:pPr>
            <a:r>
              <a:rPr lang="es-AR" sz="1400" dirty="0"/>
              <a:t>    </a:t>
            </a:r>
            <a:r>
              <a:rPr lang="es-AR" sz="1400" dirty="0" err="1"/>
              <a:t>public</a:t>
            </a:r>
            <a:r>
              <a:rPr lang="es-AR" sz="1400" dirty="0"/>
              <a:t> </a:t>
            </a:r>
            <a:r>
              <a:rPr lang="es-AR" sz="1400" dirty="0" err="1"/>
              <a:t>VendibleDecorator</a:t>
            </a:r>
            <a:r>
              <a:rPr lang="es-AR" sz="1400" dirty="0"/>
              <a:t>(</a:t>
            </a:r>
          </a:p>
          <a:p>
            <a:pPr>
              <a:defRPr sz="1800">
                <a:solidFill>
                  <a:srgbClr val="FFFFFF"/>
                </a:solidFill>
              </a:defRPr>
            </a:pPr>
            <a:r>
              <a:rPr lang="es-AR" sz="1400" dirty="0"/>
              <a:t>            </a:t>
            </a:r>
            <a:r>
              <a:rPr lang="es-AR" sz="1400" dirty="0" err="1"/>
              <a:t>ItemVendible</a:t>
            </a:r>
            <a:r>
              <a:rPr lang="es-AR" sz="1400" dirty="0"/>
              <a:t> vendible) {</a:t>
            </a:r>
          </a:p>
          <a:p>
            <a:pPr>
              <a:defRPr sz="1800">
                <a:solidFill>
                  <a:srgbClr val="FFFFFF"/>
                </a:solidFill>
              </a:defRPr>
            </a:pPr>
            <a:endParaRPr lang="es-AR" sz="1400" dirty="0"/>
          </a:p>
          <a:p>
            <a:pPr>
              <a:defRPr sz="1800">
                <a:solidFill>
                  <a:srgbClr val="FFFFFF"/>
                </a:solidFill>
              </a:defRPr>
            </a:pPr>
            <a:r>
              <a:rPr lang="es-AR" sz="1400" dirty="0"/>
              <a:t>        </a:t>
            </a:r>
            <a:r>
              <a:rPr lang="es-AR" sz="1400" dirty="0" err="1"/>
              <a:t>this.vendible</a:t>
            </a:r>
            <a:r>
              <a:rPr lang="es-AR" sz="1400" dirty="0"/>
              <a:t> = vendible;</a:t>
            </a:r>
          </a:p>
          <a:p>
            <a:pPr>
              <a:defRPr sz="1800">
                <a:solidFill>
                  <a:srgbClr val="FFFFFF"/>
                </a:solidFill>
              </a:defRPr>
            </a:pPr>
            <a:r>
              <a:rPr lang="es-AR" sz="1400" dirty="0"/>
              <a:t>    }</a:t>
            </a:r>
          </a:p>
          <a:p>
            <a:pPr>
              <a:defRPr sz="1800">
                <a:solidFill>
                  <a:srgbClr val="FFFFFF"/>
                </a:solidFill>
              </a:defRPr>
            </a:pPr>
            <a:r>
              <a:rPr lang="es-AR" sz="1400" dirty="0"/>
              <a:t>}</a:t>
            </a:r>
            <a:endParaRPr sz="1400" dirty="0"/>
          </a:p>
        </p:txBody>
      </p:sp>
    </p:spTree>
    <p:extLst>
      <p:ext uri="{BB962C8B-B14F-4D97-AF65-F5344CB8AC3E}">
        <p14:creationId xmlns:p14="http://schemas.microsoft.com/office/powerpoint/2010/main" val="4940947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1">
            <a:extLst>
              <a:ext uri="{FF2B5EF4-FFF2-40B4-BE49-F238E27FC236}">
                <a16:creationId xmlns:a16="http://schemas.microsoft.com/office/drawing/2014/main" id="{24397F9E-F1C8-22DA-A6BC-003419CE6742}"/>
              </a:ext>
            </a:extLst>
          </p:cNvPr>
          <p:cNvSpPr/>
          <p:nvPr/>
        </p:nvSpPr>
        <p:spPr>
          <a:xfrm>
            <a:off x="4903368" y="3281083"/>
            <a:ext cx="3833166" cy="2649820"/>
          </a:xfrm>
          <a:prstGeom prst="roundRect">
            <a:avLst>
              <a:gd name="adj" fmla="val 9385"/>
            </a:avLst>
          </a:prstGeom>
          <a:solidFill>
            <a:srgbClr val="0A0523"/>
          </a:solidFill>
          <a:ln w="254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ítulo 1">
            <a:extLst>
              <a:ext uri="{FF2B5EF4-FFF2-40B4-BE49-F238E27FC236}">
                <a16:creationId xmlns:a16="http://schemas.microsoft.com/office/drawing/2014/main" id="{AE3B97A8-EF94-253A-B995-36FFC981948B}"/>
              </a:ext>
            </a:extLst>
          </p:cNvPr>
          <p:cNvSpPr>
            <a:spLocks noGrp="1"/>
          </p:cNvSpPr>
          <p:nvPr>
            <p:ph type="title"/>
          </p:nvPr>
        </p:nvSpPr>
        <p:spPr/>
        <p:txBody>
          <a:bodyPr/>
          <a:lstStyle/>
          <a:p>
            <a:r>
              <a:rPr lang="es-AR" dirty="0"/>
              <a:t>Decoradores concretos</a:t>
            </a:r>
          </a:p>
        </p:txBody>
      </p:sp>
      <p:sp>
        <p:nvSpPr>
          <p:cNvPr id="3" name="Marcador de contenido 2">
            <a:extLst>
              <a:ext uri="{FF2B5EF4-FFF2-40B4-BE49-F238E27FC236}">
                <a16:creationId xmlns:a16="http://schemas.microsoft.com/office/drawing/2014/main" id="{5F07C2DF-ED61-EA0B-7F80-4D61B88FD3BC}"/>
              </a:ext>
            </a:extLst>
          </p:cNvPr>
          <p:cNvSpPr>
            <a:spLocks noGrp="1"/>
          </p:cNvSpPr>
          <p:nvPr>
            <p:ph idx="1"/>
          </p:nvPr>
        </p:nvSpPr>
        <p:spPr>
          <a:xfrm>
            <a:off x="864382" y="2489200"/>
            <a:ext cx="6345260" cy="709865"/>
          </a:xfrm>
        </p:spPr>
        <p:txBody>
          <a:bodyPr/>
          <a:lstStyle/>
          <a:p>
            <a:r>
              <a:rPr lang="es-AR" dirty="0"/>
              <a:t>Agregan comportamiento REAL.</a:t>
            </a:r>
          </a:p>
        </p:txBody>
      </p:sp>
      <p:sp>
        <p:nvSpPr>
          <p:cNvPr id="4" name="Rounded Rectangle 1">
            <a:extLst>
              <a:ext uri="{FF2B5EF4-FFF2-40B4-BE49-F238E27FC236}">
                <a16:creationId xmlns:a16="http://schemas.microsoft.com/office/drawing/2014/main" id="{FD4E57B8-4E6A-168A-B3F3-D2F88AAF09ED}"/>
              </a:ext>
            </a:extLst>
          </p:cNvPr>
          <p:cNvSpPr/>
          <p:nvPr/>
        </p:nvSpPr>
        <p:spPr>
          <a:xfrm>
            <a:off x="864382" y="3281083"/>
            <a:ext cx="3833166" cy="2649820"/>
          </a:xfrm>
          <a:prstGeom prst="roundRect">
            <a:avLst>
              <a:gd name="adj" fmla="val 9385"/>
            </a:avLst>
          </a:prstGeom>
          <a:solidFill>
            <a:srgbClr val="0A0523"/>
          </a:solidFill>
          <a:ln w="254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3">
            <a:extLst>
              <a:ext uri="{FF2B5EF4-FFF2-40B4-BE49-F238E27FC236}">
                <a16:creationId xmlns:a16="http://schemas.microsoft.com/office/drawing/2014/main" id="{B058238E-DC32-E9DC-9805-400D2F00EA50}"/>
              </a:ext>
            </a:extLst>
          </p:cNvPr>
          <p:cNvSpPr txBox="1"/>
          <p:nvPr/>
        </p:nvSpPr>
        <p:spPr>
          <a:xfrm>
            <a:off x="1134460" y="3466559"/>
            <a:ext cx="3602674" cy="2246769"/>
          </a:xfrm>
          <a:prstGeom prst="rect">
            <a:avLst/>
          </a:prstGeom>
          <a:noFill/>
        </p:spPr>
        <p:txBody>
          <a:bodyPr wrap="square">
            <a:spAutoFit/>
          </a:bodyPr>
          <a:lstStyle/>
          <a:p>
            <a:pPr>
              <a:defRPr sz="1800">
                <a:solidFill>
                  <a:srgbClr val="FFFFFF"/>
                </a:solidFill>
              </a:defRPr>
            </a:pPr>
            <a:r>
              <a:rPr lang="es-AR" sz="1400" dirty="0" err="1"/>
              <a:t>public</a:t>
            </a:r>
            <a:r>
              <a:rPr lang="es-AR" sz="1400" dirty="0"/>
              <a:t> </a:t>
            </a:r>
            <a:r>
              <a:rPr lang="es-AR" sz="1400" dirty="0" err="1"/>
              <a:t>class</a:t>
            </a:r>
            <a:r>
              <a:rPr lang="es-AR" sz="1400" dirty="0"/>
              <a:t> </a:t>
            </a:r>
            <a:r>
              <a:rPr lang="es-AR" sz="1400" dirty="0" err="1"/>
              <a:t>ConLeche</a:t>
            </a:r>
            <a:endParaRPr lang="es-AR" sz="1400" dirty="0"/>
          </a:p>
          <a:p>
            <a:pPr>
              <a:defRPr sz="1800">
                <a:solidFill>
                  <a:srgbClr val="FFFFFF"/>
                </a:solidFill>
              </a:defRPr>
            </a:pPr>
            <a:r>
              <a:rPr lang="es-AR" sz="1400" dirty="0"/>
              <a:t>        </a:t>
            </a:r>
            <a:r>
              <a:rPr lang="es-AR" sz="1400" dirty="0" err="1"/>
              <a:t>extends</a:t>
            </a:r>
            <a:r>
              <a:rPr lang="es-AR" sz="1400" dirty="0"/>
              <a:t> </a:t>
            </a:r>
            <a:r>
              <a:rPr lang="es-AR" sz="1400" dirty="0" err="1"/>
              <a:t>VendibleDecorator</a:t>
            </a:r>
            <a:r>
              <a:rPr lang="es-AR" sz="1400" dirty="0"/>
              <a:t> {</a:t>
            </a:r>
          </a:p>
          <a:p>
            <a:pPr>
              <a:defRPr sz="1800">
                <a:solidFill>
                  <a:srgbClr val="FFFFFF"/>
                </a:solidFill>
              </a:defRPr>
            </a:pPr>
            <a:endParaRPr lang="es-AR" sz="1400" dirty="0"/>
          </a:p>
          <a:p>
            <a:pPr>
              <a:defRPr sz="1800">
                <a:solidFill>
                  <a:srgbClr val="FFFFFF"/>
                </a:solidFill>
              </a:defRPr>
            </a:pPr>
            <a:r>
              <a:rPr lang="es-AR" sz="1400" dirty="0"/>
              <a:t>    @</a:t>
            </a:r>
            <a:r>
              <a:rPr lang="es-AR" sz="1400" dirty="0" err="1"/>
              <a:t>Override</a:t>
            </a:r>
            <a:endParaRPr lang="es-AR" sz="1400" dirty="0"/>
          </a:p>
          <a:p>
            <a:pPr>
              <a:defRPr sz="1800">
                <a:solidFill>
                  <a:srgbClr val="FFFFFF"/>
                </a:solidFill>
              </a:defRPr>
            </a:pPr>
            <a:r>
              <a:rPr lang="es-AR" sz="1400" dirty="0"/>
              <a:t>    </a:t>
            </a:r>
            <a:r>
              <a:rPr lang="es-AR" sz="1400" dirty="0" err="1"/>
              <a:t>public</a:t>
            </a:r>
            <a:r>
              <a:rPr lang="es-AR" sz="1400" dirty="0"/>
              <a:t> </a:t>
            </a:r>
            <a:r>
              <a:rPr lang="es-AR" sz="1400" dirty="0" err="1"/>
              <a:t>double</a:t>
            </a:r>
            <a:r>
              <a:rPr lang="es-AR" sz="1400" dirty="0"/>
              <a:t> </a:t>
            </a:r>
            <a:r>
              <a:rPr lang="es-AR" sz="1400" dirty="0" err="1"/>
              <a:t>calcularPrecio</a:t>
            </a:r>
            <a:r>
              <a:rPr lang="es-AR" sz="1400" dirty="0"/>
              <a:t>() {</a:t>
            </a:r>
          </a:p>
          <a:p>
            <a:pPr>
              <a:defRPr sz="1800">
                <a:solidFill>
                  <a:srgbClr val="FFFFFF"/>
                </a:solidFill>
              </a:defRPr>
            </a:pPr>
            <a:endParaRPr lang="es-AR" sz="1400" dirty="0"/>
          </a:p>
          <a:p>
            <a:pPr>
              <a:defRPr sz="1800">
                <a:solidFill>
                  <a:srgbClr val="FFFFFF"/>
                </a:solidFill>
              </a:defRPr>
            </a:pPr>
            <a:r>
              <a:rPr lang="es-AR" sz="1400" dirty="0"/>
              <a:t>        </a:t>
            </a:r>
            <a:r>
              <a:rPr lang="es-AR" sz="1400" dirty="0" err="1"/>
              <a:t>return</a:t>
            </a:r>
            <a:r>
              <a:rPr lang="es-AR" sz="1400" dirty="0"/>
              <a:t> </a:t>
            </a:r>
            <a:r>
              <a:rPr lang="es-AR" sz="1400" dirty="0" err="1"/>
              <a:t>vendible.calcularPrecio</a:t>
            </a:r>
            <a:r>
              <a:rPr lang="es-AR" sz="1400" dirty="0"/>
              <a:t>()</a:t>
            </a:r>
          </a:p>
          <a:p>
            <a:pPr>
              <a:defRPr sz="1800">
                <a:solidFill>
                  <a:srgbClr val="FFFFFF"/>
                </a:solidFill>
              </a:defRPr>
            </a:pPr>
            <a:r>
              <a:rPr lang="es-AR" sz="1400" dirty="0"/>
              <a:t>                + 300;</a:t>
            </a:r>
          </a:p>
          <a:p>
            <a:pPr>
              <a:defRPr sz="1800">
                <a:solidFill>
                  <a:srgbClr val="FFFFFF"/>
                </a:solidFill>
              </a:defRPr>
            </a:pPr>
            <a:r>
              <a:rPr lang="es-AR" sz="1400" dirty="0"/>
              <a:t>    }</a:t>
            </a:r>
          </a:p>
          <a:p>
            <a:pPr>
              <a:defRPr sz="1800">
                <a:solidFill>
                  <a:srgbClr val="FFFFFF"/>
                </a:solidFill>
              </a:defRPr>
            </a:pPr>
            <a:r>
              <a:rPr lang="es-AR" sz="1400" dirty="0"/>
              <a:t>}</a:t>
            </a:r>
          </a:p>
        </p:txBody>
      </p:sp>
      <p:sp>
        <p:nvSpPr>
          <p:cNvPr id="6" name="TextBox 3">
            <a:extLst>
              <a:ext uri="{FF2B5EF4-FFF2-40B4-BE49-F238E27FC236}">
                <a16:creationId xmlns:a16="http://schemas.microsoft.com/office/drawing/2014/main" id="{AC692DDF-B1FC-1623-8748-213D5FBD75CD}"/>
              </a:ext>
            </a:extLst>
          </p:cNvPr>
          <p:cNvSpPr txBox="1"/>
          <p:nvPr/>
        </p:nvSpPr>
        <p:spPr>
          <a:xfrm>
            <a:off x="5150751" y="3429000"/>
            <a:ext cx="2355132" cy="307777"/>
          </a:xfrm>
          <a:prstGeom prst="rect">
            <a:avLst/>
          </a:prstGeom>
          <a:noFill/>
        </p:spPr>
        <p:txBody>
          <a:bodyPr wrap="none">
            <a:spAutoFit/>
          </a:bodyPr>
          <a:lstStyle/>
          <a:p>
            <a:pPr>
              <a:defRPr sz="2000" b="1">
                <a:solidFill>
                  <a:srgbClr val="352159"/>
                </a:solidFill>
              </a:defRPr>
            </a:pPr>
            <a:r>
              <a:rPr sz="1400" dirty="0" err="1">
                <a:solidFill>
                  <a:schemeClr val="bg1"/>
                </a:solidFill>
              </a:rPr>
              <a:t>ConCrema</a:t>
            </a:r>
            <a:r>
              <a:rPr sz="1400" dirty="0">
                <a:solidFill>
                  <a:schemeClr val="bg1"/>
                </a:solidFill>
              </a:rPr>
              <a:t> y </a:t>
            </a:r>
            <a:r>
              <a:rPr sz="1400" dirty="0" err="1">
                <a:solidFill>
                  <a:schemeClr val="bg1"/>
                </a:solidFill>
              </a:rPr>
              <a:t>ConCanela</a:t>
            </a:r>
            <a:endParaRPr sz="1400" dirty="0">
              <a:solidFill>
                <a:schemeClr val="bg1"/>
              </a:solidFill>
            </a:endParaRPr>
          </a:p>
        </p:txBody>
      </p:sp>
      <p:sp>
        <p:nvSpPr>
          <p:cNvPr id="7" name="TextBox 5">
            <a:extLst>
              <a:ext uri="{FF2B5EF4-FFF2-40B4-BE49-F238E27FC236}">
                <a16:creationId xmlns:a16="http://schemas.microsoft.com/office/drawing/2014/main" id="{947D9116-309F-A9C2-7139-AB6C37A84A3A}"/>
              </a:ext>
            </a:extLst>
          </p:cNvPr>
          <p:cNvSpPr txBox="1"/>
          <p:nvPr/>
        </p:nvSpPr>
        <p:spPr>
          <a:xfrm>
            <a:off x="5150751" y="4006631"/>
            <a:ext cx="3347790" cy="1815882"/>
          </a:xfrm>
          <a:prstGeom prst="rect">
            <a:avLst/>
          </a:prstGeom>
          <a:noFill/>
        </p:spPr>
        <p:txBody>
          <a:bodyPr wrap="square">
            <a:spAutoFit/>
          </a:bodyPr>
          <a:lstStyle/>
          <a:p>
            <a:pPr>
              <a:defRPr sz="1800">
                <a:solidFill>
                  <a:srgbClr val="352159"/>
                </a:solidFill>
              </a:defRPr>
            </a:pPr>
            <a:r>
              <a:rPr sz="1400" dirty="0" err="1">
                <a:solidFill>
                  <a:schemeClr val="bg1"/>
                </a:solidFill>
              </a:rPr>
              <a:t>ConCrema</a:t>
            </a:r>
            <a:br>
              <a:rPr sz="1400" dirty="0">
                <a:solidFill>
                  <a:schemeClr val="bg1"/>
                </a:solidFill>
              </a:rPr>
            </a:br>
            <a:r>
              <a:rPr sz="1400" dirty="0">
                <a:solidFill>
                  <a:schemeClr val="bg1"/>
                </a:solidFill>
              </a:rPr>
              <a:t>→ </a:t>
            </a:r>
            <a:r>
              <a:rPr sz="1400" dirty="0" err="1">
                <a:solidFill>
                  <a:schemeClr val="bg1"/>
                </a:solidFill>
              </a:rPr>
              <a:t>agrega</a:t>
            </a:r>
            <a:r>
              <a:rPr sz="1400" dirty="0">
                <a:solidFill>
                  <a:schemeClr val="bg1"/>
                </a:solidFill>
              </a:rPr>
              <a:t> 500</a:t>
            </a:r>
            <a:br>
              <a:rPr sz="1400" dirty="0">
                <a:solidFill>
                  <a:schemeClr val="bg1"/>
                </a:solidFill>
              </a:rPr>
            </a:br>
            <a:br>
              <a:rPr sz="1400" dirty="0">
                <a:solidFill>
                  <a:schemeClr val="bg1"/>
                </a:solidFill>
              </a:rPr>
            </a:br>
            <a:r>
              <a:rPr sz="1400" dirty="0" err="1">
                <a:solidFill>
                  <a:schemeClr val="bg1"/>
                </a:solidFill>
              </a:rPr>
              <a:t>ConCanela</a:t>
            </a:r>
            <a:br>
              <a:rPr sz="1400" dirty="0">
                <a:solidFill>
                  <a:schemeClr val="bg1"/>
                </a:solidFill>
              </a:rPr>
            </a:br>
            <a:r>
              <a:rPr sz="1400" dirty="0">
                <a:solidFill>
                  <a:schemeClr val="bg1"/>
                </a:solidFill>
              </a:rPr>
              <a:t>→ </a:t>
            </a:r>
            <a:r>
              <a:rPr sz="1400" dirty="0" err="1">
                <a:solidFill>
                  <a:schemeClr val="bg1"/>
                </a:solidFill>
              </a:rPr>
              <a:t>agrega</a:t>
            </a:r>
            <a:r>
              <a:rPr sz="1400" dirty="0">
                <a:solidFill>
                  <a:schemeClr val="bg1"/>
                </a:solidFill>
              </a:rPr>
              <a:t> 150</a:t>
            </a:r>
            <a:br>
              <a:rPr sz="1400" dirty="0">
                <a:solidFill>
                  <a:schemeClr val="bg1"/>
                </a:solidFill>
              </a:rPr>
            </a:br>
            <a:br>
              <a:rPr sz="1400" dirty="0">
                <a:solidFill>
                  <a:schemeClr val="bg1"/>
                </a:solidFill>
              </a:rPr>
            </a:br>
            <a:r>
              <a:rPr sz="1400" dirty="0">
                <a:solidFill>
                  <a:schemeClr val="bg1"/>
                </a:solidFill>
              </a:rPr>
              <a:t>Todos </a:t>
            </a:r>
            <a:r>
              <a:rPr sz="1400" dirty="0" err="1">
                <a:solidFill>
                  <a:schemeClr val="bg1"/>
                </a:solidFill>
              </a:rPr>
              <a:t>reutilizan</a:t>
            </a:r>
            <a:r>
              <a:rPr sz="1400" dirty="0">
                <a:solidFill>
                  <a:schemeClr val="bg1"/>
                </a:solidFill>
              </a:rPr>
              <a:t>:</a:t>
            </a:r>
            <a:br>
              <a:rPr sz="1400" dirty="0">
                <a:solidFill>
                  <a:schemeClr val="bg1"/>
                </a:solidFill>
              </a:rPr>
            </a:br>
            <a:r>
              <a:rPr sz="1400" dirty="0" err="1">
                <a:solidFill>
                  <a:schemeClr val="bg1"/>
                </a:solidFill>
              </a:rPr>
              <a:t>vendible.calcularPrecio</a:t>
            </a:r>
            <a:r>
              <a:rPr sz="1400" dirty="0">
                <a:solidFill>
                  <a:schemeClr val="bg1"/>
                </a:solidFill>
              </a:rPr>
              <a:t>()</a:t>
            </a:r>
          </a:p>
        </p:txBody>
      </p:sp>
    </p:spTree>
    <p:extLst>
      <p:ext uri="{BB962C8B-B14F-4D97-AF65-F5344CB8AC3E}">
        <p14:creationId xmlns:p14="http://schemas.microsoft.com/office/powerpoint/2010/main" val="14066943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F274DC-E1D6-9B95-93D8-BB5DCB995872}"/>
              </a:ext>
            </a:extLst>
          </p:cNvPr>
          <p:cNvSpPr>
            <a:spLocks noGrp="1"/>
          </p:cNvSpPr>
          <p:nvPr>
            <p:ph type="title"/>
          </p:nvPr>
        </p:nvSpPr>
        <p:spPr/>
        <p:txBody>
          <a:bodyPr/>
          <a:lstStyle/>
          <a:p>
            <a:r>
              <a:rPr lang="es-AR" dirty="0"/>
              <a:t>Cómo funcionan?</a:t>
            </a:r>
          </a:p>
        </p:txBody>
      </p:sp>
      <p:sp>
        <p:nvSpPr>
          <p:cNvPr id="4" name="Rounded Rectangle 1">
            <a:extLst>
              <a:ext uri="{FF2B5EF4-FFF2-40B4-BE49-F238E27FC236}">
                <a16:creationId xmlns:a16="http://schemas.microsoft.com/office/drawing/2014/main" id="{A80A59CE-EC17-75EF-588E-A9B248467061}"/>
              </a:ext>
            </a:extLst>
          </p:cNvPr>
          <p:cNvSpPr/>
          <p:nvPr/>
        </p:nvSpPr>
        <p:spPr>
          <a:xfrm>
            <a:off x="770965" y="2545975"/>
            <a:ext cx="4428564" cy="3173507"/>
          </a:xfrm>
          <a:prstGeom prst="roundRect">
            <a:avLst>
              <a:gd name="adj" fmla="val 7399"/>
            </a:avLst>
          </a:prstGeom>
          <a:solidFill>
            <a:srgbClr val="0A0523"/>
          </a:solidFill>
          <a:ln w="254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
            <a:extLst>
              <a:ext uri="{FF2B5EF4-FFF2-40B4-BE49-F238E27FC236}">
                <a16:creationId xmlns:a16="http://schemas.microsoft.com/office/drawing/2014/main" id="{F5BBD7B8-F5F1-0EA7-B7C9-E6191513668B}"/>
              </a:ext>
            </a:extLst>
          </p:cNvPr>
          <p:cNvSpPr txBox="1"/>
          <p:nvPr/>
        </p:nvSpPr>
        <p:spPr>
          <a:xfrm>
            <a:off x="1028975" y="2709967"/>
            <a:ext cx="5273386" cy="307777"/>
          </a:xfrm>
          <a:prstGeom prst="rect">
            <a:avLst/>
          </a:prstGeom>
          <a:noFill/>
        </p:spPr>
        <p:txBody>
          <a:bodyPr wrap="square">
            <a:spAutoFit/>
          </a:bodyPr>
          <a:lstStyle/>
          <a:p>
            <a:pPr>
              <a:defRPr sz="2400" b="1">
                <a:solidFill>
                  <a:srgbClr val="FFFFFF"/>
                </a:solidFill>
              </a:defRPr>
            </a:pPr>
            <a:r>
              <a:rPr sz="1400"/>
              <a:t>Cómo se encadenan</a:t>
            </a:r>
          </a:p>
        </p:txBody>
      </p:sp>
      <p:sp>
        <p:nvSpPr>
          <p:cNvPr id="6" name="TextBox 3">
            <a:extLst>
              <a:ext uri="{FF2B5EF4-FFF2-40B4-BE49-F238E27FC236}">
                <a16:creationId xmlns:a16="http://schemas.microsoft.com/office/drawing/2014/main" id="{3CA918FC-C883-E85D-2E49-60A77374F4A7}"/>
              </a:ext>
            </a:extLst>
          </p:cNvPr>
          <p:cNvSpPr txBox="1"/>
          <p:nvPr/>
        </p:nvSpPr>
        <p:spPr>
          <a:xfrm>
            <a:off x="1028975" y="3335624"/>
            <a:ext cx="5273386" cy="2031325"/>
          </a:xfrm>
          <a:prstGeom prst="rect">
            <a:avLst/>
          </a:prstGeom>
          <a:noFill/>
        </p:spPr>
        <p:txBody>
          <a:bodyPr wrap="square">
            <a:spAutoFit/>
          </a:bodyPr>
          <a:lstStyle/>
          <a:p>
            <a:pPr>
              <a:defRPr sz="1800">
                <a:solidFill>
                  <a:srgbClr val="FFFFFF"/>
                </a:solidFill>
              </a:defRPr>
            </a:pPr>
            <a:r>
              <a:rPr lang="es-AR" sz="1400" dirty="0" err="1"/>
              <a:t>ItemVendible</a:t>
            </a:r>
            <a:r>
              <a:rPr lang="es-AR" sz="1400" dirty="0"/>
              <a:t> </a:t>
            </a:r>
            <a:r>
              <a:rPr lang="es-AR" sz="1400" dirty="0" err="1"/>
              <a:t>cafeDecorado</a:t>
            </a:r>
            <a:r>
              <a:rPr lang="es-AR" sz="1400" dirty="0"/>
              <a:t> =</a:t>
            </a:r>
            <a:br>
              <a:rPr lang="es-AR" sz="1400" dirty="0"/>
            </a:br>
            <a:br>
              <a:rPr lang="es-AR" sz="1400" dirty="0"/>
            </a:br>
            <a:r>
              <a:rPr lang="es-AR" sz="1400" dirty="0"/>
              <a:t>new </a:t>
            </a:r>
            <a:r>
              <a:rPr lang="es-AR" sz="1400" dirty="0" err="1"/>
              <a:t>ConCanela</a:t>
            </a:r>
            <a:r>
              <a:rPr lang="es-AR" sz="1400" dirty="0"/>
              <a:t>(</a:t>
            </a:r>
            <a:br>
              <a:rPr lang="es-AR" sz="1400" dirty="0"/>
            </a:br>
            <a:r>
              <a:rPr lang="es-AR" sz="1400" dirty="0"/>
              <a:t>    new </a:t>
            </a:r>
            <a:r>
              <a:rPr lang="es-AR" sz="1400" dirty="0" err="1"/>
              <a:t>ConCrema</a:t>
            </a:r>
            <a:r>
              <a:rPr lang="es-AR" sz="1400" dirty="0"/>
              <a:t>(</a:t>
            </a:r>
            <a:br>
              <a:rPr lang="es-AR" sz="1400" dirty="0"/>
            </a:br>
            <a:r>
              <a:rPr lang="es-AR" sz="1400" dirty="0"/>
              <a:t>        new </a:t>
            </a:r>
            <a:r>
              <a:rPr lang="es-AR" sz="1400" dirty="0" err="1"/>
              <a:t>ConLeche</a:t>
            </a:r>
            <a:r>
              <a:rPr lang="es-AR" sz="1400" dirty="0"/>
              <a:t>(</a:t>
            </a:r>
            <a:r>
              <a:rPr lang="es-AR" sz="1400" dirty="0" err="1"/>
              <a:t>cafe</a:t>
            </a:r>
            <a:r>
              <a:rPr lang="es-AR" sz="1400" dirty="0"/>
              <a:t>)</a:t>
            </a:r>
            <a:br>
              <a:rPr lang="es-AR" sz="1400" dirty="0"/>
            </a:br>
            <a:r>
              <a:rPr lang="es-AR" sz="1400" dirty="0"/>
              <a:t>    )</a:t>
            </a:r>
            <a:br>
              <a:rPr lang="es-AR" sz="1400" dirty="0"/>
            </a:br>
            <a:r>
              <a:rPr lang="es-AR" sz="1400" dirty="0"/>
              <a:t>);</a:t>
            </a:r>
            <a:br>
              <a:rPr lang="es-AR" sz="1400" dirty="0"/>
            </a:br>
            <a:br>
              <a:rPr lang="es-AR" sz="1400" dirty="0"/>
            </a:br>
            <a:r>
              <a:rPr lang="es-AR" sz="1400" dirty="0"/>
              <a:t>Cada </a:t>
            </a:r>
            <a:r>
              <a:rPr lang="es-AR" sz="1400" dirty="0" err="1"/>
              <a:t>decorator</a:t>
            </a:r>
            <a:r>
              <a:rPr lang="es-AR" sz="1400" dirty="0"/>
              <a:t> envuelve al anterior.</a:t>
            </a:r>
          </a:p>
        </p:txBody>
      </p:sp>
      <p:sp>
        <p:nvSpPr>
          <p:cNvPr id="7" name="Marcador de contenido 2">
            <a:extLst>
              <a:ext uri="{FF2B5EF4-FFF2-40B4-BE49-F238E27FC236}">
                <a16:creationId xmlns:a16="http://schemas.microsoft.com/office/drawing/2014/main" id="{47D6A567-132D-EE91-4200-54AF79ADF632}"/>
              </a:ext>
            </a:extLst>
          </p:cNvPr>
          <p:cNvSpPr>
            <a:spLocks noGrp="1"/>
          </p:cNvSpPr>
          <p:nvPr>
            <p:ph idx="1"/>
          </p:nvPr>
        </p:nvSpPr>
        <p:spPr>
          <a:xfrm>
            <a:off x="5351929" y="2625759"/>
            <a:ext cx="3281083" cy="3305143"/>
          </a:xfrm>
        </p:spPr>
        <p:txBody>
          <a:bodyPr/>
          <a:lstStyle/>
          <a:p>
            <a:r>
              <a:rPr lang="es-AR" dirty="0"/>
              <a:t>☕ Café </a:t>
            </a:r>
            <a:r>
              <a:rPr lang="es-AR" dirty="0" err="1"/>
              <a:t>Latte</a:t>
            </a:r>
            <a:br>
              <a:rPr lang="es-AR" dirty="0"/>
            </a:br>
            <a:r>
              <a:rPr lang="es-AR" dirty="0"/>
              <a:t>+ leche</a:t>
            </a:r>
            <a:br>
              <a:rPr lang="es-AR" dirty="0"/>
            </a:br>
            <a:r>
              <a:rPr lang="es-AR" dirty="0"/>
              <a:t>+ crema</a:t>
            </a:r>
            <a:br>
              <a:rPr lang="es-AR" dirty="0"/>
            </a:br>
            <a:r>
              <a:rPr lang="es-AR" dirty="0"/>
              <a:t>+ canela</a:t>
            </a:r>
            <a:br>
              <a:rPr lang="es-AR" dirty="0"/>
            </a:br>
            <a:br>
              <a:rPr lang="es-AR" dirty="0"/>
            </a:br>
            <a:r>
              <a:rPr lang="es-AR" dirty="0"/>
              <a:t>Precio:</a:t>
            </a:r>
            <a:br>
              <a:rPr lang="es-AR" dirty="0"/>
            </a:br>
            <a:r>
              <a:rPr lang="es-AR" dirty="0"/>
              <a:t>4500 + 300 + 500 + 150</a:t>
            </a:r>
          </a:p>
        </p:txBody>
      </p:sp>
    </p:spTree>
    <p:extLst>
      <p:ext uri="{BB962C8B-B14F-4D97-AF65-F5344CB8AC3E}">
        <p14:creationId xmlns:p14="http://schemas.microsoft.com/office/powerpoint/2010/main" val="22575237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CF3BE4-4D8E-3656-7229-A85A57F9F8ED}"/>
              </a:ext>
            </a:extLst>
          </p:cNvPr>
          <p:cNvSpPr>
            <a:spLocks noGrp="1"/>
          </p:cNvSpPr>
          <p:nvPr>
            <p:ph type="title"/>
          </p:nvPr>
        </p:nvSpPr>
        <p:spPr/>
        <p:txBody>
          <a:bodyPr/>
          <a:lstStyle/>
          <a:p>
            <a:r>
              <a:rPr lang="es-AR" dirty="0"/>
              <a:t>Cómo se crea el Pedido?</a:t>
            </a:r>
          </a:p>
        </p:txBody>
      </p:sp>
      <p:sp>
        <p:nvSpPr>
          <p:cNvPr id="3" name="Marcador de contenido 2">
            <a:extLst>
              <a:ext uri="{FF2B5EF4-FFF2-40B4-BE49-F238E27FC236}">
                <a16:creationId xmlns:a16="http://schemas.microsoft.com/office/drawing/2014/main" id="{4A6F1F31-BA9D-8021-4ABA-C7E909E4DB89}"/>
              </a:ext>
            </a:extLst>
          </p:cNvPr>
          <p:cNvSpPr>
            <a:spLocks noGrp="1"/>
          </p:cNvSpPr>
          <p:nvPr>
            <p:ph idx="1"/>
          </p:nvPr>
        </p:nvSpPr>
        <p:spPr>
          <a:xfrm>
            <a:off x="864382" y="2489200"/>
            <a:ext cx="6345260" cy="782918"/>
          </a:xfrm>
        </p:spPr>
        <p:txBody>
          <a:bodyPr/>
          <a:lstStyle/>
          <a:p>
            <a:r>
              <a:rPr lang="es-AR" dirty="0"/>
              <a:t>Pedido ya no depende de Producto concreto.</a:t>
            </a:r>
          </a:p>
        </p:txBody>
      </p:sp>
      <p:sp>
        <p:nvSpPr>
          <p:cNvPr id="4" name="Rounded Rectangle 1">
            <a:extLst>
              <a:ext uri="{FF2B5EF4-FFF2-40B4-BE49-F238E27FC236}">
                <a16:creationId xmlns:a16="http://schemas.microsoft.com/office/drawing/2014/main" id="{840A2D69-B3F9-CBE3-3345-56861554D1E0}"/>
              </a:ext>
            </a:extLst>
          </p:cNvPr>
          <p:cNvSpPr/>
          <p:nvPr/>
        </p:nvSpPr>
        <p:spPr>
          <a:xfrm>
            <a:off x="864382" y="3130135"/>
            <a:ext cx="4231341" cy="2800767"/>
          </a:xfrm>
          <a:prstGeom prst="roundRect">
            <a:avLst>
              <a:gd name="adj" fmla="val 9385"/>
            </a:avLst>
          </a:prstGeom>
          <a:solidFill>
            <a:srgbClr val="0A0523"/>
          </a:solidFill>
          <a:ln w="254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3">
            <a:extLst>
              <a:ext uri="{FF2B5EF4-FFF2-40B4-BE49-F238E27FC236}">
                <a16:creationId xmlns:a16="http://schemas.microsoft.com/office/drawing/2014/main" id="{5A4BDEC4-3ED6-3595-4116-0652BCB0FDEE}"/>
              </a:ext>
            </a:extLst>
          </p:cNvPr>
          <p:cNvSpPr txBox="1"/>
          <p:nvPr/>
        </p:nvSpPr>
        <p:spPr>
          <a:xfrm>
            <a:off x="1034711" y="3260827"/>
            <a:ext cx="4078324" cy="2031325"/>
          </a:xfrm>
          <a:prstGeom prst="rect">
            <a:avLst/>
          </a:prstGeom>
          <a:noFill/>
        </p:spPr>
        <p:txBody>
          <a:bodyPr wrap="square">
            <a:spAutoFit/>
          </a:bodyPr>
          <a:lstStyle/>
          <a:p>
            <a:pPr>
              <a:defRPr sz="1800">
                <a:solidFill>
                  <a:srgbClr val="FFFFFF"/>
                </a:solidFill>
              </a:defRPr>
            </a:pPr>
            <a:r>
              <a:rPr lang="es-AR" sz="1400" dirty="0"/>
              <a:t>ANTES</a:t>
            </a:r>
            <a:br>
              <a:rPr lang="es-AR" sz="1400" dirty="0"/>
            </a:br>
            <a:br>
              <a:rPr lang="es-AR" sz="1400" dirty="0"/>
            </a:br>
            <a:r>
              <a:rPr lang="es-AR" sz="1400" dirty="0" err="1"/>
              <a:t>pedido.agregarProducto</a:t>
            </a:r>
            <a:r>
              <a:rPr lang="es-AR" sz="1400" dirty="0"/>
              <a:t>(...)</a:t>
            </a:r>
            <a:br>
              <a:rPr lang="es-AR" sz="1400" dirty="0"/>
            </a:br>
            <a:br>
              <a:rPr lang="es-AR" sz="1400" dirty="0"/>
            </a:br>
            <a:r>
              <a:rPr lang="es-AR" sz="1400" dirty="0"/>
              <a:t>DESPUÉS</a:t>
            </a:r>
            <a:br>
              <a:rPr lang="es-AR" sz="1400" dirty="0"/>
            </a:br>
            <a:br>
              <a:rPr lang="es-AR" sz="1400" dirty="0"/>
            </a:br>
            <a:r>
              <a:rPr lang="es-AR" sz="1400" dirty="0" err="1"/>
              <a:t>pedido.agregarItem</a:t>
            </a:r>
            <a:r>
              <a:rPr lang="es-AR" sz="1400" dirty="0"/>
              <a:t>(</a:t>
            </a:r>
            <a:br>
              <a:rPr lang="es-AR" sz="1400" dirty="0"/>
            </a:br>
            <a:r>
              <a:rPr lang="es-AR" sz="1400" dirty="0"/>
              <a:t>        </a:t>
            </a:r>
            <a:r>
              <a:rPr lang="es-AR" sz="1400" dirty="0" err="1"/>
              <a:t>ItemVendible</a:t>
            </a:r>
            <a:r>
              <a:rPr lang="es-AR" sz="1400" dirty="0"/>
              <a:t> </a:t>
            </a:r>
            <a:r>
              <a:rPr lang="es-AR" sz="1400" dirty="0" err="1"/>
              <a:t>item</a:t>
            </a:r>
            <a:r>
              <a:rPr lang="es-AR" sz="1400" dirty="0"/>
              <a:t>,</a:t>
            </a:r>
            <a:br>
              <a:rPr lang="es-AR" sz="1400" dirty="0"/>
            </a:br>
            <a:r>
              <a:rPr lang="es-AR" sz="1400" dirty="0"/>
              <a:t>        </a:t>
            </a:r>
            <a:r>
              <a:rPr lang="es-AR" sz="1400" dirty="0" err="1"/>
              <a:t>int</a:t>
            </a:r>
            <a:r>
              <a:rPr lang="es-AR" sz="1400" dirty="0"/>
              <a:t> cantidad)</a:t>
            </a:r>
            <a:endParaRPr sz="1400" dirty="0"/>
          </a:p>
        </p:txBody>
      </p:sp>
    </p:spTree>
    <p:extLst>
      <p:ext uri="{BB962C8B-B14F-4D97-AF65-F5344CB8AC3E}">
        <p14:creationId xmlns:p14="http://schemas.microsoft.com/office/powerpoint/2010/main" val="39342314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FFE45D-23AA-8A78-FE42-C5929AEE315B}"/>
              </a:ext>
            </a:extLst>
          </p:cNvPr>
          <p:cNvSpPr>
            <a:spLocks noGrp="1"/>
          </p:cNvSpPr>
          <p:nvPr>
            <p:ph type="title"/>
          </p:nvPr>
        </p:nvSpPr>
        <p:spPr/>
        <p:txBody>
          <a:bodyPr/>
          <a:lstStyle/>
          <a:p>
            <a:r>
              <a:rPr lang="es-AR" dirty="0"/>
              <a:t>Composite + </a:t>
            </a:r>
            <a:r>
              <a:rPr lang="es-AR" dirty="0" err="1"/>
              <a:t>Decorator</a:t>
            </a:r>
            <a:r>
              <a:rPr lang="es-AR" dirty="0"/>
              <a:t> 🧩</a:t>
            </a:r>
          </a:p>
        </p:txBody>
      </p:sp>
      <p:sp>
        <p:nvSpPr>
          <p:cNvPr id="3" name="Marcador de contenido 2">
            <a:extLst>
              <a:ext uri="{FF2B5EF4-FFF2-40B4-BE49-F238E27FC236}">
                <a16:creationId xmlns:a16="http://schemas.microsoft.com/office/drawing/2014/main" id="{6191AF83-C1EA-0BD8-4141-C13515D7E6BC}"/>
              </a:ext>
            </a:extLst>
          </p:cNvPr>
          <p:cNvSpPr>
            <a:spLocks noGrp="1"/>
          </p:cNvSpPr>
          <p:nvPr>
            <p:ph idx="1"/>
          </p:nvPr>
        </p:nvSpPr>
        <p:spPr/>
        <p:txBody>
          <a:bodyPr/>
          <a:lstStyle/>
          <a:p>
            <a:r>
              <a:rPr lang="es-AR" dirty="0"/>
              <a:t>Composite</a:t>
            </a:r>
            <a:br>
              <a:rPr lang="es-AR" dirty="0"/>
            </a:br>
            <a:r>
              <a:rPr lang="es-AR" dirty="0"/>
              <a:t>→ Producto y Combo</a:t>
            </a:r>
          </a:p>
          <a:p>
            <a:r>
              <a:rPr lang="es-AR" dirty="0" err="1"/>
              <a:t>Decorator</a:t>
            </a:r>
            <a:br>
              <a:rPr lang="es-AR" dirty="0"/>
            </a:br>
            <a:r>
              <a:rPr lang="es-AR" dirty="0"/>
              <a:t>→ extras dinámicos</a:t>
            </a:r>
          </a:p>
          <a:p>
            <a:pPr marL="0" indent="0">
              <a:buNone/>
            </a:pPr>
            <a:endParaRPr lang="es-AR" dirty="0"/>
          </a:p>
          <a:p>
            <a:pPr marL="0" indent="0">
              <a:buNone/>
            </a:pPr>
            <a:r>
              <a:rPr lang="es-AR" dirty="0"/>
              <a:t>Ejemplo:</a:t>
            </a:r>
          </a:p>
          <a:p>
            <a:pPr marL="0" indent="0">
              <a:buNone/>
            </a:pPr>
            <a:br>
              <a:rPr lang="es-AR" dirty="0"/>
            </a:br>
            <a:r>
              <a:rPr lang="es-AR" dirty="0"/>
              <a:t>Combo desayuno + crema + canela</a:t>
            </a:r>
          </a:p>
          <a:p>
            <a:endParaRPr lang="es-AR" dirty="0"/>
          </a:p>
        </p:txBody>
      </p:sp>
    </p:spTree>
    <p:extLst>
      <p:ext uri="{BB962C8B-B14F-4D97-AF65-F5344CB8AC3E}">
        <p14:creationId xmlns:p14="http://schemas.microsoft.com/office/powerpoint/2010/main" val="25150645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1F6AA2-E71A-B7E4-9D7A-1883FAF7DC68}"/>
              </a:ext>
            </a:extLst>
          </p:cNvPr>
          <p:cNvSpPr>
            <a:spLocks noGrp="1"/>
          </p:cNvSpPr>
          <p:nvPr>
            <p:ph type="title"/>
          </p:nvPr>
        </p:nvSpPr>
        <p:spPr/>
        <p:txBody>
          <a:bodyPr/>
          <a:lstStyle/>
          <a:p>
            <a:r>
              <a:rPr lang="es-AR" dirty="0"/>
              <a:t>Solución UML</a:t>
            </a:r>
          </a:p>
        </p:txBody>
      </p:sp>
      <p:pic>
        <p:nvPicPr>
          <p:cNvPr id="4" name="Imagen 3">
            <a:extLst>
              <a:ext uri="{FF2B5EF4-FFF2-40B4-BE49-F238E27FC236}">
                <a16:creationId xmlns:a16="http://schemas.microsoft.com/office/drawing/2014/main" id="{DDA82051-ADB0-8823-8D89-5EEAFA59DC54}"/>
              </a:ext>
            </a:extLst>
          </p:cNvPr>
          <p:cNvPicPr>
            <a:picLocks noChangeAspect="1"/>
          </p:cNvPicPr>
          <p:nvPr/>
        </p:nvPicPr>
        <p:blipFill>
          <a:blip r:embed="rId2"/>
          <a:stretch>
            <a:fillRect/>
          </a:stretch>
        </p:blipFill>
        <p:spPr>
          <a:xfrm>
            <a:off x="1018761" y="2340077"/>
            <a:ext cx="7106478" cy="4113842"/>
          </a:xfrm>
          <a:prstGeom prst="rect">
            <a:avLst/>
          </a:prstGeom>
        </p:spPr>
      </p:pic>
    </p:spTree>
    <p:extLst>
      <p:ext uri="{BB962C8B-B14F-4D97-AF65-F5344CB8AC3E}">
        <p14:creationId xmlns:p14="http://schemas.microsoft.com/office/powerpoint/2010/main" val="28592672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59A36B-34DB-DF99-E89B-C905648BD1F5}"/>
              </a:ext>
            </a:extLst>
          </p:cNvPr>
          <p:cNvSpPr>
            <a:spLocks noGrp="1"/>
          </p:cNvSpPr>
          <p:nvPr>
            <p:ph type="title"/>
          </p:nvPr>
        </p:nvSpPr>
        <p:spPr/>
        <p:txBody>
          <a:bodyPr/>
          <a:lstStyle/>
          <a:p>
            <a:r>
              <a:rPr lang="es-AR" dirty="0" err="1"/>
              <a:t>Clean</a:t>
            </a:r>
            <a:r>
              <a:rPr lang="es-AR" dirty="0"/>
              <a:t> </a:t>
            </a:r>
            <a:r>
              <a:rPr lang="es-AR" dirty="0" err="1"/>
              <a:t>architecture</a:t>
            </a:r>
            <a:endParaRPr lang="es-AR" dirty="0"/>
          </a:p>
        </p:txBody>
      </p:sp>
      <p:cxnSp>
        <p:nvCxnSpPr>
          <p:cNvPr id="4" name="Connector 15">
            <a:extLst>
              <a:ext uri="{FF2B5EF4-FFF2-40B4-BE49-F238E27FC236}">
                <a16:creationId xmlns:a16="http://schemas.microsoft.com/office/drawing/2014/main" id="{2B1B142F-87AB-249F-D61F-5B60843FBC99}"/>
              </a:ext>
            </a:extLst>
          </p:cNvPr>
          <p:cNvCxnSpPr>
            <a:cxnSpLocks/>
          </p:cNvCxnSpPr>
          <p:nvPr/>
        </p:nvCxnSpPr>
        <p:spPr>
          <a:xfrm>
            <a:off x="2283116" y="3874742"/>
            <a:ext cx="296664" cy="0"/>
          </a:xfrm>
          <a:prstGeom prst="line">
            <a:avLst/>
          </a:prstGeom>
          <a:ln w="20320">
            <a:solidFill>
              <a:srgbClr val="58C7F3"/>
            </a:solidFill>
          </a:ln>
        </p:spPr>
        <p:style>
          <a:lnRef idx="2">
            <a:schemeClr val="accent1"/>
          </a:lnRef>
          <a:fillRef idx="0">
            <a:schemeClr val="accent1"/>
          </a:fillRef>
          <a:effectRef idx="1">
            <a:schemeClr val="accent1"/>
          </a:effectRef>
          <a:fontRef idx="minor">
            <a:schemeClr val="tx1"/>
          </a:fontRef>
        </p:style>
      </p:cxnSp>
      <p:cxnSp>
        <p:nvCxnSpPr>
          <p:cNvPr id="5" name="Connector 16">
            <a:extLst>
              <a:ext uri="{FF2B5EF4-FFF2-40B4-BE49-F238E27FC236}">
                <a16:creationId xmlns:a16="http://schemas.microsoft.com/office/drawing/2014/main" id="{2953C5EC-EF5F-86E1-344B-BEB61CE45169}"/>
              </a:ext>
            </a:extLst>
          </p:cNvPr>
          <p:cNvCxnSpPr>
            <a:cxnSpLocks/>
          </p:cNvCxnSpPr>
          <p:nvPr/>
        </p:nvCxnSpPr>
        <p:spPr>
          <a:xfrm>
            <a:off x="4586721" y="3874742"/>
            <a:ext cx="301003" cy="0"/>
          </a:xfrm>
          <a:prstGeom prst="line">
            <a:avLst/>
          </a:prstGeom>
          <a:ln w="20320">
            <a:solidFill>
              <a:srgbClr val="58C7F3"/>
            </a:solidFill>
          </a:ln>
        </p:spPr>
        <p:style>
          <a:lnRef idx="2">
            <a:schemeClr val="accent1"/>
          </a:lnRef>
          <a:fillRef idx="0">
            <a:schemeClr val="accent1"/>
          </a:fillRef>
          <a:effectRef idx="1">
            <a:schemeClr val="accent1"/>
          </a:effectRef>
          <a:fontRef idx="minor">
            <a:schemeClr val="tx1"/>
          </a:fontRef>
        </p:style>
      </p:cxnSp>
      <p:sp>
        <p:nvSpPr>
          <p:cNvPr id="7" name="Rounded Rectangle 7">
            <a:extLst>
              <a:ext uri="{FF2B5EF4-FFF2-40B4-BE49-F238E27FC236}">
                <a16:creationId xmlns:a16="http://schemas.microsoft.com/office/drawing/2014/main" id="{0C579D54-86BD-6D43-ED08-D21DEB86CDEC}"/>
              </a:ext>
            </a:extLst>
          </p:cNvPr>
          <p:cNvSpPr/>
          <p:nvPr/>
        </p:nvSpPr>
        <p:spPr>
          <a:xfrm>
            <a:off x="44824" y="3326102"/>
            <a:ext cx="2236019" cy="1097280"/>
          </a:xfrm>
          <a:prstGeom prst="roundRect">
            <a:avLst/>
          </a:prstGeom>
          <a:solidFill>
            <a:srgbClr val="2E234A"/>
          </a:solidFill>
          <a:ln w="15240">
            <a:solidFill>
              <a:srgbClr val="58D6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8">
            <a:extLst>
              <a:ext uri="{FF2B5EF4-FFF2-40B4-BE49-F238E27FC236}">
                <a16:creationId xmlns:a16="http://schemas.microsoft.com/office/drawing/2014/main" id="{6ABE2CC9-2A8B-FCA9-4685-9CE9C7A92BC8}"/>
              </a:ext>
            </a:extLst>
          </p:cNvPr>
          <p:cNvSpPr txBox="1"/>
          <p:nvPr/>
        </p:nvSpPr>
        <p:spPr>
          <a:xfrm>
            <a:off x="44825" y="3420549"/>
            <a:ext cx="2236020" cy="954107"/>
          </a:xfrm>
          <a:prstGeom prst="rect">
            <a:avLst/>
          </a:prstGeom>
          <a:noFill/>
        </p:spPr>
        <p:txBody>
          <a:bodyPr wrap="square" anchor="ctr">
            <a:spAutoFit/>
          </a:bodyPr>
          <a:lstStyle/>
          <a:p>
            <a:pPr algn="ctr">
              <a:defRPr sz="1400" b="1">
                <a:solidFill>
                  <a:srgbClr val="F8F4FF"/>
                </a:solidFill>
              </a:defRPr>
            </a:pPr>
            <a:r>
              <a:rPr dirty="0"/>
              <a:t>Domain</a:t>
            </a:r>
            <a:br>
              <a:rPr dirty="0"/>
            </a:br>
            <a:r>
              <a:rPr lang="es-419" dirty="0"/>
              <a:t>Item</a:t>
            </a:r>
            <a:r>
              <a:rPr dirty="0"/>
              <a:t>Vendible, </a:t>
            </a:r>
            <a:r>
              <a:rPr lang="es-419" dirty="0"/>
              <a:t>VendibleDecorator, ConLeche, ConCrema</a:t>
            </a:r>
            <a:endParaRPr dirty="0"/>
          </a:p>
        </p:txBody>
      </p:sp>
      <p:sp>
        <p:nvSpPr>
          <p:cNvPr id="9" name="Rounded Rectangle 9">
            <a:extLst>
              <a:ext uri="{FF2B5EF4-FFF2-40B4-BE49-F238E27FC236}">
                <a16:creationId xmlns:a16="http://schemas.microsoft.com/office/drawing/2014/main" id="{A9E8E8C1-1178-65C3-4FCB-6E19CF27B5D3}"/>
              </a:ext>
            </a:extLst>
          </p:cNvPr>
          <p:cNvSpPr/>
          <p:nvPr/>
        </p:nvSpPr>
        <p:spPr>
          <a:xfrm>
            <a:off x="2430215" y="3326102"/>
            <a:ext cx="2236019" cy="1097280"/>
          </a:xfrm>
          <a:prstGeom prst="roundRect">
            <a:avLst/>
          </a:prstGeom>
          <a:solidFill>
            <a:srgbClr val="2E234A"/>
          </a:solidFill>
          <a:ln w="15240">
            <a:solidFill>
              <a:srgbClr val="58C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10">
            <a:extLst>
              <a:ext uri="{FF2B5EF4-FFF2-40B4-BE49-F238E27FC236}">
                <a16:creationId xmlns:a16="http://schemas.microsoft.com/office/drawing/2014/main" id="{D0439C4C-B6EA-1773-E11F-1A7408E94E8A}"/>
              </a:ext>
            </a:extLst>
          </p:cNvPr>
          <p:cNvSpPr txBox="1"/>
          <p:nvPr/>
        </p:nvSpPr>
        <p:spPr>
          <a:xfrm>
            <a:off x="2457646" y="3528270"/>
            <a:ext cx="2210219" cy="738664"/>
          </a:xfrm>
          <a:prstGeom prst="rect">
            <a:avLst/>
          </a:prstGeom>
          <a:noFill/>
        </p:spPr>
        <p:txBody>
          <a:bodyPr wrap="square" anchor="ctr">
            <a:spAutoFit/>
          </a:bodyPr>
          <a:lstStyle/>
          <a:p>
            <a:pPr algn="ctr">
              <a:defRPr sz="1400" b="1">
                <a:solidFill>
                  <a:srgbClr val="F8F4FF"/>
                </a:solidFill>
              </a:defRPr>
            </a:pPr>
            <a:r>
              <a:rPr dirty="0"/>
              <a:t>Application</a:t>
            </a:r>
            <a:br>
              <a:rPr dirty="0"/>
            </a:br>
            <a:r>
              <a:rPr dirty="0" err="1"/>
              <a:t>MagicCafeService</a:t>
            </a:r>
            <a:r>
              <a:rPr dirty="0"/>
              <a:t> + DTOs</a:t>
            </a:r>
          </a:p>
        </p:txBody>
      </p:sp>
      <p:sp>
        <p:nvSpPr>
          <p:cNvPr id="11" name="Rounded Rectangle 11">
            <a:extLst>
              <a:ext uri="{FF2B5EF4-FFF2-40B4-BE49-F238E27FC236}">
                <a16:creationId xmlns:a16="http://schemas.microsoft.com/office/drawing/2014/main" id="{DB5B9BD2-BC71-DD63-85B5-552A3154F3CF}"/>
              </a:ext>
            </a:extLst>
          </p:cNvPr>
          <p:cNvSpPr/>
          <p:nvPr/>
        </p:nvSpPr>
        <p:spPr>
          <a:xfrm>
            <a:off x="4813333" y="3326102"/>
            <a:ext cx="2236019" cy="1097280"/>
          </a:xfrm>
          <a:prstGeom prst="roundRect">
            <a:avLst/>
          </a:prstGeom>
          <a:solidFill>
            <a:srgbClr val="2E234A"/>
          </a:solidFill>
          <a:ln w="15240">
            <a:solidFill>
              <a:srgbClr val="F2C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2">
            <a:extLst>
              <a:ext uri="{FF2B5EF4-FFF2-40B4-BE49-F238E27FC236}">
                <a16:creationId xmlns:a16="http://schemas.microsoft.com/office/drawing/2014/main" id="{3EEAF8AB-AB48-03A2-7F4A-F349B34609A3}"/>
              </a:ext>
            </a:extLst>
          </p:cNvPr>
          <p:cNvSpPr txBox="1"/>
          <p:nvPr/>
        </p:nvSpPr>
        <p:spPr>
          <a:xfrm>
            <a:off x="4813332" y="3528270"/>
            <a:ext cx="2236019" cy="738664"/>
          </a:xfrm>
          <a:prstGeom prst="rect">
            <a:avLst/>
          </a:prstGeom>
          <a:noFill/>
        </p:spPr>
        <p:txBody>
          <a:bodyPr wrap="square" anchor="ctr">
            <a:spAutoFit/>
          </a:bodyPr>
          <a:lstStyle/>
          <a:p>
            <a:pPr algn="ctr">
              <a:defRPr sz="1400" b="1">
                <a:solidFill>
                  <a:srgbClr val="F8F4FF"/>
                </a:solidFill>
              </a:defRPr>
            </a:pPr>
            <a:r>
              <a:t>Infrastructure</a:t>
            </a:r>
            <a:br/>
            <a:r>
              <a:t>JpaRepository + Hibernate</a:t>
            </a:r>
          </a:p>
        </p:txBody>
      </p:sp>
      <p:sp>
        <p:nvSpPr>
          <p:cNvPr id="14" name="Marcador de contenido 2">
            <a:extLst>
              <a:ext uri="{FF2B5EF4-FFF2-40B4-BE49-F238E27FC236}">
                <a16:creationId xmlns:a16="http://schemas.microsoft.com/office/drawing/2014/main" id="{B113E9E4-813F-3BE6-CE0E-8AA91701632E}"/>
              </a:ext>
            </a:extLst>
          </p:cNvPr>
          <p:cNvSpPr>
            <a:spLocks noGrp="1"/>
          </p:cNvSpPr>
          <p:nvPr>
            <p:ph idx="1"/>
          </p:nvPr>
        </p:nvSpPr>
        <p:spPr>
          <a:xfrm>
            <a:off x="864381" y="2489200"/>
            <a:ext cx="7607265" cy="3530600"/>
          </a:xfrm>
        </p:spPr>
        <p:txBody>
          <a:bodyPr/>
          <a:lstStyle/>
          <a:p>
            <a:r>
              <a:rPr lang="es-AR" dirty="0" err="1"/>
              <a:t>Decorator</a:t>
            </a:r>
            <a:r>
              <a:rPr lang="es-AR" dirty="0"/>
              <a:t> vive en el Domain, representa lógica de negocio.</a:t>
            </a:r>
          </a:p>
          <a:p>
            <a:pPr marL="0" indent="0">
              <a:buNone/>
            </a:pPr>
            <a:endParaRPr lang="es-AR" dirty="0"/>
          </a:p>
        </p:txBody>
      </p:sp>
      <p:cxnSp>
        <p:nvCxnSpPr>
          <p:cNvPr id="15" name="Connector 17">
            <a:extLst>
              <a:ext uri="{FF2B5EF4-FFF2-40B4-BE49-F238E27FC236}">
                <a16:creationId xmlns:a16="http://schemas.microsoft.com/office/drawing/2014/main" id="{BC5C89B5-6762-6C52-C629-CDEBB2D78CE7}"/>
              </a:ext>
            </a:extLst>
          </p:cNvPr>
          <p:cNvCxnSpPr>
            <a:cxnSpLocks/>
          </p:cNvCxnSpPr>
          <p:nvPr/>
        </p:nvCxnSpPr>
        <p:spPr>
          <a:xfrm>
            <a:off x="6968207" y="3874742"/>
            <a:ext cx="301003" cy="0"/>
          </a:xfrm>
          <a:prstGeom prst="line">
            <a:avLst/>
          </a:prstGeom>
          <a:ln w="20320">
            <a:solidFill>
              <a:srgbClr val="58C7F3"/>
            </a:solidFill>
          </a:ln>
        </p:spPr>
        <p:style>
          <a:lnRef idx="2">
            <a:schemeClr val="accent1"/>
          </a:lnRef>
          <a:fillRef idx="0">
            <a:schemeClr val="accent1"/>
          </a:fillRef>
          <a:effectRef idx="1">
            <a:schemeClr val="accent1"/>
          </a:effectRef>
          <a:fontRef idx="minor">
            <a:schemeClr val="tx1"/>
          </a:fontRef>
        </p:style>
      </p:cxnSp>
      <p:sp>
        <p:nvSpPr>
          <p:cNvPr id="16" name="Rounded Rectangle 13">
            <a:extLst>
              <a:ext uri="{FF2B5EF4-FFF2-40B4-BE49-F238E27FC236}">
                <a16:creationId xmlns:a16="http://schemas.microsoft.com/office/drawing/2014/main" id="{6E76A8BE-0849-A9E8-2B48-EBE46C46F88C}"/>
              </a:ext>
            </a:extLst>
          </p:cNvPr>
          <p:cNvSpPr/>
          <p:nvPr/>
        </p:nvSpPr>
        <p:spPr>
          <a:xfrm>
            <a:off x="7194819" y="3326102"/>
            <a:ext cx="1892016" cy="1097280"/>
          </a:xfrm>
          <a:prstGeom prst="roundRect">
            <a:avLst/>
          </a:prstGeom>
          <a:solidFill>
            <a:srgbClr val="2E234A"/>
          </a:solidFill>
          <a:ln w="15240">
            <a:solidFill>
              <a:srgbClr val="7E5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4">
            <a:extLst>
              <a:ext uri="{FF2B5EF4-FFF2-40B4-BE49-F238E27FC236}">
                <a16:creationId xmlns:a16="http://schemas.microsoft.com/office/drawing/2014/main" id="{F682E73C-E1AA-FA08-D44E-FD4C49573CD4}"/>
              </a:ext>
            </a:extLst>
          </p:cNvPr>
          <p:cNvSpPr txBox="1"/>
          <p:nvPr/>
        </p:nvSpPr>
        <p:spPr>
          <a:xfrm>
            <a:off x="7194818" y="3528270"/>
            <a:ext cx="1892016" cy="738664"/>
          </a:xfrm>
          <a:prstGeom prst="rect">
            <a:avLst/>
          </a:prstGeom>
          <a:noFill/>
        </p:spPr>
        <p:txBody>
          <a:bodyPr wrap="square" anchor="ctr">
            <a:spAutoFit/>
          </a:bodyPr>
          <a:lstStyle/>
          <a:p>
            <a:pPr algn="ctr">
              <a:defRPr sz="1400" b="1">
                <a:solidFill>
                  <a:srgbClr val="F8F4FF"/>
                </a:solidFill>
              </a:defRPr>
            </a:pPr>
            <a:r>
              <a:rPr dirty="0"/>
              <a:t>Presentation</a:t>
            </a:r>
            <a:br>
              <a:rPr dirty="0"/>
            </a:br>
            <a:r>
              <a:rPr dirty="0"/>
              <a:t>Swing UI + Controller</a:t>
            </a:r>
          </a:p>
        </p:txBody>
      </p:sp>
    </p:spTree>
    <p:extLst>
      <p:ext uri="{BB962C8B-B14F-4D97-AF65-F5344CB8AC3E}">
        <p14:creationId xmlns:p14="http://schemas.microsoft.com/office/powerpoint/2010/main" val="39141696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5F4A78-2E78-4A89-8331-A6142408E072}"/>
              </a:ext>
            </a:extLst>
          </p:cNvPr>
          <p:cNvSpPr>
            <a:spLocks noGrp="1"/>
          </p:cNvSpPr>
          <p:nvPr>
            <p:ph type="title"/>
          </p:nvPr>
        </p:nvSpPr>
        <p:spPr/>
        <p:txBody>
          <a:bodyPr/>
          <a:lstStyle/>
          <a:p>
            <a:r>
              <a:rPr lang="es-AR" dirty="0"/>
              <a:t>Cómo mejora el diseño?</a:t>
            </a:r>
          </a:p>
        </p:txBody>
      </p:sp>
      <p:sp>
        <p:nvSpPr>
          <p:cNvPr id="3" name="Marcador de contenido 2">
            <a:extLst>
              <a:ext uri="{FF2B5EF4-FFF2-40B4-BE49-F238E27FC236}">
                <a16:creationId xmlns:a16="http://schemas.microsoft.com/office/drawing/2014/main" id="{F4B764F4-0F10-29F7-544C-463A084F392D}"/>
              </a:ext>
            </a:extLst>
          </p:cNvPr>
          <p:cNvSpPr>
            <a:spLocks noGrp="1"/>
          </p:cNvSpPr>
          <p:nvPr>
            <p:ph idx="1"/>
          </p:nvPr>
        </p:nvSpPr>
        <p:spPr/>
        <p:txBody>
          <a:bodyPr/>
          <a:lstStyle/>
          <a:p>
            <a:r>
              <a:rPr lang="es-AR" b="1" dirty="0"/>
              <a:t>ANTES</a:t>
            </a:r>
          </a:p>
          <a:p>
            <a:pPr lvl="1"/>
            <a:r>
              <a:rPr lang="es-AR" dirty="0"/>
              <a:t>Productos fijos</a:t>
            </a:r>
          </a:p>
          <a:p>
            <a:pPr lvl="1"/>
            <a:r>
              <a:rPr lang="es-AR" dirty="0"/>
              <a:t>Sin extras</a:t>
            </a:r>
          </a:p>
          <a:p>
            <a:pPr lvl="1"/>
            <a:r>
              <a:rPr lang="es-AR" dirty="0"/>
              <a:t>Muchas subclases</a:t>
            </a:r>
          </a:p>
          <a:p>
            <a:r>
              <a:rPr lang="es-AR" b="1" dirty="0"/>
              <a:t>DESPUÉS</a:t>
            </a:r>
          </a:p>
          <a:p>
            <a:pPr lvl="1"/>
            <a:r>
              <a:rPr lang="es-AR" dirty="0" err="1"/>
              <a:t>Decorators</a:t>
            </a:r>
            <a:r>
              <a:rPr lang="es-AR" dirty="0"/>
              <a:t> </a:t>
            </a:r>
            <a:r>
              <a:rPr lang="es-AR" dirty="0" err="1"/>
              <a:t>encadenables</a:t>
            </a:r>
            <a:endParaRPr lang="es-AR" dirty="0"/>
          </a:p>
          <a:p>
            <a:pPr lvl="1"/>
            <a:r>
              <a:rPr lang="es-AR" dirty="0"/>
              <a:t>Extras ilimitados</a:t>
            </a:r>
          </a:p>
          <a:p>
            <a:pPr lvl="1"/>
            <a:r>
              <a:rPr lang="es-AR" dirty="0"/>
              <a:t>Más extensible</a:t>
            </a:r>
          </a:p>
        </p:txBody>
      </p:sp>
    </p:spTree>
    <p:extLst>
      <p:ext uri="{BB962C8B-B14F-4D97-AF65-F5344CB8AC3E}">
        <p14:creationId xmlns:p14="http://schemas.microsoft.com/office/powerpoint/2010/main" val="7612260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C8CADC-5FA9-19B3-1F46-83F76A202928}"/>
              </a:ext>
            </a:extLst>
          </p:cNvPr>
          <p:cNvSpPr>
            <a:spLocks noGrp="1"/>
          </p:cNvSpPr>
          <p:nvPr>
            <p:ph type="title"/>
          </p:nvPr>
        </p:nvSpPr>
        <p:spPr/>
        <p:txBody>
          <a:bodyPr/>
          <a:lstStyle/>
          <a:p>
            <a:r>
              <a:rPr lang="es-AR" dirty="0"/>
              <a:t>Gracias!</a:t>
            </a:r>
          </a:p>
        </p:txBody>
      </p:sp>
      <p:pic>
        <p:nvPicPr>
          <p:cNvPr id="1030" name="Picture 6" descr="Para qué sirven las Preguntas? - INSM Blog ¿Para qué sirven las Preguntas?">
            <a:extLst>
              <a:ext uri="{FF2B5EF4-FFF2-40B4-BE49-F238E27FC236}">
                <a16:creationId xmlns:a16="http://schemas.microsoft.com/office/drawing/2014/main" id="{AEFA8919-1401-F664-2C40-645A640288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36100" y="4685465"/>
            <a:ext cx="2454023" cy="1783200"/>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01224076-C980-5F13-DE86-6AFDCD413530}"/>
              </a:ext>
            </a:extLst>
          </p:cNvPr>
          <p:cNvSpPr>
            <a:spLocks noGrp="1"/>
          </p:cNvSpPr>
          <p:nvPr>
            <p:ph idx="1"/>
          </p:nvPr>
        </p:nvSpPr>
        <p:spPr>
          <a:xfrm>
            <a:off x="864382" y="2489200"/>
            <a:ext cx="6213218" cy="3530600"/>
          </a:xfrm>
        </p:spPr>
        <p:txBody>
          <a:bodyPr>
            <a:normAutofit/>
          </a:bodyPr>
          <a:lstStyle/>
          <a:p>
            <a:r>
              <a:rPr lang="es-419" sz="2400" dirty="0"/>
              <a:t>Preguntas?</a:t>
            </a:r>
          </a:p>
          <a:p>
            <a:r>
              <a:rPr lang="es-419" sz="2400" dirty="0"/>
              <a:t>mailto: </a:t>
            </a:r>
            <a:r>
              <a:rPr lang="es-419" sz="2400" dirty="0">
                <a:solidFill>
                  <a:srgbClr val="0070C0"/>
                </a:solidFill>
              </a:rPr>
              <a:t>mstricagnoli@uade.edu.ar</a:t>
            </a:r>
            <a:endParaRPr sz="2400" dirty="0">
              <a:solidFill>
                <a:srgbClr val="0070C0"/>
              </a:solidFill>
            </a:endParaRPr>
          </a:p>
        </p:txBody>
      </p:sp>
    </p:spTree>
    <p:extLst>
      <p:ext uri="{BB962C8B-B14F-4D97-AF65-F5344CB8AC3E}">
        <p14:creationId xmlns:p14="http://schemas.microsoft.com/office/powerpoint/2010/main" val="35024851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la de reuniones Ion">
  <a:themeElements>
    <a:clrScheme name="Sala de reuniones 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Sala de reuniones 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ala de reuniones 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F358434839BD0E4EAAAF06F450293D30" ma:contentTypeVersion="0" ma:contentTypeDescription="Crear nuevo documento." ma:contentTypeScope="" ma:versionID="7c85281e88bc7375bc6693dada578221">
  <xsd:schema xmlns:xsd="http://www.w3.org/2001/XMLSchema" xmlns:xs="http://www.w3.org/2001/XMLSchema" xmlns:p="http://schemas.microsoft.com/office/2006/metadata/properties" targetNamespace="http://schemas.microsoft.com/office/2006/metadata/properties" ma:root="true" ma:fieldsID="26ff3a126252e742cc2543983a566b0e">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26EFB2C-6735-4820-A576-9ABEB2499872}"/>
</file>

<file path=customXml/itemProps2.xml><?xml version="1.0" encoding="utf-8"?>
<ds:datastoreItem xmlns:ds="http://schemas.openxmlformats.org/officeDocument/2006/customXml" ds:itemID="{BCBE1733-7B8F-424C-9B07-44272137FDAD}"/>
</file>

<file path=customXml/itemProps3.xml><?xml version="1.0" encoding="utf-8"?>
<ds:datastoreItem xmlns:ds="http://schemas.openxmlformats.org/officeDocument/2006/customXml" ds:itemID="{370FA4D0-52D2-496A-A286-44538610A4A8}"/>
</file>

<file path=docProps/app.xml><?xml version="1.0" encoding="utf-8"?>
<Properties xmlns="http://schemas.openxmlformats.org/officeDocument/2006/extended-properties" xmlns:vt="http://schemas.openxmlformats.org/officeDocument/2006/docPropsVTypes">
  <Template/>
  <TotalTime>2519</TotalTime>
  <Words>2668</Words>
  <Application>Microsoft Macintosh PowerPoint</Application>
  <PresentationFormat>Presentación en pantalla (4:3)</PresentationFormat>
  <Paragraphs>329</Paragraphs>
  <Slides>47</Slides>
  <Notes>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47</vt:i4>
      </vt:variant>
    </vt:vector>
  </HeadingPairs>
  <TitlesOfParts>
    <vt:vector size="52" baseType="lpstr">
      <vt:lpstr>Aptos</vt:lpstr>
      <vt:lpstr>Arial</vt:lpstr>
      <vt:lpstr>Century Gothic</vt:lpstr>
      <vt:lpstr>Wingdings 3</vt:lpstr>
      <vt:lpstr>Sala de reuniones Ion</vt:lpstr>
      <vt:lpstr>Procesos de Desarrollo de Software</vt:lpstr>
      <vt:lpstr>Agenda de la clase</vt:lpstr>
      <vt:lpstr>Composite 🌳</vt:lpstr>
      <vt:lpstr>Ejemplo</vt:lpstr>
      <vt:lpstr>Componentes</vt:lpstr>
      <vt:lpstr>Diagrama UML</vt:lpstr>
      <vt:lpstr>Ejemplo</vt:lpstr>
      <vt:lpstr>Ejemplo</vt:lpstr>
      <vt:lpstr>Práctica</vt:lpstr>
      <vt:lpstr>Magic Café ☕✨</vt:lpstr>
      <vt:lpstr>Magic Café ☕✨</vt:lpstr>
      <vt:lpstr>Objetivo</vt:lpstr>
      <vt:lpstr>Punto de partida</vt:lpstr>
      <vt:lpstr>Problema de diseño</vt:lpstr>
      <vt:lpstr>Solución</vt:lpstr>
      <vt:lpstr>Paso1: crear el componente -Vendible</vt:lpstr>
      <vt:lpstr>Paso 2: Producto como Leaf</vt:lpstr>
      <vt:lpstr>Paso 3: Combo como Composite</vt:lpstr>
      <vt:lpstr>Paso 4: ComboItem une Combo con Vendible</vt:lpstr>
      <vt:lpstr>Estructura completa del Composite</vt:lpstr>
      <vt:lpstr>Pedido ahora debe usar Vendible</vt:lpstr>
      <vt:lpstr>ItemPedido también usa Vendible</vt:lpstr>
      <vt:lpstr>La UI no necesita saber demasiado</vt:lpstr>
      <vt:lpstr>Persistencia con Hibernate</vt:lpstr>
      <vt:lpstr>Tablas generadas</vt:lpstr>
      <vt:lpstr>Flujo al confirmar un pedido con Composite</vt:lpstr>
      <vt:lpstr>Error frecuente: LazyInitializationException</vt:lpstr>
      <vt:lpstr>Clean Architecture</vt:lpstr>
      <vt:lpstr>Cómo mejora el diseño?</vt:lpstr>
      <vt:lpstr>Level Up!</vt:lpstr>
      <vt:lpstr>Decorator</vt:lpstr>
      <vt:lpstr>Consecuencias</vt:lpstr>
      <vt:lpstr>Diagrama UML</vt:lpstr>
      <vt:lpstr>Magic Café ☕✨</vt:lpstr>
      <vt:lpstr>Decorator</vt:lpstr>
      <vt:lpstr>Punto de partida</vt:lpstr>
      <vt:lpstr>Solución</vt:lpstr>
      <vt:lpstr>Vendible implementa ItemVendible</vt:lpstr>
      <vt:lpstr>Decorador Base</vt:lpstr>
      <vt:lpstr>Decoradores concretos</vt:lpstr>
      <vt:lpstr>Cómo funcionan?</vt:lpstr>
      <vt:lpstr>Cómo se crea el Pedido?</vt:lpstr>
      <vt:lpstr>Composite + Decorator 🧩</vt:lpstr>
      <vt:lpstr>Solución UML</vt:lpstr>
      <vt:lpstr>Clean architecture</vt:lpstr>
      <vt:lpstr>Cómo mejora el diseño?</vt:lpstr>
      <vt:lpstr>Gracias!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Stricagnoli Matias Damian</cp:lastModifiedBy>
  <cp:revision>558</cp:revision>
  <dcterms:created xsi:type="dcterms:W3CDTF">2013-01-27T09:14:16Z</dcterms:created>
  <dcterms:modified xsi:type="dcterms:W3CDTF">2026-05-25T21:59:29Z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0x010100F358434839BD0E4EAAAF06F450293D30</vt:lpwstr>
  </property>
</Properties>
</file>