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9" r:id="rId1"/>
  </p:sldMasterIdLst>
  <p:notesMasterIdLst>
    <p:notesMasterId r:id="rId32"/>
  </p:notesMasterIdLst>
  <p:sldIdLst>
    <p:sldId id="256" r:id="rId2"/>
    <p:sldId id="258" r:id="rId3"/>
    <p:sldId id="271" r:id="rId4"/>
    <p:sldId id="308" r:id="rId5"/>
    <p:sldId id="272" r:id="rId6"/>
    <p:sldId id="273" r:id="rId7"/>
    <p:sldId id="305" r:id="rId8"/>
    <p:sldId id="307" r:id="rId9"/>
    <p:sldId id="304" r:id="rId10"/>
    <p:sldId id="316" r:id="rId11"/>
    <p:sldId id="315" r:id="rId12"/>
    <p:sldId id="317" r:id="rId13"/>
    <p:sldId id="318" r:id="rId14"/>
    <p:sldId id="322" r:id="rId15"/>
    <p:sldId id="319" r:id="rId16"/>
    <p:sldId id="320" r:id="rId17"/>
    <p:sldId id="321" r:id="rId18"/>
    <p:sldId id="323" r:id="rId19"/>
    <p:sldId id="324" r:id="rId20"/>
    <p:sldId id="325" r:id="rId21"/>
    <p:sldId id="326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27" r:id="rId30"/>
    <p:sldId id="303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1366"/>
    <a:srgbClr val="5D4E70"/>
    <a:srgbClr val="36234D"/>
    <a:srgbClr val="5F2D60"/>
    <a:srgbClr val="4C2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46"/>
    <p:restoredTop sz="84281"/>
  </p:normalViewPr>
  <p:slideViewPr>
    <p:cSldViewPr snapToGrid="0" snapToObjects="1">
      <p:cViewPr varScale="1">
        <p:scale>
          <a:sx n="121" d="100"/>
          <a:sy n="121" d="100"/>
        </p:scale>
        <p:origin x="32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C3094-54F3-9B4F-9FFC-2D3DC4BBE891}" type="datetimeFigureOut">
              <a:rPr lang="es-AR" smtClean="0"/>
              <a:t>19/3/26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08CE7-C04C-1242-8D65-EF1635ED09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0370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La clase aparece en: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parámetros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variables locales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5834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Dado que únicamente son declaraciones </a:t>
            </a:r>
            <a:r>
              <a:rPr lang="es-AR" sz="12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 pueden ser instanciadas</a:t>
            </a:r>
            <a:r>
              <a:rPr lang="es-A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Las interfaces se asocian a clases. Una asociación entre una clase y una interfaz representa que esa clase cumple con el contrato que indica la interfaz, es decir, incluye aquellas funciones y atributos que indica la interfaz.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 caso que una interfaz posea atributos, los mismos son públicos, </a:t>
            </a:r>
            <a:r>
              <a:rPr lang="es-AR" sz="12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lang="es-A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 final. Son constantes.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4304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91419-6B3F-DE6A-DA22-D4B2E76BF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89287AD-61C2-B278-1937-4EFED0E87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4C59BA-BE82-92EE-ABFB-A919F708E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AR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2016B1-F61C-CED9-D36A-97308ECDF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20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4207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05DB9-7628-7B1C-BE5D-E68FDA3C5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0F799C-32E9-BD81-FF14-451D0D49D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002178-3C99-D47B-789F-A9D2689B4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2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lang="es-A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significa que pertenece a la clase, no a la instancia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A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Final: significa que NO se puede modificar. Es constante (una vez asignado, no cambia). Se asigna una única vez, luego no cambia.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AR" sz="12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lang="es-A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final: es una constante global de la clase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AR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BA825C-7DF5-86EB-AF84-CEC1F8583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21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2133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Alumno se inscribe a Curso. Pero además:</a:t>
            </a:r>
          </a:p>
          <a:p>
            <a:r>
              <a:rPr lang="es-AR" dirty="0"/>
              <a:t>- fecha de inscripción</a:t>
            </a:r>
          </a:p>
          <a:p>
            <a:r>
              <a:rPr lang="es-AR" dirty="0"/>
              <a:t>- nota final</a:t>
            </a:r>
          </a:p>
          <a:p>
            <a:br>
              <a:rPr lang="es-AR" dirty="0"/>
            </a:br>
            <a:r>
              <a:rPr lang="es-AR" dirty="0"/>
              <a:t>Esa </a:t>
            </a:r>
            <a:r>
              <a:rPr lang="es-AR" dirty="0" err="1"/>
              <a:t>info</a:t>
            </a:r>
            <a:r>
              <a:rPr lang="es-AR" dirty="0"/>
              <a:t> </a:t>
            </a:r>
            <a:r>
              <a:rPr lang="es-AR" b="1" dirty="0"/>
              <a:t>no pertenece ni a Alumno ni a Curso, sino que </a:t>
            </a:r>
            <a:r>
              <a:rPr lang="es-AR" dirty="0"/>
              <a:t>pertenece a la </a:t>
            </a:r>
            <a:r>
              <a:rPr lang="es-AR" b="1" dirty="0"/>
              <a:t>relación</a:t>
            </a:r>
            <a:endParaRPr lang="es-AR" dirty="0"/>
          </a:p>
          <a:p>
            <a:endParaRPr lang="es-AR" dirty="0"/>
          </a:p>
          <a:p>
            <a:r>
              <a:rPr lang="es-AR" dirty="0"/>
              <a:t> La clase de asociación: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Tiene referencias a ambas clases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Tiene sus propios atributos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24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48536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Es una clase que vive dentro de otra, pero es independiente. La usamos para agrupar cosas que están relacionadas </a:t>
            </a:r>
            <a:r>
              <a:rPr lang="es-AR"/>
              <a:t>conceptualmente.</a:t>
            </a:r>
            <a:endParaRPr lang="es-AR" dirty="0"/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28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4730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F7EB-E090-9357-2861-550E9B82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9F076B5-E269-8BDB-B78A-DA01A6F32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A6BD51-A491-EA51-FC6B-0910BE8CD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AR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DF43B0-4512-A515-5896-8ED4AFD32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8CE7-C04C-1242-8D65-EF1635ED0988}" type="slidenum">
              <a:rPr lang="es-AR" smtClean="0"/>
              <a:t>29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32135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0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6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2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7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3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5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4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09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3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5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6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14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06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03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72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13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6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04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  <p:sldLayoutId id="2147483894" r:id="rId15"/>
    <p:sldLayoutId id="2147483895" r:id="rId16"/>
    <p:sldLayoutId id="21474838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/>
              <a:t>Procesos de Desarrollo de Software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6626560" cy="86142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Clase </a:t>
            </a:r>
            <a:r>
              <a:rPr lang="es-419" dirty="0">
                <a:solidFill>
                  <a:schemeClr val="bg1"/>
                </a:solidFill>
              </a:rPr>
              <a:t>2</a:t>
            </a:r>
            <a:r>
              <a:rPr dirty="0">
                <a:solidFill>
                  <a:schemeClr val="bg1"/>
                </a:solidFill>
              </a:rPr>
              <a:t> –</a:t>
            </a:r>
            <a:r>
              <a:rPr lang="es-419" dirty="0">
                <a:solidFill>
                  <a:schemeClr val="bg1"/>
                </a:solidFill>
              </a:rPr>
              <a:t> clases de software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de la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Clases</a:t>
            </a:r>
          </a:p>
          <a:p>
            <a:r>
              <a:rPr lang="es-419" dirty="0"/>
              <a:t>Clases estáticas</a:t>
            </a:r>
            <a:endParaRPr dirty="0"/>
          </a:p>
          <a:p>
            <a:r>
              <a:rPr lang="es-419" dirty="0"/>
              <a:t>Relaciones entre las clases</a:t>
            </a:r>
            <a:endParaRPr dirty="0"/>
          </a:p>
          <a:p>
            <a:r>
              <a:rPr lang="es-419" dirty="0"/>
              <a:t>Elementos de una relación</a:t>
            </a:r>
            <a:endParaRPr dirty="0"/>
          </a:p>
          <a:p>
            <a:r>
              <a:rPr lang="es-419" dirty="0"/>
              <a:t>Clases abstractas e interfaces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Clases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336418" cy="1742846"/>
          </a:xfrm>
        </p:spPr>
        <p:txBody>
          <a:bodyPr/>
          <a:lstStyle/>
          <a:p>
            <a:r>
              <a:rPr lang="es-AR" dirty="0"/>
              <a:t>Este tipo de elementos normalmente se utilizan para representar conceptos o entidades del “</a:t>
            </a:r>
            <a:r>
              <a:rPr lang="es-AR" b="1" dirty="0"/>
              <a:t>negocio</a:t>
            </a:r>
            <a:r>
              <a:rPr lang="es-AR" dirty="0"/>
              <a:t>”.</a:t>
            </a:r>
          </a:p>
          <a:p>
            <a:r>
              <a:rPr lang="es-AR" dirty="0"/>
              <a:t>Una clase define un </a:t>
            </a:r>
            <a:r>
              <a:rPr lang="es-AR" b="1" dirty="0"/>
              <a:t>grupo de objetos </a:t>
            </a:r>
            <a:r>
              <a:rPr lang="es-AR" dirty="0"/>
              <a:t>que comparten características, condiciones y significado.</a:t>
            </a:r>
          </a:p>
        </p:txBody>
      </p:sp>
      <p:sp>
        <p:nvSpPr>
          <p:cNvPr id="5" name="Google Shape;141;p20">
            <a:extLst>
              <a:ext uri="{FF2B5EF4-FFF2-40B4-BE49-F238E27FC236}">
                <a16:creationId xmlns:a16="http://schemas.microsoft.com/office/drawing/2014/main" id="{D9FD4BE1-2366-7ABB-652A-6D660D51FA0D}"/>
              </a:ext>
            </a:extLst>
          </p:cNvPr>
          <p:cNvSpPr txBox="1">
            <a:spLocks/>
          </p:cNvSpPr>
          <p:nvPr/>
        </p:nvSpPr>
        <p:spPr>
          <a:xfrm>
            <a:off x="943200" y="4398753"/>
            <a:ext cx="2419800" cy="174284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1200" b="1" dirty="0">
                <a:solidFill>
                  <a:schemeClr val="bg1"/>
                </a:solidFill>
              </a:rPr>
              <a:t>+ Pública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1200" dirty="0">
                <a:solidFill>
                  <a:schemeClr val="bg1"/>
                </a:solidFill>
              </a:rPr>
              <a:t>Representa que se puede acceder al atributo o función desde cualquier lugar de la aplicación.</a:t>
            </a:r>
          </a:p>
        </p:txBody>
      </p:sp>
      <p:sp>
        <p:nvSpPr>
          <p:cNvPr id="6" name="Google Shape;142;p20">
            <a:extLst>
              <a:ext uri="{FF2B5EF4-FFF2-40B4-BE49-F238E27FC236}">
                <a16:creationId xmlns:a16="http://schemas.microsoft.com/office/drawing/2014/main" id="{614B3F11-2AD5-4AAF-88D7-AC4C8FFB5536}"/>
              </a:ext>
            </a:extLst>
          </p:cNvPr>
          <p:cNvSpPr txBox="1">
            <a:spLocks/>
          </p:cNvSpPr>
          <p:nvPr/>
        </p:nvSpPr>
        <p:spPr>
          <a:xfrm>
            <a:off x="3660337" y="4398754"/>
            <a:ext cx="2419800" cy="17428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1200" b="1" dirty="0"/>
              <a:t>- Privada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1200" dirty="0"/>
              <a:t>Representa que se puede acceder al atributo o función únicamente desde la misma clase.</a:t>
            </a:r>
          </a:p>
        </p:txBody>
      </p:sp>
      <p:sp>
        <p:nvSpPr>
          <p:cNvPr id="7" name="Google Shape;143;p20">
            <a:extLst>
              <a:ext uri="{FF2B5EF4-FFF2-40B4-BE49-F238E27FC236}">
                <a16:creationId xmlns:a16="http://schemas.microsoft.com/office/drawing/2014/main" id="{CA385515-E6BD-1CA0-22B7-AC1F6386E205}"/>
              </a:ext>
            </a:extLst>
          </p:cNvPr>
          <p:cNvSpPr txBox="1">
            <a:spLocks/>
          </p:cNvSpPr>
          <p:nvPr/>
        </p:nvSpPr>
        <p:spPr>
          <a:xfrm>
            <a:off x="6377474" y="4398754"/>
            <a:ext cx="2419800" cy="1742846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1200" b="1" dirty="0">
                <a:solidFill>
                  <a:schemeClr val="bg1"/>
                </a:solidFill>
              </a:rPr>
              <a:t># Protegida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1200" dirty="0">
                <a:solidFill>
                  <a:schemeClr val="bg1"/>
                </a:solidFill>
              </a:rPr>
              <a:t>Representa que el atributo o función puede ser accedida únicamente desde la misma clase o desde las clases que hereden de ella (clases derivadas).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9EA9-62BD-9D56-7C7E-73D0FA77E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748D-026A-9381-99F9-DC30E321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Representación de una clase</a:t>
            </a:r>
            <a:endParaRPr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4077D3C-CDB0-8A9F-43AC-48891A75AEFC}"/>
              </a:ext>
            </a:extLst>
          </p:cNvPr>
          <p:cNvCxnSpPr/>
          <p:nvPr/>
        </p:nvCxnSpPr>
        <p:spPr>
          <a:xfrm>
            <a:off x="6121084" y="2484539"/>
            <a:ext cx="8725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D61CEDC-03CE-972E-3E06-A57F4350E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4806" y="2305597"/>
            <a:ext cx="1711272" cy="416542"/>
          </a:xfrm>
        </p:spPr>
        <p:txBody>
          <a:bodyPr>
            <a:noAutofit/>
          </a:bodyPr>
          <a:lstStyle/>
          <a:p>
            <a:r>
              <a:rPr lang="es-AR" sz="1600" b="1" dirty="0"/>
              <a:t>Nombre</a:t>
            </a:r>
            <a:endParaRPr lang="es-AR" sz="1400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F51CD90-BA36-478D-CD88-2475F7CBA425}"/>
              </a:ext>
            </a:extLst>
          </p:cNvPr>
          <p:cNvCxnSpPr/>
          <p:nvPr/>
        </p:nvCxnSpPr>
        <p:spPr>
          <a:xfrm>
            <a:off x="6121084" y="2811610"/>
            <a:ext cx="8725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E63CF77-CAE4-DF6C-3C0F-942CC4E8A5AF}"/>
              </a:ext>
            </a:extLst>
          </p:cNvPr>
          <p:cNvSpPr txBox="1">
            <a:spLocks/>
          </p:cNvSpPr>
          <p:nvPr/>
        </p:nvSpPr>
        <p:spPr>
          <a:xfrm>
            <a:off x="6814806" y="2632668"/>
            <a:ext cx="1711272" cy="4165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600" b="1" dirty="0"/>
              <a:t>Atributos</a:t>
            </a:r>
            <a:endParaRPr lang="es-AR" sz="1400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3E80AD8-74E6-9FEC-5EC9-59C6CBE62513}"/>
              </a:ext>
            </a:extLst>
          </p:cNvPr>
          <p:cNvCxnSpPr/>
          <p:nvPr/>
        </p:nvCxnSpPr>
        <p:spPr>
          <a:xfrm>
            <a:off x="6121084" y="3138680"/>
            <a:ext cx="8725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C59AC64-F386-3036-EFCE-E48E875B38DC}"/>
              </a:ext>
            </a:extLst>
          </p:cNvPr>
          <p:cNvSpPr txBox="1">
            <a:spLocks/>
          </p:cNvSpPr>
          <p:nvPr/>
        </p:nvSpPr>
        <p:spPr>
          <a:xfrm>
            <a:off x="6814806" y="2959738"/>
            <a:ext cx="1711272" cy="4165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600" b="1" dirty="0"/>
              <a:t>Métodos</a:t>
            </a:r>
            <a:endParaRPr lang="es-AR" sz="14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C9CFAA0-1BA6-7C8A-8DFF-88A04C8DCF96}"/>
              </a:ext>
            </a:extLst>
          </p:cNvPr>
          <p:cNvSpPr txBox="1">
            <a:spLocks/>
          </p:cNvSpPr>
          <p:nvPr/>
        </p:nvSpPr>
        <p:spPr>
          <a:xfrm>
            <a:off x="586457" y="6055351"/>
            <a:ext cx="7499143" cy="7098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400" b="1" i="1" dirty="0"/>
              <a:t>*</a:t>
            </a:r>
            <a:r>
              <a:rPr lang="es-AR" sz="1400" i="1" dirty="0"/>
              <a:t>siempre vamos a modelar los atributos privados para controlar la forma en que se acceden a los mismos.</a:t>
            </a:r>
            <a:endParaRPr lang="es-AR" sz="1200" i="1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E1699DB-015A-C12C-5AFC-78010E5CA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57" y="2305597"/>
            <a:ext cx="5778500" cy="100330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4949C2B-FED0-93D8-362E-02C54885E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70" y="3848102"/>
            <a:ext cx="2628900" cy="2082800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EABFF4E-3B36-AB0E-9504-61F06230F013}"/>
              </a:ext>
            </a:extLst>
          </p:cNvPr>
          <p:cNvSpPr txBox="1">
            <a:spLocks/>
          </p:cNvSpPr>
          <p:nvPr/>
        </p:nvSpPr>
        <p:spPr>
          <a:xfrm>
            <a:off x="528857" y="3429000"/>
            <a:ext cx="7499143" cy="540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600" b="1" dirty="0"/>
              <a:t>Ejemplo</a:t>
            </a:r>
            <a:endParaRPr lang="es-AR" sz="14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6CD3CA3-1F25-E018-B81E-E48116200C11}"/>
              </a:ext>
            </a:extLst>
          </p:cNvPr>
          <p:cNvSpPr/>
          <p:nvPr/>
        </p:nvSpPr>
        <p:spPr>
          <a:xfrm>
            <a:off x="813600" y="5054400"/>
            <a:ext cx="2681270" cy="876502"/>
          </a:xfrm>
          <a:prstGeom prst="rect">
            <a:avLst/>
          </a:prstGeom>
          <a:noFill/>
          <a:ln w="34925">
            <a:solidFill>
              <a:srgbClr val="B313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31612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88DD50E-1D2D-48C6-A470-79FB7F337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801794"/>
            <a:ext cx="8250178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86EBD9-E759-4D3E-17E8-C1AA99EFD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84" y="909994"/>
            <a:ext cx="3318234" cy="5066006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C62A5E3-F6D5-BCB9-F777-A91B7958CE5B}"/>
              </a:ext>
            </a:extLst>
          </p:cNvPr>
          <p:cNvCxnSpPr>
            <a:cxnSpLocks/>
          </p:cNvCxnSpPr>
          <p:nvPr/>
        </p:nvCxnSpPr>
        <p:spPr>
          <a:xfrm>
            <a:off x="2779200" y="1295500"/>
            <a:ext cx="186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3E6CB4A-12F7-30EA-8CCD-4EC542FE9588}"/>
              </a:ext>
            </a:extLst>
          </p:cNvPr>
          <p:cNvSpPr txBox="1">
            <a:spLocks/>
          </p:cNvSpPr>
          <p:nvPr/>
        </p:nvSpPr>
        <p:spPr>
          <a:xfrm>
            <a:off x="4453612" y="1135800"/>
            <a:ext cx="3254400" cy="3908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400" dirty="0"/>
              <a:t>Atributos (privados por default)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0A76F83-BAD4-2FAB-7DD8-FE2FBBB7DBAA}"/>
              </a:ext>
            </a:extLst>
          </p:cNvPr>
          <p:cNvCxnSpPr>
            <a:cxnSpLocks/>
          </p:cNvCxnSpPr>
          <p:nvPr/>
        </p:nvCxnSpPr>
        <p:spPr>
          <a:xfrm>
            <a:off x="3909600" y="2275399"/>
            <a:ext cx="73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EF25FF1-A04D-BAEF-33A3-49A7DE91320F}"/>
              </a:ext>
            </a:extLst>
          </p:cNvPr>
          <p:cNvSpPr txBox="1">
            <a:spLocks/>
          </p:cNvSpPr>
          <p:nvPr/>
        </p:nvSpPr>
        <p:spPr>
          <a:xfrm>
            <a:off x="4453612" y="2111394"/>
            <a:ext cx="3254400" cy="3908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400" dirty="0"/>
              <a:t>Constructores</a:t>
            </a:r>
          </a:p>
        </p:txBody>
      </p:sp>
      <p:sp>
        <p:nvSpPr>
          <p:cNvPr id="18" name="Llave de cierre 17">
            <a:extLst>
              <a:ext uri="{FF2B5EF4-FFF2-40B4-BE49-F238E27FC236}">
                <a16:creationId xmlns:a16="http://schemas.microsoft.com/office/drawing/2014/main" id="{98F42686-063E-E121-D0F1-A0AC5C59DC7D}"/>
              </a:ext>
            </a:extLst>
          </p:cNvPr>
          <p:cNvSpPr/>
          <p:nvPr/>
        </p:nvSpPr>
        <p:spPr>
          <a:xfrm>
            <a:off x="2592000" y="1071800"/>
            <a:ext cx="237600" cy="447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Llave de cierre 19">
            <a:extLst>
              <a:ext uri="{FF2B5EF4-FFF2-40B4-BE49-F238E27FC236}">
                <a16:creationId xmlns:a16="http://schemas.microsoft.com/office/drawing/2014/main" id="{68DD1C3B-3241-3CD1-8ED9-C8B1B1323117}"/>
              </a:ext>
            </a:extLst>
          </p:cNvPr>
          <p:cNvSpPr/>
          <p:nvPr/>
        </p:nvSpPr>
        <p:spPr>
          <a:xfrm>
            <a:off x="3779177" y="1654802"/>
            <a:ext cx="144000" cy="1245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Llave de cierre 21">
            <a:extLst>
              <a:ext uri="{FF2B5EF4-FFF2-40B4-BE49-F238E27FC236}">
                <a16:creationId xmlns:a16="http://schemas.microsoft.com/office/drawing/2014/main" id="{5F71413F-722F-B1B0-30E6-348C7B368621}"/>
              </a:ext>
            </a:extLst>
          </p:cNvPr>
          <p:cNvSpPr/>
          <p:nvPr/>
        </p:nvSpPr>
        <p:spPr>
          <a:xfrm>
            <a:off x="3406318" y="3008602"/>
            <a:ext cx="438482" cy="2678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0AD2DC0F-9002-0857-0C17-9E4846208BB2}"/>
              </a:ext>
            </a:extLst>
          </p:cNvPr>
          <p:cNvCxnSpPr>
            <a:cxnSpLocks/>
          </p:cNvCxnSpPr>
          <p:nvPr/>
        </p:nvCxnSpPr>
        <p:spPr>
          <a:xfrm>
            <a:off x="3783387" y="4343729"/>
            <a:ext cx="860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02B28F5-AB4C-F7E4-695D-369B3FE58FDB}"/>
              </a:ext>
            </a:extLst>
          </p:cNvPr>
          <p:cNvSpPr txBox="1">
            <a:spLocks/>
          </p:cNvSpPr>
          <p:nvPr/>
        </p:nvSpPr>
        <p:spPr>
          <a:xfrm>
            <a:off x="4453612" y="4179724"/>
            <a:ext cx="3254400" cy="3908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400" dirty="0"/>
              <a:t>Getters y Setters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un </a:t>
            </a:r>
            <a:r>
              <a:rPr lang="es-419" dirty="0"/>
              <a:t>constructor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660418" cy="3530600"/>
          </a:xfrm>
        </p:spPr>
        <p:txBody>
          <a:bodyPr>
            <a:noAutofit/>
          </a:bodyPr>
          <a:lstStyle/>
          <a:p>
            <a:r>
              <a:rPr lang="es-AR" sz="1600" dirty="0">
                <a:latin typeface="Century Gothic" panose="020B0502020202020204" pitchFamily="34" charset="0"/>
              </a:rPr>
              <a:t>Un </a:t>
            </a:r>
            <a:r>
              <a:rPr lang="es-AR" sz="1600" b="1" dirty="0">
                <a:latin typeface="Century Gothic" panose="020B0502020202020204" pitchFamily="34" charset="0"/>
              </a:rPr>
              <a:t>constructor</a:t>
            </a:r>
            <a:r>
              <a:rPr lang="es-AR" sz="1600" dirty="0">
                <a:latin typeface="Century Gothic" panose="020B0502020202020204" pitchFamily="34" charset="0"/>
              </a:rPr>
              <a:t> es un método especial que se ejecuta automáticamente cuando </a:t>
            </a:r>
            <a:r>
              <a:rPr lang="es-AR" sz="1600">
                <a:latin typeface="Century Gothic" panose="020B0502020202020204" pitchFamily="34" charset="0"/>
              </a:rPr>
              <a:t>se crea </a:t>
            </a:r>
            <a:r>
              <a:rPr lang="es-AR" sz="1600" dirty="0">
                <a:latin typeface="Century Gothic" panose="020B0502020202020204" pitchFamily="34" charset="0"/>
              </a:rPr>
              <a:t>un objeto.</a:t>
            </a:r>
          </a:p>
          <a:p>
            <a:r>
              <a:rPr lang="es-AR" sz="1600" dirty="0">
                <a:latin typeface="Century Gothic" panose="020B0502020202020204" pitchFamily="34" charset="0"/>
              </a:rPr>
              <a:t>Sirve para </a:t>
            </a:r>
            <a:r>
              <a:rPr lang="es-AR" sz="1600" b="1" dirty="0">
                <a:latin typeface="Century Gothic" panose="020B0502020202020204" pitchFamily="34" charset="0"/>
              </a:rPr>
              <a:t>inicializar el estado del objeto</a:t>
            </a:r>
            <a:r>
              <a:rPr lang="es-AR" sz="1600" dirty="0">
                <a:latin typeface="Century Gothic" panose="020B0502020202020204" pitchFamily="34" charset="0"/>
              </a:rPr>
              <a:t> (sus atributos).</a:t>
            </a:r>
          </a:p>
          <a:p>
            <a:endParaRPr lang="es-AR" sz="16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AR" sz="1600" dirty="0">
                <a:latin typeface="Century Gothic" panose="020B0502020202020204" pitchFamily="34" charset="0"/>
              </a:rPr>
              <a:t>Características clave:</a:t>
            </a:r>
          </a:p>
          <a:p>
            <a:r>
              <a:rPr lang="es-AR" sz="1600" dirty="0">
                <a:latin typeface="Century Gothic" panose="020B0502020202020204" pitchFamily="34" charset="0"/>
              </a:rPr>
              <a:t>Tiene </a:t>
            </a:r>
            <a:r>
              <a:rPr lang="es-AR" sz="1600" b="1" dirty="0">
                <a:latin typeface="Century Gothic" panose="020B0502020202020204" pitchFamily="34" charset="0"/>
              </a:rPr>
              <a:t>el mismo nombre que la clase</a:t>
            </a:r>
            <a:endParaRPr lang="es-AR" sz="1600" dirty="0">
              <a:latin typeface="Century Gothic" panose="020B0502020202020204" pitchFamily="34" charset="0"/>
            </a:endParaRPr>
          </a:p>
          <a:p>
            <a:r>
              <a:rPr lang="es-AR" sz="1600" b="1" dirty="0">
                <a:latin typeface="Century Gothic" panose="020B0502020202020204" pitchFamily="34" charset="0"/>
              </a:rPr>
              <a:t>No tiene tipo de retorno</a:t>
            </a:r>
            <a:r>
              <a:rPr lang="es-AR" sz="1600" dirty="0">
                <a:latin typeface="Century Gothic" panose="020B0502020202020204" pitchFamily="34" charset="0"/>
              </a:rPr>
              <a:t> (ni </a:t>
            </a:r>
            <a:r>
              <a:rPr lang="es-AR" sz="1600" b="1" i="1" dirty="0" err="1">
                <a:latin typeface="Century Gothic" panose="020B0502020202020204" pitchFamily="34" charset="0"/>
              </a:rPr>
              <a:t>void</a:t>
            </a:r>
            <a:r>
              <a:rPr lang="es-AR" sz="1600" dirty="0">
                <a:latin typeface="Century Gothic" panose="020B0502020202020204" pitchFamily="34" charset="0"/>
              </a:rPr>
              <a:t>)</a:t>
            </a:r>
          </a:p>
          <a:p>
            <a:r>
              <a:rPr lang="es-AR" sz="1600" dirty="0">
                <a:latin typeface="Century Gothic" panose="020B0502020202020204" pitchFamily="34" charset="0"/>
              </a:rPr>
              <a:t>Se ejecuta con </a:t>
            </a:r>
            <a:r>
              <a:rPr lang="es-AR" sz="1600" b="1" dirty="0">
                <a:latin typeface="Century Gothic" panose="020B0502020202020204" pitchFamily="34" charset="0"/>
              </a:rPr>
              <a:t>new</a:t>
            </a:r>
          </a:p>
          <a:p>
            <a:r>
              <a:rPr lang="es-AR" sz="1600" dirty="0">
                <a:latin typeface="Century Gothic" panose="020B0502020202020204" pitchFamily="34" charset="0"/>
              </a:rPr>
              <a:t>Puede estar </a:t>
            </a:r>
            <a:r>
              <a:rPr lang="es-AR" sz="1600" b="1" dirty="0">
                <a:latin typeface="Century Gothic" panose="020B0502020202020204" pitchFamily="34" charset="0"/>
              </a:rPr>
              <a:t>sobrecargado</a:t>
            </a:r>
            <a:r>
              <a:rPr lang="es-AR" sz="1600" dirty="0">
                <a:latin typeface="Century Gothic" panose="020B0502020202020204" pitchFamily="34" charset="0"/>
              </a:rPr>
              <a:t> (varios constructores).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6BD9-921C-08A7-30D8-AC5B50151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ABC7-EDAE-8E6D-0F6E-A42D1ABE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Constructores sin parámetro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986C1-B594-2268-7811-1A789FAB2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3992" y="2867250"/>
            <a:ext cx="3940908" cy="1496299"/>
          </a:xfrm>
        </p:spPr>
        <p:txBody>
          <a:bodyPr>
            <a:noAutofit/>
          </a:bodyPr>
          <a:lstStyle/>
          <a:p>
            <a:r>
              <a:rPr lang="es-AR" sz="1600" dirty="0"/>
              <a:t>No inicializa nada</a:t>
            </a:r>
          </a:p>
          <a:p>
            <a:r>
              <a:rPr lang="es-AR" sz="1600" dirty="0"/>
              <a:t>Es el constructor por defecto</a:t>
            </a:r>
          </a:p>
          <a:p>
            <a:r>
              <a:rPr lang="es-AR" sz="1600" dirty="0"/>
              <a:t>Los atributos quedan con valores por defecto:</a:t>
            </a:r>
          </a:p>
          <a:p>
            <a:pPr lvl="1"/>
            <a:r>
              <a:rPr lang="es-AR" sz="1400" dirty="0"/>
              <a:t>nombre = </a:t>
            </a:r>
            <a:r>
              <a:rPr lang="es-AR" sz="1400" dirty="0" err="1"/>
              <a:t>null</a:t>
            </a:r>
            <a:endParaRPr lang="es-AR" sz="1400" dirty="0"/>
          </a:p>
          <a:p>
            <a:pPr lvl="1"/>
            <a:r>
              <a:rPr lang="es-AR" sz="1400" dirty="0"/>
              <a:t>edad = 0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C2B025-4F1E-1104-6024-09FC39DF8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00" y="2867250"/>
            <a:ext cx="3429000" cy="6604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F685CB9-4FD7-A628-776D-3B1AD49D7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00" y="5080754"/>
            <a:ext cx="2209800" cy="7239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140104-2457-D2E0-DDBD-D2E407B6883E}"/>
              </a:ext>
            </a:extLst>
          </p:cNvPr>
          <p:cNvSpPr txBox="1">
            <a:spLocks/>
          </p:cNvSpPr>
          <p:nvPr/>
        </p:nvSpPr>
        <p:spPr>
          <a:xfrm>
            <a:off x="719100" y="4545701"/>
            <a:ext cx="3940908" cy="1496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600" dirty="0"/>
              <a:t>Modo de uso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1734614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96A94-1EB6-BFE7-1BC2-713BE2DA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69FB-9FCA-A3F8-7429-FD37E15A1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Constructores con parámetros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11E6E-6D3C-AEB6-C0B1-91D910B3C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3992" y="2867250"/>
            <a:ext cx="3940908" cy="1496299"/>
          </a:xfrm>
        </p:spPr>
        <p:txBody>
          <a:bodyPr>
            <a:noAutofit/>
          </a:bodyPr>
          <a:lstStyle/>
          <a:p>
            <a:r>
              <a:rPr lang="es-AR" sz="1600" dirty="0"/>
              <a:t>Inicializa el objeto directamente con los valores pasados por parámetros.</a:t>
            </a:r>
          </a:p>
          <a:p>
            <a:r>
              <a:rPr lang="es-AR" sz="1600" b="1" dirty="0" err="1"/>
              <a:t>this</a:t>
            </a:r>
            <a:r>
              <a:rPr lang="es-AR" sz="1600" dirty="0"/>
              <a:t> referencia al objeto actual.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DDE9146-610D-1DE1-B071-6D268EC42D8F}"/>
              </a:ext>
            </a:extLst>
          </p:cNvPr>
          <p:cNvSpPr txBox="1">
            <a:spLocks/>
          </p:cNvSpPr>
          <p:nvPr/>
        </p:nvSpPr>
        <p:spPr>
          <a:xfrm>
            <a:off x="719100" y="4545701"/>
            <a:ext cx="3940908" cy="1496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600" dirty="0"/>
              <a:t>Modo de uso</a:t>
            </a:r>
            <a:endParaRPr lang="es-AR" sz="1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D2F4C13-AA40-B971-0584-0EC8955F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00" y="2867250"/>
            <a:ext cx="3378200" cy="8636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8DA7A5F-525F-23DA-71DD-F0FC2EBA9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00" y="5077950"/>
            <a:ext cx="29464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74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AD252-03B3-2D85-9CA6-FAAFE7B1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8CE1-7408-6135-F0FE-AD0C68AD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Objetos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3B413-8381-54CD-B5C4-D2E97861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 </a:t>
            </a:r>
            <a:r>
              <a:rPr dirty="0" err="1"/>
              <a:t>objeto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instancia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clase</a:t>
            </a:r>
            <a:r>
              <a:rPr dirty="0"/>
              <a:t>.</a:t>
            </a:r>
          </a:p>
          <a:p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entidad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.</a:t>
            </a:r>
          </a:p>
          <a:p>
            <a:r>
              <a:rPr dirty="0"/>
              <a:t>Los </a:t>
            </a:r>
            <a:r>
              <a:rPr dirty="0" err="1"/>
              <a:t>objetos</a:t>
            </a:r>
            <a:r>
              <a:rPr dirty="0"/>
              <a:t>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.</a:t>
            </a:r>
            <a:endParaRPr lang="es-419" dirty="0"/>
          </a:p>
          <a:p>
            <a:r>
              <a:rPr lang="es-AR" dirty="0"/>
              <a:t>Todo objeto cuenta con tres características que lo diferencia del resto:</a:t>
            </a:r>
          </a:p>
          <a:p>
            <a:pPr lvl="1"/>
            <a:r>
              <a:rPr lang="es-AR" b="1" dirty="0"/>
              <a:t>Identidad</a:t>
            </a:r>
          </a:p>
          <a:p>
            <a:pPr lvl="1"/>
            <a:r>
              <a:rPr lang="es-AR" b="1" dirty="0"/>
              <a:t>Comportamiento</a:t>
            </a:r>
          </a:p>
          <a:p>
            <a:pPr lvl="1"/>
            <a:r>
              <a:rPr lang="es-AR" b="1" dirty="0"/>
              <a:t>Estado Interno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1017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5BBCF-4D43-5347-92E5-5E578EA8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06223E-E5B2-5E8F-1D90-AC659649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Relaciones entre Clases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27D3FA8-D461-C05F-5D2E-A8E19D073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564915" cy="2492703"/>
          </a:xfrm>
        </p:spPr>
        <p:txBody>
          <a:bodyPr>
            <a:normAutofit/>
          </a:bodyPr>
          <a:lstStyle/>
          <a:p>
            <a:pPr fontAlgn="base"/>
            <a:r>
              <a:rPr lang="es-AR" dirty="0"/>
              <a:t>El propósito de la asociación puede expresarse en un nombre, verbo o frase que describa como los objetos de un tipo (clase) se relacionan con objetos de otro tipo (clase). Por ejemplo:</a:t>
            </a:r>
          </a:p>
          <a:p>
            <a:pPr lvl="1"/>
            <a:r>
              <a:rPr lang="es-AR" dirty="0"/>
              <a:t>Una persona </a:t>
            </a:r>
            <a:r>
              <a:rPr lang="es-AR" b="1" dirty="0"/>
              <a:t>tiene</a:t>
            </a:r>
            <a:r>
              <a:rPr lang="es-AR" dirty="0"/>
              <a:t> un coche</a:t>
            </a:r>
          </a:p>
          <a:p>
            <a:pPr lvl="1"/>
            <a:r>
              <a:rPr lang="es-AR" dirty="0"/>
              <a:t>Una persona </a:t>
            </a:r>
            <a:r>
              <a:rPr lang="es-AR" b="1" dirty="0"/>
              <a:t>maneja</a:t>
            </a:r>
            <a:r>
              <a:rPr lang="es-AR" dirty="0"/>
              <a:t> un coche</a:t>
            </a:r>
          </a:p>
          <a:p>
            <a:r>
              <a:rPr lang="es-AR" b="1" dirty="0"/>
              <a:t>Multiplicidad</a:t>
            </a:r>
            <a:r>
              <a:rPr lang="es-AR" dirty="0"/>
              <a:t>: cuantos objetos van a participar en la relación</a:t>
            </a:r>
          </a:p>
        </p:txBody>
      </p:sp>
    </p:spTree>
    <p:extLst>
      <p:ext uri="{BB962C8B-B14F-4D97-AF65-F5344CB8AC3E}">
        <p14:creationId xmlns:p14="http://schemas.microsoft.com/office/powerpoint/2010/main" val="2967250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EAC4-B1D1-600B-0CF1-00FAF70F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10668-879B-307F-3444-874162399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Relaciones entre Clases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34B71FC1-CF36-C586-659B-1404DED5E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575425" cy="3530600"/>
          </a:xfrm>
        </p:spPr>
        <p:txBody>
          <a:bodyPr/>
          <a:lstStyle/>
          <a:p>
            <a:r>
              <a:rPr lang="es-AR" dirty="0">
                <a:latin typeface="Calibri" panose="020F0502020204030204" pitchFamily="34" charset="0"/>
                <a:cs typeface="Calibri" panose="020F0502020204030204" pitchFamily="34" charset="0"/>
              </a:rPr>
              <a:t>Una relación </a:t>
            </a:r>
            <a:r>
              <a:rPr lang="es-AR" b="1" dirty="0">
                <a:latin typeface="Calibri" panose="020F0502020204030204" pitchFamily="34" charset="0"/>
                <a:cs typeface="Calibri" panose="020F0502020204030204" pitchFamily="34" charset="0"/>
              </a:rPr>
              <a:t>identifica una dependencia</a:t>
            </a:r>
            <a:r>
              <a:rPr lang="es-AR" dirty="0">
                <a:latin typeface="Calibri" panose="020F0502020204030204" pitchFamily="34" charset="0"/>
                <a:cs typeface="Calibri" panose="020F0502020204030204" pitchFamily="34" charset="0"/>
              </a:rPr>
              <a:t>. Esta dependencia puede ser entre dos o más clases (más común) o una clase hacía sí misma (menos común, pero existen), este último tipo de dependencia se denomina </a:t>
            </a:r>
            <a:r>
              <a:rPr lang="es-AR" b="1" dirty="0">
                <a:latin typeface="Calibri" panose="020F0502020204030204" pitchFamily="34" charset="0"/>
                <a:cs typeface="Calibri" panose="020F0502020204030204" pitchFamily="34" charset="0"/>
              </a:rPr>
              <a:t>dependencia reflexiva</a:t>
            </a:r>
            <a:r>
              <a:rPr lang="es-AR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B24B0F4-DCD7-CF3A-4211-D3BAE6D06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055" y="4173190"/>
            <a:ext cx="1598278" cy="130899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965A9CE-CCF5-114D-72FA-DBA0D2C0D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619" y="3898902"/>
            <a:ext cx="31877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40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03CF9-C547-2995-B1BC-7B3C0A52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Elementos de una relación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58C1C7-3D28-F90B-0139-D1202F1F1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b="1" dirty="0">
                <a:latin typeface="Century Gothic" panose="020B0502020202020204" pitchFamily="34" charset="0"/>
              </a:rPr>
              <a:t>Multiplicidad</a:t>
            </a:r>
          </a:p>
          <a:p>
            <a:pPr lvl="1"/>
            <a:r>
              <a:rPr lang="es-AR" dirty="0">
                <a:latin typeface="Century Gothic" panose="020B0502020202020204" pitchFamily="34" charset="0"/>
              </a:rPr>
              <a:t>Número de elementos de una clase que participan en una relación. Se puede indicar un número, un rango… Se utiliza ‘n’ o ‘*’ para indicar varios.</a:t>
            </a:r>
          </a:p>
          <a:p>
            <a:pPr lvl="1"/>
            <a:r>
              <a:rPr lang="es-AR" dirty="0">
                <a:latin typeface="Century Gothic" panose="020B0502020202020204" pitchFamily="34" charset="0"/>
              </a:rPr>
              <a:t>La multiplicidad que se coloca en un extremo indica cuántas instancias de </a:t>
            </a:r>
            <a:r>
              <a:rPr lang="es-AR" b="1" dirty="0">
                <a:latin typeface="Century Gothic" panose="020B0502020202020204" pitchFamily="34" charset="0"/>
              </a:rPr>
              <a:t>ESA</a:t>
            </a:r>
            <a:r>
              <a:rPr lang="es-AR" dirty="0">
                <a:latin typeface="Century Gothic" panose="020B0502020202020204" pitchFamily="34" charset="0"/>
              </a:rPr>
              <a:t> clase puede tener la otra.</a:t>
            </a:r>
          </a:p>
          <a:p>
            <a:pPr>
              <a:spcBef>
                <a:spcPts val="600"/>
              </a:spcBef>
            </a:pPr>
            <a:r>
              <a:rPr lang="es-ES" b="1" dirty="0">
                <a:latin typeface="Century Gothic" panose="020B0502020202020204" pitchFamily="34" charset="0"/>
                <a:ea typeface="Source Sans Pro"/>
                <a:cs typeface="Source Sans Pro"/>
                <a:sym typeface="Source Sans Pro"/>
              </a:rPr>
              <a:t>Nombre de la asociación</a:t>
            </a:r>
          </a:p>
          <a:p>
            <a:pPr lvl="1">
              <a:spcBef>
                <a:spcPts val="600"/>
              </a:spcBef>
            </a:pPr>
            <a:r>
              <a:rPr lang="es-AR" dirty="0">
                <a:solidFill>
                  <a:srgbClr val="263238"/>
                </a:solidFill>
                <a:latin typeface="Century Gothic" panose="020B0502020202020204" pitchFamily="34" charset="0"/>
                <a:ea typeface="Source Sans Pro"/>
                <a:cs typeface="Source Sans Pro"/>
                <a:sym typeface="Source Sans Pro"/>
              </a:rPr>
              <a:t>Ayuda a entender la relación que tienen dos clases. Suelen utilizarse verbos como por ejemplo: “Una empresa </a:t>
            </a:r>
            <a:r>
              <a:rPr lang="es-AR" b="1" dirty="0">
                <a:solidFill>
                  <a:srgbClr val="263238"/>
                </a:solidFill>
                <a:latin typeface="Century Gothic" panose="020B0502020202020204" pitchFamily="34" charset="0"/>
                <a:ea typeface="Source Sans Pro"/>
                <a:cs typeface="Source Sans Pro"/>
                <a:sym typeface="Source Sans Pro"/>
              </a:rPr>
              <a:t>contrata</a:t>
            </a:r>
            <a:r>
              <a:rPr lang="es-AR" dirty="0">
                <a:solidFill>
                  <a:srgbClr val="263238"/>
                </a:solidFill>
                <a:latin typeface="Century Gothic" panose="020B0502020202020204" pitchFamily="34" charset="0"/>
                <a:ea typeface="Source Sans Pro"/>
                <a:cs typeface="Source Sans Pro"/>
                <a:sym typeface="Source Sans Pro"/>
              </a:rPr>
              <a:t> a </a:t>
            </a:r>
            <a:r>
              <a:rPr lang="es-AR" b="1" dirty="0">
                <a:solidFill>
                  <a:srgbClr val="263238"/>
                </a:solidFill>
                <a:latin typeface="Century Gothic" panose="020B0502020202020204" pitchFamily="34" charset="0"/>
                <a:ea typeface="Source Sans Pro"/>
                <a:cs typeface="Source Sans Pro"/>
                <a:sym typeface="Source Sans Pro"/>
              </a:rPr>
              <a:t>n</a:t>
            </a:r>
            <a:r>
              <a:rPr lang="es-AR" dirty="0">
                <a:solidFill>
                  <a:srgbClr val="263238"/>
                </a:solidFill>
                <a:latin typeface="Century Gothic" panose="020B0502020202020204" pitchFamily="34" charset="0"/>
                <a:ea typeface="Source Sans Pro"/>
                <a:cs typeface="Source Sans Pro"/>
                <a:sym typeface="Source Sans Pro"/>
              </a:rPr>
              <a:t> empleados”.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14626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9FC55-7A5F-6C4B-B5EF-29D5243FC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5DC98-9997-D484-82C4-5B2BE5F6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Relación bidireccional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F25E85-415B-D867-833F-F2925E8A6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6902763" cy="3530600"/>
          </a:xfrm>
        </p:spPr>
        <p:txBody>
          <a:bodyPr>
            <a:normAutofit/>
          </a:bodyPr>
          <a:lstStyle/>
          <a:p>
            <a:r>
              <a:rPr lang="es-419" dirty="0">
                <a:latin typeface="Century Gothic" panose="020B0502020202020204" pitchFamily="34" charset="0"/>
              </a:rPr>
              <a:t>Una relación </a:t>
            </a:r>
            <a:r>
              <a:rPr lang="es-419" b="1" dirty="0">
                <a:latin typeface="Century Gothic" panose="020B0502020202020204" pitchFamily="34" charset="0"/>
              </a:rPr>
              <a:t>bidireccional</a:t>
            </a:r>
            <a:r>
              <a:rPr lang="es-419" dirty="0">
                <a:latin typeface="Century Gothic" panose="020B0502020202020204" pitchFamily="34" charset="0"/>
              </a:rPr>
              <a:t> es aquella donde:</a:t>
            </a:r>
          </a:p>
          <a:p>
            <a:pPr lvl="1"/>
            <a:r>
              <a:rPr lang="es-419" dirty="0">
                <a:latin typeface="Century Gothic" panose="020B0502020202020204" pitchFamily="34" charset="0"/>
              </a:rPr>
              <a:t>Ambas clases se conocen entre sí</a:t>
            </a:r>
          </a:p>
          <a:p>
            <a:pPr lvl="1"/>
            <a:r>
              <a:rPr lang="es-419" dirty="0">
                <a:latin typeface="Century Gothic" panose="020B0502020202020204" pitchFamily="34" charset="0"/>
              </a:rPr>
              <a:t>Se puede navegar en ambos sentidos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62DB3-F935-F7B3-F3BB-CD804F633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733800"/>
            <a:ext cx="71628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92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0FF9F-F7C5-A930-2FE7-5A952A19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Relación direccional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74AFBA-3DCF-11A2-DD73-2607626C4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365218" cy="3530600"/>
          </a:xfrm>
        </p:spPr>
        <p:txBody>
          <a:bodyPr/>
          <a:lstStyle/>
          <a:p>
            <a:r>
              <a:rPr lang="es-AR" dirty="0"/>
              <a:t>Es una relación donde </a:t>
            </a:r>
            <a:r>
              <a:rPr lang="es-AR" b="1" dirty="0"/>
              <a:t>solo una clase conoce a la otra</a:t>
            </a:r>
            <a:endParaRPr lang="es-AR" dirty="0"/>
          </a:p>
          <a:p>
            <a:r>
              <a:rPr lang="es-AR" dirty="0"/>
              <a:t>Hay navegación en </a:t>
            </a:r>
            <a:r>
              <a:rPr lang="es-AR" b="1" dirty="0"/>
              <a:t>un solo sentido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9DBC2A-E1E3-3625-170C-541ADEAAA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205" y="3329676"/>
            <a:ext cx="5615590" cy="33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76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FA61D-C47B-9D2E-AD7A-0E6F2751E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Relación de agregación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5FAB8B-4E99-40E7-B8F1-6EBE2072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301766"/>
            <a:ext cx="6345260" cy="3718034"/>
          </a:xfrm>
        </p:spPr>
        <p:txBody>
          <a:bodyPr/>
          <a:lstStyle/>
          <a:p>
            <a:r>
              <a:rPr lang="es-AR" dirty="0"/>
              <a:t>La </a:t>
            </a:r>
            <a:r>
              <a:rPr lang="es-AR" b="1" dirty="0"/>
              <a:t>agregación</a:t>
            </a:r>
            <a:r>
              <a:rPr lang="es-AR" dirty="0"/>
              <a:t> es una relación “</a:t>
            </a:r>
            <a:r>
              <a:rPr lang="es-AR" b="1" dirty="0"/>
              <a:t>todo</a:t>
            </a:r>
            <a:r>
              <a:rPr lang="es-AR" dirty="0"/>
              <a:t>–</a:t>
            </a:r>
            <a:r>
              <a:rPr lang="es-AR" b="1" dirty="0"/>
              <a:t>parte</a:t>
            </a:r>
            <a:r>
              <a:rPr lang="es-AR" dirty="0"/>
              <a:t>” </a:t>
            </a:r>
            <a:r>
              <a:rPr lang="es-AR" b="1" dirty="0"/>
              <a:t>débil</a:t>
            </a:r>
            <a:r>
              <a:rPr lang="es-AR" dirty="0"/>
              <a:t>.</a:t>
            </a:r>
          </a:p>
          <a:p>
            <a:pPr lvl="1"/>
            <a:r>
              <a:rPr lang="es-AR" dirty="0"/>
              <a:t>Una clase “</a:t>
            </a:r>
            <a:r>
              <a:rPr lang="es-AR" b="1" dirty="0"/>
              <a:t>contiene</a:t>
            </a:r>
            <a:r>
              <a:rPr lang="es-AR" dirty="0"/>
              <a:t>” a otra</a:t>
            </a:r>
          </a:p>
          <a:p>
            <a:pPr lvl="1"/>
            <a:r>
              <a:rPr lang="es-AR" dirty="0"/>
              <a:t>Las partes </a:t>
            </a:r>
            <a:r>
              <a:rPr lang="es-AR" b="1" dirty="0"/>
              <a:t>pueden</a:t>
            </a:r>
            <a:r>
              <a:rPr lang="es-AR" dirty="0"/>
              <a:t> </a:t>
            </a:r>
            <a:r>
              <a:rPr lang="es-AR" b="1" dirty="0"/>
              <a:t>existir</a:t>
            </a:r>
            <a:r>
              <a:rPr lang="es-AR" dirty="0"/>
              <a:t> </a:t>
            </a:r>
            <a:r>
              <a:rPr lang="es-AR" b="1" dirty="0"/>
              <a:t>independientemente</a:t>
            </a:r>
          </a:p>
          <a:p>
            <a:endParaRPr lang="es-AR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E154BC4-FA87-32C6-1EFA-6C1FB81A7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317" y="3513082"/>
            <a:ext cx="5355365" cy="314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17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132A1-A899-20A2-F727-5874C2545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Relación de composición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4133F-48DE-2CD8-22B2-AAA3D929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La </a:t>
            </a:r>
            <a:r>
              <a:rPr lang="es-AR" b="1" dirty="0"/>
              <a:t>composición</a:t>
            </a:r>
            <a:r>
              <a:rPr lang="es-AR" dirty="0"/>
              <a:t> es una relación </a:t>
            </a:r>
            <a:r>
              <a:rPr lang="es-AR" b="1" dirty="0"/>
              <a:t>todo</a:t>
            </a:r>
            <a:r>
              <a:rPr lang="es-AR" dirty="0"/>
              <a:t>–</a:t>
            </a:r>
            <a:r>
              <a:rPr lang="es-AR" b="1" dirty="0"/>
              <a:t>parte</a:t>
            </a:r>
            <a:r>
              <a:rPr lang="es-AR" dirty="0"/>
              <a:t> </a:t>
            </a:r>
            <a:r>
              <a:rPr lang="es-AR" b="1" dirty="0"/>
              <a:t>fuerte</a:t>
            </a:r>
            <a:r>
              <a:rPr lang="es-AR" dirty="0"/>
              <a:t>.</a:t>
            </a:r>
          </a:p>
          <a:p>
            <a:r>
              <a:rPr lang="es-AR" dirty="0"/>
              <a:t>La parte </a:t>
            </a:r>
            <a:r>
              <a:rPr lang="es-AR" b="1" dirty="0"/>
              <a:t>NO</a:t>
            </a:r>
            <a:r>
              <a:rPr lang="es-AR" dirty="0"/>
              <a:t> puede existir sin el </a:t>
            </a:r>
            <a:r>
              <a:rPr lang="es-AR" b="1" dirty="0"/>
              <a:t>todo</a:t>
            </a:r>
          </a:p>
          <a:p>
            <a:r>
              <a:rPr lang="es-AR" dirty="0"/>
              <a:t>Si el </a:t>
            </a:r>
            <a:r>
              <a:rPr lang="es-AR" b="1" dirty="0"/>
              <a:t>todo</a:t>
            </a:r>
            <a:r>
              <a:rPr lang="es-AR" dirty="0"/>
              <a:t> se </a:t>
            </a:r>
            <a:r>
              <a:rPr lang="es-AR" b="1" dirty="0"/>
              <a:t>elimina</a:t>
            </a:r>
            <a:r>
              <a:rPr lang="es-AR" dirty="0"/>
              <a:t> → las </a:t>
            </a:r>
            <a:r>
              <a:rPr lang="es-AR" b="1" dirty="0"/>
              <a:t>partes</a:t>
            </a:r>
            <a:r>
              <a:rPr lang="es-AR" dirty="0"/>
              <a:t> </a:t>
            </a:r>
            <a:r>
              <a:rPr lang="es-AR" b="1" dirty="0"/>
              <a:t>también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34E854-DC85-22A5-F929-7364A740E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47070"/>
            <a:ext cx="7772400" cy="148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89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1663B-C796-966C-0AFD-9F4B9C460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Relación de composición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0DC27D-4C90-2D42-ED8A-FDE1090C1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417770" cy="3441702"/>
          </a:xfrm>
        </p:spPr>
        <p:txBody>
          <a:bodyPr>
            <a:normAutofit/>
          </a:bodyPr>
          <a:lstStyle/>
          <a:p>
            <a:r>
              <a:rPr lang="es-AR" b="1" dirty="0" err="1"/>
              <a:t>ItemPedido</a:t>
            </a:r>
            <a:r>
              <a:rPr lang="es-AR" dirty="0"/>
              <a:t>:</a:t>
            </a:r>
          </a:p>
          <a:p>
            <a:pPr marL="402336" lvl="1" indent="0">
              <a:buNone/>
            </a:pPr>
            <a:r>
              <a:rPr lang="es-AR" dirty="0"/>
              <a:t>❌ NO existe sin Pedido</a:t>
            </a:r>
          </a:p>
          <a:p>
            <a:pPr marL="402336" lvl="1" indent="0">
              <a:buNone/>
            </a:pPr>
            <a:r>
              <a:rPr lang="es-AR" dirty="0"/>
              <a:t>❌ NO se comparte entre pedidos</a:t>
            </a:r>
          </a:p>
          <a:p>
            <a:pPr marL="402336" lvl="1" indent="0">
              <a:buNone/>
            </a:pPr>
            <a:r>
              <a:rPr lang="es-AR" dirty="0"/>
              <a:t>❌ NO tiene identidad propia fuera del pedido</a:t>
            </a:r>
          </a:p>
          <a:p>
            <a:r>
              <a:rPr lang="es-AR" dirty="0"/>
              <a:t>El lenguaje (Java) </a:t>
            </a:r>
            <a:r>
              <a:rPr lang="es-AR" b="1" dirty="0"/>
              <a:t>NO obliga</a:t>
            </a:r>
            <a:r>
              <a:rPr lang="es-AR" dirty="0"/>
              <a:t> a cumplir composición, sino que se implementa con decisiones de diseño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12934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1AB97-2821-6285-27B5-C5DA346A3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Relación de dependencia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ABDCF4-867A-EC45-762F-DD65CC982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Una </a:t>
            </a:r>
            <a:r>
              <a:rPr lang="es-AR" b="1" dirty="0"/>
              <a:t>dependencia</a:t>
            </a:r>
            <a:r>
              <a:rPr lang="es-AR" dirty="0"/>
              <a:t> significa:</a:t>
            </a:r>
          </a:p>
          <a:p>
            <a:pPr lvl="1"/>
            <a:r>
              <a:rPr lang="es-AR" dirty="0"/>
              <a:t>una clase </a:t>
            </a:r>
            <a:r>
              <a:rPr lang="es-AR" b="1" dirty="0"/>
              <a:t>usa a otra de forma temporal </a:t>
            </a:r>
            <a:r>
              <a:rPr lang="es-AR" dirty="0"/>
              <a:t>o</a:t>
            </a:r>
            <a:r>
              <a:rPr lang="es-AR" b="1" dirty="0"/>
              <a:t> parcial.</a:t>
            </a:r>
            <a:endParaRPr lang="es-AR" dirty="0"/>
          </a:p>
          <a:p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0A0D5E-DD0E-7430-6230-F6FADE0B3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575" y="3553562"/>
            <a:ext cx="4860850" cy="94858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B1517DF-5AC8-877A-D71F-F3BD2EE3D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17" y="4928264"/>
            <a:ext cx="7772400" cy="10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24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1FBB7-8652-6C05-4826-651B546C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Interfaces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8D9C90-8508-1378-2E67-8E411504F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417770" cy="3530600"/>
          </a:xfrm>
        </p:spPr>
        <p:txBody>
          <a:bodyPr/>
          <a:lstStyle/>
          <a:p>
            <a:r>
              <a:rPr lang="es-AR" dirty="0"/>
              <a:t>Una interfaz es una entidad que declara una </a:t>
            </a:r>
            <a:r>
              <a:rPr lang="es-AR" b="1" dirty="0"/>
              <a:t>serie de atributos, funciones y obligaciones</a:t>
            </a:r>
            <a:r>
              <a:rPr lang="es-AR" dirty="0"/>
              <a:t>. Es una especie de contrato donde toda instancia asociada a una interfaz debe de implementar los servicios que indica aquella interfaz.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CEEF3A-5B60-0599-98E0-1E8C06B69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473" y="4041543"/>
            <a:ext cx="3623054" cy="11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50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1B1E7-1284-64E3-B5F2-21C04FA88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F4570-7AFA-D1D3-4D0C-C1AE54E0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Clases Abstractas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D34045-D73F-5B61-49D8-8F5C5A4A0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417770" cy="2471683"/>
          </a:xfrm>
        </p:spPr>
        <p:txBody>
          <a:bodyPr>
            <a:normAutofit fontScale="92500" lnSpcReduction="10000"/>
          </a:bodyPr>
          <a:lstStyle/>
          <a:p>
            <a:r>
              <a:rPr lang="es-AR" dirty="0"/>
              <a:t>Una </a:t>
            </a:r>
            <a:r>
              <a:rPr lang="es-AR" b="1" dirty="0"/>
              <a:t>clase abstracta</a:t>
            </a:r>
            <a:r>
              <a:rPr lang="es-AR" dirty="0"/>
              <a:t> es una clase que:</a:t>
            </a:r>
          </a:p>
          <a:p>
            <a:pPr lvl="1"/>
            <a:r>
              <a:rPr lang="es-AR" b="1" dirty="0"/>
              <a:t>NO se puede instanciar</a:t>
            </a:r>
            <a:endParaRPr lang="es-AR" dirty="0"/>
          </a:p>
          <a:p>
            <a:pPr lvl="1"/>
            <a:r>
              <a:rPr lang="es-AR" dirty="0"/>
              <a:t>Sirve como base para otras clases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r>
              <a:rPr lang="es-AR" b="1" dirty="0"/>
              <a:t>¿Para qué sirve?</a:t>
            </a:r>
          </a:p>
          <a:p>
            <a:r>
              <a:rPr lang="es-AR" dirty="0"/>
              <a:t>Evitar que se instancie la clase</a:t>
            </a:r>
          </a:p>
          <a:p>
            <a:r>
              <a:rPr lang="es-AR" dirty="0"/>
              <a:t>Compartir comportamiento común</a:t>
            </a:r>
          </a:p>
          <a:p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15B8E3C-9D16-A14D-56A6-45DC95C41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252" y="5165420"/>
            <a:ext cx="42799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80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60D5C-9300-5049-D814-BB84085F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C3DB-8BD1-815E-090E-AAF4F1058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Clases Abstractas vs Interfaz</a:t>
            </a:r>
          </a:p>
        </p:txBody>
      </p:sp>
      <p:graphicFrame>
        <p:nvGraphicFramePr>
          <p:cNvPr id="6" name="Google Shape;215;p25">
            <a:extLst>
              <a:ext uri="{FF2B5EF4-FFF2-40B4-BE49-F238E27FC236}">
                <a16:creationId xmlns:a16="http://schemas.microsoft.com/office/drawing/2014/main" id="{69F54440-6084-59B6-89CF-6E1EFCE62C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718571"/>
              </p:ext>
            </p:extLst>
          </p:nvPr>
        </p:nvGraphicFramePr>
        <p:xfrm>
          <a:off x="675289" y="2495387"/>
          <a:ext cx="7793422" cy="34355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8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0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Roboto Slab"/>
                          <a:cs typeface="Calibri" panose="020F0502020204030204" pitchFamily="34" charset="0"/>
                          <a:sym typeface="Roboto Slab"/>
                        </a:rPr>
                        <a:t>#</a:t>
                      </a:r>
                      <a:endParaRPr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Roboto Slab"/>
                        <a:cs typeface="Calibri" panose="020F0502020204030204" pitchFamily="34" charset="0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Roboto Slab"/>
                          <a:cs typeface="Calibri" panose="020F0502020204030204" pitchFamily="34" charset="0"/>
                          <a:sym typeface="Roboto Slab"/>
                        </a:rPr>
                        <a:t>Clase Abstracta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Roboto Slab"/>
                          <a:cs typeface="Calibri" panose="020F0502020204030204" pitchFamily="34" charset="0"/>
                          <a:sym typeface="Roboto Slab"/>
                        </a:rPr>
                        <a:t>Interfaz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174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1</a:t>
                      </a:r>
                      <a:endParaRPr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Puede heredar o extender cualquier clase (independientemente de que esta sea abstracta o no).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Solamente puede extender o implementar otras interfaces.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2</a:t>
                      </a:r>
                      <a:endParaRPr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Puede tener métodos que sean abstractos o que no lo sean. 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Sólo pueden definir métodos abstractos.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3</a:t>
                      </a:r>
                      <a:endParaRPr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Los métodos abstractos pueden ser públicos o protegidos.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Sólo puede tener métodos públicos.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507871"/>
                  </a:ext>
                </a:extLst>
              </a:tr>
              <a:tr h="64661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4</a:t>
                      </a:r>
                      <a:endParaRPr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Los atributos pueden ser </a:t>
                      </a:r>
                      <a:r>
                        <a:rPr lang="es-AR" sz="16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static</a:t>
                      </a:r>
                      <a:r>
                        <a:rPr lang="es-AR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, final o </a:t>
                      </a:r>
                      <a:r>
                        <a:rPr lang="es-AR" sz="16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static</a:t>
                      </a:r>
                      <a:r>
                        <a:rPr lang="es-AR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 final con cualquier modificador de acceso.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Sólo puede tener constantes </a:t>
                      </a:r>
                      <a:r>
                        <a:rPr lang="es-AR" sz="16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public</a:t>
                      </a:r>
                      <a:r>
                        <a:rPr lang="es-AR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 </a:t>
                      </a:r>
                      <a:r>
                        <a:rPr lang="es-AR" sz="16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static</a:t>
                      </a:r>
                      <a:r>
                        <a:rPr lang="es-AR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 final.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611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556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22670-77D9-A838-9E3C-35973654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Generalización (Herencia)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32A920-FC2E-F49F-4796-4C0D85F5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503104" cy="3530600"/>
          </a:xfrm>
        </p:spPr>
        <p:txBody>
          <a:bodyPr>
            <a:normAutofit/>
          </a:bodyPr>
          <a:lstStyle/>
          <a:p>
            <a:pPr fontAlgn="base"/>
            <a:r>
              <a:rPr lang="es-AR" dirty="0"/>
              <a:t>Son asociaciones entre elementos más generales y elementos más específicos, en los cuales éstos últimos son consistentes totalmente con los primeros, por lo que heredan las características proporcionadas por lo elementos generales y además  pueden aumentar información.  </a:t>
            </a:r>
          </a:p>
          <a:p>
            <a:pPr fontAlgn="base"/>
            <a:r>
              <a:rPr lang="es-AR" dirty="0"/>
              <a:t>Este tipo de relación también se conoce como </a:t>
            </a:r>
            <a:r>
              <a:rPr lang="es-AR" b="1" dirty="0"/>
              <a:t>herencia</a:t>
            </a:r>
            <a:r>
              <a:rPr lang="es-AR" dirty="0"/>
              <a:t>.</a:t>
            </a:r>
          </a:p>
          <a:p>
            <a:pPr fontAlgn="base"/>
            <a:r>
              <a:rPr lang="es-AR" dirty="0"/>
              <a:t>En una generalización </a:t>
            </a:r>
            <a:r>
              <a:rPr lang="es-AR" b="1" dirty="0"/>
              <a:t>no</a:t>
            </a:r>
            <a:r>
              <a:rPr lang="es-AR" dirty="0"/>
              <a:t> hay </a:t>
            </a:r>
            <a:r>
              <a:rPr lang="es-AR" b="1" dirty="0"/>
              <a:t>multiplicidad</a:t>
            </a:r>
            <a:r>
              <a:rPr lang="es-AR" dirty="0"/>
              <a:t>.</a:t>
            </a:r>
          </a:p>
          <a:p>
            <a:pPr fontAlgn="base"/>
            <a:r>
              <a:rPr lang="es-AR" dirty="0"/>
              <a:t>La visibilidad “</a:t>
            </a:r>
            <a:r>
              <a:rPr lang="es-AR" b="1" i="1" dirty="0" err="1"/>
              <a:t>protected</a:t>
            </a:r>
            <a:r>
              <a:rPr lang="es-AR" dirty="0"/>
              <a:t>” permite que solo objetos de la misma clase </a:t>
            </a:r>
            <a:r>
              <a:rPr lang="es-AR" dirty="0" err="1"/>
              <a:t>ó</a:t>
            </a:r>
            <a:r>
              <a:rPr lang="es-AR" dirty="0"/>
              <a:t> subclase vean el elemento.</a:t>
            </a:r>
          </a:p>
        </p:txBody>
      </p:sp>
    </p:spTree>
    <p:extLst>
      <p:ext uri="{BB962C8B-B14F-4D97-AF65-F5344CB8AC3E}">
        <p14:creationId xmlns:p14="http://schemas.microsoft.com/office/powerpoint/2010/main" val="1009122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41973-7E84-21E1-8465-1FF2719C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Herencia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8CA9EC-664C-B0CC-65D7-0AE9042BF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54" y="2543265"/>
            <a:ext cx="8714892" cy="231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91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C95A9-4BF1-AC04-0115-829BB6591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Relación clase de asociación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E33EAB-3268-A4E1-2602-9304A3C82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6345260" cy="1088571"/>
          </a:xfrm>
        </p:spPr>
        <p:txBody>
          <a:bodyPr/>
          <a:lstStyle/>
          <a:p>
            <a:r>
              <a:rPr lang="es-AR" dirty="0"/>
              <a:t>Una </a:t>
            </a:r>
            <a:r>
              <a:rPr lang="es-AR" b="1" dirty="0"/>
              <a:t>clase de asociación</a:t>
            </a:r>
            <a:r>
              <a:rPr lang="es-AR" dirty="0"/>
              <a:t> es:</a:t>
            </a:r>
          </a:p>
          <a:p>
            <a:pPr lvl="1"/>
            <a:r>
              <a:rPr lang="es-AR" dirty="0"/>
              <a:t>una relación entre dos clases que además tiene </a:t>
            </a:r>
            <a:r>
              <a:rPr lang="es-AR" b="1" dirty="0"/>
              <a:t>atributos propios.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767514-4168-6514-DD88-08AD020F2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043" y="3692590"/>
            <a:ext cx="5881914" cy="23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8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77F2C-C1A9-660A-F75E-5C348AFEF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Clases estáticas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E627EF-4B55-3B38-F41B-BEFEE5A04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743590" cy="3530600"/>
          </a:xfrm>
        </p:spPr>
        <p:txBody>
          <a:bodyPr>
            <a:normAutofit/>
          </a:bodyPr>
          <a:lstStyle/>
          <a:p>
            <a:r>
              <a:rPr lang="es-AR" dirty="0"/>
              <a:t>En realidad, en Java </a:t>
            </a:r>
            <a:r>
              <a:rPr lang="es-AR" b="1" dirty="0"/>
              <a:t>no existen clases completamente estáticas (como en C#)</a:t>
            </a:r>
            <a:r>
              <a:rPr lang="es-AR" dirty="0"/>
              <a:t>, pero sí existen:</a:t>
            </a:r>
          </a:p>
          <a:p>
            <a:pPr lvl="1"/>
            <a:r>
              <a:rPr lang="es-AR" b="1" dirty="0"/>
              <a:t>Clases con miembros estáticos</a:t>
            </a:r>
            <a:endParaRPr lang="es-AR" dirty="0"/>
          </a:p>
          <a:p>
            <a:pPr lvl="1"/>
            <a:r>
              <a:rPr lang="es-AR" b="1" dirty="0"/>
              <a:t>Clases internas estáticas (</a:t>
            </a:r>
            <a:r>
              <a:rPr lang="es-AR" b="1" dirty="0" err="1"/>
              <a:t>static</a:t>
            </a:r>
            <a:r>
              <a:rPr lang="es-AR" b="1" dirty="0"/>
              <a:t> </a:t>
            </a:r>
            <a:r>
              <a:rPr lang="es-AR" b="1" dirty="0" err="1"/>
              <a:t>nested</a:t>
            </a:r>
            <a:r>
              <a:rPr lang="es-AR" b="1" dirty="0"/>
              <a:t> </a:t>
            </a:r>
            <a:r>
              <a:rPr lang="es-AR" b="1" dirty="0" err="1"/>
              <a:t>class</a:t>
            </a:r>
            <a:r>
              <a:rPr lang="es-AR" b="1" dirty="0"/>
              <a:t>)</a:t>
            </a:r>
            <a:endParaRPr lang="es-AR" dirty="0"/>
          </a:p>
          <a:p>
            <a:r>
              <a:rPr lang="es-AR" dirty="0"/>
              <a:t>Pero cuando hablamos en la práctica, solemos decir:</a:t>
            </a:r>
          </a:p>
          <a:p>
            <a:r>
              <a:rPr lang="es-AR" i="1" dirty="0"/>
              <a:t>“una clase estática” = una clase que solo tiene métodos y/o atributos </a:t>
            </a:r>
            <a:r>
              <a:rPr lang="es-AR" i="1" dirty="0" err="1"/>
              <a:t>static</a:t>
            </a:r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09204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088F7-ECC5-C15E-4634-EEED2B002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53126-EDC0-9129-A1D1-109566D3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Clases estáticas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0EB5D6-6B8D-3AD6-4BB8-4755FC96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743590" cy="3530600"/>
          </a:xfrm>
        </p:spPr>
        <p:txBody>
          <a:bodyPr>
            <a:normAutofit/>
          </a:bodyPr>
          <a:lstStyle/>
          <a:p>
            <a:r>
              <a:rPr lang="es-AR" dirty="0"/>
              <a:t>En realidad, en Java </a:t>
            </a:r>
            <a:r>
              <a:rPr lang="es-AR" b="1" dirty="0"/>
              <a:t>no existen clases completamente estáticas (como en C#)</a:t>
            </a:r>
            <a:r>
              <a:rPr lang="es-AR" dirty="0"/>
              <a:t>, pero sí existen:</a:t>
            </a:r>
          </a:p>
          <a:p>
            <a:pPr lvl="1"/>
            <a:r>
              <a:rPr lang="es-AR" b="1" dirty="0"/>
              <a:t>Clases con miembros estáticos</a:t>
            </a:r>
            <a:endParaRPr lang="es-AR" dirty="0"/>
          </a:p>
          <a:p>
            <a:pPr lvl="1"/>
            <a:r>
              <a:rPr lang="es-AR" b="1" dirty="0"/>
              <a:t>Clases internas estáticas (</a:t>
            </a:r>
            <a:r>
              <a:rPr lang="es-AR" b="1" dirty="0" err="1"/>
              <a:t>static</a:t>
            </a:r>
            <a:r>
              <a:rPr lang="es-AR" b="1" dirty="0"/>
              <a:t> </a:t>
            </a:r>
            <a:r>
              <a:rPr lang="es-AR" b="1" dirty="0" err="1"/>
              <a:t>nested</a:t>
            </a:r>
            <a:r>
              <a:rPr lang="es-AR" b="1" dirty="0"/>
              <a:t> </a:t>
            </a:r>
            <a:r>
              <a:rPr lang="es-AR" b="1" dirty="0" err="1"/>
              <a:t>class</a:t>
            </a:r>
            <a:r>
              <a:rPr lang="es-AR" b="1" dirty="0"/>
              <a:t>)</a:t>
            </a:r>
            <a:endParaRPr lang="es-AR" dirty="0"/>
          </a:p>
          <a:p>
            <a:r>
              <a:rPr lang="es-AR" dirty="0"/>
              <a:t>Pero cuando hablamos en la práctica, solemos decir:</a:t>
            </a:r>
          </a:p>
          <a:p>
            <a:r>
              <a:rPr lang="es-AR" i="1" dirty="0"/>
              <a:t>“una clase estática” = una clase que solo tiene métodos y/o atributos </a:t>
            </a:r>
            <a:r>
              <a:rPr lang="es-AR" i="1" dirty="0" err="1"/>
              <a:t>static</a:t>
            </a:r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10820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B32C-641C-E626-A284-1468F00D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99722-3A2C-93C9-F307-021B6627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Clases estáticas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0AB61-8951-37AC-92DB-5D678D85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743590" cy="3530600"/>
          </a:xfrm>
        </p:spPr>
        <p:txBody>
          <a:bodyPr>
            <a:normAutofit/>
          </a:bodyPr>
          <a:lstStyle/>
          <a:p>
            <a:r>
              <a:rPr lang="es-AR" dirty="0"/>
              <a:t>Cuando algo es </a:t>
            </a:r>
            <a:r>
              <a:rPr lang="es-AR" dirty="0" err="1"/>
              <a:t>static</a:t>
            </a:r>
            <a:r>
              <a:rPr lang="es-AR" dirty="0"/>
              <a:t>:</a:t>
            </a:r>
          </a:p>
          <a:p>
            <a:r>
              <a:rPr lang="es-AR" b="1" dirty="0"/>
              <a:t>Pertenece a la clase, no al objeto</a:t>
            </a:r>
            <a:endParaRPr lang="es-AR" dirty="0"/>
          </a:p>
          <a:p>
            <a:r>
              <a:rPr lang="es-AR" dirty="0"/>
              <a:t>❌ No se necesita hacer </a:t>
            </a:r>
            <a:r>
              <a:rPr lang="es-AR" b="1" i="1" dirty="0"/>
              <a:t>new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27243A9-AD9C-DB86-75CD-E38E733BC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013" y="3752192"/>
            <a:ext cx="4308959" cy="291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166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384BC-D3D7-2909-D6E9-4BCC2FC47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1C9F8-0210-239E-D276-F800EE66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Clases estática anidada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A55FE0-0E24-4ACB-D116-333D690AD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743590" cy="1925145"/>
          </a:xfrm>
        </p:spPr>
        <p:txBody>
          <a:bodyPr>
            <a:normAutofit/>
          </a:bodyPr>
          <a:lstStyle/>
          <a:p>
            <a:r>
              <a:rPr lang="es-AR" dirty="0"/>
              <a:t>Es una </a:t>
            </a:r>
            <a:r>
              <a:rPr lang="es-AR" b="1" dirty="0"/>
              <a:t>clase definida dentro de otra clase</a:t>
            </a:r>
            <a:r>
              <a:rPr lang="es-AR" dirty="0"/>
              <a:t>, pero marcada como </a:t>
            </a:r>
            <a:r>
              <a:rPr lang="es-AR" dirty="0" err="1"/>
              <a:t>static</a:t>
            </a:r>
            <a:r>
              <a:rPr lang="es-AR" dirty="0"/>
              <a:t>.</a:t>
            </a:r>
          </a:p>
          <a:p>
            <a:pPr lvl="1"/>
            <a:r>
              <a:rPr lang="es-AR" dirty="0"/>
              <a:t>No depende de una instancia de la clase externa</a:t>
            </a:r>
          </a:p>
          <a:p>
            <a:pPr lvl="1"/>
            <a:r>
              <a:rPr lang="es-AR" dirty="0"/>
              <a:t>Se comporta casi como una clase normal, pero “agrupada” dentro de otra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5D90B1-DD3F-79A8-AB2A-1832042C7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82" y="4393785"/>
            <a:ext cx="3613378" cy="174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09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3942-FB36-3C34-42C1-A9366E0E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99316-9981-C502-E1F5-57CE3C19F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06609F-5D01-4153-3F5F-14898A36F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375338"/>
            <a:ext cx="7417770" cy="40359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1200" dirty="0"/>
              <a:t>La reconocida empresa de servicios de transporte (</a:t>
            </a:r>
            <a:r>
              <a:rPr lang="es-AR" sz="1200" b="1" dirty="0" err="1"/>
              <a:t>Ubir</a:t>
            </a:r>
            <a:r>
              <a:rPr lang="es-AR" sz="1200" dirty="0"/>
              <a:t>), nos encarga el diseño de una aplicación que les permita a los usuarios poder realizar sus viajes sin inconvenientes, permitiendo buscar y contratar choferes. </a:t>
            </a:r>
          </a:p>
          <a:p>
            <a:pPr marL="0" indent="0">
              <a:buNone/>
            </a:pPr>
            <a:r>
              <a:rPr lang="es-AR" sz="1200" dirty="0"/>
              <a:t>Las funcionalidades que se espera de la aplicación serán:</a:t>
            </a:r>
          </a:p>
          <a:p>
            <a:r>
              <a:rPr lang="es-AR" sz="1200" dirty="0"/>
              <a:t>Registro y </a:t>
            </a:r>
            <a:r>
              <a:rPr lang="es-AR" sz="1200" dirty="0" err="1"/>
              <a:t>login</a:t>
            </a:r>
            <a:r>
              <a:rPr lang="es-AR" sz="1200" dirty="0"/>
              <a:t> de usuarios: cada usuario podrá crear una cuenta, la cual podrá ser del tipo </a:t>
            </a:r>
            <a:r>
              <a:rPr lang="es-AR" sz="1200" b="1" dirty="0"/>
              <a:t>Pasajero</a:t>
            </a:r>
            <a:r>
              <a:rPr lang="es-AR" sz="1200" dirty="0"/>
              <a:t> o </a:t>
            </a:r>
            <a:r>
              <a:rPr lang="es-AR" sz="1200" b="1" dirty="0"/>
              <a:t>Chofer</a:t>
            </a:r>
            <a:r>
              <a:rPr lang="es-AR" sz="1200" dirty="0"/>
              <a:t>. Para el caso de los choferes, es indispensable contar con licencia de conducir para lograr un registro exitoso.</a:t>
            </a:r>
          </a:p>
          <a:p>
            <a:r>
              <a:rPr lang="es-AR" sz="1200" dirty="0"/>
              <a:t>Se dispondrá de una billetera virtual para poder realizar los pagos de los viajes y en donde será depositado (en caso de los choferes), el total del viaje menos la comisión que cobra la plataforma por su uso.</a:t>
            </a:r>
          </a:p>
          <a:p>
            <a:r>
              <a:rPr lang="es-AR" sz="1200" dirty="0"/>
              <a:t>Dicha billetera podrá ser recargada a través de tarjeta de crédito o PayPal.</a:t>
            </a:r>
          </a:p>
          <a:p>
            <a:r>
              <a:rPr lang="es-AR" sz="1200" dirty="0"/>
              <a:t>En caso de registrarse como un chofer, será necesario que se ingrese los datos del vehículo que maneja. Es indispensable contar con patente, fecha de VTV, marca y modelo del vehículo.</a:t>
            </a:r>
          </a:p>
          <a:p>
            <a:pPr marL="0" indent="0">
              <a:buNone/>
            </a:pPr>
            <a:r>
              <a:rPr lang="es-AR" sz="1200" dirty="0"/>
              <a:t>Asimismo, cada pasajero podrá solicitar un viaje indicando su destino y desde donde comenzará el viaje. Esto avisará a un chofer que esté dentro de un determinado rango (expresado en km). El chofer podrá aceptar/declinar el viaje. En caso de declinar el viaje, el pasajero deberá solicitar uno nuevo.</a:t>
            </a:r>
          </a:p>
          <a:p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2112929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8CADC-5FA9-19B3-1F46-83F76A20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Gracias!</a:t>
            </a:r>
          </a:p>
        </p:txBody>
      </p:sp>
      <p:pic>
        <p:nvPicPr>
          <p:cNvPr id="1030" name="Picture 6" descr="Para qué sirven las Preguntas? - INSM Blog ¿Para qué sirven las Preguntas?">
            <a:extLst>
              <a:ext uri="{FF2B5EF4-FFF2-40B4-BE49-F238E27FC236}">
                <a16:creationId xmlns:a16="http://schemas.microsoft.com/office/drawing/2014/main" id="{AEFA8919-1401-F664-2C40-645A64028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100" y="4685465"/>
            <a:ext cx="2454023" cy="178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224076-C980-5F13-DE86-6AFDCD413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6213218" cy="3530600"/>
          </a:xfrm>
        </p:spPr>
        <p:txBody>
          <a:bodyPr>
            <a:normAutofit/>
          </a:bodyPr>
          <a:lstStyle/>
          <a:p>
            <a:r>
              <a:rPr lang="es-419" sz="2400" dirty="0"/>
              <a:t>Preguntas?</a:t>
            </a:r>
          </a:p>
          <a:p>
            <a:r>
              <a:rPr lang="es-419" sz="2400" dirty="0"/>
              <a:t>mailto: </a:t>
            </a:r>
            <a:r>
              <a:rPr lang="es-419" sz="2400" dirty="0">
                <a:solidFill>
                  <a:srgbClr val="0070C0"/>
                </a:solidFill>
              </a:rPr>
              <a:t>mstricagnoli@uade.edu.ar</a:t>
            </a:r>
            <a:endParaRPr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485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358434839BD0E4EAAAF06F450293D30" ma:contentTypeVersion="0" ma:contentTypeDescription="Crear nuevo documento." ma:contentTypeScope="" ma:versionID="7c85281e88bc7375bc6693dada57822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6ff3a126252e742cc2543983a566b0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658535-27A5-494B-AEF5-BB0F18CC2BE4}"/>
</file>

<file path=customXml/itemProps2.xml><?xml version="1.0" encoding="utf-8"?>
<ds:datastoreItem xmlns:ds="http://schemas.openxmlformats.org/officeDocument/2006/customXml" ds:itemID="{6F2065CE-B3DD-4B25-A193-01ACBAC22916}"/>
</file>

<file path=customXml/itemProps3.xml><?xml version="1.0" encoding="utf-8"?>
<ds:datastoreItem xmlns:ds="http://schemas.openxmlformats.org/officeDocument/2006/customXml" ds:itemID="{D12DD7E3-7918-447D-9350-6FAE88DDD3F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</TotalTime>
  <Words>1575</Words>
  <Application>Microsoft Macintosh PowerPoint</Application>
  <PresentationFormat>Presentación en pantalla (4:3)</PresentationFormat>
  <Paragraphs>186</Paragraphs>
  <Slides>30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Century Gothic</vt:lpstr>
      <vt:lpstr>Wingdings 3</vt:lpstr>
      <vt:lpstr>Sala de reuniones Ion</vt:lpstr>
      <vt:lpstr>Procesos de Desarrollo de Software</vt:lpstr>
      <vt:lpstr>Agenda de la clase</vt:lpstr>
      <vt:lpstr>Clases</vt:lpstr>
      <vt:lpstr>Representación de una clase</vt:lpstr>
      <vt:lpstr>Presentación de PowerPoint</vt:lpstr>
      <vt:lpstr>¿Qué es un constructor?</vt:lpstr>
      <vt:lpstr>Constructores sin parámetro</vt:lpstr>
      <vt:lpstr>Constructores con parámetros</vt:lpstr>
      <vt:lpstr>Objetos</vt:lpstr>
      <vt:lpstr>Relaciones entre Clases</vt:lpstr>
      <vt:lpstr>Relaciones entre Clases</vt:lpstr>
      <vt:lpstr>Elementos de una relación</vt:lpstr>
      <vt:lpstr>Relación bidireccional</vt:lpstr>
      <vt:lpstr>Relación direccional</vt:lpstr>
      <vt:lpstr>Relación de agregación</vt:lpstr>
      <vt:lpstr>Relación de composición</vt:lpstr>
      <vt:lpstr>Relación de composición</vt:lpstr>
      <vt:lpstr>Relación de dependencia</vt:lpstr>
      <vt:lpstr>Interfaces</vt:lpstr>
      <vt:lpstr>Clases Abstractas</vt:lpstr>
      <vt:lpstr>Clases Abstractas vs Interfaz</vt:lpstr>
      <vt:lpstr>Generalización (Herencia)</vt:lpstr>
      <vt:lpstr>Herencia</vt:lpstr>
      <vt:lpstr>Relación clase de asociación</vt:lpstr>
      <vt:lpstr>Clases estáticas</vt:lpstr>
      <vt:lpstr>Clases estáticas</vt:lpstr>
      <vt:lpstr>Clases estáticas</vt:lpstr>
      <vt:lpstr>Clases estática anidada</vt:lpstr>
      <vt:lpstr>Ejercicio</vt:lpstr>
      <vt:lpstr>Gracias!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Stricagnoli Matias Damian</cp:lastModifiedBy>
  <cp:revision>113</cp:revision>
  <dcterms:created xsi:type="dcterms:W3CDTF">2013-01-27T09:14:16Z</dcterms:created>
  <dcterms:modified xsi:type="dcterms:W3CDTF">2026-03-20T00:55:58Z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0x010100F358434839BD0E4EAAAF06F450293D30</vt:lpwstr>
  </property>
</Properties>
</file>