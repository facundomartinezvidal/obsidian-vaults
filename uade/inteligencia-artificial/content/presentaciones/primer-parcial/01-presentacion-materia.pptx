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32"/>
  </p:notesMasterIdLst>
  <p:handoutMasterIdLst>
    <p:handoutMasterId r:id="rId33"/>
  </p:handoutMasterIdLst>
  <p:sldIdLst>
    <p:sldId id="344" r:id="rId7"/>
    <p:sldId id="346" r:id="rId8"/>
    <p:sldId id="258" r:id="rId9"/>
    <p:sldId id="326" r:id="rId10"/>
    <p:sldId id="348" r:id="rId11"/>
    <p:sldId id="385" r:id="rId12"/>
    <p:sldId id="355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22" r:id="rId27"/>
    <p:sldId id="438" r:id="rId28"/>
    <p:sldId id="424" r:id="rId29"/>
    <p:sldId id="316" r:id="rId30"/>
    <p:sldId id="27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1E434-B5A9-4095-91F3-21904A3E7F91}" v="1" dt="2025-10-06T12:24:34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ESSO CAMILA" userId="efb615f5-46de-4cfe-a24f-17ca13fe304d" providerId="ADAL" clId="{18F6699D-DEFB-49AC-819A-C0B1742DA39D}"/>
    <pc:docChg chg="modSld">
      <pc:chgData name="ADDESSO CAMILA" userId="efb615f5-46de-4cfe-a24f-17ca13fe304d" providerId="ADAL" clId="{18F6699D-DEFB-49AC-819A-C0B1742DA39D}" dt="2025-10-06T12:26:00.560" v="55" actId="1035"/>
      <pc:docMkLst>
        <pc:docMk/>
      </pc:docMkLst>
      <pc:sldChg chg="modSp mod">
        <pc:chgData name="ADDESSO CAMILA" userId="efb615f5-46de-4cfe-a24f-17ca13fe304d" providerId="ADAL" clId="{18F6699D-DEFB-49AC-819A-C0B1742DA39D}" dt="2025-10-06T12:25:08.706" v="1" actId="207"/>
        <pc:sldMkLst>
          <pc:docMk/>
          <pc:sldMk cId="1594981986" sldId="316"/>
        </pc:sldMkLst>
        <pc:spChg chg="mod">
          <ac:chgData name="ADDESSO CAMILA" userId="efb615f5-46de-4cfe-a24f-17ca13fe304d" providerId="ADAL" clId="{18F6699D-DEFB-49AC-819A-C0B1742DA39D}" dt="2025-10-06T12:25:08.706" v="1" actId="207"/>
          <ac:spMkLst>
            <pc:docMk/>
            <pc:sldMk cId="1594981986" sldId="316"/>
            <ac:spMk id="26" creationId="{A4C604BF-27CC-0AB6-ED8F-4C46731ADF22}"/>
          </ac:spMkLst>
        </pc:spChg>
      </pc:sldChg>
      <pc:sldChg chg="modSp mod">
        <pc:chgData name="ADDESSO CAMILA" userId="efb615f5-46de-4cfe-a24f-17ca13fe304d" providerId="ADAL" clId="{18F6699D-DEFB-49AC-819A-C0B1742DA39D}" dt="2025-10-06T12:26:00.560" v="55" actId="1035"/>
        <pc:sldMkLst>
          <pc:docMk/>
          <pc:sldMk cId="2905289349" sldId="424"/>
        </pc:sldMkLst>
        <pc:spChg chg="mod">
          <ac:chgData name="ADDESSO CAMILA" userId="efb615f5-46de-4cfe-a24f-17ca13fe304d" providerId="ADAL" clId="{18F6699D-DEFB-49AC-819A-C0B1742DA39D}" dt="2025-10-06T12:25:48.069" v="39" actId="1036"/>
          <ac:spMkLst>
            <pc:docMk/>
            <pc:sldMk cId="2905289349" sldId="424"/>
            <ac:spMk id="2" creationId="{0F8C1AAA-FC86-4C32-5441-2CA3A5477F5D}"/>
          </ac:spMkLst>
        </pc:spChg>
        <pc:spChg chg="mod">
          <ac:chgData name="ADDESSO CAMILA" userId="efb615f5-46de-4cfe-a24f-17ca13fe304d" providerId="ADAL" clId="{18F6699D-DEFB-49AC-819A-C0B1742DA39D}" dt="2025-10-06T12:25:55.795" v="44" actId="103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ADDESSO CAMILA" userId="efb615f5-46de-4cfe-a24f-17ca13fe304d" providerId="ADAL" clId="{18F6699D-DEFB-49AC-819A-C0B1742DA39D}" dt="2025-10-06T12:25:58.632" v="53" actId="1035"/>
          <ac:spMkLst>
            <pc:docMk/>
            <pc:sldMk cId="2905289349" sldId="424"/>
            <ac:spMk id="25" creationId="{2291CA9D-96EE-9C50-7D18-F4806101C33C}"/>
          </ac:spMkLst>
        </pc:spChg>
        <pc:spChg chg="mod">
          <ac:chgData name="ADDESSO CAMILA" userId="efb615f5-46de-4cfe-a24f-17ca13fe304d" providerId="ADAL" clId="{18F6699D-DEFB-49AC-819A-C0B1742DA39D}" dt="2025-10-06T12:26:00.560" v="55" actId="1035"/>
          <ac:spMkLst>
            <pc:docMk/>
            <pc:sldMk cId="2905289349" sldId="424"/>
            <ac:spMk id="26" creationId="{BAC8143B-50E3-7C18-F9F8-D90CA2ABE25E}"/>
          </ac:spMkLst>
        </pc:spChg>
      </pc:sldChg>
    </pc:docChg>
  </pc:docChgLst>
  <pc:docChgLst>
    <pc:chgData name="RUIZ MATIAS GABRIEL" userId="S::matruiz@uade.edu.ar::72c12a3b-a710-4b0e-ab01-ac5c42c63442" providerId="AD" clId="Web-{D7D0A950-B310-0D0D-9649-60F20031FD0A}"/>
    <pc:docChg chg="modSld">
      <pc:chgData name="RUIZ MATIAS GABRIEL" userId="S::matruiz@uade.edu.ar::72c12a3b-a710-4b0e-ab01-ac5c42c63442" providerId="AD" clId="Web-{D7D0A950-B310-0D0D-9649-60F20031FD0A}" dt="2025-10-01T18:47:30.793" v="21" actId="1076"/>
      <pc:docMkLst>
        <pc:docMk/>
      </pc:docMkLst>
      <pc:sldChg chg="modSp">
        <pc:chgData name="RUIZ MATIAS GABRIEL" userId="S::matruiz@uade.edu.ar::72c12a3b-a710-4b0e-ab01-ac5c42c63442" providerId="AD" clId="Web-{D7D0A950-B310-0D0D-9649-60F20031FD0A}" dt="2025-10-01T18:41:47.183" v="2" actId="20577"/>
        <pc:sldMkLst>
          <pc:docMk/>
          <pc:sldMk cId="1594981986" sldId="316"/>
        </pc:sldMkLst>
        <pc:spChg chg="mod">
          <ac:chgData name="RUIZ MATIAS GABRIEL" userId="S::matruiz@uade.edu.ar::72c12a3b-a710-4b0e-ab01-ac5c42c63442" providerId="AD" clId="Web-{D7D0A950-B310-0D0D-9649-60F20031FD0A}" dt="2025-10-01T18:41:47.183" v="2" actId="20577"/>
          <ac:spMkLst>
            <pc:docMk/>
            <pc:sldMk cId="1594981986" sldId="316"/>
            <ac:spMk id="26" creationId="{A4C604BF-27CC-0AB6-ED8F-4C46731ADF22}"/>
          </ac:spMkLst>
        </pc:spChg>
      </pc:sldChg>
      <pc:sldChg chg="addSp modSp">
        <pc:chgData name="RUIZ MATIAS GABRIEL" userId="S::matruiz@uade.edu.ar::72c12a3b-a710-4b0e-ab01-ac5c42c63442" providerId="AD" clId="Web-{D7D0A950-B310-0D0D-9649-60F20031FD0A}" dt="2025-10-01T18:47:30.793" v="21" actId="1076"/>
        <pc:sldMkLst>
          <pc:docMk/>
          <pc:sldMk cId="2905289349" sldId="424"/>
        </pc:sldMkLst>
        <pc:spChg chg="mod">
          <ac:chgData name="RUIZ MATIAS GABRIEL" userId="S::matruiz@uade.edu.ar::72c12a3b-a710-4b0e-ab01-ac5c42c63442" providerId="AD" clId="Web-{D7D0A950-B310-0D0D-9649-60F20031FD0A}" dt="2025-10-01T18:47:16.105" v="18" actId="20577"/>
          <ac:spMkLst>
            <pc:docMk/>
            <pc:sldMk cId="2905289349" sldId="424"/>
            <ac:spMk id="2" creationId="{0F8C1AAA-FC86-4C32-5441-2CA3A5477F5D}"/>
          </ac:spMkLst>
        </pc:spChg>
        <pc:spChg chg="add mod">
          <ac:chgData name="RUIZ MATIAS GABRIEL" userId="S::matruiz@uade.edu.ar::72c12a3b-a710-4b0e-ab01-ac5c42c63442" providerId="AD" clId="Web-{D7D0A950-B310-0D0D-9649-60F20031FD0A}" dt="2025-10-01T18:47:30.793" v="21" actId="1076"/>
          <ac:spMkLst>
            <pc:docMk/>
            <pc:sldMk cId="2905289349" sldId="424"/>
            <ac:spMk id="3" creationId="{7AFB0DFD-EC4E-4CBE-7682-74FED155901D}"/>
          </ac:spMkLst>
        </pc:spChg>
        <pc:spChg chg="mod">
          <ac:chgData name="RUIZ MATIAS GABRIEL" userId="S::matruiz@uade.edu.ar::72c12a3b-a710-4b0e-ab01-ac5c42c63442" providerId="AD" clId="Web-{D7D0A950-B310-0D0D-9649-60F20031FD0A}" dt="2025-10-01T18:47:23.699" v="19" actId="1076"/>
          <ac:spMkLst>
            <pc:docMk/>
            <pc:sldMk cId="2905289349" sldId="424"/>
            <ac:spMk id="25" creationId="{2291CA9D-96EE-9C50-7D18-F4806101C33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Bienvenidos a </a:t>
          </a:r>
          <a:r>
            <a:rPr lang="es-AR" sz="2400" b="1" dirty="0"/>
            <a:t>Inteligencia Artificial Aplicada</a:t>
          </a:r>
          <a:r>
            <a:rPr lang="es-AR" sz="2400" dirty="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En esta materia vamos a explorar cómo la </a:t>
          </a:r>
          <a:r>
            <a:rPr lang="es-MX" sz="2400" b="1"/>
            <a:t>Inteligencia Artificial Generativa</a:t>
          </a:r>
          <a:r>
            <a:rPr lang="es-MX" sz="2400"/>
            <a:t> está transformando:</a:t>
          </a:r>
          <a:endParaRPr lang="es-AR" sz="24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457FF77-E438-4F4D-AE13-6A4455CC71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el trabajo profesional</a:t>
          </a:r>
        </a:p>
      </dgm:t>
    </dgm:pt>
    <dgm:pt modelId="{199F2FF2-6F48-40E4-94C9-D8EC6D9CDE5D}" type="parTrans" cxnId="{7B6B219C-C70E-4A75-84AD-399EE9841450}">
      <dgm:prSet/>
      <dgm:spPr/>
      <dgm:t>
        <a:bodyPr/>
        <a:lstStyle/>
        <a:p>
          <a:endParaRPr lang="es-AR"/>
        </a:p>
      </dgm:t>
    </dgm:pt>
    <dgm:pt modelId="{10CF9DE7-F1A8-4F68-96A0-EBF29D11462F}" type="sibTrans" cxnId="{7B6B219C-C70E-4A75-84AD-399EE9841450}">
      <dgm:prSet/>
      <dgm:spPr/>
      <dgm:t>
        <a:bodyPr/>
        <a:lstStyle/>
        <a:p>
          <a:endParaRPr lang="es-AR"/>
        </a:p>
      </dgm:t>
    </dgm:pt>
    <dgm:pt modelId="{98CFB2B8-208B-4684-9358-504880D821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 productividad</a:t>
          </a:r>
        </a:p>
      </dgm:t>
    </dgm:pt>
    <dgm:pt modelId="{FBB7121C-5959-4AA4-8172-712078A39ECB}" type="parTrans" cxnId="{530CAA67-062B-4E73-85AB-9E09E236C6B3}">
      <dgm:prSet/>
      <dgm:spPr/>
      <dgm:t>
        <a:bodyPr/>
        <a:lstStyle/>
        <a:p>
          <a:endParaRPr lang="es-AR"/>
        </a:p>
      </dgm:t>
    </dgm:pt>
    <dgm:pt modelId="{F4B1B191-8443-40AB-AE0A-D7E5107608A2}" type="sibTrans" cxnId="{530CAA67-062B-4E73-85AB-9E09E236C6B3}">
      <dgm:prSet/>
      <dgm:spPr/>
      <dgm:t>
        <a:bodyPr/>
        <a:lstStyle/>
        <a:p>
          <a:endParaRPr lang="es-AR"/>
        </a:p>
      </dgm:t>
    </dgm:pt>
    <dgm:pt modelId="{6D661903-4C1B-45A5-ABD3-F9831CA3FD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el desarrollo de software</a:t>
          </a:r>
        </a:p>
      </dgm:t>
    </dgm:pt>
    <dgm:pt modelId="{0B3716AB-DB08-4329-89F0-197AA3ECB6AE}" type="parTrans" cxnId="{FA77EB3A-21DD-42D3-986D-B17D82BB3B92}">
      <dgm:prSet/>
      <dgm:spPr/>
      <dgm:t>
        <a:bodyPr/>
        <a:lstStyle/>
        <a:p>
          <a:endParaRPr lang="es-AR"/>
        </a:p>
      </dgm:t>
    </dgm:pt>
    <dgm:pt modelId="{C972C863-9AF0-4975-9969-D2E9A69A86FC}" type="sibTrans" cxnId="{FA77EB3A-21DD-42D3-986D-B17D82BB3B92}">
      <dgm:prSet/>
      <dgm:spPr/>
      <dgm:t>
        <a:bodyPr/>
        <a:lstStyle/>
        <a:p>
          <a:endParaRPr lang="es-AR"/>
        </a:p>
      </dgm:t>
    </dgm:pt>
    <dgm:pt modelId="{94FB30DC-1939-4DD4-82B4-D028E0ADB5B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las organizaciones</a:t>
          </a:r>
        </a:p>
      </dgm:t>
    </dgm:pt>
    <dgm:pt modelId="{9DF7216A-B0DA-4A15-8044-DE0D3B81742F}" type="parTrans" cxnId="{4ED60EBC-FCF7-405F-AE70-46FD139085F6}">
      <dgm:prSet/>
      <dgm:spPr/>
      <dgm:t>
        <a:bodyPr/>
        <a:lstStyle/>
        <a:p>
          <a:endParaRPr lang="es-AR"/>
        </a:p>
      </dgm:t>
    </dgm:pt>
    <dgm:pt modelId="{CD5C9C5A-5DF4-4916-94F3-9D3EFC54DED5}" type="sibTrans" cxnId="{4ED60EBC-FCF7-405F-AE70-46FD139085F6}">
      <dgm:prSet/>
      <dgm:spPr/>
      <dgm:t>
        <a:bodyPr/>
        <a:lstStyle/>
        <a:p>
          <a:endParaRPr lang="es-AR"/>
        </a:p>
      </dgm:t>
    </dgm:pt>
    <dgm:pt modelId="{20C5D9C6-D38B-4346-9005-AC872C5C6F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/>
            <a:t>la toma de decisiones</a:t>
          </a:r>
        </a:p>
      </dgm:t>
    </dgm:pt>
    <dgm:pt modelId="{5AF1ECEE-282E-40DE-A7B8-B1A1CF3A269E}" type="parTrans" cxnId="{F1F4F77D-D128-43A7-B40E-673E0B7A3DA1}">
      <dgm:prSet/>
      <dgm:spPr/>
      <dgm:t>
        <a:bodyPr/>
        <a:lstStyle/>
        <a:p>
          <a:endParaRPr lang="es-AR"/>
        </a:p>
      </dgm:t>
    </dgm:pt>
    <dgm:pt modelId="{88A60A5D-C2C1-4254-840B-86246C0D60C9}" type="sibTrans" cxnId="{F1F4F77D-D128-43A7-B40E-673E0B7A3DA1}">
      <dgm:prSet/>
      <dgm:spPr/>
      <dgm:t>
        <a:bodyPr/>
        <a:lstStyle/>
        <a:p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r>
            <a:rPr lang="es-MX" dirty="0"/>
            <a:t>El objetivo es </a:t>
          </a:r>
          <a:r>
            <a:rPr lang="es-MX" b="1" dirty="0"/>
            <a:t>aprender a usar IA de manera profesional, crítica y estratégica</a:t>
          </a:r>
          <a:r>
            <a:rPr lang="es-MX" dirty="0"/>
            <a:t>.</a:t>
          </a:r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1E00311D-4C6C-46BF-9B68-161910156F91}" type="presOf" srcId="{6457FF77-E438-4F4D-AE13-6A4455CC7141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FA77EB3A-21DD-42D3-986D-B17D82BB3B92}" srcId="{9A935F43-1A8E-41C3-A872-EBE5AE5F6DA3}" destId="{6D661903-4C1B-45A5-ABD3-F9831CA3FD32}" srcOrd="3" destOrd="0" parTransId="{0B3716AB-DB08-4329-89F0-197AA3ECB6AE}" sibTransId="{C972C863-9AF0-4975-9969-D2E9A69A86FC}"/>
    <dgm:cxn modelId="{BFAB7D43-FF3C-476D-9858-4ADBB231F671}" type="presOf" srcId="{6D661903-4C1B-45A5-ABD3-F9831CA3FD32}" destId="{EEB1F71B-C36D-495B-81C0-9546D425EC51}" srcOrd="0" destOrd="3" presId="urn:microsoft.com/office/officeart/2005/8/layout/vList2"/>
    <dgm:cxn modelId="{530CAA67-062B-4E73-85AB-9E09E236C6B3}" srcId="{9A935F43-1A8E-41C3-A872-EBE5AE5F6DA3}" destId="{98CFB2B8-208B-4684-9358-504880D82130}" srcOrd="2" destOrd="0" parTransId="{FBB7121C-5959-4AA4-8172-712078A39ECB}" sibTransId="{F4B1B191-8443-40AB-AE0A-D7E5107608A2}"/>
    <dgm:cxn modelId="{FF83EB54-C9A5-4DB6-84F6-6804D1F9E6A7}" type="presOf" srcId="{94FB30DC-1939-4DD4-82B4-D028E0ADB5BD}" destId="{EEB1F71B-C36D-495B-81C0-9546D425EC51}" srcOrd="0" destOrd="4" presId="urn:microsoft.com/office/officeart/2005/8/layout/vList2"/>
    <dgm:cxn modelId="{F1F4F77D-D128-43A7-B40E-673E0B7A3DA1}" srcId="{9A935F43-1A8E-41C3-A872-EBE5AE5F6DA3}" destId="{20C5D9C6-D38B-4346-9005-AC872C5C6F4A}" srcOrd="5" destOrd="0" parTransId="{5AF1ECEE-282E-40DE-A7B8-B1A1CF3A269E}" sibTransId="{88A60A5D-C2C1-4254-840B-86246C0D60C9}"/>
    <dgm:cxn modelId="{565A667E-1443-4263-842D-424BC182ABCE}" type="presOf" srcId="{20C5D9C6-D38B-4346-9005-AC872C5C6F4A}" destId="{EEB1F71B-C36D-495B-81C0-9546D425EC51}" srcOrd="0" destOrd="5" presId="urn:microsoft.com/office/officeart/2005/8/layout/vList2"/>
    <dgm:cxn modelId="{189D7694-8B66-4CA5-9090-FB096683CFEE}" srcId="{9A935F43-1A8E-41C3-A872-EBE5AE5F6DA3}" destId="{C8309DD6-B96F-4266-B049-704FB4C81ACD}" srcOrd="6" destOrd="0" parTransId="{58635E1A-1E1D-46DE-86A7-7EA283C9BF30}" sibTransId="{3E50D4AA-049B-47E4-A633-05158678CC56}"/>
    <dgm:cxn modelId="{C28ACC98-1942-4FDF-B8CD-A454DE360679}" type="presOf" srcId="{98CFB2B8-208B-4684-9358-504880D82130}" destId="{EEB1F71B-C36D-495B-81C0-9546D425EC51}" srcOrd="0" destOrd="2" presId="urn:microsoft.com/office/officeart/2005/8/layout/vList2"/>
    <dgm:cxn modelId="{7B6B219C-C70E-4A75-84AD-399EE9841450}" srcId="{9A935F43-1A8E-41C3-A872-EBE5AE5F6DA3}" destId="{6457FF77-E438-4F4D-AE13-6A4455CC7141}" srcOrd="1" destOrd="0" parTransId="{199F2FF2-6F48-40E4-94C9-D8EC6D9CDE5D}" sibTransId="{10CF9DE7-F1A8-4F68-96A0-EBF29D11462F}"/>
    <dgm:cxn modelId="{CA9E68A3-CD17-4C6D-A80F-121687F404D7}" type="presOf" srcId="{C8309DD6-B96F-4266-B049-704FB4C81ACD}" destId="{EEB1F71B-C36D-495B-81C0-9546D425EC51}" srcOrd="0" destOrd="6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4ED60EBC-FCF7-405F-AE70-46FD139085F6}" srcId="{9A935F43-1A8E-41C3-A872-EBE5AE5F6DA3}" destId="{94FB30DC-1939-4DD4-82B4-D028E0ADB5BD}" srcOrd="4" destOrd="0" parTransId="{9DF7216A-B0DA-4A15-8044-DE0D3B81742F}" sibTransId="{CD5C9C5A-5DF4-4916-94F3-9D3EFC54DED5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Inteligencia Artificial Aplicada</a:t>
          </a:r>
          <a:r>
            <a:rPr lang="es-AR" sz="2400" dirty="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 dirty="0"/>
            <a:t>Que los estudiantes puedan: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457FF77-E438-4F4D-AE13-6A4455CC714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Comprender los </a:t>
          </a:r>
          <a:r>
            <a:rPr lang="es-MX" sz="2000" b="1" dirty="0"/>
            <a:t>conceptos fundamentales de la IA generativa</a:t>
          </a:r>
          <a:endParaRPr lang="es-AR" sz="2000" dirty="0"/>
        </a:p>
      </dgm:t>
    </dgm:pt>
    <dgm:pt modelId="{199F2FF2-6F48-40E4-94C9-D8EC6D9CDE5D}" type="parTrans" cxnId="{7B6B219C-C70E-4A75-84AD-399EE9841450}">
      <dgm:prSet/>
      <dgm:spPr/>
      <dgm:t>
        <a:bodyPr/>
        <a:lstStyle/>
        <a:p>
          <a:endParaRPr lang="es-AR"/>
        </a:p>
      </dgm:t>
    </dgm:pt>
    <dgm:pt modelId="{10CF9DE7-F1A8-4F68-96A0-EBF29D11462F}" type="sibTrans" cxnId="{7B6B219C-C70E-4A75-84AD-399EE9841450}">
      <dgm:prSet/>
      <dgm:spPr/>
      <dgm:t>
        <a:bodyPr/>
        <a:lstStyle/>
        <a:p>
          <a:endParaRPr lang="es-AR"/>
        </a:p>
      </dgm:t>
    </dgm:pt>
    <dgm:pt modelId="{C554F77F-B96E-44AA-9EFF-65214904BA8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Utilizar </a:t>
          </a:r>
          <a:r>
            <a:rPr lang="es-MX" sz="2000" b="1" dirty="0"/>
            <a:t>herramientas de IA para resolver problemas reales</a:t>
          </a:r>
          <a:endParaRPr lang="es-AR" sz="2000" dirty="0"/>
        </a:p>
      </dgm:t>
    </dgm:pt>
    <dgm:pt modelId="{5B249B1E-EC33-48E7-913A-17FCB7DA59BC}" type="parTrans" cxnId="{633710C9-AF28-4032-B158-AE0BA1ED60BA}">
      <dgm:prSet/>
      <dgm:spPr/>
      <dgm:t>
        <a:bodyPr/>
        <a:lstStyle/>
        <a:p>
          <a:endParaRPr lang="es-AR"/>
        </a:p>
      </dgm:t>
    </dgm:pt>
    <dgm:pt modelId="{6F0C7A16-802D-46CF-BD18-5875E7B1BB70}" type="sibTrans" cxnId="{633710C9-AF28-4032-B158-AE0BA1ED60BA}">
      <dgm:prSet/>
      <dgm:spPr/>
      <dgm:t>
        <a:bodyPr/>
        <a:lstStyle/>
        <a:p>
          <a:endParaRPr lang="es-AR"/>
        </a:p>
      </dgm:t>
    </dgm:pt>
    <dgm:pt modelId="{F511541D-0896-47EC-8F86-7DC8F5601245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Desarrollar </a:t>
          </a:r>
          <a:r>
            <a:rPr lang="es-MX" sz="2000" b="1" dirty="0"/>
            <a:t>habilidades de </a:t>
          </a:r>
          <a:r>
            <a:rPr lang="es-MX" sz="2000" b="1" dirty="0" err="1"/>
            <a:t>prompting</a:t>
          </a:r>
          <a:r>
            <a:rPr lang="es-MX" sz="2000" b="1" dirty="0"/>
            <a:t> profesional</a:t>
          </a:r>
          <a:endParaRPr lang="es-AR" sz="2000" dirty="0"/>
        </a:p>
      </dgm:t>
    </dgm:pt>
    <dgm:pt modelId="{A8A6C47F-DEA3-4447-81FE-7D0D808AB3A7}" type="parTrans" cxnId="{C4D44EAC-E826-4E56-8691-8A0E4D45DD75}">
      <dgm:prSet/>
      <dgm:spPr/>
      <dgm:t>
        <a:bodyPr/>
        <a:lstStyle/>
        <a:p>
          <a:endParaRPr lang="es-AR"/>
        </a:p>
      </dgm:t>
    </dgm:pt>
    <dgm:pt modelId="{D4BD09EC-B47C-44CA-8D69-BE8A2998D544}" type="sibTrans" cxnId="{C4D44EAC-E826-4E56-8691-8A0E4D45DD75}">
      <dgm:prSet/>
      <dgm:spPr/>
      <dgm:t>
        <a:bodyPr/>
        <a:lstStyle/>
        <a:p>
          <a:endParaRPr lang="es-AR"/>
        </a:p>
      </dgm:t>
    </dgm:pt>
    <dgm:pt modelId="{46001F72-805C-4ACD-8B17-00C679E9EBE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Diseñar </a:t>
          </a:r>
          <a:r>
            <a:rPr lang="es-MX" sz="2000" b="1" dirty="0"/>
            <a:t>flujos de trabajo con IA</a:t>
          </a:r>
          <a:endParaRPr lang="es-AR" sz="2000" dirty="0"/>
        </a:p>
      </dgm:t>
    </dgm:pt>
    <dgm:pt modelId="{D980A256-504C-48F4-8DB2-5E5328AE9EE8}" type="parTrans" cxnId="{9B793E18-3170-47B2-8054-57D76571C2B6}">
      <dgm:prSet/>
      <dgm:spPr/>
      <dgm:t>
        <a:bodyPr/>
        <a:lstStyle/>
        <a:p>
          <a:endParaRPr lang="es-AR"/>
        </a:p>
      </dgm:t>
    </dgm:pt>
    <dgm:pt modelId="{D2B99DED-7095-4B66-AFC2-25B48873C43D}" type="sibTrans" cxnId="{9B793E18-3170-47B2-8054-57D76571C2B6}">
      <dgm:prSet/>
      <dgm:spPr/>
      <dgm:t>
        <a:bodyPr/>
        <a:lstStyle/>
        <a:p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MX" sz="2000" dirty="0"/>
            <a:t>• Analizar el </a:t>
          </a:r>
          <a:r>
            <a:rPr lang="es-MX" sz="2000" b="1" dirty="0"/>
            <a:t>impacto organizacional y ético de la IA</a:t>
          </a: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B793E18-3170-47B2-8054-57D76571C2B6}" srcId="{9A935F43-1A8E-41C3-A872-EBE5AE5F6DA3}" destId="{46001F72-805C-4ACD-8B17-00C679E9EBE3}" srcOrd="4" destOrd="0" parTransId="{D980A256-504C-48F4-8DB2-5E5328AE9EE8}" sibTransId="{D2B99DED-7095-4B66-AFC2-25B48873C43D}"/>
    <dgm:cxn modelId="{1E00311D-4C6C-46BF-9B68-161910156F91}" type="presOf" srcId="{6457FF77-E438-4F4D-AE13-6A4455CC7141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B1B5343D-5614-4E22-8EAE-055929DB8B6F}" type="presOf" srcId="{F511541D-0896-47EC-8F86-7DC8F5601245}" destId="{EEB1F71B-C36D-495B-81C0-9546D425EC51}" srcOrd="0" destOrd="3" presId="urn:microsoft.com/office/officeart/2005/8/layout/vList2"/>
    <dgm:cxn modelId="{BA889578-3FB3-4206-8D68-A0815351A140}" type="presOf" srcId="{46001F72-805C-4ACD-8B17-00C679E9EBE3}" destId="{EEB1F71B-C36D-495B-81C0-9546D425EC51}" srcOrd="0" destOrd="4" presId="urn:microsoft.com/office/officeart/2005/8/layout/vList2"/>
    <dgm:cxn modelId="{AD3B858A-AEC7-4CC3-8FAD-6C902B44F91C}" type="presOf" srcId="{C554F77F-B96E-44AA-9EFF-65214904BA86}" destId="{EEB1F71B-C36D-495B-81C0-9546D425EC51}" srcOrd="0" destOrd="2" presId="urn:microsoft.com/office/officeart/2005/8/layout/vList2"/>
    <dgm:cxn modelId="{7B6B219C-C70E-4A75-84AD-399EE9841450}" srcId="{9A935F43-1A8E-41C3-A872-EBE5AE5F6DA3}" destId="{6457FF77-E438-4F4D-AE13-6A4455CC7141}" srcOrd="1" destOrd="0" parTransId="{199F2FF2-6F48-40E4-94C9-D8EC6D9CDE5D}" sibTransId="{10CF9DE7-F1A8-4F68-96A0-EBF29D11462F}"/>
    <dgm:cxn modelId="{C4D44EAC-E826-4E56-8691-8A0E4D45DD75}" srcId="{9A935F43-1A8E-41C3-A872-EBE5AE5F6DA3}" destId="{F511541D-0896-47EC-8F86-7DC8F5601245}" srcOrd="3" destOrd="0" parTransId="{A8A6C47F-DEA3-4447-81FE-7D0D808AB3A7}" sibTransId="{D4BD09EC-B47C-44CA-8D69-BE8A2998D544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633710C9-AF28-4032-B158-AE0BA1ED60BA}" srcId="{9A935F43-1A8E-41C3-A872-EBE5AE5F6DA3}" destId="{C554F77F-B96E-44AA-9EFF-65214904BA86}" srcOrd="2" destOrd="0" parTransId="{5B249B1E-EC33-48E7-913A-17FCB7DA59BC}" sibTransId="{6F0C7A16-802D-46CF-BD18-5875E7B1BB7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dirty="0"/>
            <a:t>Durante la cursada vamos a trabajar sobre: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dirty="0"/>
            <a:t>Introducción a la Inteligencia Artificial
Herramientas de IA para productividad
</a:t>
          </a:r>
          <a:r>
            <a:rPr lang="es-MX" sz="2000" dirty="0" err="1"/>
            <a:t>Prompting</a:t>
          </a:r>
          <a:r>
            <a:rPr lang="es-MX" sz="2000" dirty="0"/>
            <a:t> como competencia profesional
Automatización y flujos de trabajo con IA
Uso responsable y gobernanza de IA
Desarrollo de un proyecto aplicado con IA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La materia tendrá: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dirty="0"/>
            <a:t>Clases teóricas
Clases prácticas con herramientas de IA
Talleres de </a:t>
          </a:r>
          <a:r>
            <a:rPr lang="es-MX" sz="2000" dirty="0" err="1"/>
            <a:t>prompting</a:t>
          </a:r>
          <a:r>
            <a:rPr lang="es-MX" sz="2000" dirty="0"/>
            <a:t>
Análisis de casos reales
Desarrollo de un proyecto final
La idea es que experimenten y aprendan haciendo.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La materia se evalúa mediante: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1-Primer Parcial (teórico)</a:t>
          </a:r>
          <a:br>
            <a:rPr lang="es-MX" sz="2000" dirty="0"/>
          </a:br>
          <a:r>
            <a:rPr lang="es-MX" sz="2000" dirty="0"/>
            <a:t>Contenidos vistos en la primera parte de la cursada.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E8E5E98-709F-43EF-B510-6A7FFAE51FB7}">
      <dgm:prSet custT="1"/>
      <dgm:spPr/>
      <dgm:t>
        <a:bodyPr/>
        <a:lstStyle/>
        <a:p>
          <a:pPr algn="l">
            <a:buNone/>
          </a:pPr>
          <a:r>
            <a:rPr lang="es-AR" sz="2000" b="1" dirty="0"/>
            <a:t>2- Segundo Parcial (teórico)</a:t>
          </a:r>
          <a:br>
            <a:rPr lang="es-AR" sz="2000" dirty="0"/>
          </a:br>
          <a:r>
            <a:rPr lang="es-AR" sz="2000" dirty="0"/>
            <a:t>Contenidos de la segunda parte.</a:t>
          </a:r>
        </a:p>
      </dgm:t>
    </dgm:pt>
    <dgm:pt modelId="{772024C5-3831-45F5-ADFE-808C51D1E9E8}" type="parTrans" cxnId="{B5A3160F-A691-4B5C-8BD0-71768CF46461}">
      <dgm:prSet/>
      <dgm:spPr/>
      <dgm:t>
        <a:bodyPr/>
        <a:lstStyle/>
        <a:p>
          <a:endParaRPr lang="es-AR"/>
        </a:p>
      </dgm:t>
    </dgm:pt>
    <dgm:pt modelId="{4FAFF3E8-AFD0-41CB-9E16-4D5777C36513}" type="sibTrans" cxnId="{B5A3160F-A691-4B5C-8BD0-71768CF46461}">
      <dgm:prSet/>
      <dgm:spPr/>
      <dgm:t>
        <a:bodyPr/>
        <a:lstStyle/>
        <a:p>
          <a:endParaRPr lang="es-AR"/>
        </a:p>
      </dgm:t>
    </dgm:pt>
    <dgm:pt modelId="{A269D8F5-C39D-4410-9ABC-F9E4C6E7A407}">
      <dgm:prSet custT="1"/>
      <dgm:spPr/>
      <dgm:t>
        <a:bodyPr/>
        <a:lstStyle/>
        <a:p>
          <a:pPr algn="l">
            <a:buNone/>
          </a:pPr>
          <a:r>
            <a:rPr lang="es-MX" sz="2000" b="1" dirty="0"/>
            <a:t>3- Trabajo Práctico Final (TPO)</a:t>
          </a:r>
          <a:br>
            <a:rPr lang="es-MX" sz="2000" dirty="0"/>
          </a:br>
          <a:r>
            <a:rPr lang="es-MX" sz="2000" dirty="0"/>
            <a:t>Proyecto aplicado con IA.</a:t>
          </a:r>
        </a:p>
      </dgm:t>
    </dgm:pt>
    <dgm:pt modelId="{33F69CE3-7B86-4486-9579-534EEDE93C3A}" type="parTrans" cxnId="{56F2691E-06A1-4085-B181-3E688C7217F7}">
      <dgm:prSet/>
      <dgm:spPr/>
      <dgm:t>
        <a:bodyPr/>
        <a:lstStyle/>
        <a:p>
          <a:endParaRPr lang="es-AR"/>
        </a:p>
      </dgm:t>
    </dgm:pt>
    <dgm:pt modelId="{406E896F-B073-499C-B677-CDD4BBAA2C82}" type="sibTrans" cxnId="{56F2691E-06A1-4085-B181-3E688C7217F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03AB5002-3256-4EB4-87CB-A356EF9BCC11}" type="presOf" srcId="{A269D8F5-C39D-4410-9ABC-F9E4C6E7A407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B5A3160F-A691-4B5C-8BD0-71768CF46461}" srcId="{9A935F43-1A8E-41C3-A872-EBE5AE5F6DA3}" destId="{FE8E5E98-709F-43EF-B510-6A7FFAE51FB7}" srcOrd="1" destOrd="0" parTransId="{772024C5-3831-45F5-ADFE-808C51D1E9E8}" sibTransId="{4FAFF3E8-AFD0-41CB-9E16-4D5777C36513}"/>
    <dgm:cxn modelId="{F9969E13-3015-43DD-A681-431AD781638E}" type="presOf" srcId="{FE8E5E98-709F-43EF-B510-6A7FFAE51FB7}" destId="{EEB1F71B-C36D-495B-81C0-9546D425EC51}" srcOrd="0" destOrd="1" presId="urn:microsoft.com/office/officeart/2005/8/layout/vList2"/>
    <dgm:cxn modelId="{56F2691E-06A1-4085-B181-3E688C7217F7}" srcId="{9A935F43-1A8E-41C3-A872-EBE5AE5F6DA3}" destId="{A269D8F5-C39D-4410-9ABC-F9E4C6E7A407}" srcOrd="2" destOrd="0" parTransId="{33F69CE3-7B86-4486-9579-534EEDE93C3A}" sibTransId="{406E896F-B073-499C-B677-CDD4BBAA2C82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El TPO consistirá en: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✔ Diseñar una solución utilizando IA
✔ Aplicar herramientas y conceptos vistos en clase
✔ Presentar el proyecto
Instancias:
• Entrega parcial 1
• Entrega parcial 2
• Presentación final + defensa oral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Algunos hitos importantes: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1" dirty="0"/>
            <a:t>Unidad 1 – Introducción a la IA
📌 Unidad 2 – Herramientas de IA
📌 Unidad 3 – </a:t>
          </a:r>
          <a:r>
            <a:rPr lang="es-MX" sz="2000" b="1" dirty="0" err="1"/>
            <a:t>Prompting</a:t>
          </a:r>
          <a:r>
            <a:rPr lang="es-MX" sz="2000" b="1" dirty="0"/>
            <a:t> profesional
📝 Primer Parcial
📌 Automatización y flujos de trabajo con IA
📌 Gobernanza y uso responsable
📝 Segundo Parcial
🎓 Presentación del proyecto final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En esta materia vamos a usar IA, pero de forma responsable.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b="0" dirty="0"/>
            <a:t>Se espera que:</a:t>
          </a:r>
          <a:r>
            <a:rPr lang="es-MX" sz="2000" b="1" dirty="0"/>
            <a:t>
✔ Utilicen herramientas de IA como apoyo
✔ Comprendan lo que generan
✔ Analicen críticamente los resultados
</a:t>
          </a:r>
          <a:r>
            <a:rPr lang="es-MX" sz="2000" b="0" dirty="0"/>
            <a:t>No se busca copiar respuestas, sino aprender a trabajar con IA de forma profesional.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Antes de empezar: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MX" sz="2000" dirty="0"/>
            <a:t>¿Cómo creen que la IA va a cambiar su profesión en los próximos 5 años?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82"/>
          <a:ext cx="8515685" cy="434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Bienvenidos a </a:t>
          </a:r>
          <a:r>
            <a:rPr lang="es-AR" sz="2400" b="1" kern="1200" dirty="0"/>
            <a:t>Inteligencia Artificial Aplicada</a:t>
          </a:r>
          <a:r>
            <a:rPr lang="es-AR" sz="2400" kern="1200" dirty="0"/>
            <a:t>.</a:t>
          </a:r>
        </a:p>
      </dsp:txBody>
      <dsp:txXfrm>
        <a:off x="21195" y="21677"/>
        <a:ext cx="8473295" cy="391789"/>
      </dsp:txXfrm>
    </dsp:sp>
    <dsp:sp modelId="{EEB1F71B-C36D-495B-81C0-9546D425EC51}">
      <dsp:nvSpPr>
        <dsp:cNvPr id="0" name=""/>
        <dsp:cNvSpPr/>
      </dsp:nvSpPr>
      <dsp:spPr>
        <a:xfrm>
          <a:off x="0" y="434662"/>
          <a:ext cx="8515685" cy="362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400" kern="1200"/>
            <a:t>En esta materia vamos a explorar cómo la </a:t>
          </a:r>
          <a:r>
            <a:rPr lang="es-MX" sz="2400" b="1" kern="1200"/>
            <a:t>Inteligencia Artificial Generativa</a:t>
          </a:r>
          <a:r>
            <a:rPr lang="es-MX" sz="2400" kern="1200"/>
            <a:t> está transformando:</a:t>
          </a:r>
          <a:endParaRPr lang="es-AR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el trabajo profesional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 productividad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el desarrollo de software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las organizaciones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la toma de decisiones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1900" kern="1200" dirty="0"/>
            <a:t>El objetivo es </a:t>
          </a:r>
          <a:r>
            <a:rPr lang="es-MX" sz="1900" b="1" kern="1200" dirty="0"/>
            <a:t>aprender a usar IA de manera profesional, crítica y estratégica</a:t>
          </a:r>
          <a:r>
            <a:rPr lang="es-MX" sz="1900" kern="1200" dirty="0"/>
            <a:t>.</a:t>
          </a:r>
        </a:p>
      </dsp:txBody>
      <dsp:txXfrm>
        <a:off x="0" y="434662"/>
        <a:ext cx="8515685" cy="3625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Inteligencia Artificial Aplicada</a:t>
          </a:r>
          <a:r>
            <a:rPr lang="es-AR" sz="2400" kern="1200" dirty="0"/>
            <a:t>.</a:t>
          </a:r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783735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 dirty="0"/>
            <a:t>Que los estudiantes puedan: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Comprender los </a:t>
          </a:r>
          <a:r>
            <a:rPr lang="es-MX" sz="2000" b="1" kern="1200" dirty="0"/>
            <a:t>conceptos fundamentales de la IA generativa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Utilizar </a:t>
          </a:r>
          <a:r>
            <a:rPr lang="es-MX" sz="2000" b="1" kern="1200" dirty="0"/>
            <a:t>herramientas de IA para resolver problemas reales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Desarrollar </a:t>
          </a:r>
          <a:r>
            <a:rPr lang="es-MX" sz="2000" b="1" kern="1200" dirty="0"/>
            <a:t>habilidades de </a:t>
          </a:r>
          <a:r>
            <a:rPr lang="es-MX" sz="2000" b="1" kern="1200" dirty="0" err="1"/>
            <a:t>prompting</a:t>
          </a:r>
          <a:r>
            <a:rPr lang="es-MX" sz="2000" b="1" kern="1200" dirty="0"/>
            <a:t> profesional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Diseñar </a:t>
          </a:r>
          <a:r>
            <a:rPr lang="es-MX" sz="2000" b="1" kern="1200" dirty="0"/>
            <a:t>flujos de trabajo con IA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MX" sz="2000" kern="1200" dirty="0"/>
            <a:t>• Analizar el </a:t>
          </a:r>
          <a:r>
            <a:rPr lang="es-MX" sz="2000" b="1" kern="1200" dirty="0"/>
            <a:t>impacto organizacional y ético de la IA</a:t>
          </a:r>
          <a:endParaRPr lang="es-AR" sz="2000" kern="1200" dirty="0"/>
        </a:p>
      </dsp:txBody>
      <dsp:txXfrm>
        <a:off x="0" y="1783735"/>
        <a:ext cx="8853639" cy="2051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211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dirty="0"/>
            <a:t>Durante la cursada vamos a trabajar sobre:</a:t>
          </a:r>
          <a:endParaRPr lang="es-AR" sz="2400" kern="1200" dirty="0"/>
        </a:p>
      </dsp:txBody>
      <dsp:txXfrm>
        <a:off x="59399" y="27151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598729"/>
          <a:ext cx="8853639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 dirty="0"/>
            <a:t>Introducción a la Inteligencia Artificial
Herramientas de IA para productividad
</a:t>
          </a:r>
          <a:r>
            <a:rPr lang="es-MX" sz="2000" kern="1200" dirty="0" err="1"/>
            <a:t>Prompting</a:t>
          </a:r>
          <a:r>
            <a:rPr lang="es-MX" sz="2000" kern="1200" dirty="0"/>
            <a:t> como competencia profesional
Automatización y flujos de trabajo con IA
Uso responsable y gobernanza de IA
Desarrollo de un proyecto aplicado con IA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598729"/>
        <a:ext cx="8853639" cy="24219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211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La materia tendrá:</a:t>
          </a:r>
        </a:p>
      </dsp:txBody>
      <dsp:txXfrm>
        <a:off x="59399" y="27151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598729"/>
          <a:ext cx="8853639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 dirty="0"/>
            <a:t>Clases teóricas
Clases prácticas con herramientas de IA
Talleres de </a:t>
          </a:r>
          <a:r>
            <a:rPr lang="es-MX" sz="2000" kern="1200" dirty="0" err="1"/>
            <a:t>prompting</a:t>
          </a:r>
          <a:r>
            <a:rPr lang="es-MX" sz="2000" kern="1200" dirty="0"/>
            <a:t>
Análisis de casos reales
Desarrollo de un proyecto final
La idea es que experimenten y aprendan haciendo.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598729"/>
        <a:ext cx="8853639" cy="2421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37120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La materia se evalúa mediante:</a:t>
          </a:r>
          <a:endParaRPr lang="es-AR" sz="2400" kern="1200" dirty="0"/>
        </a:p>
      </dsp:txBody>
      <dsp:txXfrm>
        <a:off x="59399" y="43060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699642"/>
          <a:ext cx="8853639" cy="2220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1-Primer Parcial (teórico)</a:t>
          </a:r>
          <a:br>
            <a:rPr lang="es-MX" sz="2000" kern="1200" dirty="0"/>
          </a:br>
          <a:r>
            <a:rPr lang="es-MX" sz="2000" kern="1200" dirty="0"/>
            <a:t>Contenidos vistos en la primera parte de la cursada.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2- Segundo Parcial (teórico)</a:t>
          </a:r>
          <a:br>
            <a:rPr lang="es-AR" sz="2000" kern="1200" dirty="0"/>
          </a:br>
          <a:r>
            <a:rPr lang="es-AR" sz="2000" kern="1200" dirty="0"/>
            <a:t>Contenidos de la segunda parte.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3- Trabajo Práctico Final (TPO)</a:t>
          </a:r>
          <a:br>
            <a:rPr lang="es-MX" sz="2000" kern="1200" dirty="0"/>
          </a:br>
          <a:r>
            <a:rPr lang="es-MX" sz="2000" kern="1200" dirty="0"/>
            <a:t>Proyecto aplicado con IA.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699642"/>
        <a:ext cx="8853639" cy="22200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El TPO consistirá en: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26233"/>
          <a:ext cx="8853639" cy="35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✔ Diseñar una solución utilizando IA
✔ Aplicar herramientas y conceptos vistos en clase
✔ Presentar el proyecto
Instancias:
• Entrega parcial 1
• Entrega parcial 2
• Presentación final + defensa oral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26233"/>
        <a:ext cx="8853639" cy="3565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Algunos hitos importantes:</a:t>
          </a:r>
          <a:endParaRPr lang="es-AR" sz="2400" kern="1200" dirty="0"/>
        </a:p>
      </dsp:txBody>
      <dsp:txXfrm>
        <a:off x="35640" y="35640"/>
        <a:ext cx="8782359" cy="658800"/>
      </dsp:txXfrm>
    </dsp:sp>
    <dsp:sp modelId="{EEB1F71B-C36D-495B-81C0-9546D425EC51}">
      <dsp:nvSpPr>
        <dsp:cNvPr id="0" name=""/>
        <dsp:cNvSpPr/>
      </dsp:nvSpPr>
      <dsp:spPr>
        <a:xfrm>
          <a:off x="0" y="776864"/>
          <a:ext cx="8853639" cy="4682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1" kern="1200" dirty="0"/>
            <a:t>Unidad 1 – Introducción a la IA
📌 Unidad 2 – Herramientas de IA
📌 Unidad 3 – </a:t>
          </a:r>
          <a:r>
            <a:rPr lang="es-MX" sz="2000" b="1" kern="1200" dirty="0" err="1"/>
            <a:t>Prompting</a:t>
          </a:r>
          <a:r>
            <a:rPr lang="es-MX" sz="2000" b="1" kern="1200" dirty="0"/>
            <a:t> profesional
📝 Primer Parcial
📌 Automatización y flujos de trabajo con IA
📌 Gobernanza y uso responsable
📝 Segundo Parcial
🎓 Presentación del proyecto final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776864"/>
        <a:ext cx="8853639" cy="46823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En esta materia vamos a usar IA, pero de forma responsable.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2293"/>
          <a:ext cx="8853639" cy="3161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b="0" kern="1200" dirty="0"/>
            <a:t>Se espera que:</a:t>
          </a:r>
          <a:r>
            <a:rPr lang="es-MX" sz="2000" b="1" kern="1200" dirty="0"/>
            <a:t>
✔ Utilicen herramientas de IA como apoyo
✔ Comprendan lo que generan
✔ Analicen críticamente los resultados
</a:t>
          </a:r>
          <a:r>
            <a:rPr lang="es-MX" sz="2000" b="0" kern="1200" dirty="0"/>
            <a:t>No se busca copiar respuestas, sino aprender a trabajar con IA de forma profesional.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982293"/>
        <a:ext cx="8853639" cy="31619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Antes de empezar:</a:t>
          </a:r>
          <a:endParaRPr lang="es-AR" sz="2400" kern="1200" dirty="0"/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3025056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kern="1200" dirty="0"/>
            <a:t>¿Cómo creen que la IA va a cambiar su profesión en los próximos 5 años?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3025056"/>
        <a:ext cx="8853639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Exposición de experto</a:t>
            </a:r>
            <a:endParaRPr lang="es-AR" sz="6600" b="1" dirty="0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Bienvenida</a:t>
            </a:r>
            <a:endParaRPr lang="es-ES" sz="1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Objetivos de la materia</a:t>
            </a:r>
            <a:endParaRPr lang="es-ES" sz="1400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¿Qué vamos a aprender?</a:t>
            </a:r>
            <a:endParaRPr lang="es-ES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Modalidad de cursada</a:t>
            </a:r>
            <a:endParaRPr lang="es-ES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Régimen de evaluación</a:t>
            </a:r>
            <a:endParaRPr lang="es-ES" sz="1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Trabajo Práctico Final</a:t>
            </a: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491472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Cronograma de la materia</a:t>
            </a:r>
            <a:endParaRPr lang="es-ES" sz="24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5991448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 dirty="0"/>
              <a:t>Reglas de trabajo con IA</a:t>
            </a:r>
            <a:endParaRPr lang="es-ES" sz="24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6156966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</a:rPr>
              <a:t>Bienvenida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131461-0478-A023-51E5-FAAE997393DF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Bienvenida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7E10FA-4A19-AD10-ACC7-4D8D3A3B9C33}"/>
              </a:ext>
            </a:extLst>
          </p:cNvPr>
          <p:cNvSpPr txBox="1"/>
          <p:nvPr/>
        </p:nvSpPr>
        <p:spPr>
          <a:xfrm>
            <a:off x="453893" y="1727200"/>
            <a:ext cx="76253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/>
              <a:t>Inteligencia Artificial Aplicada</a:t>
            </a:r>
            <a:br>
              <a:rPr lang="es-MX" sz="4000" dirty="0"/>
            </a:br>
            <a:r>
              <a:rPr lang="es-MX" sz="4000" dirty="0"/>
              <a:t>UADE – Facultad de Ingeniería</a:t>
            </a:r>
          </a:p>
          <a:p>
            <a:endParaRPr lang="es-MX" sz="4000" dirty="0"/>
          </a:p>
          <a:p>
            <a:r>
              <a:rPr lang="es-MX" sz="4000" dirty="0"/>
              <a:t>Profesor: </a:t>
            </a:r>
            <a:r>
              <a:rPr lang="es-MX" sz="4000" b="1" dirty="0"/>
              <a:t>Matías Ruiz</a:t>
            </a:r>
            <a:br>
              <a:rPr lang="es-MX" sz="4000" dirty="0"/>
            </a:br>
            <a:r>
              <a:rPr lang="es-MX" sz="4000" dirty="0"/>
              <a:t>1° Cuatrimestre 2026</a:t>
            </a:r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Inteligencia Artificial Aplicada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9953325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413524" y="2875002"/>
            <a:ext cx="915640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Objetivos de la materia</a:t>
            </a:r>
          </a:p>
          <a:p>
            <a:pPr algn="ctr">
              <a:defRPr/>
            </a:pP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Objetivos de la materia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47423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330F-D3EB-93C9-3BA0-4A27B89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F55552-4DF2-2391-28E6-ACC49D37D407}"/>
              </a:ext>
            </a:extLst>
          </p:cNvPr>
          <p:cNvSpPr txBox="1"/>
          <p:nvPr/>
        </p:nvSpPr>
        <p:spPr>
          <a:xfrm>
            <a:off x="1413524" y="2875002"/>
            <a:ext cx="915640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¿Qué vamos a aprender?</a:t>
            </a:r>
          </a:p>
          <a:p>
            <a:pPr algn="ctr">
              <a:defRPr/>
            </a:pP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6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¿Qué vamos a aprender?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44808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26D6-8B6B-55A8-A22C-DE8C50C9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CF40F8-41D6-3C68-2F6D-D90C58A5C138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Modalidad de cursada</a:t>
            </a:r>
          </a:p>
        </p:txBody>
      </p:sp>
    </p:spTree>
    <p:extLst>
      <p:ext uri="{BB962C8B-B14F-4D97-AF65-F5344CB8AC3E}">
        <p14:creationId xmlns:p14="http://schemas.microsoft.com/office/powerpoint/2010/main" val="201466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7D7-FFF4-271B-4586-D6D052AB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CC063C-B5DF-57C9-194D-941D3B66C2B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Modalidad de cursada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17A0059-A40F-138F-9E9A-96DBE7EE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31552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38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2077-3CDF-AC70-1923-46769259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9488A0-C72A-5B98-22F3-8971DDAEB1E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Régimen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282689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A9E-8C3E-4C9A-58C0-CED3D12C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F77378-5FB1-50DD-0558-3669CDB35E7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Régimen de evaluación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60D04D9-9216-052C-14ED-6A4FFB91A1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59928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76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407-23A5-8D5E-0085-1095A2F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232C5D-D16B-F682-346A-6704622331A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Régimen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387996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E6CF-C1C1-E677-3E8C-4112BFA3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29E376-0722-F373-AAA8-44C1787697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Trabajo Práctico Final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F21FF8F-4E99-8B8E-5FDE-3D78812AA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842807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8147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33B-5A64-8E14-80FB-A94D388E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8EAC1B-F03C-1F81-4193-C7B1775BFB19}"/>
              </a:ext>
            </a:extLst>
          </p:cNvPr>
          <p:cNvSpPr txBox="1"/>
          <p:nvPr/>
        </p:nvSpPr>
        <p:spPr>
          <a:xfrm>
            <a:off x="1291604" y="228572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Cronograma de la materia</a:t>
            </a:r>
          </a:p>
        </p:txBody>
      </p:sp>
    </p:spTree>
    <p:extLst>
      <p:ext uri="{BB962C8B-B14F-4D97-AF65-F5344CB8AC3E}">
        <p14:creationId xmlns:p14="http://schemas.microsoft.com/office/powerpoint/2010/main" val="307305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040D-41B0-9321-7B41-0D55CFD2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1F0AA4-E904-53BF-9CF3-B1C24AEC7F5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Cronograma de la materia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63A7B35-D55D-07DF-E508-AAA6C113D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83331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59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03CE-A15A-615C-DB9C-59E031C4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840C9D-C1F9-995F-D1F7-046ED45BD4A5}"/>
              </a:ext>
            </a:extLst>
          </p:cNvPr>
          <p:cNvSpPr txBox="1"/>
          <p:nvPr/>
        </p:nvSpPr>
        <p:spPr>
          <a:xfrm>
            <a:off x="1291604" y="228572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 dirty="0">
                <a:solidFill>
                  <a:prstClr val="white"/>
                </a:solidFill>
                <a:ea typeface="+mn-lt"/>
                <a:cs typeface="+mn-lt"/>
              </a:rPr>
              <a:t>Reglas de trabajo con IA</a:t>
            </a:r>
            <a:endParaRPr lang="es-AR" sz="6600" b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4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5823-4FDF-EF5A-70F7-379F6ADA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EFF020-F1FD-2194-D55C-699A45D8B9B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Reglas de trabajo con IA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3541C4-FA4A-9B4D-2934-66D36F03A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06718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448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Dudas o consultas 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9B5-C4ED-87A0-968C-294A7CD7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C217E2-E63A-7B45-2A93-C5E12EFFECA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Pero primero…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DA6B8CC-4ECD-8080-57DD-CD979D708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106170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009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C0DB-3D3B-4536-7C2F-A2DDC70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8C1AAA-FC86-4C32-5441-2CA3A5477F5D}"/>
              </a:ext>
            </a:extLst>
          </p:cNvPr>
          <p:cNvSpPr txBox="1"/>
          <p:nvPr/>
        </p:nvSpPr>
        <p:spPr>
          <a:xfrm>
            <a:off x="1048958" y="1470760"/>
            <a:ext cx="789965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THANK YOU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GRACIAS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MERCI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GRAZIE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OBRIGADO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TEŞEKKÜRLER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ja-JP" altLang="es-AR" sz="2000" b="1" dirty="0">
                <a:solidFill>
                  <a:srgbClr val="7F7F7F"/>
                </a:solidFill>
                <a:ea typeface="+mn-lt"/>
                <a:cs typeface="+mn-lt"/>
              </a:rPr>
              <a:t>ありがとうございます</a:t>
            </a:r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Have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a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great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semester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!</a:t>
            </a:r>
            <a:endParaRPr lang="es-AR" sz="2000" b="1" dirty="0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291CA9D-96EE-9C50-7D18-F4806101C33C}"/>
              </a:ext>
            </a:extLst>
          </p:cNvPr>
          <p:cNvSpPr/>
          <p:nvPr/>
        </p:nvSpPr>
        <p:spPr>
          <a:xfrm>
            <a:off x="719493" y="2184039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AC8143B-50E3-7C18-F9F8-D90CA2ABE25E}"/>
              </a:ext>
            </a:extLst>
          </p:cNvPr>
          <p:cNvSpPr/>
          <p:nvPr/>
        </p:nvSpPr>
        <p:spPr>
          <a:xfrm>
            <a:off x="716250" y="158246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AFB0DFD-EC4E-4CBE-7682-74FED155901D}"/>
              </a:ext>
            </a:extLst>
          </p:cNvPr>
          <p:cNvSpPr/>
          <p:nvPr/>
        </p:nvSpPr>
        <p:spPr>
          <a:xfrm>
            <a:off x="716250" y="2862041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7AC5AA1-C2F3-65A4-E475-904B9AA8D566}"/>
              </a:ext>
            </a:extLst>
          </p:cNvPr>
          <p:cNvSpPr/>
          <p:nvPr/>
        </p:nvSpPr>
        <p:spPr>
          <a:xfrm>
            <a:off x="704774" y="342900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87647A7-A28E-EA82-3C54-F724ACBD14F6}"/>
              </a:ext>
            </a:extLst>
          </p:cNvPr>
          <p:cNvSpPr/>
          <p:nvPr/>
        </p:nvSpPr>
        <p:spPr>
          <a:xfrm>
            <a:off x="704774" y="408215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5619975-2CA9-FEC9-BDF9-F60D1156B8F8}"/>
              </a:ext>
            </a:extLst>
          </p:cNvPr>
          <p:cNvSpPr/>
          <p:nvPr/>
        </p:nvSpPr>
        <p:spPr>
          <a:xfrm>
            <a:off x="716250" y="4643260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B15B581-C90B-9743-C281-0F3B6E8ADC98}"/>
              </a:ext>
            </a:extLst>
          </p:cNvPr>
          <p:cNvSpPr/>
          <p:nvPr/>
        </p:nvSpPr>
        <p:spPr>
          <a:xfrm>
            <a:off x="704774" y="523109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77F2F58-7DAA-2895-6BCD-49C1BB6FEF2C}"/>
              </a:ext>
            </a:extLst>
          </p:cNvPr>
          <p:cNvSpPr/>
          <p:nvPr/>
        </p:nvSpPr>
        <p:spPr>
          <a:xfrm>
            <a:off x="716250" y="5857520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289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</a:rPr>
              <a:t>HSU, S.; CURRIE, A.; y BERGMAN, S. </a:t>
            </a:r>
            <a:r>
              <a:rPr lang="es-ES" sz="2000" i="1" dirty="0">
                <a:solidFill>
                  <a:schemeClr val="bg1"/>
                </a:solidFill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</a:rPr>
              <a:t>. Barcelona: Marcombo, 2025.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7" ma:contentTypeDescription="Crear nuevo documento." ma:contentTypeScope="" ma:versionID="99c3e8c60ec31a6dc59e1e32d3fb19f4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f2293d8dde8a3b0f7894d6a5fa6650df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4C9E3F-ABA8-4A2F-A997-E8BC5007C894}"/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b5f0631a-2ac1-434a-9e75-b23938e5739a"/>
    <ds:schemaRef ds:uri="232756c5-2869-4da6-aa3d-6ef32daae75e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334</TotalTime>
  <Words>603</Words>
  <Application>Microsoft Office PowerPoint</Application>
  <PresentationFormat>Panorámica</PresentationFormat>
  <Paragraphs>81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Trebuchet MS</vt:lpstr>
      <vt:lpstr>Ubuntu</vt:lpstr>
      <vt:lpstr>Wingdings 3</vt:lpstr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RUIZ MATIAS GABRIEL</cp:lastModifiedBy>
  <cp:revision>454</cp:revision>
  <dcterms:created xsi:type="dcterms:W3CDTF">2022-08-30T18:57:15Z</dcterms:created>
  <dcterms:modified xsi:type="dcterms:W3CDTF">2026-03-09T20:02:54Z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